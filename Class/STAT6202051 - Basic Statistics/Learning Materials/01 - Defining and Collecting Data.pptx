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5"/>
  </p:notesMasterIdLst>
  <p:sldIdLst>
    <p:sldId id="256" r:id="rId2"/>
    <p:sldId id="257" r:id="rId3"/>
    <p:sldId id="296" r:id="rId4"/>
    <p:sldId id="544" r:id="rId5"/>
    <p:sldId id="545" r:id="rId6"/>
    <p:sldId id="548" r:id="rId7"/>
    <p:sldId id="546" r:id="rId8"/>
    <p:sldId id="549" r:id="rId9"/>
    <p:sldId id="550" r:id="rId10"/>
    <p:sldId id="553" r:id="rId11"/>
    <p:sldId id="551" r:id="rId12"/>
    <p:sldId id="552" r:id="rId13"/>
    <p:sldId id="547" r:id="rId14"/>
    <p:sldId id="554" r:id="rId15"/>
    <p:sldId id="555" r:id="rId16"/>
    <p:sldId id="556" r:id="rId17"/>
    <p:sldId id="557" r:id="rId18"/>
    <p:sldId id="563" r:id="rId19"/>
    <p:sldId id="558" r:id="rId20"/>
    <p:sldId id="559" r:id="rId21"/>
    <p:sldId id="560" r:id="rId22"/>
    <p:sldId id="564" r:id="rId23"/>
    <p:sldId id="561" r:id="rId24"/>
    <p:sldId id="562" r:id="rId25"/>
    <p:sldId id="565" r:id="rId26"/>
    <p:sldId id="566" r:id="rId27"/>
    <p:sldId id="567" r:id="rId28"/>
    <p:sldId id="568" r:id="rId29"/>
    <p:sldId id="569" r:id="rId30"/>
    <p:sldId id="570" r:id="rId31"/>
    <p:sldId id="571" r:id="rId32"/>
    <p:sldId id="372" r:id="rId33"/>
    <p:sldId id="543" r:id="rId34"/>
  </p:sldIdLst>
  <p:sldSz cx="9144000" cy="6858000" type="screen4x3"/>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727C0728-BFBA-4018-A895-7E45D940962F}">
          <p14:sldIdLst>
            <p14:sldId id="256"/>
          </p14:sldIdLst>
        </p14:section>
        <p14:section name="COURSE CONTENT" id="{F4927CBE-FA17-46D1-BAAE-887D0AF2CCBF}">
          <p14:sldIdLst>
            <p14:sldId id="257"/>
            <p14:sldId id="296"/>
            <p14:sldId id="544"/>
            <p14:sldId id="545"/>
            <p14:sldId id="548"/>
            <p14:sldId id="546"/>
            <p14:sldId id="549"/>
            <p14:sldId id="550"/>
            <p14:sldId id="553"/>
            <p14:sldId id="551"/>
            <p14:sldId id="552"/>
            <p14:sldId id="547"/>
            <p14:sldId id="554"/>
            <p14:sldId id="555"/>
            <p14:sldId id="556"/>
            <p14:sldId id="557"/>
            <p14:sldId id="563"/>
            <p14:sldId id="558"/>
            <p14:sldId id="559"/>
            <p14:sldId id="560"/>
            <p14:sldId id="564"/>
            <p14:sldId id="561"/>
            <p14:sldId id="562"/>
            <p14:sldId id="565"/>
            <p14:sldId id="566"/>
            <p14:sldId id="567"/>
            <p14:sldId id="568"/>
            <p14:sldId id="569"/>
            <p14:sldId id="570"/>
            <p14:sldId id="571"/>
          </p14:sldIdLst>
        </p14:section>
        <p14:section name="REFERENCE" id="{82098E28-DACF-4424-86A1-E861B2DCC6FF}">
          <p14:sldIdLst>
            <p14:sldId id="372"/>
            <p14:sldId id="54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9B8"/>
    <a:srgbClr val="F7F7F7"/>
    <a:srgbClr val="008FD5"/>
    <a:srgbClr val="558FD5"/>
    <a:srgbClr val="0081BD"/>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71" autoAdjust="0"/>
  </p:normalViewPr>
  <p:slideViewPr>
    <p:cSldViewPr>
      <p:cViewPr varScale="1">
        <p:scale>
          <a:sx n="62" d="100"/>
          <a:sy n="62" d="100"/>
        </p:scale>
        <p:origin x="1400" y="56"/>
      </p:cViewPr>
      <p:guideLst>
        <p:guide orient="horz" pos="2160"/>
        <p:guide pos="2880"/>
      </p:guideLst>
    </p:cSldViewPr>
  </p:slideViewPr>
  <p:notesTextViewPr>
    <p:cViewPr>
      <p:scale>
        <a:sx n="1" d="1"/>
        <a:sy n="1" d="1"/>
      </p:scale>
      <p:origin x="0" y="0"/>
    </p:cViewPr>
  </p:notesTextViewPr>
  <p:sorterViewPr>
    <p:cViewPr>
      <p:scale>
        <a:sx n="100" d="100"/>
        <a:sy n="100" d="100"/>
      </p:scale>
      <p:origin x="0" y="112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olitta Yesmaya" userId="4132fe74-a9e3-4df6-a260-6f1dbd02419b" providerId="ADAL" clId="{9B1F5E53-4339-4E39-82FC-E1F154196CC1}"/>
    <pc:docChg chg="modSld">
      <pc:chgData name="Violitta Yesmaya" userId="4132fe74-a9e3-4df6-a260-6f1dbd02419b" providerId="ADAL" clId="{9B1F5E53-4339-4E39-82FC-E1F154196CC1}" dt="2022-09-19T15:34:39.041" v="0" actId="20577"/>
      <pc:docMkLst>
        <pc:docMk/>
      </pc:docMkLst>
      <pc:sldChg chg="modSp mod">
        <pc:chgData name="Violitta Yesmaya" userId="4132fe74-a9e3-4df6-a260-6f1dbd02419b" providerId="ADAL" clId="{9B1F5E53-4339-4E39-82FC-E1F154196CC1}" dt="2022-09-19T15:34:39.041" v="0" actId="20577"/>
        <pc:sldMkLst>
          <pc:docMk/>
          <pc:sldMk cId="4204421142" sldId="256"/>
        </pc:sldMkLst>
        <pc:spChg chg="mod">
          <ac:chgData name="Violitta Yesmaya" userId="4132fe74-a9e3-4df6-a260-6f1dbd02419b" providerId="ADAL" clId="{9B1F5E53-4339-4E39-82FC-E1F154196CC1}" dt="2022-09-19T15:34:39.041" v="0" actId="20577"/>
          <ac:spMkLst>
            <pc:docMk/>
            <pc:sldMk cId="4204421142" sldId="256"/>
            <ac:spMk id="4"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B232CD1-5B25-443B-B1BE-98D7C1E97D7E}" type="doc">
      <dgm:prSet loTypeId="urn:microsoft.com/office/officeart/2005/8/layout/orgChart1" loCatId="hierarchy" qsTypeId="urn:microsoft.com/office/officeart/2005/8/quickstyle/simple2" qsCatId="simple" csTypeId="urn:microsoft.com/office/officeart/2005/8/colors/accent2_5" csCatId="accent2" phldr="1"/>
      <dgm:spPr/>
      <dgm:t>
        <a:bodyPr/>
        <a:lstStyle/>
        <a:p>
          <a:endParaRPr lang="en-US"/>
        </a:p>
      </dgm:t>
    </dgm:pt>
    <dgm:pt modelId="{BD5F7DBF-E881-45E2-8361-807543FDB9BB}">
      <dgm:prSet phldrT="[Text]" custT="1"/>
      <dgm:spPr/>
      <dgm:t>
        <a:bodyPr/>
        <a:lstStyle/>
        <a:p>
          <a:r>
            <a:rPr lang="en-US" sz="2000" dirty="0">
              <a:latin typeface="Calibri" pitchFamily="34" charset="0"/>
            </a:rPr>
            <a:t>Variables</a:t>
          </a:r>
        </a:p>
      </dgm:t>
    </dgm:pt>
    <dgm:pt modelId="{200A18A6-D4A1-4806-94C4-67CF85D4C985}" type="parTrans" cxnId="{AAF67B51-933D-47FE-ABDB-9E157A385FBD}">
      <dgm:prSet/>
      <dgm:spPr/>
      <dgm:t>
        <a:bodyPr/>
        <a:lstStyle/>
        <a:p>
          <a:endParaRPr lang="en-US" sz="2000">
            <a:latin typeface="Calibri" pitchFamily="34" charset="0"/>
          </a:endParaRPr>
        </a:p>
      </dgm:t>
    </dgm:pt>
    <dgm:pt modelId="{73F2DC05-ECC7-4004-AEF0-9196B163DDFC}" type="sibTrans" cxnId="{AAF67B51-933D-47FE-ABDB-9E157A385FBD}">
      <dgm:prSet/>
      <dgm:spPr/>
      <dgm:t>
        <a:bodyPr/>
        <a:lstStyle/>
        <a:p>
          <a:endParaRPr lang="en-US" sz="2000">
            <a:latin typeface="Calibri" pitchFamily="34" charset="0"/>
          </a:endParaRPr>
        </a:p>
      </dgm:t>
    </dgm:pt>
    <dgm:pt modelId="{46C1D66B-651E-4EAB-9857-8EC300DDDFC7}">
      <dgm:prSet phldrT="[Text]" custT="1"/>
      <dgm:spPr/>
      <dgm:t>
        <a:bodyPr/>
        <a:lstStyle/>
        <a:p>
          <a:r>
            <a:rPr lang="en-US" sz="2000" dirty="0">
              <a:latin typeface="Calibri" pitchFamily="34" charset="0"/>
            </a:rPr>
            <a:t>Categorical Variables (Qualitative)</a:t>
          </a:r>
        </a:p>
      </dgm:t>
    </dgm:pt>
    <dgm:pt modelId="{E3543946-1071-4398-B5E1-9F2FACCE8E7D}" type="parTrans" cxnId="{6A7BB7D0-EAF6-420D-9993-80A826F1371E}">
      <dgm:prSet/>
      <dgm:spPr/>
      <dgm:t>
        <a:bodyPr/>
        <a:lstStyle/>
        <a:p>
          <a:endParaRPr lang="en-US" sz="2000">
            <a:latin typeface="Calibri" pitchFamily="34" charset="0"/>
          </a:endParaRPr>
        </a:p>
      </dgm:t>
    </dgm:pt>
    <dgm:pt modelId="{21E2BD5C-E85E-4B5C-8613-BA677385E55A}" type="sibTrans" cxnId="{6A7BB7D0-EAF6-420D-9993-80A826F1371E}">
      <dgm:prSet/>
      <dgm:spPr/>
      <dgm:t>
        <a:bodyPr/>
        <a:lstStyle/>
        <a:p>
          <a:endParaRPr lang="en-US" sz="2000">
            <a:latin typeface="Calibri" pitchFamily="34" charset="0"/>
          </a:endParaRPr>
        </a:p>
      </dgm:t>
    </dgm:pt>
    <dgm:pt modelId="{E30BF620-089D-4C14-A474-EAFA0E4E0039}">
      <dgm:prSet phldrT="[Text]" custT="1"/>
      <dgm:spPr/>
      <dgm:t>
        <a:bodyPr/>
        <a:lstStyle/>
        <a:p>
          <a:r>
            <a:rPr lang="en-US" sz="2000" dirty="0">
              <a:latin typeface="Calibri" pitchFamily="34" charset="0"/>
            </a:rPr>
            <a:t>Numerical Variables (Quantitative)</a:t>
          </a:r>
        </a:p>
      </dgm:t>
    </dgm:pt>
    <dgm:pt modelId="{6F3C837F-DCAF-430B-9DD0-E7C2CBAAF88F}" type="parTrans" cxnId="{7AC59E8B-86E8-494F-A714-81C4646C3BF1}">
      <dgm:prSet/>
      <dgm:spPr/>
      <dgm:t>
        <a:bodyPr/>
        <a:lstStyle/>
        <a:p>
          <a:endParaRPr lang="en-US" sz="2000">
            <a:latin typeface="Calibri" pitchFamily="34" charset="0"/>
          </a:endParaRPr>
        </a:p>
      </dgm:t>
    </dgm:pt>
    <dgm:pt modelId="{4515DC08-06F4-4576-8C5C-4067BBDAE4A9}" type="sibTrans" cxnId="{7AC59E8B-86E8-494F-A714-81C4646C3BF1}">
      <dgm:prSet/>
      <dgm:spPr/>
      <dgm:t>
        <a:bodyPr/>
        <a:lstStyle/>
        <a:p>
          <a:endParaRPr lang="en-US" sz="2000">
            <a:latin typeface="Calibri" pitchFamily="34" charset="0"/>
          </a:endParaRPr>
        </a:p>
      </dgm:t>
    </dgm:pt>
    <dgm:pt modelId="{9088183A-A3F2-4B44-9386-A6F00C30A356}" type="asst">
      <dgm:prSet custT="1"/>
      <dgm:spPr/>
      <dgm:t>
        <a:bodyPr/>
        <a:lstStyle/>
        <a:p>
          <a:r>
            <a:rPr lang="en-US" sz="2000" dirty="0"/>
            <a:t>Discrete Variables</a:t>
          </a:r>
        </a:p>
      </dgm:t>
    </dgm:pt>
    <dgm:pt modelId="{E1D86AF1-5591-4C11-B660-889BB1FBB04F}" type="parTrans" cxnId="{D36FAEFB-11E2-4F09-968F-012EAE3F2CB7}">
      <dgm:prSet/>
      <dgm:spPr/>
      <dgm:t>
        <a:bodyPr/>
        <a:lstStyle/>
        <a:p>
          <a:endParaRPr lang="en-US" sz="2000"/>
        </a:p>
      </dgm:t>
    </dgm:pt>
    <dgm:pt modelId="{EEF36242-CBA6-492F-BB55-3AED0195ECAC}" type="sibTrans" cxnId="{D36FAEFB-11E2-4F09-968F-012EAE3F2CB7}">
      <dgm:prSet/>
      <dgm:spPr/>
      <dgm:t>
        <a:bodyPr/>
        <a:lstStyle/>
        <a:p>
          <a:endParaRPr lang="en-US" sz="2000"/>
        </a:p>
      </dgm:t>
    </dgm:pt>
    <dgm:pt modelId="{EAD6E062-E377-4979-98ED-F9CE552BDD9D}">
      <dgm:prSet custT="1"/>
      <dgm:spPr/>
      <dgm:t>
        <a:bodyPr/>
        <a:lstStyle/>
        <a:p>
          <a:r>
            <a:rPr lang="en-US" sz="2000" dirty="0"/>
            <a:t>Continuous Variables</a:t>
          </a:r>
        </a:p>
      </dgm:t>
    </dgm:pt>
    <dgm:pt modelId="{6EDA8AD6-A856-4208-A318-82DC4CC5BC6E}" type="parTrans" cxnId="{E0B1D7A4-6F44-4740-A570-3B9E6DDE9E6C}">
      <dgm:prSet/>
      <dgm:spPr/>
      <dgm:t>
        <a:bodyPr/>
        <a:lstStyle/>
        <a:p>
          <a:endParaRPr lang="en-US" sz="2000"/>
        </a:p>
      </dgm:t>
    </dgm:pt>
    <dgm:pt modelId="{819FD11B-3D4D-412C-8D1C-936972EA99F7}" type="sibTrans" cxnId="{E0B1D7A4-6F44-4740-A570-3B9E6DDE9E6C}">
      <dgm:prSet/>
      <dgm:spPr/>
      <dgm:t>
        <a:bodyPr/>
        <a:lstStyle/>
        <a:p>
          <a:endParaRPr lang="en-US" sz="2000"/>
        </a:p>
      </dgm:t>
    </dgm:pt>
    <dgm:pt modelId="{D6A4F2B7-9692-443F-8C3C-7506FCEC52A5}" type="pres">
      <dgm:prSet presAssocID="{CB232CD1-5B25-443B-B1BE-98D7C1E97D7E}" presName="hierChild1" presStyleCnt="0">
        <dgm:presLayoutVars>
          <dgm:orgChart val="1"/>
          <dgm:chPref val="1"/>
          <dgm:dir/>
          <dgm:animOne val="branch"/>
          <dgm:animLvl val="lvl"/>
          <dgm:resizeHandles/>
        </dgm:presLayoutVars>
      </dgm:prSet>
      <dgm:spPr/>
    </dgm:pt>
    <dgm:pt modelId="{19FC5C3F-9B80-4F2D-BDE8-DF6E52ADA820}" type="pres">
      <dgm:prSet presAssocID="{BD5F7DBF-E881-45E2-8361-807543FDB9BB}" presName="hierRoot1" presStyleCnt="0">
        <dgm:presLayoutVars>
          <dgm:hierBranch val="init"/>
        </dgm:presLayoutVars>
      </dgm:prSet>
      <dgm:spPr/>
    </dgm:pt>
    <dgm:pt modelId="{348D909B-C4DC-4E4E-B357-96E09F70AD86}" type="pres">
      <dgm:prSet presAssocID="{BD5F7DBF-E881-45E2-8361-807543FDB9BB}" presName="rootComposite1" presStyleCnt="0"/>
      <dgm:spPr/>
    </dgm:pt>
    <dgm:pt modelId="{B9352D78-06EA-4C4C-BE19-CB7A93B5D477}" type="pres">
      <dgm:prSet presAssocID="{BD5F7DBF-E881-45E2-8361-807543FDB9BB}" presName="rootText1" presStyleLbl="node0" presStyleIdx="0" presStyleCnt="1">
        <dgm:presLayoutVars>
          <dgm:chPref val="3"/>
        </dgm:presLayoutVars>
      </dgm:prSet>
      <dgm:spPr/>
    </dgm:pt>
    <dgm:pt modelId="{D2AACFFD-21D8-49B1-97EB-1040099A3433}" type="pres">
      <dgm:prSet presAssocID="{BD5F7DBF-E881-45E2-8361-807543FDB9BB}" presName="rootConnector1" presStyleLbl="node1" presStyleIdx="0" presStyleCnt="0"/>
      <dgm:spPr/>
    </dgm:pt>
    <dgm:pt modelId="{09DA9A89-FAD3-4347-AE6C-C7079D1584CA}" type="pres">
      <dgm:prSet presAssocID="{BD5F7DBF-E881-45E2-8361-807543FDB9BB}" presName="hierChild2" presStyleCnt="0"/>
      <dgm:spPr/>
    </dgm:pt>
    <dgm:pt modelId="{C7CCA813-67FE-4269-A2EF-8B7A762F1A0F}" type="pres">
      <dgm:prSet presAssocID="{E3543946-1071-4398-B5E1-9F2FACCE8E7D}" presName="Name37" presStyleLbl="parChTrans1D2" presStyleIdx="0" presStyleCnt="2"/>
      <dgm:spPr/>
    </dgm:pt>
    <dgm:pt modelId="{DFA11F5A-958B-4997-9A7B-403C4BDB01CE}" type="pres">
      <dgm:prSet presAssocID="{46C1D66B-651E-4EAB-9857-8EC300DDDFC7}" presName="hierRoot2" presStyleCnt="0">
        <dgm:presLayoutVars>
          <dgm:hierBranch val="init"/>
        </dgm:presLayoutVars>
      </dgm:prSet>
      <dgm:spPr/>
    </dgm:pt>
    <dgm:pt modelId="{A457C1D7-19A9-41AF-B9A7-4407D351315F}" type="pres">
      <dgm:prSet presAssocID="{46C1D66B-651E-4EAB-9857-8EC300DDDFC7}" presName="rootComposite" presStyleCnt="0"/>
      <dgm:spPr/>
    </dgm:pt>
    <dgm:pt modelId="{60563995-309C-4682-B7EF-393368D16D08}" type="pres">
      <dgm:prSet presAssocID="{46C1D66B-651E-4EAB-9857-8EC300DDDFC7}" presName="rootText" presStyleLbl="node2" presStyleIdx="0" presStyleCnt="2" custScaleX="207573" custScaleY="184989">
        <dgm:presLayoutVars>
          <dgm:chPref val="3"/>
        </dgm:presLayoutVars>
      </dgm:prSet>
      <dgm:spPr/>
    </dgm:pt>
    <dgm:pt modelId="{79CED9B2-8B7F-487F-883E-6ECFB23EB72A}" type="pres">
      <dgm:prSet presAssocID="{46C1D66B-651E-4EAB-9857-8EC300DDDFC7}" presName="rootConnector" presStyleLbl="node2" presStyleIdx="0" presStyleCnt="2"/>
      <dgm:spPr/>
    </dgm:pt>
    <dgm:pt modelId="{D89F7344-524B-4A50-8CB3-9B274191EA7C}" type="pres">
      <dgm:prSet presAssocID="{46C1D66B-651E-4EAB-9857-8EC300DDDFC7}" presName="hierChild4" presStyleCnt="0"/>
      <dgm:spPr/>
    </dgm:pt>
    <dgm:pt modelId="{D98C44A2-ABE5-42C7-81D5-0C31109FC8A2}" type="pres">
      <dgm:prSet presAssocID="{46C1D66B-651E-4EAB-9857-8EC300DDDFC7}" presName="hierChild5" presStyleCnt="0"/>
      <dgm:spPr/>
    </dgm:pt>
    <dgm:pt modelId="{211BF73C-1DA6-4D65-9038-FD5A93E8D878}" type="pres">
      <dgm:prSet presAssocID="{6F3C837F-DCAF-430B-9DD0-E7C2CBAAF88F}" presName="Name37" presStyleLbl="parChTrans1D2" presStyleIdx="1" presStyleCnt="2"/>
      <dgm:spPr/>
    </dgm:pt>
    <dgm:pt modelId="{09BCCD24-1BB3-471F-A44C-48798427AF1A}" type="pres">
      <dgm:prSet presAssocID="{E30BF620-089D-4C14-A474-EAFA0E4E0039}" presName="hierRoot2" presStyleCnt="0">
        <dgm:presLayoutVars>
          <dgm:hierBranch val="init"/>
        </dgm:presLayoutVars>
      </dgm:prSet>
      <dgm:spPr/>
    </dgm:pt>
    <dgm:pt modelId="{27C8F72D-5DAC-43DB-BAA7-C6C43EF40601}" type="pres">
      <dgm:prSet presAssocID="{E30BF620-089D-4C14-A474-EAFA0E4E0039}" presName="rootComposite" presStyleCnt="0"/>
      <dgm:spPr/>
    </dgm:pt>
    <dgm:pt modelId="{C2C98CDA-05A4-4F1D-8F66-AABC3323CCAD}" type="pres">
      <dgm:prSet presAssocID="{E30BF620-089D-4C14-A474-EAFA0E4E0039}" presName="rootText" presStyleLbl="node2" presStyleIdx="1" presStyleCnt="2" custScaleX="250644" custScaleY="132924">
        <dgm:presLayoutVars>
          <dgm:chPref val="3"/>
        </dgm:presLayoutVars>
      </dgm:prSet>
      <dgm:spPr/>
    </dgm:pt>
    <dgm:pt modelId="{F800E966-CE1B-4A8B-87BF-BBA2F988F368}" type="pres">
      <dgm:prSet presAssocID="{E30BF620-089D-4C14-A474-EAFA0E4E0039}" presName="rootConnector" presStyleLbl="node2" presStyleIdx="1" presStyleCnt="2"/>
      <dgm:spPr/>
    </dgm:pt>
    <dgm:pt modelId="{C1FC7C3F-4C62-4705-ADEF-E749F67A3F0A}" type="pres">
      <dgm:prSet presAssocID="{E30BF620-089D-4C14-A474-EAFA0E4E0039}" presName="hierChild4" presStyleCnt="0"/>
      <dgm:spPr/>
    </dgm:pt>
    <dgm:pt modelId="{C01D8DE6-08A2-4C9F-A34B-15AAE81111CD}" type="pres">
      <dgm:prSet presAssocID="{6EDA8AD6-A856-4208-A318-82DC4CC5BC6E}" presName="Name37" presStyleLbl="parChTrans1D3" presStyleIdx="0" presStyleCnt="2"/>
      <dgm:spPr/>
    </dgm:pt>
    <dgm:pt modelId="{C91055F4-7ACD-482C-AE2C-74FC90EF3C51}" type="pres">
      <dgm:prSet presAssocID="{EAD6E062-E377-4979-98ED-F9CE552BDD9D}" presName="hierRoot2" presStyleCnt="0">
        <dgm:presLayoutVars>
          <dgm:hierBranch val="init"/>
        </dgm:presLayoutVars>
      </dgm:prSet>
      <dgm:spPr/>
    </dgm:pt>
    <dgm:pt modelId="{993DE72C-D819-46D0-BE80-BF8D07F3A583}" type="pres">
      <dgm:prSet presAssocID="{EAD6E062-E377-4979-98ED-F9CE552BDD9D}" presName="rootComposite" presStyleCnt="0"/>
      <dgm:spPr/>
    </dgm:pt>
    <dgm:pt modelId="{9410A41D-C7CE-49E6-9CAE-818355C09718}" type="pres">
      <dgm:prSet presAssocID="{EAD6E062-E377-4979-98ED-F9CE552BDD9D}" presName="rootText" presStyleLbl="node3" presStyleIdx="0" presStyleCnt="1" custScaleX="192778" custScaleY="142736" custLinFactNeighborX="-4379" custLinFactNeighborY="-75780">
        <dgm:presLayoutVars>
          <dgm:chPref val="3"/>
        </dgm:presLayoutVars>
      </dgm:prSet>
      <dgm:spPr/>
    </dgm:pt>
    <dgm:pt modelId="{B99D9578-D631-48C7-B91D-459DF51262A0}" type="pres">
      <dgm:prSet presAssocID="{EAD6E062-E377-4979-98ED-F9CE552BDD9D}" presName="rootConnector" presStyleLbl="node3" presStyleIdx="0" presStyleCnt="1"/>
      <dgm:spPr/>
    </dgm:pt>
    <dgm:pt modelId="{36B62EAF-3E33-480D-8784-D201489BE693}" type="pres">
      <dgm:prSet presAssocID="{EAD6E062-E377-4979-98ED-F9CE552BDD9D}" presName="hierChild4" presStyleCnt="0"/>
      <dgm:spPr/>
    </dgm:pt>
    <dgm:pt modelId="{81B1F086-F509-466C-B631-B5B50F376A77}" type="pres">
      <dgm:prSet presAssocID="{EAD6E062-E377-4979-98ED-F9CE552BDD9D}" presName="hierChild5" presStyleCnt="0"/>
      <dgm:spPr/>
    </dgm:pt>
    <dgm:pt modelId="{F471C5DB-B946-47AA-A102-9D37B88F4E71}" type="pres">
      <dgm:prSet presAssocID="{E30BF620-089D-4C14-A474-EAFA0E4E0039}" presName="hierChild5" presStyleCnt="0"/>
      <dgm:spPr/>
    </dgm:pt>
    <dgm:pt modelId="{413A756D-4725-4E1C-BC77-AA41309A9C64}" type="pres">
      <dgm:prSet presAssocID="{E1D86AF1-5591-4C11-B660-889BB1FBB04F}" presName="Name111" presStyleLbl="parChTrans1D3" presStyleIdx="1" presStyleCnt="2"/>
      <dgm:spPr/>
    </dgm:pt>
    <dgm:pt modelId="{5BE3DBD1-20CB-4363-A459-75D42D7AEB2D}" type="pres">
      <dgm:prSet presAssocID="{9088183A-A3F2-4B44-9386-A6F00C30A356}" presName="hierRoot3" presStyleCnt="0">
        <dgm:presLayoutVars>
          <dgm:hierBranch val="init"/>
        </dgm:presLayoutVars>
      </dgm:prSet>
      <dgm:spPr/>
    </dgm:pt>
    <dgm:pt modelId="{4BF2554D-7E58-4F84-B177-5E3953CAD447}" type="pres">
      <dgm:prSet presAssocID="{9088183A-A3F2-4B44-9386-A6F00C30A356}" presName="rootComposite3" presStyleCnt="0"/>
      <dgm:spPr/>
    </dgm:pt>
    <dgm:pt modelId="{33360E59-9AA4-4DC7-BEAF-C34569BBDC0B}" type="pres">
      <dgm:prSet presAssocID="{9088183A-A3F2-4B44-9386-A6F00C30A356}" presName="rootText3" presStyleLbl="asst2" presStyleIdx="0" presStyleCnt="1" custScaleX="193418" custScaleY="84224" custLinFactY="3693" custLinFactNeighborX="-12354" custLinFactNeighborY="100000">
        <dgm:presLayoutVars>
          <dgm:chPref val="3"/>
        </dgm:presLayoutVars>
      </dgm:prSet>
      <dgm:spPr/>
    </dgm:pt>
    <dgm:pt modelId="{AF5BA41E-C39F-47DF-982E-DF74D5272E4C}" type="pres">
      <dgm:prSet presAssocID="{9088183A-A3F2-4B44-9386-A6F00C30A356}" presName="rootConnector3" presStyleLbl="asst2" presStyleIdx="0" presStyleCnt="1"/>
      <dgm:spPr/>
    </dgm:pt>
    <dgm:pt modelId="{9412A77B-0861-4171-8A00-E755E360FAC1}" type="pres">
      <dgm:prSet presAssocID="{9088183A-A3F2-4B44-9386-A6F00C30A356}" presName="hierChild6" presStyleCnt="0"/>
      <dgm:spPr/>
    </dgm:pt>
    <dgm:pt modelId="{1F8A4E07-5E32-4438-9A8D-42F2D0B656B3}" type="pres">
      <dgm:prSet presAssocID="{9088183A-A3F2-4B44-9386-A6F00C30A356}" presName="hierChild7" presStyleCnt="0"/>
      <dgm:spPr/>
    </dgm:pt>
    <dgm:pt modelId="{FA1BD700-C7B7-4BF7-ABEB-1858DA857167}" type="pres">
      <dgm:prSet presAssocID="{BD5F7DBF-E881-45E2-8361-807543FDB9BB}" presName="hierChild3" presStyleCnt="0"/>
      <dgm:spPr/>
    </dgm:pt>
  </dgm:ptLst>
  <dgm:cxnLst>
    <dgm:cxn modelId="{2F856204-3768-4DB6-8A90-890476D5220E}" type="presOf" srcId="{E30BF620-089D-4C14-A474-EAFA0E4E0039}" destId="{C2C98CDA-05A4-4F1D-8F66-AABC3323CCAD}" srcOrd="0" destOrd="0" presId="urn:microsoft.com/office/officeart/2005/8/layout/orgChart1"/>
    <dgm:cxn modelId="{BB7A9B29-B4AE-448B-A0F4-1BF97BB9A296}" type="presOf" srcId="{6F3C837F-DCAF-430B-9DD0-E7C2CBAAF88F}" destId="{211BF73C-1DA6-4D65-9038-FD5A93E8D878}" srcOrd="0" destOrd="0" presId="urn:microsoft.com/office/officeart/2005/8/layout/orgChart1"/>
    <dgm:cxn modelId="{A828BC36-5ACA-4EA7-916D-65B989E71057}" type="presOf" srcId="{BD5F7DBF-E881-45E2-8361-807543FDB9BB}" destId="{B9352D78-06EA-4C4C-BE19-CB7A93B5D477}" srcOrd="0" destOrd="0" presId="urn:microsoft.com/office/officeart/2005/8/layout/orgChart1"/>
    <dgm:cxn modelId="{724A6B3E-EBE3-411D-9544-1480D5468C59}" type="presOf" srcId="{E1D86AF1-5591-4C11-B660-889BB1FBB04F}" destId="{413A756D-4725-4E1C-BC77-AA41309A9C64}" srcOrd="0" destOrd="0" presId="urn:microsoft.com/office/officeart/2005/8/layout/orgChart1"/>
    <dgm:cxn modelId="{B440225B-ABAF-47A9-9D58-8C3794304814}" type="presOf" srcId="{9088183A-A3F2-4B44-9386-A6F00C30A356}" destId="{AF5BA41E-C39F-47DF-982E-DF74D5272E4C}" srcOrd="1" destOrd="0" presId="urn:microsoft.com/office/officeart/2005/8/layout/orgChart1"/>
    <dgm:cxn modelId="{D5A82046-E30D-45B9-90A2-A38A003688DC}" type="presOf" srcId="{E3543946-1071-4398-B5E1-9F2FACCE8E7D}" destId="{C7CCA813-67FE-4269-A2EF-8B7A762F1A0F}" srcOrd="0" destOrd="0" presId="urn:microsoft.com/office/officeart/2005/8/layout/orgChart1"/>
    <dgm:cxn modelId="{AAF67B51-933D-47FE-ABDB-9E157A385FBD}" srcId="{CB232CD1-5B25-443B-B1BE-98D7C1E97D7E}" destId="{BD5F7DBF-E881-45E2-8361-807543FDB9BB}" srcOrd="0" destOrd="0" parTransId="{200A18A6-D4A1-4806-94C4-67CF85D4C985}" sibTransId="{73F2DC05-ECC7-4004-AEF0-9196B163DDFC}"/>
    <dgm:cxn modelId="{B80BF687-0B8B-4E25-A35E-AB83345D2EEB}" type="presOf" srcId="{9088183A-A3F2-4B44-9386-A6F00C30A356}" destId="{33360E59-9AA4-4DC7-BEAF-C34569BBDC0B}" srcOrd="0" destOrd="0" presId="urn:microsoft.com/office/officeart/2005/8/layout/orgChart1"/>
    <dgm:cxn modelId="{7AC59E8B-86E8-494F-A714-81C4646C3BF1}" srcId="{BD5F7DBF-E881-45E2-8361-807543FDB9BB}" destId="{E30BF620-089D-4C14-A474-EAFA0E4E0039}" srcOrd="1" destOrd="0" parTransId="{6F3C837F-DCAF-430B-9DD0-E7C2CBAAF88F}" sibTransId="{4515DC08-06F4-4576-8C5C-4067BBDAE4A9}"/>
    <dgm:cxn modelId="{1C36D68C-9468-4390-9811-28365AD09638}" type="presOf" srcId="{46C1D66B-651E-4EAB-9857-8EC300DDDFC7}" destId="{79CED9B2-8B7F-487F-883E-6ECFB23EB72A}" srcOrd="1" destOrd="0" presId="urn:microsoft.com/office/officeart/2005/8/layout/orgChart1"/>
    <dgm:cxn modelId="{06E4B193-D37A-44FF-83D8-4248EC36B6DC}" type="presOf" srcId="{6EDA8AD6-A856-4208-A318-82DC4CC5BC6E}" destId="{C01D8DE6-08A2-4C9F-A34B-15AAE81111CD}" srcOrd="0" destOrd="0" presId="urn:microsoft.com/office/officeart/2005/8/layout/orgChart1"/>
    <dgm:cxn modelId="{4600859F-3891-478A-A47A-E4D3900D5ADA}" type="presOf" srcId="{BD5F7DBF-E881-45E2-8361-807543FDB9BB}" destId="{D2AACFFD-21D8-49B1-97EB-1040099A3433}" srcOrd="1" destOrd="0" presId="urn:microsoft.com/office/officeart/2005/8/layout/orgChart1"/>
    <dgm:cxn modelId="{E0C322A0-4023-4489-9092-967DEA3CF1E4}" type="presOf" srcId="{EAD6E062-E377-4979-98ED-F9CE552BDD9D}" destId="{B99D9578-D631-48C7-B91D-459DF51262A0}" srcOrd="1" destOrd="0" presId="urn:microsoft.com/office/officeart/2005/8/layout/orgChart1"/>
    <dgm:cxn modelId="{E0B1D7A4-6F44-4740-A570-3B9E6DDE9E6C}" srcId="{E30BF620-089D-4C14-A474-EAFA0E4E0039}" destId="{EAD6E062-E377-4979-98ED-F9CE552BDD9D}" srcOrd="1" destOrd="0" parTransId="{6EDA8AD6-A856-4208-A318-82DC4CC5BC6E}" sibTransId="{819FD11B-3D4D-412C-8D1C-936972EA99F7}"/>
    <dgm:cxn modelId="{7392B6AA-6310-47DF-9DB8-50F49F5C89D0}" type="presOf" srcId="{E30BF620-089D-4C14-A474-EAFA0E4E0039}" destId="{F800E966-CE1B-4A8B-87BF-BBA2F988F368}" srcOrd="1" destOrd="0" presId="urn:microsoft.com/office/officeart/2005/8/layout/orgChart1"/>
    <dgm:cxn modelId="{DBE9E7C4-4F62-4ED8-8CEA-D8538DC915C0}" type="presOf" srcId="{CB232CD1-5B25-443B-B1BE-98D7C1E97D7E}" destId="{D6A4F2B7-9692-443F-8C3C-7506FCEC52A5}" srcOrd="0" destOrd="0" presId="urn:microsoft.com/office/officeart/2005/8/layout/orgChart1"/>
    <dgm:cxn modelId="{F46CACD0-338A-40CF-958F-9A36B53016AA}" type="presOf" srcId="{46C1D66B-651E-4EAB-9857-8EC300DDDFC7}" destId="{60563995-309C-4682-B7EF-393368D16D08}" srcOrd="0" destOrd="0" presId="urn:microsoft.com/office/officeart/2005/8/layout/orgChart1"/>
    <dgm:cxn modelId="{6A7BB7D0-EAF6-420D-9993-80A826F1371E}" srcId="{BD5F7DBF-E881-45E2-8361-807543FDB9BB}" destId="{46C1D66B-651E-4EAB-9857-8EC300DDDFC7}" srcOrd="0" destOrd="0" parTransId="{E3543946-1071-4398-B5E1-9F2FACCE8E7D}" sibTransId="{21E2BD5C-E85E-4B5C-8613-BA677385E55A}"/>
    <dgm:cxn modelId="{CBF092DC-012F-4B55-B2E7-A82A73DC187C}" type="presOf" srcId="{EAD6E062-E377-4979-98ED-F9CE552BDD9D}" destId="{9410A41D-C7CE-49E6-9CAE-818355C09718}" srcOrd="0" destOrd="0" presId="urn:microsoft.com/office/officeart/2005/8/layout/orgChart1"/>
    <dgm:cxn modelId="{D36FAEFB-11E2-4F09-968F-012EAE3F2CB7}" srcId="{E30BF620-089D-4C14-A474-EAFA0E4E0039}" destId="{9088183A-A3F2-4B44-9386-A6F00C30A356}" srcOrd="0" destOrd="0" parTransId="{E1D86AF1-5591-4C11-B660-889BB1FBB04F}" sibTransId="{EEF36242-CBA6-492F-BB55-3AED0195ECAC}"/>
    <dgm:cxn modelId="{7558411B-95D9-4A35-A4A5-ED748BC963DE}" type="presParOf" srcId="{D6A4F2B7-9692-443F-8C3C-7506FCEC52A5}" destId="{19FC5C3F-9B80-4F2D-BDE8-DF6E52ADA820}" srcOrd="0" destOrd="0" presId="urn:microsoft.com/office/officeart/2005/8/layout/orgChart1"/>
    <dgm:cxn modelId="{072922F7-C4F6-4A02-9B73-2B0A6BC50B30}" type="presParOf" srcId="{19FC5C3F-9B80-4F2D-BDE8-DF6E52ADA820}" destId="{348D909B-C4DC-4E4E-B357-96E09F70AD86}" srcOrd="0" destOrd="0" presId="urn:microsoft.com/office/officeart/2005/8/layout/orgChart1"/>
    <dgm:cxn modelId="{16DDA2FF-1C67-4C4A-9001-D1E4A7383005}" type="presParOf" srcId="{348D909B-C4DC-4E4E-B357-96E09F70AD86}" destId="{B9352D78-06EA-4C4C-BE19-CB7A93B5D477}" srcOrd="0" destOrd="0" presId="urn:microsoft.com/office/officeart/2005/8/layout/orgChart1"/>
    <dgm:cxn modelId="{6B4B86C6-6C9E-4D38-AB96-2118D16D7E2C}" type="presParOf" srcId="{348D909B-C4DC-4E4E-B357-96E09F70AD86}" destId="{D2AACFFD-21D8-49B1-97EB-1040099A3433}" srcOrd="1" destOrd="0" presId="urn:microsoft.com/office/officeart/2005/8/layout/orgChart1"/>
    <dgm:cxn modelId="{BE69D68D-42E7-4920-848E-BDB18FF3ACEA}" type="presParOf" srcId="{19FC5C3F-9B80-4F2D-BDE8-DF6E52ADA820}" destId="{09DA9A89-FAD3-4347-AE6C-C7079D1584CA}" srcOrd="1" destOrd="0" presId="urn:microsoft.com/office/officeart/2005/8/layout/orgChart1"/>
    <dgm:cxn modelId="{648523A6-6B0F-4625-9694-72CD10215CC2}" type="presParOf" srcId="{09DA9A89-FAD3-4347-AE6C-C7079D1584CA}" destId="{C7CCA813-67FE-4269-A2EF-8B7A762F1A0F}" srcOrd="0" destOrd="0" presId="urn:microsoft.com/office/officeart/2005/8/layout/orgChart1"/>
    <dgm:cxn modelId="{14D32C5B-CD28-4829-A6DD-C30E189DCAC2}" type="presParOf" srcId="{09DA9A89-FAD3-4347-AE6C-C7079D1584CA}" destId="{DFA11F5A-958B-4997-9A7B-403C4BDB01CE}" srcOrd="1" destOrd="0" presId="urn:microsoft.com/office/officeart/2005/8/layout/orgChart1"/>
    <dgm:cxn modelId="{B289F2B9-A355-4A3D-8B5F-33AB8DC79A9D}" type="presParOf" srcId="{DFA11F5A-958B-4997-9A7B-403C4BDB01CE}" destId="{A457C1D7-19A9-41AF-B9A7-4407D351315F}" srcOrd="0" destOrd="0" presId="urn:microsoft.com/office/officeart/2005/8/layout/orgChart1"/>
    <dgm:cxn modelId="{C618A622-6D84-4752-AF02-ADFDE991166F}" type="presParOf" srcId="{A457C1D7-19A9-41AF-B9A7-4407D351315F}" destId="{60563995-309C-4682-B7EF-393368D16D08}" srcOrd="0" destOrd="0" presId="urn:microsoft.com/office/officeart/2005/8/layout/orgChart1"/>
    <dgm:cxn modelId="{3BEB4BEB-4407-40F3-9D0B-342C7C288C4C}" type="presParOf" srcId="{A457C1D7-19A9-41AF-B9A7-4407D351315F}" destId="{79CED9B2-8B7F-487F-883E-6ECFB23EB72A}" srcOrd="1" destOrd="0" presId="urn:microsoft.com/office/officeart/2005/8/layout/orgChart1"/>
    <dgm:cxn modelId="{6F873A14-9DA0-4943-94C4-699117460A52}" type="presParOf" srcId="{DFA11F5A-958B-4997-9A7B-403C4BDB01CE}" destId="{D89F7344-524B-4A50-8CB3-9B274191EA7C}" srcOrd="1" destOrd="0" presId="urn:microsoft.com/office/officeart/2005/8/layout/orgChart1"/>
    <dgm:cxn modelId="{45F66D59-EE7F-4021-843D-659510B36BC7}" type="presParOf" srcId="{DFA11F5A-958B-4997-9A7B-403C4BDB01CE}" destId="{D98C44A2-ABE5-42C7-81D5-0C31109FC8A2}" srcOrd="2" destOrd="0" presId="urn:microsoft.com/office/officeart/2005/8/layout/orgChart1"/>
    <dgm:cxn modelId="{0693E9B0-40EF-48D5-AE1B-A6054FF27EEC}" type="presParOf" srcId="{09DA9A89-FAD3-4347-AE6C-C7079D1584CA}" destId="{211BF73C-1DA6-4D65-9038-FD5A93E8D878}" srcOrd="2" destOrd="0" presId="urn:microsoft.com/office/officeart/2005/8/layout/orgChart1"/>
    <dgm:cxn modelId="{61995A48-3826-4D36-87D4-AA0869595158}" type="presParOf" srcId="{09DA9A89-FAD3-4347-AE6C-C7079D1584CA}" destId="{09BCCD24-1BB3-471F-A44C-48798427AF1A}" srcOrd="3" destOrd="0" presId="urn:microsoft.com/office/officeart/2005/8/layout/orgChart1"/>
    <dgm:cxn modelId="{E2143338-5D3C-4675-A4B1-C0C454689B79}" type="presParOf" srcId="{09BCCD24-1BB3-471F-A44C-48798427AF1A}" destId="{27C8F72D-5DAC-43DB-BAA7-C6C43EF40601}" srcOrd="0" destOrd="0" presId="urn:microsoft.com/office/officeart/2005/8/layout/orgChart1"/>
    <dgm:cxn modelId="{FACE496E-4142-44CD-BEF2-7D53F6A2102D}" type="presParOf" srcId="{27C8F72D-5DAC-43DB-BAA7-C6C43EF40601}" destId="{C2C98CDA-05A4-4F1D-8F66-AABC3323CCAD}" srcOrd="0" destOrd="0" presId="urn:microsoft.com/office/officeart/2005/8/layout/orgChart1"/>
    <dgm:cxn modelId="{2C20A29F-D459-4DC2-AB12-0CCB297D993B}" type="presParOf" srcId="{27C8F72D-5DAC-43DB-BAA7-C6C43EF40601}" destId="{F800E966-CE1B-4A8B-87BF-BBA2F988F368}" srcOrd="1" destOrd="0" presId="urn:microsoft.com/office/officeart/2005/8/layout/orgChart1"/>
    <dgm:cxn modelId="{D37AD60E-BB6E-4DCD-B2F4-F77EEF19CAE9}" type="presParOf" srcId="{09BCCD24-1BB3-471F-A44C-48798427AF1A}" destId="{C1FC7C3F-4C62-4705-ADEF-E749F67A3F0A}" srcOrd="1" destOrd="0" presId="urn:microsoft.com/office/officeart/2005/8/layout/orgChart1"/>
    <dgm:cxn modelId="{5384D510-273F-4C14-8F82-A9C40A40B516}" type="presParOf" srcId="{C1FC7C3F-4C62-4705-ADEF-E749F67A3F0A}" destId="{C01D8DE6-08A2-4C9F-A34B-15AAE81111CD}" srcOrd="0" destOrd="0" presId="urn:microsoft.com/office/officeart/2005/8/layout/orgChart1"/>
    <dgm:cxn modelId="{112D4045-1309-408A-90F1-E45996463237}" type="presParOf" srcId="{C1FC7C3F-4C62-4705-ADEF-E749F67A3F0A}" destId="{C91055F4-7ACD-482C-AE2C-74FC90EF3C51}" srcOrd="1" destOrd="0" presId="urn:microsoft.com/office/officeart/2005/8/layout/orgChart1"/>
    <dgm:cxn modelId="{6AF9C628-D7C5-4EF0-86B4-C867E89F894D}" type="presParOf" srcId="{C91055F4-7ACD-482C-AE2C-74FC90EF3C51}" destId="{993DE72C-D819-46D0-BE80-BF8D07F3A583}" srcOrd="0" destOrd="0" presId="urn:microsoft.com/office/officeart/2005/8/layout/orgChart1"/>
    <dgm:cxn modelId="{CA872F20-E010-4298-953B-7D29B57759EB}" type="presParOf" srcId="{993DE72C-D819-46D0-BE80-BF8D07F3A583}" destId="{9410A41D-C7CE-49E6-9CAE-818355C09718}" srcOrd="0" destOrd="0" presId="urn:microsoft.com/office/officeart/2005/8/layout/orgChart1"/>
    <dgm:cxn modelId="{9854A3E1-4711-42E5-AA9B-A81D3CF2AEA0}" type="presParOf" srcId="{993DE72C-D819-46D0-BE80-BF8D07F3A583}" destId="{B99D9578-D631-48C7-B91D-459DF51262A0}" srcOrd="1" destOrd="0" presId="urn:microsoft.com/office/officeart/2005/8/layout/orgChart1"/>
    <dgm:cxn modelId="{22F3C99E-AC28-4A51-B011-077FE0609A5D}" type="presParOf" srcId="{C91055F4-7ACD-482C-AE2C-74FC90EF3C51}" destId="{36B62EAF-3E33-480D-8784-D201489BE693}" srcOrd="1" destOrd="0" presId="urn:microsoft.com/office/officeart/2005/8/layout/orgChart1"/>
    <dgm:cxn modelId="{373087A2-6DBA-4266-8DB8-046F2683BE27}" type="presParOf" srcId="{C91055F4-7ACD-482C-AE2C-74FC90EF3C51}" destId="{81B1F086-F509-466C-B631-B5B50F376A77}" srcOrd="2" destOrd="0" presId="urn:microsoft.com/office/officeart/2005/8/layout/orgChart1"/>
    <dgm:cxn modelId="{AF78F564-8CAB-4E04-A0B2-E63827866C9B}" type="presParOf" srcId="{09BCCD24-1BB3-471F-A44C-48798427AF1A}" destId="{F471C5DB-B946-47AA-A102-9D37B88F4E71}" srcOrd="2" destOrd="0" presId="urn:microsoft.com/office/officeart/2005/8/layout/orgChart1"/>
    <dgm:cxn modelId="{3EBEA12F-0D05-4FE3-B637-F418131ED8F6}" type="presParOf" srcId="{F471C5DB-B946-47AA-A102-9D37B88F4E71}" destId="{413A756D-4725-4E1C-BC77-AA41309A9C64}" srcOrd="0" destOrd="0" presId="urn:microsoft.com/office/officeart/2005/8/layout/orgChart1"/>
    <dgm:cxn modelId="{2376102C-C182-4648-90AC-62A54C0913ED}" type="presParOf" srcId="{F471C5DB-B946-47AA-A102-9D37B88F4E71}" destId="{5BE3DBD1-20CB-4363-A459-75D42D7AEB2D}" srcOrd="1" destOrd="0" presId="urn:microsoft.com/office/officeart/2005/8/layout/orgChart1"/>
    <dgm:cxn modelId="{27A2606B-E297-449B-97DA-AFE9AB298401}" type="presParOf" srcId="{5BE3DBD1-20CB-4363-A459-75D42D7AEB2D}" destId="{4BF2554D-7E58-4F84-B177-5E3953CAD447}" srcOrd="0" destOrd="0" presId="urn:microsoft.com/office/officeart/2005/8/layout/orgChart1"/>
    <dgm:cxn modelId="{2C259746-948C-4F63-B373-2A3AC7727126}" type="presParOf" srcId="{4BF2554D-7E58-4F84-B177-5E3953CAD447}" destId="{33360E59-9AA4-4DC7-BEAF-C34569BBDC0B}" srcOrd="0" destOrd="0" presId="urn:microsoft.com/office/officeart/2005/8/layout/orgChart1"/>
    <dgm:cxn modelId="{BB60C0C5-826C-4692-BBC0-F633E4EF013B}" type="presParOf" srcId="{4BF2554D-7E58-4F84-B177-5E3953CAD447}" destId="{AF5BA41E-C39F-47DF-982E-DF74D5272E4C}" srcOrd="1" destOrd="0" presId="urn:microsoft.com/office/officeart/2005/8/layout/orgChart1"/>
    <dgm:cxn modelId="{7E68C4B0-A167-4878-980C-E77647F0E71A}" type="presParOf" srcId="{5BE3DBD1-20CB-4363-A459-75D42D7AEB2D}" destId="{9412A77B-0861-4171-8A00-E755E360FAC1}" srcOrd="1" destOrd="0" presId="urn:microsoft.com/office/officeart/2005/8/layout/orgChart1"/>
    <dgm:cxn modelId="{5636B867-B2C2-4F95-9A39-AE4382D6313C}" type="presParOf" srcId="{5BE3DBD1-20CB-4363-A459-75D42D7AEB2D}" destId="{1F8A4E07-5E32-4438-9A8D-42F2D0B656B3}" srcOrd="2" destOrd="0" presId="urn:microsoft.com/office/officeart/2005/8/layout/orgChart1"/>
    <dgm:cxn modelId="{EC2B03E3-2C30-43C8-AE09-A58952AAA7E3}" type="presParOf" srcId="{19FC5C3F-9B80-4F2D-BDE8-DF6E52ADA820}" destId="{FA1BD700-C7B7-4BF7-ABEB-1858DA857167}"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5EEC9A7-8FD3-434B-8AB6-A1DC25135473}"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ID"/>
        </a:p>
      </dgm:t>
    </dgm:pt>
    <dgm:pt modelId="{550FDFF9-38FD-4356-AA58-07D215770930}">
      <dgm:prSet phldrT="[Text]" custT="1"/>
      <dgm:spPr/>
      <dgm:t>
        <a:bodyPr/>
        <a:lstStyle/>
        <a:p>
          <a:r>
            <a:rPr lang="en-US" sz="3000" dirty="0">
              <a:solidFill>
                <a:schemeClr val="tx1"/>
              </a:solidFill>
            </a:rPr>
            <a:t>Probability Sample</a:t>
          </a:r>
          <a:endParaRPr lang="en-ID" sz="3000" dirty="0">
            <a:solidFill>
              <a:schemeClr val="tx1"/>
            </a:solidFill>
          </a:endParaRPr>
        </a:p>
      </dgm:t>
    </dgm:pt>
    <dgm:pt modelId="{C98A1979-2593-4B47-BF98-2ED6A5FD888F}" type="parTrans" cxnId="{6B7BE00F-E003-4C70-A9E1-DD0A859D23C5}">
      <dgm:prSet/>
      <dgm:spPr/>
      <dgm:t>
        <a:bodyPr/>
        <a:lstStyle/>
        <a:p>
          <a:endParaRPr lang="en-ID">
            <a:solidFill>
              <a:schemeClr val="tx1"/>
            </a:solidFill>
          </a:endParaRPr>
        </a:p>
      </dgm:t>
    </dgm:pt>
    <dgm:pt modelId="{19D4040B-4A9E-44B4-9128-6B0DC50B314A}" type="sibTrans" cxnId="{6B7BE00F-E003-4C70-A9E1-DD0A859D23C5}">
      <dgm:prSet/>
      <dgm:spPr/>
      <dgm:t>
        <a:bodyPr/>
        <a:lstStyle/>
        <a:p>
          <a:endParaRPr lang="en-ID">
            <a:solidFill>
              <a:schemeClr val="tx1"/>
            </a:solidFill>
          </a:endParaRPr>
        </a:p>
      </dgm:t>
    </dgm:pt>
    <dgm:pt modelId="{AC5884F4-2742-445E-879F-DFBEBCB28FF6}">
      <dgm:prSet phldrT="[Text]" custT="1"/>
      <dgm:spPr/>
      <dgm:t>
        <a:bodyPr/>
        <a:lstStyle/>
        <a:p>
          <a:r>
            <a:rPr lang="en-US" sz="3000" dirty="0">
              <a:solidFill>
                <a:schemeClr val="tx1"/>
              </a:solidFill>
            </a:rPr>
            <a:t>Nonprobability Sample</a:t>
          </a:r>
          <a:endParaRPr lang="en-ID" sz="3000" dirty="0">
            <a:solidFill>
              <a:schemeClr val="tx1"/>
            </a:solidFill>
          </a:endParaRPr>
        </a:p>
      </dgm:t>
    </dgm:pt>
    <dgm:pt modelId="{AA9744CE-00BE-4CD8-89FD-4EADA9EAB180}" type="parTrans" cxnId="{846F96FA-6033-4058-A587-7613976F6CF3}">
      <dgm:prSet/>
      <dgm:spPr/>
      <dgm:t>
        <a:bodyPr/>
        <a:lstStyle/>
        <a:p>
          <a:endParaRPr lang="en-ID">
            <a:solidFill>
              <a:schemeClr val="tx1"/>
            </a:solidFill>
          </a:endParaRPr>
        </a:p>
      </dgm:t>
    </dgm:pt>
    <dgm:pt modelId="{A82C772E-2E8F-4CF4-A415-9E05F021D161}" type="sibTrans" cxnId="{846F96FA-6033-4058-A587-7613976F6CF3}">
      <dgm:prSet/>
      <dgm:spPr/>
      <dgm:t>
        <a:bodyPr/>
        <a:lstStyle/>
        <a:p>
          <a:endParaRPr lang="en-ID">
            <a:solidFill>
              <a:schemeClr val="tx1"/>
            </a:solidFill>
          </a:endParaRPr>
        </a:p>
      </dgm:t>
    </dgm:pt>
    <dgm:pt modelId="{29C954EA-3CE8-49BB-B68C-A241E430BC82}" type="pres">
      <dgm:prSet presAssocID="{D5EEC9A7-8FD3-434B-8AB6-A1DC25135473}" presName="diagram" presStyleCnt="0">
        <dgm:presLayoutVars>
          <dgm:dir/>
          <dgm:resizeHandles val="exact"/>
        </dgm:presLayoutVars>
      </dgm:prSet>
      <dgm:spPr/>
    </dgm:pt>
    <dgm:pt modelId="{2CCD480D-60C9-4BB1-9A9A-3B5FA4F78969}" type="pres">
      <dgm:prSet presAssocID="{550FDFF9-38FD-4356-AA58-07D215770930}" presName="node" presStyleLbl="node1" presStyleIdx="0" presStyleCnt="2" custScaleX="45044" custScaleY="23542">
        <dgm:presLayoutVars>
          <dgm:bulletEnabled val="1"/>
        </dgm:presLayoutVars>
      </dgm:prSet>
      <dgm:spPr/>
    </dgm:pt>
    <dgm:pt modelId="{3663169B-111F-4B74-92DB-7B1E4CE30FBF}" type="pres">
      <dgm:prSet presAssocID="{19D4040B-4A9E-44B4-9128-6B0DC50B314A}" presName="sibTrans" presStyleCnt="0"/>
      <dgm:spPr/>
    </dgm:pt>
    <dgm:pt modelId="{A944D317-1A9B-4567-8062-73631BAA6081}" type="pres">
      <dgm:prSet presAssocID="{AC5884F4-2742-445E-879F-DFBEBCB28FF6}" presName="node" presStyleLbl="node1" presStyleIdx="1" presStyleCnt="2" custScaleX="45044" custScaleY="23542">
        <dgm:presLayoutVars>
          <dgm:bulletEnabled val="1"/>
        </dgm:presLayoutVars>
      </dgm:prSet>
      <dgm:spPr/>
    </dgm:pt>
  </dgm:ptLst>
  <dgm:cxnLst>
    <dgm:cxn modelId="{6B7BE00F-E003-4C70-A9E1-DD0A859D23C5}" srcId="{D5EEC9A7-8FD3-434B-8AB6-A1DC25135473}" destId="{550FDFF9-38FD-4356-AA58-07D215770930}" srcOrd="0" destOrd="0" parTransId="{C98A1979-2593-4B47-BF98-2ED6A5FD888F}" sibTransId="{19D4040B-4A9E-44B4-9128-6B0DC50B314A}"/>
    <dgm:cxn modelId="{10236A21-3499-4A2D-BF7E-6A5A532FF0C5}" type="presOf" srcId="{AC5884F4-2742-445E-879F-DFBEBCB28FF6}" destId="{A944D317-1A9B-4567-8062-73631BAA6081}" srcOrd="0" destOrd="0" presId="urn:microsoft.com/office/officeart/2005/8/layout/default"/>
    <dgm:cxn modelId="{C28E0FAD-F04E-4D4C-9D0E-28A9FC0A7729}" type="presOf" srcId="{D5EEC9A7-8FD3-434B-8AB6-A1DC25135473}" destId="{29C954EA-3CE8-49BB-B68C-A241E430BC82}" srcOrd="0" destOrd="0" presId="urn:microsoft.com/office/officeart/2005/8/layout/default"/>
    <dgm:cxn modelId="{4FE5F4C0-2FB8-41F0-B1A8-09C730667A7E}" type="presOf" srcId="{550FDFF9-38FD-4356-AA58-07D215770930}" destId="{2CCD480D-60C9-4BB1-9A9A-3B5FA4F78969}" srcOrd="0" destOrd="0" presId="urn:microsoft.com/office/officeart/2005/8/layout/default"/>
    <dgm:cxn modelId="{846F96FA-6033-4058-A587-7613976F6CF3}" srcId="{D5EEC9A7-8FD3-434B-8AB6-A1DC25135473}" destId="{AC5884F4-2742-445E-879F-DFBEBCB28FF6}" srcOrd="1" destOrd="0" parTransId="{AA9744CE-00BE-4CD8-89FD-4EADA9EAB180}" sibTransId="{A82C772E-2E8F-4CF4-A415-9E05F021D161}"/>
    <dgm:cxn modelId="{A74CFB27-AA46-4FF7-A0DA-8ED483266FAA}" type="presParOf" srcId="{29C954EA-3CE8-49BB-B68C-A241E430BC82}" destId="{2CCD480D-60C9-4BB1-9A9A-3B5FA4F78969}" srcOrd="0" destOrd="0" presId="urn:microsoft.com/office/officeart/2005/8/layout/default"/>
    <dgm:cxn modelId="{6CB99F91-A95C-4616-B5C6-FE493FECC546}" type="presParOf" srcId="{29C954EA-3CE8-49BB-B68C-A241E430BC82}" destId="{3663169B-111F-4B74-92DB-7B1E4CE30FBF}" srcOrd="1" destOrd="0" presId="urn:microsoft.com/office/officeart/2005/8/layout/default"/>
    <dgm:cxn modelId="{2B2265B4-BBB6-4333-8A35-BAC9BCBA6561}" type="presParOf" srcId="{29C954EA-3CE8-49BB-B68C-A241E430BC82}" destId="{A944D317-1A9B-4567-8062-73631BAA6081}" srcOrd="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3A756D-4725-4E1C-BC77-AA41309A9C64}">
      <dsp:nvSpPr>
        <dsp:cNvPr id="0" name=""/>
        <dsp:cNvSpPr/>
      </dsp:nvSpPr>
      <dsp:spPr>
        <a:xfrm>
          <a:off x="4753028" y="1385523"/>
          <a:ext cx="230345" cy="986194"/>
        </a:xfrm>
        <a:custGeom>
          <a:avLst/>
          <a:gdLst/>
          <a:ahLst/>
          <a:cxnLst/>
          <a:rect l="0" t="0" r="0" b="0"/>
          <a:pathLst>
            <a:path>
              <a:moveTo>
                <a:pt x="230345" y="0"/>
              </a:moveTo>
              <a:lnTo>
                <a:pt x="230345" y="986194"/>
              </a:lnTo>
              <a:lnTo>
                <a:pt x="0" y="986194"/>
              </a:lnTo>
            </a:path>
          </a:pathLst>
        </a:custGeom>
        <a:noFill/>
        <a:ln w="25400" cap="flat" cmpd="sng" algn="ctr">
          <a:solidFill>
            <a:schemeClr val="accent2">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01D8DE6-08A2-4C9F-A34B-15AAE81111CD}">
      <dsp:nvSpPr>
        <dsp:cNvPr id="0" name=""/>
        <dsp:cNvSpPr/>
      </dsp:nvSpPr>
      <dsp:spPr>
        <a:xfrm>
          <a:off x="4983374" y="1385523"/>
          <a:ext cx="334800" cy="905033"/>
        </a:xfrm>
        <a:custGeom>
          <a:avLst/>
          <a:gdLst/>
          <a:ahLst/>
          <a:cxnLst/>
          <a:rect l="0" t="0" r="0" b="0"/>
          <a:pathLst>
            <a:path>
              <a:moveTo>
                <a:pt x="0" y="0"/>
              </a:moveTo>
              <a:lnTo>
                <a:pt x="0" y="905033"/>
              </a:lnTo>
              <a:lnTo>
                <a:pt x="334800" y="905033"/>
              </a:lnTo>
            </a:path>
          </a:pathLst>
        </a:custGeom>
        <a:noFill/>
        <a:ln w="25400" cap="flat" cmpd="sng" algn="ctr">
          <a:solidFill>
            <a:schemeClr val="accent2">
              <a:tint val="7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11BF73C-1DA6-4D65-9038-FD5A93E8D878}">
      <dsp:nvSpPr>
        <dsp:cNvPr id="0" name=""/>
        <dsp:cNvSpPr/>
      </dsp:nvSpPr>
      <dsp:spPr>
        <a:xfrm>
          <a:off x="3435396" y="503993"/>
          <a:ext cx="1547977" cy="211658"/>
        </a:xfrm>
        <a:custGeom>
          <a:avLst/>
          <a:gdLst/>
          <a:ahLst/>
          <a:cxnLst/>
          <a:rect l="0" t="0" r="0" b="0"/>
          <a:pathLst>
            <a:path>
              <a:moveTo>
                <a:pt x="0" y="0"/>
              </a:moveTo>
              <a:lnTo>
                <a:pt x="0" y="105829"/>
              </a:lnTo>
              <a:lnTo>
                <a:pt x="1547977" y="105829"/>
              </a:lnTo>
              <a:lnTo>
                <a:pt x="1547977" y="211658"/>
              </a:lnTo>
            </a:path>
          </a:pathLst>
        </a:custGeom>
        <a:noFill/>
        <a:ln w="25400" cap="flat" cmpd="sng" algn="ctr">
          <a:solidFill>
            <a:schemeClr val="accent2">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7CCA813-67FE-4269-A2EF-8B7A762F1A0F}">
      <dsp:nvSpPr>
        <dsp:cNvPr id="0" name=""/>
        <dsp:cNvSpPr/>
      </dsp:nvSpPr>
      <dsp:spPr>
        <a:xfrm>
          <a:off x="1670362" y="503993"/>
          <a:ext cx="1765034" cy="211658"/>
        </a:xfrm>
        <a:custGeom>
          <a:avLst/>
          <a:gdLst/>
          <a:ahLst/>
          <a:cxnLst/>
          <a:rect l="0" t="0" r="0" b="0"/>
          <a:pathLst>
            <a:path>
              <a:moveTo>
                <a:pt x="1765034" y="0"/>
              </a:moveTo>
              <a:lnTo>
                <a:pt x="1765034" y="105829"/>
              </a:lnTo>
              <a:lnTo>
                <a:pt x="0" y="105829"/>
              </a:lnTo>
              <a:lnTo>
                <a:pt x="0" y="211658"/>
              </a:lnTo>
            </a:path>
          </a:pathLst>
        </a:custGeom>
        <a:noFill/>
        <a:ln w="25400" cap="flat" cmpd="sng" algn="ctr">
          <a:solidFill>
            <a:schemeClr val="accent2">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9352D78-06EA-4C4C-BE19-CB7A93B5D477}">
      <dsp:nvSpPr>
        <dsp:cNvPr id="0" name=""/>
        <dsp:cNvSpPr/>
      </dsp:nvSpPr>
      <dsp:spPr>
        <a:xfrm>
          <a:off x="2931446" y="44"/>
          <a:ext cx="1007899" cy="503949"/>
        </a:xfrm>
        <a:prstGeom prst="rect">
          <a:avLst/>
        </a:prstGeom>
        <a:solidFill>
          <a:schemeClr val="accent2">
            <a:alpha val="80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Calibri" pitchFamily="34" charset="0"/>
            </a:rPr>
            <a:t>Variables</a:t>
          </a:r>
        </a:p>
      </dsp:txBody>
      <dsp:txXfrm>
        <a:off x="2931446" y="44"/>
        <a:ext cx="1007899" cy="503949"/>
      </dsp:txXfrm>
    </dsp:sp>
    <dsp:sp modelId="{60563995-309C-4682-B7EF-393368D16D08}">
      <dsp:nvSpPr>
        <dsp:cNvPr id="0" name=""/>
        <dsp:cNvSpPr/>
      </dsp:nvSpPr>
      <dsp:spPr>
        <a:xfrm>
          <a:off x="624298" y="715652"/>
          <a:ext cx="2092127" cy="932251"/>
        </a:xfrm>
        <a:prstGeom prst="rect">
          <a:avLst/>
        </a:prstGeom>
        <a:solidFill>
          <a:schemeClr val="accent2">
            <a:alpha val="70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Calibri" pitchFamily="34" charset="0"/>
            </a:rPr>
            <a:t>Categorical Variables (Qualitative)</a:t>
          </a:r>
        </a:p>
      </dsp:txBody>
      <dsp:txXfrm>
        <a:off x="624298" y="715652"/>
        <a:ext cx="2092127" cy="932251"/>
      </dsp:txXfrm>
    </dsp:sp>
    <dsp:sp modelId="{C2C98CDA-05A4-4F1D-8F66-AABC3323CCAD}">
      <dsp:nvSpPr>
        <dsp:cNvPr id="0" name=""/>
        <dsp:cNvSpPr/>
      </dsp:nvSpPr>
      <dsp:spPr>
        <a:xfrm>
          <a:off x="3720254" y="715652"/>
          <a:ext cx="2526240" cy="669870"/>
        </a:xfrm>
        <a:prstGeom prst="rect">
          <a:avLst/>
        </a:prstGeom>
        <a:solidFill>
          <a:schemeClr val="accent2">
            <a:alpha val="70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Calibri" pitchFamily="34" charset="0"/>
            </a:rPr>
            <a:t>Numerical Variables (Quantitative)</a:t>
          </a:r>
        </a:p>
      </dsp:txBody>
      <dsp:txXfrm>
        <a:off x="3720254" y="715652"/>
        <a:ext cx="2526240" cy="669870"/>
      </dsp:txXfrm>
    </dsp:sp>
    <dsp:sp modelId="{9410A41D-C7CE-49E6-9CAE-818355C09718}">
      <dsp:nvSpPr>
        <dsp:cNvPr id="0" name=""/>
        <dsp:cNvSpPr/>
      </dsp:nvSpPr>
      <dsp:spPr>
        <a:xfrm>
          <a:off x="5318174" y="1930897"/>
          <a:ext cx="1943008" cy="719317"/>
        </a:xfrm>
        <a:prstGeom prst="rect">
          <a:avLst/>
        </a:prstGeom>
        <a:solidFill>
          <a:schemeClr val="accent2">
            <a:alpha val="50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Continuous Variables</a:t>
          </a:r>
        </a:p>
      </dsp:txBody>
      <dsp:txXfrm>
        <a:off x="5318174" y="1930897"/>
        <a:ext cx="1943008" cy="719317"/>
      </dsp:txXfrm>
    </dsp:sp>
    <dsp:sp modelId="{33360E59-9AA4-4DC7-BEAF-C34569BBDC0B}">
      <dsp:nvSpPr>
        <dsp:cNvPr id="0" name=""/>
        <dsp:cNvSpPr/>
      </dsp:nvSpPr>
      <dsp:spPr>
        <a:xfrm>
          <a:off x="2803569" y="2159494"/>
          <a:ext cx="1949459" cy="424446"/>
        </a:xfrm>
        <a:prstGeom prst="rect">
          <a:avLst/>
        </a:prstGeom>
        <a:solidFill>
          <a:schemeClr val="accent2">
            <a:alpha val="90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Discrete Variables</a:t>
          </a:r>
        </a:p>
      </dsp:txBody>
      <dsp:txXfrm>
        <a:off x="2803569" y="2159494"/>
        <a:ext cx="1949459" cy="42444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CD480D-60C9-4BB1-9A9A-3B5FA4F78969}">
      <dsp:nvSpPr>
        <dsp:cNvPr id="0" name=""/>
        <dsp:cNvSpPr/>
      </dsp:nvSpPr>
      <dsp:spPr>
        <a:xfrm>
          <a:off x="296" y="1138334"/>
          <a:ext cx="2743200" cy="860231"/>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solidFill>
                <a:schemeClr val="tx1"/>
              </a:solidFill>
            </a:rPr>
            <a:t>Probability Sample</a:t>
          </a:r>
          <a:endParaRPr lang="en-ID" sz="3000" kern="1200" dirty="0">
            <a:solidFill>
              <a:schemeClr val="tx1"/>
            </a:solidFill>
          </a:endParaRPr>
        </a:p>
      </dsp:txBody>
      <dsp:txXfrm>
        <a:off x="296" y="1138334"/>
        <a:ext cx="2743200" cy="860231"/>
      </dsp:txXfrm>
    </dsp:sp>
    <dsp:sp modelId="{A944D317-1A9B-4567-8062-73631BAA6081}">
      <dsp:nvSpPr>
        <dsp:cNvPr id="0" name=""/>
        <dsp:cNvSpPr/>
      </dsp:nvSpPr>
      <dsp:spPr>
        <a:xfrm>
          <a:off x="3352502" y="1138334"/>
          <a:ext cx="2743200" cy="860231"/>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solidFill>
                <a:schemeClr val="tx1"/>
              </a:solidFill>
            </a:rPr>
            <a:t>Nonprobability Sample</a:t>
          </a:r>
          <a:endParaRPr lang="en-ID" sz="3000" kern="1200" dirty="0">
            <a:solidFill>
              <a:schemeClr val="tx1"/>
            </a:solidFill>
          </a:endParaRPr>
        </a:p>
      </dsp:txBody>
      <dsp:txXfrm>
        <a:off x="3352502" y="1138334"/>
        <a:ext cx="2743200" cy="860231"/>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F8C83AE-0F2D-423F-826D-178468C94F72}" type="datetimeFigureOut">
              <a:rPr lang="id-ID" smtClean="0"/>
              <a:pPr/>
              <a:t>19/09/2022</a:t>
            </a:fld>
            <a:endParaRPr lang="id-ID"/>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872D13B-521D-4779-9ED8-F9B91FB1C54D}" type="slidenum">
              <a:rPr lang="id-ID" smtClean="0"/>
              <a:pPr/>
              <a:t>‹#›</a:t>
            </a:fld>
            <a:endParaRPr lang="id-ID"/>
          </a:p>
        </p:txBody>
      </p:sp>
    </p:spTree>
    <p:extLst>
      <p:ext uri="{BB962C8B-B14F-4D97-AF65-F5344CB8AC3E}">
        <p14:creationId xmlns:p14="http://schemas.microsoft.com/office/powerpoint/2010/main" val="39348251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1" descr="Background 01.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762" y="4763"/>
            <a:ext cx="9139237" cy="6461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userDrawn="1"/>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p:cNvSpPr/>
          <p:nvPr userDrawn="1"/>
        </p:nvSpPr>
        <p:spPr>
          <a:xfrm>
            <a:off x="1691679" y="1628800"/>
            <a:ext cx="7452319" cy="5229200"/>
          </a:xfrm>
          <a:prstGeom prst="rect">
            <a:avLst/>
          </a:prstGeom>
          <a:solidFill>
            <a:srgbClr val="008F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1"/>
          <p:cNvSpPr>
            <a:spLocks noGrp="1"/>
          </p:cNvSpPr>
          <p:nvPr>
            <p:ph type="ctrTitle" hasCustomPrompt="1"/>
          </p:nvPr>
        </p:nvSpPr>
        <p:spPr>
          <a:xfrm>
            <a:off x="1835696" y="2708920"/>
            <a:ext cx="7128792" cy="1470025"/>
          </a:xfrm>
        </p:spPr>
        <p:txBody>
          <a:bodyPr/>
          <a:lstStyle>
            <a:lvl1pPr eaLnBrk="1" hangingPunct="1">
              <a:defRPr sz="4400">
                <a:solidFill>
                  <a:schemeClr val="bg1"/>
                </a:solidFill>
              </a:defRPr>
            </a:lvl1pPr>
          </a:lstStyle>
          <a:p>
            <a:pPr eaLnBrk="1" hangingPunct="1"/>
            <a:r>
              <a:rPr lang="en-US" sz="3200" b="1" dirty="0">
                <a:solidFill>
                  <a:schemeClr val="bg1"/>
                </a:solidFill>
                <a:latin typeface="Open Sans" pitchFamily="-84" charset="0"/>
                <a:ea typeface="ＭＳ Ｐゴシック" pitchFamily="34" charset="-128"/>
              </a:rPr>
              <a:t>Headline Open Sans Bold 32pt</a:t>
            </a:r>
          </a:p>
        </p:txBody>
      </p:sp>
      <p:sp>
        <p:nvSpPr>
          <p:cNvPr id="3" name="Subtitle 2"/>
          <p:cNvSpPr>
            <a:spLocks noGrp="1"/>
          </p:cNvSpPr>
          <p:nvPr>
            <p:ph type="subTitle" idx="1"/>
          </p:nvPr>
        </p:nvSpPr>
        <p:spPr>
          <a:xfrm>
            <a:off x="2267744" y="4295527"/>
            <a:ext cx="6400800" cy="576064"/>
          </a:xfrm>
        </p:spPr>
        <p:txBody>
          <a:bodyPr>
            <a:normAutofit/>
          </a:bodyPr>
          <a:lstStyle>
            <a:lvl1pPr marL="0" indent="0" algn="ctr">
              <a:buNone/>
              <a:defRPr sz="2400">
                <a:solidFill>
                  <a:schemeClr val="bg1"/>
                </a:solidFill>
                <a:latin typeface="Open San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id-ID" dirty="0"/>
          </a:p>
        </p:txBody>
      </p:sp>
      <p:sp>
        <p:nvSpPr>
          <p:cNvPr id="4" name="Date Placeholder 3"/>
          <p:cNvSpPr>
            <a:spLocks noGrp="1"/>
          </p:cNvSpPr>
          <p:nvPr>
            <p:ph type="dt" sz="half" idx="10"/>
          </p:nvPr>
        </p:nvSpPr>
        <p:spPr>
          <a:xfrm>
            <a:off x="457200" y="6453336"/>
            <a:ext cx="2133600" cy="365125"/>
          </a:xfrm>
        </p:spPr>
        <p:txBody>
          <a:bodyPr/>
          <a:lstStyle/>
          <a:p>
            <a:fld id="{2F18C426-2F68-4631-B35B-600CDC8AEF61}" type="datetime1">
              <a:rPr lang="id-ID" smtClean="0"/>
              <a:pPr/>
              <a:t>19/09/2022</a:t>
            </a:fld>
            <a:endParaRPr lang="id-ID"/>
          </a:p>
        </p:txBody>
      </p:sp>
      <p:sp>
        <p:nvSpPr>
          <p:cNvPr id="5" name="Footer Placeholder 4"/>
          <p:cNvSpPr>
            <a:spLocks noGrp="1"/>
          </p:cNvSpPr>
          <p:nvPr>
            <p:ph type="ftr" sz="quarter" idx="11"/>
          </p:nvPr>
        </p:nvSpPr>
        <p:spPr>
          <a:xfrm>
            <a:off x="3124200" y="6453336"/>
            <a:ext cx="2895600" cy="365125"/>
          </a:xfrm>
        </p:spPr>
        <p:txBody>
          <a:bodyPr/>
          <a:lstStyle/>
          <a:p>
            <a:r>
              <a:rPr lang="id-ID"/>
              <a:t>Bina Nusantara University</a:t>
            </a:r>
          </a:p>
        </p:txBody>
      </p:sp>
      <p:sp>
        <p:nvSpPr>
          <p:cNvPr id="6" name="Slide Number Placeholder 5"/>
          <p:cNvSpPr>
            <a:spLocks noGrp="1"/>
          </p:cNvSpPr>
          <p:nvPr>
            <p:ph type="sldNum" sz="quarter" idx="12"/>
          </p:nvPr>
        </p:nvSpPr>
        <p:spPr>
          <a:xfrm>
            <a:off x="6553200" y="6453336"/>
            <a:ext cx="2133600" cy="365125"/>
          </a:xfrm>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2725141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1" descr="Background 02.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3937"/>
            <a:ext cx="9143999" cy="6464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p:nvPr userDrawn="1"/>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1"/>
          <p:cNvSpPr>
            <a:spLocks noGrp="1"/>
          </p:cNvSpPr>
          <p:nvPr>
            <p:ph type="title"/>
          </p:nvPr>
        </p:nvSpPr>
        <p:spPr>
          <a:xfrm>
            <a:off x="1911350" y="2060848"/>
            <a:ext cx="6837114" cy="792088"/>
          </a:xfrm>
        </p:spPr>
        <p:txBody>
          <a:bodyPr>
            <a:normAutofit/>
          </a:bodyPr>
          <a:lstStyle>
            <a:lvl1pPr algn="l">
              <a:defRPr sz="3000" b="1">
                <a:solidFill>
                  <a:srgbClr val="0079B8"/>
                </a:solidFill>
                <a:latin typeface="Open Sans"/>
              </a:defRPr>
            </a:lvl1pPr>
          </a:lstStyle>
          <a:p>
            <a:r>
              <a:rPr lang="en-US"/>
              <a:t>Click to edit Master title style</a:t>
            </a:r>
            <a:endParaRPr lang="id-ID" dirty="0"/>
          </a:p>
        </p:txBody>
      </p:sp>
      <p:sp>
        <p:nvSpPr>
          <p:cNvPr id="8" name="Date Placeholder 3"/>
          <p:cNvSpPr>
            <a:spLocks noGrp="1"/>
          </p:cNvSpPr>
          <p:nvPr>
            <p:ph type="dt" sz="half" idx="10"/>
          </p:nvPr>
        </p:nvSpPr>
        <p:spPr>
          <a:xfrm>
            <a:off x="457200" y="6453336"/>
            <a:ext cx="2133600" cy="365125"/>
          </a:xfrm>
        </p:spPr>
        <p:txBody>
          <a:bodyPr/>
          <a:lstStyle/>
          <a:p>
            <a:fld id="{D6613792-933C-4540-8FFF-ED3291DD7899}" type="datetime1">
              <a:rPr lang="id-ID" smtClean="0"/>
              <a:pPr/>
              <a:t>19/09/2022</a:t>
            </a:fld>
            <a:endParaRPr lang="id-ID"/>
          </a:p>
        </p:txBody>
      </p:sp>
      <p:sp>
        <p:nvSpPr>
          <p:cNvPr id="9" name="Footer Placeholder 4"/>
          <p:cNvSpPr>
            <a:spLocks noGrp="1"/>
          </p:cNvSpPr>
          <p:nvPr>
            <p:ph type="ftr" sz="quarter" idx="11"/>
          </p:nvPr>
        </p:nvSpPr>
        <p:spPr>
          <a:xfrm>
            <a:off x="3124200" y="6453336"/>
            <a:ext cx="2895600" cy="365125"/>
          </a:xfrm>
        </p:spPr>
        <p:txBody>
          <a:bodyPr/>
          <a:lstStyle/>
          <a:p>
            <a:r>
              <a:rPr lang="id-ID"/>
              <a:t>Bina Nusantara University</a:t>
            </a:r>
          </a:p>
        </p:txBody>
      </p:sp>
      <p:sp>
        <p:nvSpPr>
          <p:cNvPr id="10" name="Slide Number Placeholder 5"/>
          <p:cNvSpPr>
            <a:spLocks noGrp="1"/>
          </p:cNvSpPr>
          <p:nvPr>
            <p:ph type="sldNum" sz="quarter" idx="12"/>
          </p:nvPr>
        </p:nvSpPr>
        <p:spPr>
          <a:xfrm>
            <a:off x="6553200" y="6453336"/>
            <a:ext cx="2133600" cy="365125"/>
          </a:xfrm>
        </p:spPr>
        <p:txBody>
          <a:bodyPr/>
          <a:lstStyle/>
          <a:p>
            <a:fld id="{F173735F-2667-4028-B606-D96AABD86FDB}" type="slidenum">
              <a:rPr lang="id-ID" smtClean="0"/>
              <a:pPr/>
              <a:t>‹#›</a:t>
            </a:fld>
            <a:endParaRPr lang="id-ID"/>
          </a:p>
        </p:txBody>
      </p:sp>
      <p:sp>
        <p:nvSpPr>
          <p:cNvPr id="14" name="Content Placeholder 2"/>
          <p:cNvSpPr>
            <a:spLocks noGrp="1"/>
          </p:cNvSpPr>
          <p:nvPr>
            <p:ph idx="1"/>
          </p:nvPr>
        </p:nvSpPr>
        <p:spPr>
          <a:xfrm>
            <a:off x="1911350" y="3429001"/>
            <a:ext cx="6837114" cy="3040422"/>
          </a:xfrm>
        </p:spPr>
        <p:txBody>
          <a:bodyPr/>
          <a:lstStyle>
            <a:lvl1pPr>
              <a:defRPr>
                <a:latin typeface="Open Sans"/>
              </a:defRPr>
            </a:lvl1pPr>
            <a:lvl2pPr>
              <a:defRPr>
                <a:latin typeface="Open Sans"/>
              </a:defRPr>
            </a:lvl2pPr>
            <a:lvl3pPr>
              <a:defRPr>
                <a:latin typeface="Open Sans"/>
              </a:defRPr>
            </a:lvl3pPr>
            <a:lvl4pPr>
              <a:defRPr>
                <a:latin typeface="Open Sans"/>
              </a:defRPr>
            </a:lvl4pPr>
            <a:lvl5pPr>
              <a:defRPr>
                <a:latin typeface="Open San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16" name="Subtitle 2"/>
          <p:cNvSpPr>
            <a:spLocks noGrp="1"/>
          </p:cNvSpPr>
          <p:nvPr>
            <p:ph type="subTitle" idx="13"/>
          </p:nvPr>
        </p:nvSpPr>
        <p:spPr>
          <a:xfrm>
            <a:off x="1907704" y="2852936"/>
            <a:ext cx="6840760" cy="504056"/>
          </a:xfrm>
        </p:spPr>
        <p:txBody>
          <a:bodyPr vert="horz" lIns="91440" tIns="45720" rIns="91440" bIns="45720" rtlCol="0" anchor="ctr">
            <a:normAutofit/>
          </a:bodyPr>
          <a:lstStyle>
            <a:lvl1pPr>
              <a:defRPr lang="id-ID" sz="2200" b="1" dirty="0">
                <a:solidFill>
                  <a:srgbClr val="0079B8"/>
                </a:solidFill>
                <a:latin typeface="Open Sans"/>
                <a:ea typeface="+mj-ea"/>
                <a:cs typeface="+mj-cs"/>
              </a:defRPr>
            </a:lvl1pPr>
          </a:lstStyle>
          <a:p>
            <a:pPr lvl="0">
              <a:spcBef>
                <a:spcPct val="0"/>
              </a:spcBef>
              <a:buNone/>
            </a:pPr>
            <a:r>
              <a:rPr lang="en-US"/>
              <a:t>Click to edit Master subtitle style</a:t>
            </a:r>
            <a:endParaRPr lang="id-ID" dirty="0"/>
          </a:p>
        </p:txBody>
      </p:sp>
    </p:spTree>
    <p:extLst>
      <p:ext uri="{BB962C8B-B14F-4D97-AF65-F5344CB8AC3E}">
        <p14:creationId xmlns:p14="http://schemas.microsoft.com/office/powerpoint/2010/main" val="7618699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31640" y="4406901"/>
            <a:ext cx="7344816" cy="678284"/>
          </a:xfrm>
        </p:spPr>
        <p:txBody>
          <a:bodyPr anchor="t">
            <a:noAutofit/>
          </a:bodyPr>
          <a:lstStyle>
            <a:lvl1pPr algn="l">
              <a:defRPr sz="3000" b="1" cap="all"/>
            </a:lvl1pPr>
          </a:lstStyle>
          <a:p>
            <a:r>
              <a:rPr lang="en-US"/>
              <a:t>Click to edit Master title style</a:t>
            </a:r>
            <a:endParaRPr lang="id-ID" dirty="0"/>
          </a:p>
        </p:txBody>
      </p:sp>
      <p:sp>
        <p:nvSpPr>
          <p:cNvPr id="3" name="Text Placeholder 2"/>
          <p:cNvSpPr>
            <a:spLocks noGrp="1"/>
          </p:cNvSpPr>
          <p:nvPr>
            <p:ph type="body" idx="1"/>
          </p:nvPr>
        </p:nvSpPr>
        <p:spPr>
          <a:xfrm>
            <a:off x="1331640" y="2906713"/>
            <a:ext cx="7344816"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FBAE0C-8A90-4C5E-8200-D7E5EE3F6D3F}" type="datetime1">
              <a:rPr lang="id-ID" smtClean="0"/>
              <a:pPr/>
              <a:t>19/09/2022</a:t>
            </a:fld>
            <a:endParaRPr lang="id-ID"/>
          </a:p>
        </p:txBody>
      </p:sp>
      <p:sp>
        <p:nvSpPr>
          <p:cNvPr id="5" name="Footer Placeholder 4"/>
          <p:cNvSpPr>
            <a:spLocks noGrp="1"/>
          </p:cNvSpPr>
          <p:nvPr>
            <p:ph type="ftr" sz="quarter" idx="11"/>
          </p:nvPr>
        </p:nvSpPr>
        <p:spPr/>
        <p:txBody>
          <a:bodyPr/>
          <a:lstStyle/>
          <a:p>
            <a:r>
              <a:rPr lang="id-ID"/>
              <a:t>Bina Nusantara University</a:t>
            </a:r>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5936489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Content Placeholder 2"/>
          <p:cNvSpPr>
            <a:spLocks noGrp="1"/>
          </p:cNvSpPr>
          <p:nvPr>
            <p:ph sz="half" idx="1"/>
          </p:nvPr>
        </p:nvSpPr>
        <p:spPr>
          <a:xfrm>
            <a:off x="1619672" y="2636912"/>
            <a:ext cx="3456384" cy="3489251"/>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4" name="Content Placeholder 3"/>
          <p:cNvSpPr>
            <a:spLocks noGrp="1"/>
          </p:cNvSpPr>
          <p:nvPr>
            <p:ph sz="half" idx="2"/>
          </p:nvPr>
        </p:nvSpPr>
        <p:spPr>
          <a:xfrm>
            <a:off x="5148064" y="2636912"/>
            <a:ext cx="3538736" cy="3489251"/>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5" name="Date Placeholder 4"/>
          <p:cNvSpPr>
            <a:spLocks noGrp="1"/>
          </p:cNvSpPr>
          <p:nvPr>
            <p:ph type="dt" sz="half" idx="10"/>
          </p:nvPr>
        </p:nvSpPr>
        <p:spPr/>
        <p:txBody>
          <a:bodyPr/>
          <a:lstStyle/>
          <a:p>
            <a:fld id="{330C6E6E-6CAA-4B4F-A8E0-9909BF6485EC}" type="datetime1">
              <a:rPr lang="id-ID" smtClean="0"/>
              <a:pPr/>
              <a:t>19/09/2022</a:t>
            </a:fld>
            <a:endParaRPr lang="id-ID"/>
          </a:p>
        </p:txBody>
      </p:sp>
      <p:sp>
        <p:nvSpPr>
          <p:cNvPr id="6" name="Footer Placeholder 5"/>
          <p:cNvSpPr>
            <a:spLocks noGrp="1"/>
          </p:cNvSpPr>
          <p:nvPr>
            <p:ph type="ftr" sz="quarter" idx="11"/>
          </p:nvPr>
        </p:nvSpPr>
        <p:spPr/>
        <p:txBody>
          <a:bodyPr/>
          <a:lstStyle/>
          <a:p>
            <a:r>
              <a:rPr lang="id-ID"/>
              <a:t>Bina Nusantara University</a:t>
            </a:r>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4016327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19672" y="1484784"/>
            <a:ext cx="7067128" cy="1008112"/>
          </a:xfrm>
        </p:spPr>
        <p:txBody>
          <a:bodyPr/>
          <a:lstStyle>
            <a:lvl1pPr>
              <a:defRPr/>
            </a:lvl1pPr>
          </a:lstStyle>
          <a:p>
            <a:r>
              <a:rPr lang="en-US"/>
              <a:t>Click to edit Master title style</a:t>
            </a:r>
            <a:endParaRPr lang="id-ID"/>
          </a:p>
        </p:txBody>
      </p:sp>
      <p:sp>
        <p:nvSpPr>
          <p:cNvPr id="3" name="Text Placeholder 2"/>
          <p:cNvSpPr>
            <a:spLocks noGrp="1"/>
          </p:cNvSpPr>
          <p:nvPr>
            <p:ph type="body" idx="1"/>
          </p:nvPr>
        </p:nvSpPr>
        <p:spPr>
          <a:xfrm>
            <a:off x="1619672" y="2132856"/>
            <a:ext cx="3456384" cy="639762"/>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619672" y="2708920"/>
            <a:ext cx="3456384" cy="3456384"/>
          </a:xfrm>
        </p:spPr>
        <p:txBody>
          <a:bodyPr>
            <a:normAutofit/>
          </a:bodyPr>
          <a:lstStyle>
            <a:lvl1pPr>
              <a:defRPr sz="20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6" name="Content Placeholder 5"/>
          <p:cNvSpPr>
            <a:spLocks noGrp="1"/>
          </p:cNvSpPr>
          <p:nvPr>
            <p:ph sz="quarter" idx="4"/>
          </p:nvPr>
        </p:nvSpPr>
        <p:spPr>
          <a:xfrm>
            <a:off x="5220072" y="2708919"/>
            <a:ext cx="3466728" cy="3456385"/>
          </a:xfrm>
        </p:spPr>
        <p:txBody>
          <a:bodyPr>
            <a:normAutofit/>
          </a:bodyPr>
          <a:lstStyle>
            <a:lvl1pPr>
              <a:defRPr sz="20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7" name="Date Placeholder 6"/>
          <p:cNvSpPr>
            <a:spLocks noGrp="1"/>
          </p:cNvSpPr>
          <p:nvPr>
            <p:ph type="dt" sz="half" idx="10"/>
          </p:nvPr>
        </p:nvSpPr>
        <p:spPr/>
        <p:txBody>
          <a:bodyPr/>
          <a:lstStyle/>
          <a:p>
            <a:fld id="{CB025192-761A-4A19-9613-A423BACF8714}" type="datetime1">
              <a:rPr lang="id-ID" smtClean="0"/>
              <a:pPr/>
              <a:t>19/09/2022</a:t>
            </a:fld>
            <a:endParaRPr lang="id-ID"/>
          </a:p>
        </p:txBody>
      </p:sp>
      <p:sp>
        <p:nvSpPr>
          <p:cNvPr id="8" name="Footer Placeholder 7"/>
          <p:cNvSpPr>
            <a:spLocks noGrp="1"/>
          </p:cNvSpPr>
          <p:nvPr>
            <p:ph type="ftr" sz="quarter" idx="11"/>
          </p:nvPr>
        </p:nvSpPr>
        <p:spPr/>
        <p:txBody>
          <a:bodyPr/>
          <a:lstStyle/>
          <a:p>
            <a:r>
              <a:rPr lang="id-ID"/>
              <a:t>Bina Nusantara University</a:t>
            </a:r>
          </a:p>
        </p:txBody>
      </p:sp>
      <p:sp>
        <p:nvSpPr>
          <p:cNvPr id="9" name="Slide Number Placeholder 8"/>
          <p:cNvSpPr>
            <a:spLocks noGrp="1"/>
          </p:cNvSpPr>
          <p:nvPr>
            <p:ph type="sldNum" sz="quarter" idx="12"/>
          </p:nvPr>
        </p:nvSpPr>
        <p:spPr/>
        <p:txBody>
          <a:bodyPr/>
          <a:lstStyle/>
          <a:p>
            <a:fld id="{F173735F-2667-4028-B606-D96AABD86FDB}" type="slidenum">
              <a:rPr lang="id-ID" smtClean="0"/>
              <a:pPr/>
              <a:t>‹#›</a:t>
            </a:fld>
            <a:endParaRPr lang="id-ID"/>
          </a:p>
        </p:txBody>
      </p:sp>
      <p:sp>
        <p:nvSpPr>
          <p:cNvPr id="10" name="Text Placeholder 2"/>
          <p:cNvSpPr>
            <a:spLocks noGrp="1"/>
          </p:cNvSpPr>
          <p:nvPr>
            <p:ph type="body" idx="13"/>
          </p:nvPr>
        </p:nvSpPr>
        <p:spPr>
          <a:xfrm>
            <a:off x="5220072" y="2132856"/>
            <a:ext cx="3456384" cy="639762"/>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13598559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Date Placeholder 2"/>
          <p:cNvSpPr>
            <a:spLocks noGrp="1"/>
          </p:cNvSpPr>
          <p:nvPr>
            <p:ph type="dt" sz="half" idx="10"/>
          </p:nvPr>
        </p:nvSpPr>
        <p:spPr/>
        <p:txBody>
          <a:bodyPr/>
          <a:lstStyle/>
          <a:p>
            <a:fld id="{CF1815C6-3692-4A0E-AC33-ED40DEBF7EEE}" type="datetime1">
              <a:rPr lang="id-ID" smtClean="0"/>
              <a:pPr/>
              <a:t>19/09/2022</a:t>
            </a:fld>
            <a:endParaRPr lang="id-ID"/>
          </a:p>
        </p:txBody>
      </p:sp>
      <p:sp>
        <p:nvSpPr>
          <p:cNvPr id="4" name="Footer Placeholder 3"/>
          <p:cNvSpPr>
            <a:spLocks noGrp="1"/>
          </p:cNvSpPr>
          <p:nvPr>
            <p:ph type="ftr" sz="quarter" idx="11"/>
          </p:nvPr>
        </p:nvSpPr>
        <p:spPr/>
        <p:txBody>
          <a:bodyPr/>
          <a:lstStyle/>
          <a:p>
            <a:r>
              <a:rPr lang="id-ID"/>
              <a:t>Bina Nusantara University</a:t>
            </a:r>
          </a:p>
        </p:txBody>
      </p:sp>
      <p:sp>
        <p:nvSpPr>
          <p:cNvPr id="5" name="Slide Number Placeholder 4"/>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24355148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02B67E-E4E6-4691-AF68-2AED58C31CF8}" type="datetime1">
              <a:rPr lang="id-ID" smtClean="0"/>
              <a:pPr/>
              <a:t>19/09/2022</a:t>
            </a:fld>
            <a:endParaRPr lang="id-ID"/>
          </a:p>
        </p:txBody>
      </p:sp>
      <p:sp>
        <p:nvSpPr>
          <p:cNvPr id="3" name="Footer Placeholder 2"/>
          <p:cNvSpPr>
            <a:spLocks noGrp="1"/>
          </p:cNvSpPr>
          <p:nvPr>
            <p:ph type="ftr" sz="quarter" idx="11"/>
          </p:nvPr>
        </p:nvSpPr>
        <p:spPr/>
        <p:txBody>
          <a:bodyPr/>
          <a:lstStyle/>
          <a:p>
            <a:r>
              <a:rPr lang="id-ID"/>
              <a:t>Bina Nusantara University</a:t>
            </a:r>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4763"/>
            <a:ext cx="9693629" cy="685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313250" y="2859881"/>
            <a:ext cx="7067128" cy="1143000"/>
          </a:xfrm>
        </p:spPr>
        <p:txBody>
          <a:bodyPr>
            <a:normAutofit/>
          </a:bodyPr>
          <a:lstStyle>
            <a:lvl1pPr>
              <a:defRPr sz="3200">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3273697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07704" y="1628800"/>
            <a:ext cx="6768752" cy="802010"/>
          </a:xfrm>
        </p:spPr>
        <p:txBody>
          <a:bodyPr anchor="b">
            <a:normAutofit/>
          </a:bodyPr>
          <a:lstStyle>
            <a:lvl1pPr algn="l">
              <a:defRPr sz="3000" b="1"/>
            </a:lvl1pPr>
          </a:lstStyle>
          <a:p>
            <a:r>
              <a:rPr lang="en-US"/>
              <a:t>Click to edit Master title style</a:t>
            </a:r>
            <a:endParaRPr lang="id-ID"/>
          </a:p>
        </p:txBody>
      </p:sp>
      <p:sp>
        <p:nvSpPr>
          <p:cNvPr id="3" name="Content Placeholder 2"/>
          <p:cNvSpPr>
            <a:spLocks noGrp="1"/>
          </p:cNvSpPr>
          <p:nvPr>
            <p:ph idx="1"/>
          </p:nvPr>
        </p:nvSpPr>
        <p:spPr>
          <a:xfrm>
            <a:off x="1907705" y="2564904"/>
            <a:ext cx="3168352" cy="3672408"/>
          </a:xfrm>
        </p:spPr>
        <p:txBody>
          <a:bodyPr/>
          <a:lstStyle>
            <a:lvl1pPr>
              <a:defRPr sz="2000"/>
            </a:lvl1pPr>
            <a:lvl2pPr>
              <a:defRPr sz="20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4" name="Text Placeholder 3"/>
          <p:cNvSpPr>
            <a:spLocks noGrp="1"/>
          </p:cNvSpPr>
          <p:nvPr>
            <p:ph type="body" sz="half" idx="2"/>
          </p:nvPr>
        </p:nvSpPr>
        <p:spPr>
          <a:xfrm>
            <a:off x="5220072" y="2564904"/>
            <a:ext cx="3430017" cy="3672160"/>
          </a:xfrm>
        </p:spPr>
        <p:txBody>
          <a:bodyPr>
            <a:norm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B85CA7B-760F-4FB1-9AC1-E4CDE9D91C05}" type="datetime1">
              <a:rPr lang="id-ID" smtClean="0"/>
              <a:pPr/>
              <a:t>19/09/2022</a:t>
            </a:fld>
            <a:endParaRPr lang="id-ID"/>
          </a:p>
        </p:txBody>
      </p:sp>
      <p:sp>
        <p:nvSpPr>
          <p:cNvPr id="6" name="Footer Placeholder 5"/>
          <p:cNvSpPr>
            <a:spLocks noGrp="1"/>
          </p:cNvSpPr>
          <p:nvPr>
            <p:ph type="ftr" sz="quarter" idx="11"/>
          </p:nvPr>
        </p:nvSpPr>
        <p:spPr/>
        <p:txBody>
          <a:bodyPr/>
          <a:lstStyle/>
          <a:p>
            <a:r>
              <a:rPr lang="id-ID"/>
              <a:t>Bina Nusantara University</a:t>
            </a:r>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2161704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6884168" cy="566738"/>
          </a:xfrm>
        </p:spPr>
        <p:txBody>
          <a:bodyPr anchor="b"/>
          <a:lstStyle>
            <a:lvl1pPr algn="l">
              <a:defRPr sz="2000" b="1"/>
            </a:lvl1pPr>
          </a:lstStyle>
          <a:p>
            <a:r>
              <a:rPr lang="en-US"/>
              <a:t>Click to edit Master title style</a:t>
            </a:r>
            <a:endParaRPr lang="id-ID"/>
          </a:p>
        </p:txBody>
      </p:sp>
      <p:sp>
        <p:nvSpPr>
          <p:cNvPr id="3" name="Picture Placeholder 2"/>
          <p:cNvSpPr>
            <a:spLocks noGrp="1"/>
          </p:cNvSpPr>
          <p:nvPr>
            <p:ph type="pic" idx="1"/>
          </p:nvPr>
        </p:nvSpPr>
        <p:spPr>
          <a:xfrm>
            <a:off x="1792288" y="1916832"/>
            <a:ext cx="6884168" cy="281074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id-ID"/>
          </a:p>
        </p:txBody>
      </p:sp>
      <p:sp>
        <p:nvSpPr>
          <p:cNvPr id="4" name="Text Placeholder 3"/>
          <p:cNvSpPr>
            <a:spLocks noGrp="1"/>
          </p:cNvSpPr>
          <p:nvPr>
            <p:ph type="body" sz="half" idx="2"/>
          </p:nvPr>
        </p:nvSpPr>
        <p:spPr>
          <a:xfrm>
            <a:off x="1792288" y="5367338"/>
            <a:ext cx="6884168"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AF833B-1F8A-4E26-A424-11D54CEB8D44}" type="datetime1">
              <a:rPr lang="id-ID" smtClean="0"/>
              <a:pPr/>
              <a:t>19/09/2022</a:t>
            </a:fld>
            <a:endParaRPr lang="id-ID"/>
          </a:p>
        </p:txBody>
      </p:sp>
      <p:sp>
        <p:nvSpPr>
          <p:cNvPr id="6" name="Footer Placeholder 5"/>
          <p:cNvSpPr>
            <a:spLocks noGrp="1"/>
          </p:cNvSpPr>
          <p:nvPr>
            <p:ph type="ftr" sz="quarter" idx="11"/>
          </p:nvPr>
        </p:nvSpPr>
        <p:spPr/>
        <p:txBody>
          <a:bodyPr/>
          <a:lstStyle/>
          <a:p>
            <a:r>
              <a:rPr lang="id-ID"/>
              <a:t>Bina Nusantara University</a:t>
            </a:r>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3193814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10"/>
          </p:nvPr>
        </p:nvSpPr>
        <p:spPr/>
        <p:txBody>
          <a:bodyPr/>
          <a:lstStyle/>
          <a:p>
            <a:fld id="{9113E863-9DCA-4721-B0F1-DF931793A8F5}" type="datetime1">
              <a:rPr lang="id-ID" smtClean="0"/>
              <a:pPr/>
              <a:t>19/09/2022</a:t>
            </a:fld>
            <a:endParaRPr lang="id-ID"/>
          </a:p>
        </p:txBody>
      </p:sp>
      <p:sp>
        <p:nvSpPr>
          <p:cNvPr id="5" name="Footer Placeholder 4"/>
          <p:cNvSpPr>
            <a:spLocks noGrp="1"/>
          </p:cNvSpPr>
          <p:nvPr>
            <p:ph type="ftr" sz="quarter" idx="11"/>
          </p:nvPr>
        </p:nvSpPr>
        <p:spPr/>
        <p:txBody>
          <a:bodyPr/>
          <a:lstStyle/>
          <a:p>
            <a:r>
              <a:rPr lang="id-ID"/>
              <a:t>Bina Nusantara University</a:t>
            </a:r>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6359690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484784"/>
            <a:ext cx="2057400" cy="4641379"/>
          </a:xfrm>
        </p:spPr>
        <p:txBody>
          <a:bodyPr vert="eaVert"/>
          <a:lstStyle/>
          <a:p>
            <a:r>
              <a:rPr lang="en-US"/>
              <a:t>Click to edit Master title style</a:t>
            </a:r>
            <a:endParaRPr lang="id-ID"/>
          </a:p>
        </p:txBody>
      </p:sp>
      <p:sp>
        <p:nvSpPr>
          <p:cNvPr id="3" name="Vertical Text Placeholder 2"/>
          <p:cNvSpPr>
            <a:spLocks noGrp="1"/>
          </p:cNvSpPr>
          <p:nvPr>
            <p:ph type="body" orient="vert" idx="1"/>
          </p:nvPr>
        </p:nvSpPr>
        <p:spPr>
          <a:xfrm>
            <a:off x="1043608" y="1484784"/>
            <a:ext cx="5433392" cy="46413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4" name="Date Placeholder 3"/>
          <p:cNvSpPr>
            <a:spLocks noGrp="1"/>
          </p:cNvSpPr>
          <p:nvPr>
            <p:ph type="dt" sz="half" idx="10"/>
          </p:nvPr>
        </p:nvSpPr>
        <p:spPr/>
        <p:txBody>
          <a:bodyPr/>
          <a:lstStyle/>
          <a:p>
            <a:fld id="{2EE8A457-A279-45AF-9C1A-1502F9763360}" type="datetime1">
              <a:rPr lang="id-ID" smtClean="0"/>
              <a:pPr/>
              <a:t>19/09/2022</a:t>
            </a:fld>
            <a:endParaRPr lang="id-ID"/>
          </a:p>
        </p:txBody>
      </p:sp>
      <p:sp>
        <p:nvSpPr>
          <p:cNvPr id="5" name="Footer Placeholder 4"/>
          <p:cNvSpPr>
            <a:spLocks noGrp="1"/>
          </p:cNvSpPr>
          <p:nvPr>
            <p:ph type="ftr" sz="quarter" idx="11"/>
          </p:nvPr>
        </p:nvSpPr>
        <p:spPr/>
        <p:txBody>
          <a:bodyPr/>
          <a:lstStyle/>
          <a:p>
            <a:r>
              <a:rPr lang="id-ID"/>
              <a:t>Bina Nusantara University</a:t>
            </a:r>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1188760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4" name="Picture 1" descr="Background 02.jpg"/>
          <p:cNvPicPr>
            <a:picLocks noChangeAspect="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0" y="4764"/>
            <a:ext cx="9143999" cy="6464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Placeholder 1"/>
          <p:cNvSpPr>
            <a:spLocks noGrp="1"/>
          </p:cNvSpPr>
          <p:nvPr>
            <p:ph type="title"/>
          </p:nvPr>
        </p:nvSpPr>
        <p:spPr>
          <a:xfrm>
            <a:off x="1619672" y="1484784"/>
            <a:ext cx="7067128" cy="1143000"/>
          </a:xfrm>
          <a:prstGeom prst="rect">
            <a:avLst/>
          </a:prstGeom>
        </p:spPr>
        <p:txBody>
          <a:bodyPr vert="horz" lIns="91440" tIns="45720" rIns="91440" bIns="45720" rtlCol="0" anchor="ctr">
            <a:normAutofit/>
          </a:bodyPr>
          <a:lstStyle/>
          <a:p>
            <a:r>
              <a:rPr lang="en-US"/>
              <a:t>Click to edit Master title style</a:t>
            </a:r>
            <a:endParaRPr lang="id-ID" dirty="0"/>
          </a:p>
        </p:txBody>
      </p:sp>
      <p:sp>
        <p:nvSpPr>
          <p:cNvPr id="3" name="Text Placeholder 2"/>
          <p:cNvSpPr>
            <a:spLocks noGrp="1"/>
          </p:cNvSpPr>
          <p:nvPr>
            <p:ph type="body" idx="1"/>
          </p:nvPr>
        </p:nvSpPr>
        <p:spPr>
          <a:xfrm>
            <a:off x="1619672" y="2636912"/>
            <a:ext cx="7067128" cy="348925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4" name="Date Placeholder 3"/>
          <p:cNvSpPr>
            <a:spLocks noGrp="1"/>
          </p:cNvSpPr>
          <p:nvPr>
            <p:ph type="dt" sz="half" idx="2"/>
          </p:nvPr>
        </p:nvSpPr>
        <p:spPr>
          <a:xfrm>
            <a:off x="457200" y="6453336"/>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528DCA-8851-404E-979E-B2318157D3C4}" type="datetime1">
              <a:rPr lang="id-ID" smtClean="0"/>
              <a:pPr/>
              <a:t>19/09/2022</a:t>
            </a:fld>
            <a:endParaRPr lang="id-ID"/>
          </a:p>
        </p:txBody>
      </p:sp>
      <p:sp>
        <p:nvSpPr>
          <p:cNvPr id="5" name="Footer Placeholder 4"/>
          <p:cNvSpPr>
            <a:spLocks noGrp="1"/>
          </p:cNvSpPr>
          <p:nvPr>
            <p:ph type="ftr" sz="quarter" idx="3"/>
          </p:nvPr>
        </p:nvSpPr>
        <p:spPr>
          <a:xfrm>
            <a:off x="3124200" y="6453336"/>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id-ID"/>
              <a:t>Bina Nusantara University</a:t>
            </a:r>
          </a:p>
        </p:txBody>
      </p:sp>
      <p:sp>
        <p:nvSpPr>
          <p:cNvPr id="6" name="Slide Number Placeholder 5"/>
          <p:cNvSpPr>
            <a:spLocks noGrp="1"/>
          </p:cNvSpPr>
          <p:nvPr>
            <p:ph type="sldNum" sz="quarter" idx="4"/>
          </p:nvPr>
        </p:nvSpPr>
        <p:spPr>
          <a:xfrm>
            <a:off x="6553200" y="6453336"/>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73735F-2667-4028-B606-D96AABD86FDB}" type="slidenum">
              <a:rPr lang="id-ID" smtClean="0"/>
              <a:pPr/>
              <a:t>‹#›</a:t>
            </a:fld>
            <a:endParaRPr lang="id-ID"/>
          </a:p>
        </p:txBody>
      </p:sp>
    </p:spTree>
    <p:extLst>
      <p:ext uri="{BB962C8B-B14F-4D97-AF65-F5344CB8AC3E}">
        <p14:creationId xmlns:p14="http://schemas.microsoft.com/office/powerpoint/2010/main" val="2818913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3000" b="1" kern="1200">
          <a:solidFill>
            <a:srgbClr val="0079B8"/>
          </a:solidFill>
          <a:latin typeface="Open Sans"/>
          <a:ea typeface="+mj-ea"/>
          <a:cs typeface="+mj-cs"/>
        </a:defRPr>
      </a:lvl1pPr>
    </p:titleStyle>
    <p:bodyStyle>
      <a:lvl1pPr marL="342900" indent="-3429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ChangeArrowheads="1"/>
          </p:cNvSpPr>
          <p:nvPr/>
        </p:nvSpPr>
        <p:spPr bwMode="auto">
          <a:xfrm>
            <a:off x="1766887" y="1676400"/>
            <a:ext cx="7377113" cy="1371600"/>
          </a:xfrm>
          <a:prstGeom prst="rect">
            <a:avLst/>
          </a:prstGeom>
          <a:noFill/>
          <a:ln w="9525">
            <a:noFill/>
            <a:miter lim="800000"/>
            <a:headEnd/>
            <a:tailEnd/>
          </a:ln>
        </p:spPr>
        <p:txBody>
          <a:bodyPr/>
          <a:lstStyle/>
          <a:p>
            <a:pPr>
              <a:spcBef>
                <a:spcPct val="20000"/>
              </a:spcBef>
              <a:tabLst>
                <a:tab pos="1320800" algn="l"/>
                <a:tab pos="2054225" algn="l"/>
              </a:tabLst>
            </a:pPr>
            <a:r>
              <a:rPr lang="en-US" sz="2400" dirty="0">
                <a:solidFill>
                  <a:schemeClr val="bg1"/>
                </a:solidFill>
                <a:latin typeface="Open Sans"/>
              </a:rPr>
              <a:t>Course </a:t>
            </a:r>
            <a:r>
              <a:rPr lang="en-US" sz="2400">
                <a:solidFill>
                  <a:schemeClr val="bg1"/>
                </a:solidFill>
                <a:latin typeface="Open Sans"/>
              </a:rPr>
              <a:t>: </a:t>
            </a:r>
            <a:r>
              <a:rPr lang="en-GB" sz="2400">
                <a:solidFill>
                  <a:schemeClr val="bg1"/>
                </a:solidFill>
              </a:rPr>
              <a:t>Basic </a:t>
            </a:r>
            <a:r>
              <a:rPr lang="en-GB" sz="2400" dirty="0">
                <a:solidFill>
                  <a:schemeClr val="bg1"/>
                </a:solidFill>
              </a:rPr>
              <a:t>Statistics</a:t>
            </a:r>
            <a:endParaRPr lang="en-US" sz="2400" dirty="0">
              <a:solidFill>
                <a:schemeClr val="bg1"/>
              </a:solidFill>
              <a:latin typeface="Open Sans"/>
            </a:endParaRPr>
          </a:p>
        </p:txBody>
      </p:sp>
      <p:sp>
        <p:nvSpPr>
          <p:cNvPr id="8" name="Rectangle 6"/>
          <p:cNvSpPr>
            <a:spLocks noGrp="1" noChangeArrowheads="1"/>
          </p:cNvSpPr>
          <p:nvPr>
            <p:ph type="ctrTitle"/>
          </p:nvPr>
        </p:nvSpPr>
        <p:spPr>
          <a:xfrm>
            <a:off x="1676400" y="3352800"/>
            <a:ext cx="7467600" cy="2384425"/>
          </a:xfrm>
          <a:noFill/>
        </p:spPr>
        <p:txBody>
          <a:bodyPr>
            <a:normAutofit/>
          </a:bodyPr>
          <a:lstStyle/>
          <a:p>
            <a:r>
              <a:rPr lang="en-US" sz="4000" dirty="0"/>
              <a:t>Defining and Collecting Data</a:t>
            </a:r>
            <a:br>
              <a:rPr lang="en-AU" dirty="0">
                <a:solidFill>
                  <a:schemeClr val="bg1"/>
                </a:solidFill>
              </a:rPr>
            </a:br>
            <a:br>
              <a:rPr lang="en-AU" dirty="0">
                <a:solidFill>
                  <a:schemeClr val="bg1"/>
                </a:solidFill>
              </a:rPr>
            </a:br>
            <a:r>
              <a:rPr lang="en-US" sz="2800" dirty="0">
                <a:solidFill>
                  <a:schemeClr val="bg1"/>
                </a:solidFill>
              </a:rPr>
              <a:t>Session  1</a:t>
            </a:r>
          </a:p>
        </p:txBody>
      </p:sp>
    </p:spTree>
    <p:extLst>
      <p:ext uri="{BB962C8B-B14F-4D97-AF65-F5344CB8AC3E}">
        <p14:creationId xmlns:p14="http://schemas.microsoft.com/office/powerpoint/2010/main" val="4204421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71600" y="3048000"/>
            <a:ext cx="7294314" cy="1524000"/>
          </a:xfrm>
        </p:spPr>
        <p:txBody>
          <a:bodyPr>
            <a:normAutofit/>
          </a:bodyPr>
          <a:lstStyle/>
          <a:p>
            <a:pPr marL="342900" lvl="0" indent="-342900" algn="just">
              <a:lnSpc>
                <a:spcPct val="150000"/>
              </a:lnSpc>
              <a:spcAft>
                <a:spcPts val="0"/>
              </a:spcAft>
              <a:buFont typeface="+mj-lt"/>
              <a:buAutoNum type="arabicPeriod"/>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Describe </a:t>
            </a:r>
            <a:r>
              <a:rPr lang="en-GB" sz="2400" b="0" i="0" dirty="0">
                <a:effectLst/>
                <a:latin typeface="Times New Roman" panose="02020603050405020304" pitchFamily="18" charset="0"/>
                <a:cs typeface="Times New Roman" panose="02020603050405020304" pitchFamily="18" charset="0"/>
              </a:rPr>
              <a:t>the basic concepts of descriptive and inferential statistics.</a:t>
            </a:r>
          </a:p>
        </p:txBody>
      </p:sp>
      <p:sp>
        <p:nvSpPr>
          <p:cNvPr id="5" name="TextBox 4"/>
          <p:cNvSpPr txBox="1"/>
          <p:nvPr/>
        </p:nvSpPr>
        <p:spPr>
          <a:xfrm>
            <a:off x="3048000" y="2187714"/>
            <a:ext cx="4363759" cy="707886"/>
          </a:xfrm>
          <a:prstGeom prst="rect">
            <a:avLst/>
          </a:prstGeom>
          <a:noFill/>
        </p:spPr>
        <p:txBody>
          <a:bodyPr wrap="none" rtlCol="0">
            <a:spAutoFit/>
          </a:bodyPr>
          <a:lstStyle/>
          <a:p>
            <a:r>
              <a:rPr lang="en-US" sz="4000" b="1" dirty="0"/>
              <a:t>Learning Objectives</a:t>
            </a:r>
          </a:p>
        </p:txBody>
      </p:sp>
      <p:sp>
        <p:nvSpPr>
          <p:cNvPr id="4" name="Slide Number Placeholder 3"/>
          <p:cNvSpPr>
            <a:spLocks noGrp="1"/>
          </p:cNvSpPr>
          <p:nvPr>
            <p:ph type="sldNum" sz="quarter" idx="12"/>
          </p:nvPr>
        </p:nvSpPr>
        <p:spPr/>
        <p:txBody>
          <a:bodyPr/>
          <a:lstStyle/>
          <a:p>
            <a:fld id="{F173735F-2667-4028-B606-D96AABD86FDB}" type="slidenum">
              <a:rPr lang="id-ID" smtClean="0"/>
              <a:pPr/>
              <a:t>2</a:t>
            </a:fld>
            <a:endParaRPr lang="id-ID"/>
          </a:p>
        </p:txBody>
      </p:sp>
      <p:sp>
        <p:nvSpPr>
          <p:cNvPr id="6" name="Footer Placeholder 5"/>
          <p:cNvSpPr>
            <a:spLocks noGrp="1"/>
          </p:cNvSpPr>
          <p:nvPr>
            <p:ph type="ftr" sz="quarter" idx="11"/>
          </p:nvPr>
        </p:nvSpPr>
        <p:spPr/>
        <p:txBody>
          <a:bodyPr/>
          <a:lstStyle/>
          <a:p>
            <a:r>
              <a:rPr lang="id-ID"/>
              <a:t>Bina Nusantara University</a:t>
            </a:r>
          </a:p>
        </p:txBody>
      </p:sp>
    </p:spTree>
    <p:extLst>
      <p:ext uri="{BB962C8B-B14F-4D97-AF65-F5344CB8AC3E}">
        <p14:creationId xmlns:p14="http://schemas.microsoft.com/office/powerpoint/2010/main" val="9949088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pPr lvl="0">
              <a:lnSpc>
                <a:spcPct val="150000"/>
              </a:lnSpc>
              <a:spcAft>
                <a:spcPts val="0"/>
              </a:spcAft>
              <a:tabLst>
                <a:tab pos="2637155" algn="ctr"/>
                <a:tab pos="5274310" algn="r"/>
                <a:tab pos="457200" algn="l"/>
              </a:tabLst>
            </a:pPr>
            <a:r>
              <a:rPr lang="en-US" sz="3000" dirty="0">
                <a:effectLst/>
                <a:latin typeface="Arial" panose="020B0604020202020204" pitchFamily="34" charset="0"/>
                <a:ea typeface="Times New Roman" panose="02020603050405020304" pitchFamily="18" charset="0"/>
                <a:cs typeface="Times New Roman" panose="02020603050405020304" pitchFamily="18" charset="0"/>
              </a:rPr>
              <a:t>USING STATISTICS: DEFINING MOMENTS</a:t>
            </a:r>
            <a:endParaRPr lang="en-ID" sz="3000" dirty="0">
              <a:effectLst/>
              <a:latin typeface="Verdana" panose="020B0604030504040204" pitchFamily="34" charset="0"/>
              <a:ea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F173735F-2667-4028-B606-D96AABD86FDB}" type="slidenum">
              <a:rPr lang="id-ID" smtClean="0"/>
              <a:pPr/>
              <a:t>3</a:t>
            </a:fld>
            <a:endParaRPr lang="id-ID"/>
          </a:p>
        </p:txBody>
      </p:sp>
      <p:sp>
        <p:nvSpPr>
          <p:cNvPr id="4" name="Footer Placeholder 3"/>
          <p:cNvSpPr>
            <a:spLocks noGrp="1"/>
          </p:cNvSpPr>
          <p:nvPr>
            <p:ph type="ftr" sz="quarter" idx="11"/>
          </p:nvPr>
        </p:nvSpPr>
        <p:spPr/>
        <p:txBody>
          <a:bodyPr/>
          <a:lstStyle/>
          <a:p>
            <a:r>
              <a:rPr lang="id-ID"/>
              <a:t>Bina Nusantara University</a:t>
            </a:r>
          </a:p>
        </p:txBody>
      </p:sp>
    </p:spTree>
    <p:extLst>
      <p:ext uri="{BB962C8B-B14F-4D97-AF65-F5344CB8AC3E}">
        <p14:creationId xmlns:p14="http://schemas.microsoft.com/office/powerpoint/2010/main" val="31002358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4945ABF-FF46-49AA-AB0B-985670AC02B3}"/>
              </a:ext>
            </a:extLst>
          </p:cNvPr>
          <p:cNvSpPr>
            <a:spLocks noGrp="1"/>
          </p:cNvSpPr>
          <p:nvPr>
            <p:ph type="ftr" sz="quarter" idx="11"/>
          </p:nvPr>
        </p:nvSpPr>
        <p:spPr/>
        <p:txBody>
          <a:bodyPr/>
          <a:lstStyle/>
          <a:p>
            <a:r>
              <a:rPr lang="id-ID"/>
              <a:t>Bina Nusantara University</a:t>
            </a:r>
          </a:p>
        </p:txBody>
      </p:sp>
      <p:sp>
        <p:nvSpPr>
          <p:cNvPr id="4" name="Slide Number Placeholder 3">
            <a:extLst>
              <a:ext uri="{FF2B5EF4-FFF2-40B4-BE49-F238E27FC236}">
                <a16:creationId xmlns:a16="http://schemas.microsoft.com/office/drawing/2014/main" id="{5D461DEC-4ABD-4163-B066-4BF8549CF01B}"/>
              </a:ext>
            </a:extLst>
          </p:cNvPr>
          <p:cNvSpPr>
            <a:spLocks noGrp="1"/>
          </p:cNvSpPr>
          <p:nvPr>
            <p:ph type="sldNum" sz="quarter" idx="12"/>
          </p:nvPr>
        </p:nvSpPr>
        <p:spPr/>
        <p:txBody>
          <a:bodyPr/>
          <a:lstStyle/>
          <a:p>
            <a:fld id="{F173735F-2667-4028-B606-D96AABD86FDB}" type="slidenum">
              <a:rPr lang="id-ID" smtClean="0"/>
              <a:pPr/>
              <a:t>4</a:t>
            </a:fld>
            <a:endParaRPr lang="id-ID"/>
          </a:p>
        </p:txBody>
      </p:sp>
      <p:sp>
        <p:nvSpPr>
          <p:cNvPr id="9" name="TextBox 8">
            <a:extLst>
              <a:ext uri="{FF2B5EF4-FFF2-40B4-BE49-F238E27FC236}">
                <a16:creationId xmlns:a16="http://schemas.microsoft.com/office/drawing/2014/main" id="{CE2AF772-CE40-4EF2-BF12-9794BF42B2A0}"/>
              </a:ext>
            </a:extLst>
          </p:cNvPr>
          <p:cNvSpPr txBox="1"/>
          <p:nvPr/>
        </p:nvSpPr>
        <p:spPr>
          <a:xfrm>
            <a:off x="1600200" y="1945869"/>
            <a:ext cx="6584944" cy="2966261"/>
          </a:xfrm>
          <a:prstGeom prst="rect">
            <a:avLst/>
          </a:prstGeom>
          <a:noFill/>
        </p:spPr>
        <p:txBody>
          <a:bodyPr wrap="square">
            <a:spAutoFit/>
          </a:bodyPr>
          <a:lstStyle/>
          <a:p>
            <a:pPr algn="just">
              <a:lnSpc>
                <a:spcPct val="150000"/>
              </a:lnSpc>
            </a:pPr>
            <a:r>
              <a:rPr lang="en-GB" sz="1400" b="0" i="0" u="none" strike="noStrike" baseline="0" dirty="0">
                <a:latin typeface="TimesLTPro-Roman"/>
              </a:rPr>
              <a:t>You’re the sales manager in charge of the best-selling beverage in its category. For years, your chief competitor has made sales gains, claiming a better tasting product. Worse, a new sibling product from your company, known for its good taste, has </a:t>
            </a:r>
            <a:r>
              <a:rPr lang="en-ID" sz="1400" b="0" i="0" u="none" strike="noStrike" baseline="0" dirty="0">
                <a:latin typeface="TimesLTPro-Roman"/>
              </a:rPr>
              <a:t>quickly gained significant </a:t>
            </a:r>
            <a:r>
              <a:rPr lang="en-GB" sz="1400" b="0" i="0" u="none" strike="noStrike" baseline="0" dirty="0">
                <a:latin typeface="TimesLTPro-Roman"/>
              </a:rPr>
              <a:t>market share at the expense of your product. Worried that your product may soon lose its number one status, you seek to improve sales by improving the product’s taste. You experiment and develop a new beverage formulation. Using methods taught in this book, you conduct surveys and discover that people overwhelmingly like the newer formulation, and you decide to use that new formulation going forward, having statistically </a:t>
            </a:r>
            <a:r>
              <a:rPr lang="en-ID" sz="1400" b="0" i="0" u="none" strike="noStrike" baseline="0" dirty="0">
                <a:latin typeface="TimesLTPro-Roman"/>
              </a:rPr>
              <a:t>shown that people </a:t>
            </a:r>
            <a:r>
              <a:rPr lang="en-GB" sz="1400" b="0" i="0" u="none" strike="noStrike" baseline="0" dirty="0">
                <a:latin typeface="TimesLTPro-Roman"/>
              </a:rPr>
              <a:t>prefer the new taste formulation. </a:t>
            </a:r>
            <a:r>
              <a:rPr lang="en-GB" sz="1400" b="0" i="1" u="none" strike="noStrike" baseline="0" dirty="0">
                <a:latin typeface="TimesLTPro-Italic"/>
              </a:rPr>
              <a:t>What could go wrong?</a:t>
            </a:r>
            <a:endParaRPr lang="en-ID" sz="1400" dirty="0"/>
          </a:p>
        </p:txBody>
      </p:sp>
    </p:spTree>
    <p:extLst>
      <p:ext uri="{BB962C8B-B14F-4D97-AF65-F5344CB8AC3E}">
        <p14:creationId xmlns:p14="http://schemas.microsoft.com/office/powerpoint/2010/main" val="32278315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4945ABF-FF46-49AA-AB0B-985670AC02B3}"/>
              </a:ext>
            </a:extLst>
          </p:cNvPr>
          <p:cNvSpPr>
            <a:spLocks noGrp="1"/>
          </p:cNvSpPr>
          <p:nvPr>
            <p:ph type="ftr" sz="quarter" idx="11"/>
          </p:nvPr>
        </p:nvSpPr>
        <p:spPr/>
        <p:txBody>
          <a:bodyPr/>
          <a:lstStyle/>
          <a:p>
            <a:r>
              <a:rPr lang="id-ID"/>
              <a:t>Bina Nusantara University</a:t>
            </a:r>
          </a:p>
        </p:txBody>
      </p:sp>
      <p:sp>
        <p:nvSpPr>
          <p:cNvPr id="4" name="Slide Number Placeholder 3">
            <a:extLst>
              <a:ext uri="{FF2B5EF4-FFF2-40B4-BE49-F238E27FC236}">
                <a16:creationId xmlns:a16="http://schemas.microsoft.com/office/drawing/2014/main" id="{5D461DEC-4ABD-4163-B066-4BF8549CF01B}"/>
              </a:ext>
            </a:extLst>
          </p:cNvPr>
          <p:cNvSpPr>
            <a:spLocks noGrp="1"/>
          </p:cNvSpPr>
          <p:nvPr>
            <p:ph type="sldNum" sz="quarter" idx="12"/>
          </p:nvPr>
        </p:nvSpPr>
        <p:spPr/>
        <p:txBody>
          <a:bodyPr/>
          <a:lstStyle/>
          <a:p>
            <a:fld id="{F173735F-2667-4028-B606-D96AABD86FDB}" type="slidenum">
              <a:rPr lang="id-ID" smtClean="0"/>
              <a:pPr/>
              <a:t>5</a:t>
            </a:fld>
            <a:endParaRPr lang="id-ID"/>
          </a:p>
        </p:txBody>
      </p:sp>
      <p:sp>
        <p:nvSpPr>
          <p:cNvPr id="9" name="TextBox 8">
            <a:extLst>
              <a:ext uri="{FF2B5EF4-FFF2-40B4-BE49-F238E27FC236}">
                <a16:creationId xmlns:a16="http://schemas.microsoft.com/office/drawing/2014/main" id="{CE2AF772-CE40-4EF2-BF12-9794BF42B2A0}"/>
              </a:ext>
            </a:extLst>
          </p:cNvPr>
          <p:cNvSpPr txBox="1"/>
          <p:nvPr/>
        </p:nvSpPr>
        <p:spPr>
          <a:xfrm>
            <a:off x="1676400" y="1905000"/>
            <a:ext cx="6629400" cy="3376822"/>
          </a:xfrm>
          <a:prstGeom prst="rect">
            <a:avLst/>
          </a:prstGeom>
          <a:noFill/>
        </p:spPr>
        <p:txBody>
          <a:bodyPr wrap="square">
            <a:spAutoFit/>
          </a:bodyPr>
          <a:lstStyle/>
          <a:p>
            <a:pPr algn="just">
              <a:lnSpc>
                <a:spcPct val="150000"/>
              </a:lnSpc>
            </a:pPr>
            <a:r>
              <a:rPr lang="en-GB" sz="1600" b="0" i="0" u="none" strike="noStrike" baseline="0" dirty="0">
                <a:latin typeface="TimesLTPro-Roman"/>
              </a:rPr>
              <a:t>You’re a senior airline manager who has noticed that your frequent fliers always choose another airline when flying from the United States to Europe. You suspect fliers make that choice because of the other airline’s perceived higher quality. You survey those fliers,, using techniques taught in this book, and confirm your suspicions. You then design a new survey to collect detailed information about the quality of all components of a flight, from the seats to the meals served to the flight attendants’ service. Based on the results of that survey, you approve a costly plan that will enable your airline to match the perceived quality of your competitor. </a:t>
            </a:r>
            <a:r>
              <a:rPr lang="en-GB" sz="1600" b="0" i="1" u="none" strike="noStrike" baseline="0" dirty="0">
                <a:latin typeface="TimesLTPro-Italic"/>
              </a:rPr>
              <a:t>What could go wrong?</a:t>
            </a:r>
            <a:endParaRPr lang="en-ID" sz="1600" dirty="0"/>
          </a:p>
        </p:txBody>
      </p:sp>
    </p:spTree>
    <p:extLst>
      <p:ext uri="{BB962C8B-B14F-4D97-AF65-F5344CB8AC3E}">
        <p14:creationId xmlns:p14="http://schemas.microsoft.com/office/powerpoint/2010/main" val="22340541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pPr lvl="0">
              <a:lnSpc>
                <a:spcPct val="150000"/>
              </a:lnSpc>
              <a:spcAft>
                <a:spcPts val="0"/>
              </a:spcAft>
              <a:tabLst>
                <a:tab pos="2637155" algn="ctr"/>
                <a:tab pos="5274310" algn="r"/>
                <a:tab pos="457200" algn="l"/>
              </a:tabLst>
            </a:pPr>
            <a:r>
              <a:rPr lang="en-US" sz="3000" dirty="0">
                <a:effectLst/>
                <a:latin typeface="Arial" panose="020B0604020202020204" pitchFamily="34" charset="0"/>
                <a:ea typeface="Times New Roman" panose="02020603050405020304" pitchFamily="18" charset="0"/>
                <a:cs typeface="Times New Roman" panose="02020603050405020304" pitchFamily="18" charset="0"/>
              </a:rPr>
              <a:t>DEFINING VARIABLES</a:t>
            </a:r>
            <a:endParaRPr lang="en-ID" sz="3000" dirty="0">
              <a:effectLst/>
              <a:latin typeface="Verdana" panose="020B0604030504040204" pitchFamily="34" charset="0"/>
              <a:ea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F173735F-2667-4028-B606-D96AABD86FDB}" type="slidenum">
              <a:rPr lang="id-ID" smtClean="0"/>
              <a:pPr/>
              <a:t>6</a:t>
            </a:fld>
            <a:endParaRPr lang="id-ID"/>
          </a:p>
        </p:txBody>
      </p:sp>
      <p:sp>
        <p:nvSpPr>
          <p:cNvPr id="4" name="Footer Placeholder 3"/>
          <p:cNvSpPr>
            <a:spLocks noGrp="1"/>
          </p:cNvSpPr>
          <p:nvPr>
            <p:ph type="ftr" sz="quarter" idx="11"/>
          </p:nvPr>
        </p:nvSpPr>
        <p:spPr/>
        <p:txBody>
          <a:bodyPr/>
          <a:lstStyle/>
          <a:p>
            <a:r>
              <a:rPr lang="id-ID"/>
              <a:t>Bina Nusantara University</a:t>
            </a:r>
          </a:p>
        </p:txBody>
      </p:sp>
    </p:spTree>
    <p:extLst>
      <p:ext uri="{BB962C8B-B14F-4D97-AF65-F5344CB8AC3E}">
        <p14:creationId xmlns:p14="http://schemas.microsoft.com/office/powerpoint/2010/main" val="2690144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6E30C54-47B9-43E8-A308-B8E12F67F51C}"/>
              </a:ext>
            </a:extLst>
          </p:cNvPr>
          <p:cNvSpPr>
            <a:spLocks noGrp="1"/>
          </p:cNvSpPr>
          <p:nvPr>
            <p:ph type="ftr" sz="quarter" idx="11"/>
          </p:nvPr>
        </p:nvSpPr>
        <p:spPr/>
        <p:txBody>
          <a:bodyPr/>
          <a:lstStyle/>
          <a:p>
            <a:r>
              <a:rPr lang="id-ID"/>
              <a:t>Bina Nusantara University</a:t>
            </a:r>
          </a:p>
        </p:txBody>
      </p:sp>
      <p:sp>
        <p:nvSpPr>
          <p:cNvPr id="4" name="Slide Number Placeholder 3">
            <a:extLst>
              <a:ext uri="{FF2B5EF4-FFF2-40B4-BE49-F238E27FC236}">
                <a16:creationId xmlns:a16="http://schemas.microsoft.com/office/drawing/2014/main" id="{ECAFE261-6632-4113-B9CA-9590CA58E85B}"/>
              </a:ext>
            </a:extLst>
          </p:cNvPr>
          <p:cNvSpPr>
            <a:spLocks noGrp="1"/>
          </p:cNvSpPr>
          <p:nvPr>
            <p:ph type="sldNum" sz="quarter" idx="12"/>
          </p:nvPr>
        </p:nvSpPr>
        <p:spPr/>
        <p:txBody>
          <a:bodyPr/>
          <a:lstStyle/>
          <a:p>
            <a:fld id="{F173735F-2667-4028-B606-D96AABD86FDB}" type="slidenum">
              <a:rPr lang="id-ID" smtClean="0"/>
              <a:pPr/>
              <a:t>7</a:t>
            </a:fld>
            <a:endParaRPr lang="id-ID"/>
          </a:p>
        </p:txBody>
      </p:sp>
      <p:sp>
        <p:nvSpPr>
          <p:cNvPr id="6" name="TextBox 5">
            <a:extLst>
              <a:ext uri="{FF2B5EF4-FFF2-40B4-BE49-F238E27FC236}">
                <a16:creationId xmlns:a16="http://schemas.microsoft.com/office/drawing/2014/main" id="{712DB624-A646-4F3F-BC4E-6666F8371722}"/>
              </a:ext>
            </a:extLst>
          </p:cNvPr>
          <p:cNvSpPr txBox="1"/>
          <p:nvPr/>
        </p:nvSpPr>
        <p:spPr>
          <a:xfrm>
            <a:off x="1600200" y="2362200"/>
            <a:ext cx="6553200" cy="2956387"/>
          </a:xfrm>
          <a:prstGeom prst="rect">
            <a:avLst/>
          </a:prstGeom>
          <a:noFill/>
        </p:spPr>
        <p:txBody>
          <a:bodyPr wrap="square">
            <a:spAutoFit/>
          </a:bodyPr>
          <a:lstStyle/>
          <a:p>
            <a:pPr algn="just">
              <a:lnSpc>
                <a:spcPct val="150000"/>
              </a:lnSpc>
            </a:pPr>
            <a:r>
              <a:rPr lang="en-GB" sz="1800" b="0" i="0" u="none" strike="noStrike" baseline="0" dirty="0">
                <a:latin typeface="TimesLTPro-Roman"/>
              </a:rPr>
              <a:t>You been hired by Good Tunes &amp; More (GT&amp;M), a local electronics retailer, to assist in establishing a fair and reasonable price for Whitney Wireless, a privately-held chain that GT&amp;M seeks to acquire. You need data that would help to </a:t>
            </a:r>
            <a:r>
              <a:rPr lang="en-GB" sz="1800" b="0" i="0" u="none" strike="noStrike" baseline="0" dirty="0" err="1">
                <a:latin typeface="TimesLTPro-Roman"/>
              </a:rPr>
              <a:t>analyze</a:t>
            </a:r>
            <a:r>
              <a:rPr lang="en-GB" sz="1800" b="0" i="0" u="none" strike="noStrike" baseline="0" dirty="0">
                <a:latin typeface="TimesLTPro-Roman"/>
              </a:rPr>
              <a:t> and verify the contents of the wireless company’s basic financial statements. A GT&amp;M manager suggests that one variable you should use is monthly sales. What do you do?</a:t>
            </a:r>
            <a:endParaRPr lang="en-ID" dirty="0"/>
          </a:p>
        </p:txBody>
      </p:sp>
    </p:spTree>
    <p:extLst>
      <p:ext uri="{BB962C8B-B14F-4D97-AF65-F5344CB8AC3E}">
        <p14:creationId xmlns:p14="http://schemas.microsoft.com/office/powerpoint/2010/main" val="7503424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B3604-210E-4C4C-9991-70C2F1D7CE10}"/>
              </a:ext>
            </a:extLst>
          </p:cNvPr>
          <p:cNvSpPr>
            <a:spLocks noGrp="1"/>
          </p:cNvSpPr>
          <p:nvPr>
            <p:ph type="title"/>
          </p:nvPr>
        </p:nvSpPr>
        <p:spPr/>
        <p:txBody>
          <a:bodyPr>
            <a:normAutofit/>
          </a:bodyPr>
          <a:lstStyle/>
          <a:p>
            <a:r>
              <a:rPr lang="en-ID" i="0" u="none" strike="noStrike" baseline="0" dirty="0">
                <a:solidFill>
                  <a:schemeClr val="tx1"/>
                </a:solidFill>
                <a:latin typeface="Times New Roman" panose="02020603050405020304" pitchFamily="18" charset="0"/>
                <a:cs typeface="Times New Roman" panose="02020603050405020304" pitchFamily="18" charset="0"/>
              </a:rPr>
              <a:t>Classifying Variables by Type</a:t>
            </a:r>
            <a:endParaRPr lang="en-ID" dirty="0">
              <a:solidFill>
                <a:schemeClr val="tx1"/>
              </a:solidFill>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09817074-4E4C-48AE-B5E5-54CF76061644}"/>
              </a:ext>
            </a:extLst>
          </p:cNvPr>
          <p:cNvSpPr>
            <a:spLocks noGrp="1"/>
          </p:cNvSpPr>
          <p:nvPr>
            <p:ph type="ftr" sz="quarter" idx="11"/>
          </p:nvPr>
        </p:nvSpPr>
        <p:spPr/>
        <p:txBody>
          <a:bodyPr/>
          <a:lstStyle/>
          <a:p>
            <a:r>
              <a:rPr lang="id-ID"/>
              <a:t>Bina Nusantara University</a:t>
            </a:r>
          </a:p>
        </p:txBody>
      </p:sp>
      <p:sp>
        <p:nvSpPr>
          <p:cNvPr id="4" name="Slide Number Placeholder 3">
            <a:extLst>
              <a:ext uri="{FF2B5EF4-FFF2-40B4-BE49-F238E27FC236}">
                <a16:creationId xmlns:a16="http://schemas.microsoft.com/office/drawing/2014/main" id="{2AA08557-5DF9-4E23-9696-C2418F7A0D32}"/>
              </a:ext>
            </a:extLst>
          </p:cNvPr>
          <p:cNvSpPr>
            <a:spLocks noGrp="1"/>
          </p:cNvSpPr>
          <p:nvPr>
            <p:ph type="sldNum" sz="quarter" idx="12"/>
          </p:nvPr>
        </p:nvSpPr>
        <p:spPr/>
        <p:txBody>
          <a:bodyPr/>
          <a:lstStyle/>
          <a:p>
            <a:fld id="{F173735F-2667-4028-B606-D96AABD86FDB}" type="slidenum">
              <a:rPr lang="id-ID" smtClean="0"/>
              <a:pPr/>
              <a:t>8</a:t>
            </a:fld>
            <a:endParaRPr lang="id-ID"/>
          </a:p>
        </p:txBody>
      </p:sp>
      <p:graphicFrame>
        <p:nvGraphicFramePr>
          <p:cNvPr id="6" name="Diagram 5">
            <a:extLst>
              <a:ext uri="{FF2B5EF4-FFF2-40B4-BE49-F238E27FC236}">
                <a16:creationId xmlns:a16="http://schemas.microsoft.com/office/drawing/2014/main" id="{3DD695C1-4A2F-43C2-96A4-F7769BB715F2}"/>
              </a:ext>
            </a:extLst>
          </p:cNvPr>
          <p:cNvGraphicFramePr/>
          <p:nvPr>
            <p:extLst>
              <p:ext uri="{D42A27DB-BD31-4B8C-83A1-F6EECF244321}">
                <p14:modId xmlns:p14="http://schemas.microsoft.com/office/powerpoint/2010/main" val="3574533486"/>
              </p:ext>
            </p:extLst>
          </p:nvPr>
        </p:nvGraphicFramePr>
        <p:xfrm>
          <a:off x="1006429" y="2564904"/>
          <a:ext cx="7929618" cy="303215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57086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64B76-B9CB-4D33-BFD2-A03AB6D7ADA3}"/>
              </a:ext>
            </a:extLst>
          </p:cNvPr>
          <p:cNvSpPr>
            <a:spLocks noGrp="1"/>
          </p:cNvSpPr>
          <p:nvPr>
            <p:ph type="title"/>
          </p:nvPr>
        </p:nvSpPr>
        <p:spPr/>
        <p:txBody>
          <a:bodyPr/>
          <a:lstStyle/>
          <a:p>
            <a:r>
              <a:rPr lang="en-ID" i="0" u="none" strike="noStrike" baseline="0" dirty="0">
                <a:solidFill>
                  <a:schemeClr val="tx1"/>
                </a:solidFill>
                <a:latin typeface="Times New Roman" panose="02020603050405020304" pitchFamily="18" charset="0"/>
                <a:cs typeface="Times New Roman" panose="02020603050405020304" pitchFamily="18" charset="0"/>
              </a:rPr>
              <a:t>Classifying Variables by Type</a:t>
            </a:r>
            <a:endParaRPr lang="en-ID" dirty="0"/>
          </a:p>
        </p:txBody>
      </p:sp>
      <p:sp>
        <p:nvSpPr>
          <p:cNvPr id="3" name="Footer Placeholder 2">
            <a:extLst>
              <a:ext uri="{FF2B5EF4-FFF2-40B4-BE49-F238E27FC236}">
                <a16:creationId xmlns:a16="http://schemas.microsoft.com/office/drawing/2014/main" id="{6C63DE98-3E93-4A00-B72E-F7DBDC970FD0}"/>
              </a:ext>
            </a:extLst>
          </p:cNvPr>
          <p:cNvSpPr>
            <a:spLocks noGrp="1"/>
          </p:cNvSpPr>
          <p:nvPr>
            <p:ph type="ftr" sz="quarter" idx="11"/>
          </p:nvPr>
        </p:nvSpPr>
        <p:spPr/>
        <p:txBody>
          <a:bodyPr/>
          <a:lstStyle/>
          <a:p>
            <a:r>
              <a:rPr lang="id-ID"/>
              <a:t>Bina Nusantara University</a:t>
            </a:r>
          </a:p>
        </p:txBody>
      </p:sp>
      <p:sp>
        <p:nvSpPr>
          <p:cNvPr id="4" name="Slide Number Placeholder 3">
            <a:extLst>
              <a:ext uri="{FF2B5EF4-FFF2-40B4-BE49-F238E27FC236}">
                <a16:creationId xmlns:a16="http://schemas.microsoft.com/office/drawing/2014/main" id="{6DE1AD90-6D7A-405F-9073-64991A97AEC5}"/>
              </a:ext>
            </a:extLst>
          </p:cNvPr>
          <p:cNvSpPr>
            <a:spLocks noGrp="1"/>
          </p:cNvSpPr>
          <p:nvPr>
            <p:ph type="sldNum" sz="quarter" idx="12"/>
          </p:nvPr>
        </p:nvSpPr>
        <p:spPr/>
        <p:txBody>
          <a:bodyPr/>
          <a:lstStyle/>
          <a:p>
            <a:fld id="{F173735F-2667-4028-B606-D96AABD86FDB}" type="slidenum">
              <a:rPr lang="id-ID" smtClean="0"/>
              <a:pPr/>
              <a:t>9</a:t>
            </a:fld>
            <a:endParaRPr lang="id-ID"/>
          </a:p>
        </p:txBody>
      </p:sp>
      <p:sp>
        <p:nvSpPr>
          <p:cNvPr id="6" name="TextBox 5">
            <a:extLst>
              <a:ext uri="{FF2B5EF4-FFF2-40B4-BE49-F238E27FC236}">
                <a16:creationId xmlns:a16="http://schemas.microsoft.com/office/drawing/2014/main" id="{626497FD-90F1-46D2-B4F2-39DA549ED8FE}"/>
              </a:ext>
            </a:extLst>
          </p:cNvPr>
          <p:cNvSpPr txBox="1"/>
          <p:nvPr/>
        </p:nvSpPr>
        <p:spPr>
          <a:xfrm>
            <a:off x="1606972" y="2895600"/>
            <a:ext cx="7067128" cy="2351285"/>
          </a:xfrm>
          <a:prstGeom prst="rect">
            <a:avLst/>
          </a:prstGeom>
          <a:noFill/>
        </p:spPr>
        <p:txBody>
          <a:bodyPr wrap="square">
            <a:spAutoFit/>
          </a:bodyPr>
          <a:lstStyle/>
          <a:p>
            <a:pPr algn="just">
              <a:lnSpc>
                <a:spcPct val="150000"/>
              </a:lnSpc>
            </a:pPr>
            <a:r>
              <a:rPr lang="en-GB" sz="2000" b="0" i="0" u="none" strike="noStrike" baseline="0" dirty="0">
                <a:latin typeface="TimesLTPro-Roman"/>
              </a:rPr>
              <a:t>You need to know the type of data that a variable defines in order to choose statistical methods that are appropriate for that data. Broadly, all variables are either </a:t>
            </a:r>
            <a:r>
              <a:rPr lang="en-GB" sz="2000" b="1" i="0" u="none" strike="noStrike" baseline="0" dirty="0">
                <a:latin typeface="TimesLTPro-Bold"/>
              </a:rPr>
              <a:t>numerical</a:t>
            </a:r>
            <a:r>
              <a:rPr lang="en-GB" sz="2000" b="0" i="0" u="none" strike="noStrike" baseline="0" dirty="0">
                <a:latin typeface="TimesLTPro-Roman"/>
              </a:rPr>
              <a:t>, variables whose data represent a counted or measured quantity, or </a:t>
            </a:r>
            <a:r>
              <a:rPr lang="en-GB" sz="2000" b="1" i="0" u="none" strike="noStrike" baseline="0" dirty="0">
                <a:latin typeface="TimesLTPro-Bold"/>
              </a:rPr>
              <a:t>categorical</a:t>
            </a:r>
            <a:r>
              <a:rPr lang="en-GB" sz="2000" b="0" i="0" u="none" strike="noStrike" baseline="0" dirty="0">
                <a:latin typeface="TimesLTPro-Roman"/>
              </a:rPr>
              <a:t>, variables whose data represent </a:t>
            </a:r>
            <a:r>
              <a:rPr lang="en-ID" sz="2000" b="0" i="0" u="none" strike="noStrike" baseline="0" dirty="0">
                <a:latin typeface="TimesLTPro-Roman"/>
              </a:rPr>
              <a:t>categories</a:t>
            </a:r>
            <a:endParaRPr lang="en-ID" sz="2000" dirty="0"/>
          </a:p>
        </p:txBody>
      </p:sp>
    </p:spTree>
    <p:extLst>
      <p:ext uri="{BB962C8B-B14F-4D97-AF65-F5344CB8AC3E}">
        <p14:creationId xmlns:p14="http://schemas.microsoft.com/office/powerpoint/2010/main" val="24030809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2AC23-A881-41C5-A938-FED9A1A7F65B}"/>
              </a:ext>
            </a:extLst>
          </p:cNvPr>
          <p:cNvSpPr>
            <a:spLocks noGrp="1"/>
          </p:cNvSpPr>
          <p:nvPr>
            <p:ph type="title"/>
          </p:nvPr>
        </p:nvSpPr>
        <p:spPr/>
        <p:txBody>
          <a:bodyPr/>
          <a:lstStyle/>
          <a:p>
            <a:r>
              <a:rPr lang="en-ID" i="0" u="none" strike="noStrike" baseline="0" dirty="0">
                <a:solidFill>
                  <a:schemeClr val="tx1"/>
                </a:solidFill>
                <a:latin typeface="Times New Roman" panose="02020603050405020304" pitchFamily="18" charset="0"/>
                <a:cs typeface="Times New Roman" panose="02020603050405020304" pitchFamily="18" charset="0"/>
              </a:rPr>
              <a:t>Classifying Variables by Type</a:t>
            </a:r>
            <a:endParaRPr lang="en-ID" dirty="0"/>
          </a:p>
        </p:txBody>
      </p:sp>
      <p:sp>
        <p:nvSpPr>
          <p:cNvPr id="3" name="Footer Placeholder 2">
            <a:extLst>
              <a:ext uri="{FF2B5EF4-FFF2-40B4-BE49-F238E27FC236}">
                <a16:creationId xmlns:a16="http://schemas.microsoft.com/office/drawing/2014/main" id="{EB6057F4-CEEE-4011-88A0-A7F079A6378E}"/>
              </a:ext>
            </a:extLst>
          </p:cNvPr>
          <p:cNvSpPr>
            <a:spLocks noGrp="1"/>
          </p:cNvSpPr>
          <p:nvPr>
            <p:ph type="ftr" sz="quarter" idx="11"/>
          </p:nvPr>
        </p:nvSpPr>
        <p:spPr/>
        <p:txBody>
          <a:bodyPr/>
          <a:lstStyle/>
          <a:p>
            <a:r>
              <a:rPr lang="id-ID"/>
              <a:t>Bina Nusantara University</a:t>
            </a:r>
          </a:p>
        </p:txBody>
      </p:sp>
      <p:sp>
        <p:nvSpPr>
          <p:cNvPr id="4" name="Slide Number Placeholder 3">
            <a:extLst>
              <a:ext uri="{FF2B5EF4-FFF2-40B4-BE49-F238E27FC236}">
                <a16:creationId xmlns:a16="http://schemas.microsoft.com/office/drawing/2014/main" id="{05C88F95-6465-4061-A6EB-DB4561BBBF2A}"/>
              </a:ext>
            </a:extLst>
          </p:cNvPr>
          <p:cNvSpPr>
            <a:spLocks noGrp="1"/>
          </p:cNvSpPr>
          <p:nvPr>
            <p:ph type="sldNum" sz="quarter" idx="12"/>
          </p:nvPr>
        </p:nvSpPr>
        <p:spPr/>
        <p:txBody>
          <a:bodyPr/>
          <a:lstStyle/>
          <a:p>
            <a:fld id="{F173735F-2667-4028-B606-D96AABD86FDB}" type="slidenum">
              <a:rPr lang="id-ID" smtClean="0"/>
              <a:pPr/>
              <a:t>10</a:t>
            </a:fld>
            <a:endParaRPr lang="id-ID"/>
          </a:p>
        </p:txBody>
      </p:sp>
      <p:sp>
        <p:nvSpPr>
          <p:cNvPr id="6" name="TextBox 5">
            <a:extLst>
              <a:ext uri="{FF2B5EF4-FFF2-40B4-BE49-F238E27FC236}">
                <a16:creationId xmlns:a16="http://schemas.microsoft.com/office/drawing/2014/main" id="{CB24AD67-3B63-4724-81F2-02EA17C165F1}"/>
              </a:ext>
            </a:extLst>
          </p:cNvPr>
          <p:cNvSpPr txBox="1"/>
          <p:nvPr/>
        </p:nvSpPr>
        <p:spPr>
          <a:xfrm>
            <a:off x="1314872" y="2551837"/>
            <a:ext cx="6838528" cy="3371885"/>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GB" sz="1800" b="1" i="0" u="none" strike="noStrike" baseline="0" dirty="0">
                <a:latin typeface="TimesLTPro-Bold"/>
              </a:rPr>
              <a:t>Discrete </a:t>
            </a:r>
            <a:r>
              <a:rPr lang="en-GB" sz="1800" b="0" i="0" u="none" strike="noStrike" baseline="0" dirty="0">
                <a:latin typeface="TimesLTPro-Roman"/>
              </a:rPr>
              <a:t>numerical variables have data that arise from a counting process. Discrete numerical variables include variables that represent a “number of something,” such as the monthly number of smartphones sold in an electronics store.</a:t>
            </a:r>
          </a:p>
          <a:p>
            <a:pPr marL="285750" indent="-285750" algn="just">
              <a:lnSpc>
                <a:spcPct val="150000"/>
              </a:lnSpc>
              <a:buFont typeface="Arial" panose="020B0604020202020204" pitchFamily="34" charset="0"/>
              <a:buChar char="•"/>
            </a:pPr>
            <a:r>
              <a:rPr lang="en-ID" sz="1800" b="1" i="0" u="none" strike="noStrike" baseline="0" dirty="0">
                <a:latin typeface="TimesLTPro-Bold"/>
              </a:rPr>
              <a:t>Continuous </a:t>
            </a:r>
            <a:r>
              <a:rPr lang="en-ID" sz="1800" b="0" i="0" u="none" strike="noStrike" baseline="0" dirty="0">
                <a:latin typeface="TimesLTPro-Roman"/>
              </a:rPr>
              <a:t>numerical </a:t>
            </a:r>
            <a:r>
              <a:rPr lang="en-GB" sz="1800" b="0" i="0" u="none" strike="noStrike" baseline="0" dirty="0">
                <a:latin typeface="TimesLTPro-Roman"/>
              </a:rPr>
              <a:t>variables have data that arise from a measuring process. The variable “the time spent waiting on a checkout line” is a continuous numerical variable because its data represent timing </a:t>
            </a:r>
            <a:r>
              <a:rPr lang="en-ID" sz="1800" b="0" i="0" u="none" strike="noStrike" baseline="0" dirty="0">
                <a:latin typeface="TimesLTPro-Roman"/>
              </a:rPr>
              <a:t>measurements.</a:t>
            </a:r>
            <a:endParaRPr lang="en-ID" dirty="0"/>
          </a:p>
        </p:txBody>
      </p:sp>
    </p:spTree>
    <p:extLst>
      <p:ext uri="{BB962C8B-B14F-4D97-AF65-F5344CB8AC3E}">
        <p14:creationId xmlns:p14="http://schemas.microsoft.com/office/powerpoint/2010/main" val="6884630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0B1EC-0612-47BB-A725-D44A570B414B}"/>
              </a:ext>
            </a:extLst>
          </p:cNvPr>
          <p:cNvSpPr>
            <a:spLocks noGrp="1"/>
          </p:cNvSpPr>
          <p:nvPr>
            <p:ph type="title"/>
          </p:nvPr>
        </p:nvSpPr>
        <p:spPr/>
        <p:txBody>
          <a:bodyPr/>
          <a:lstStyle/>
          <a:p>
            <a:r>
              <a:rPr lang="en-US" dirty="0"/>
              <a:t>Measurement and Scales</a:t>
            </a:r>
            <a:endParaRPr lang="en-ID" dirty="0"/>
          </a:p>
        </p:txBody>
      </p:sp>
      <p:sp>
        <p:nvSpPr>
          <p:cNvPr id="3" name="Footer Placeholder 2">
            <a:extLst>
              <a:ext uri="{FF2B5EF4-FFF2-40B4-BE49-F238E27FC236}">
                <a16:creationId xmlns:a16="http://schemas.microsoft.com/office/drawing/2014/main" id="{AD411485-2CC0-4A0D-9682-BE53DE5808CA}"/>
              </a:ext>
            </a:extLst>
          </p:cNvPr>
          <p:cNvSpPr>
            <a:spLocks noGrp="1"/>
          </p:cNvSpPr>
          <p:nvPr>
            <p:ph type="ftr" sz="quarter" idx="11"/>
          </p:nvPr>
        </p:nvSpPr>
        <p:spPr/>
        <p:txBody>
          <a:bodyPr/>
          <a:lstStyle/>
          <a:p>
            <a:r>
              <a:rPr lang="id-ID"/>
              <a:t>Bina Nusantara University</a:t>
            </a:r>
          </a:p>
        </p:txBody>
      </p:sp>
      <p:sp>
        <p:nvSpPr>
          <p:cNvPr id="4" name="Slide Number Placeholder 3">
            <a:extLst>
              <a:ext uri="{FF2B5EF4-FFF2-40B4-BE49-F238E27FC236}">
                <a16:creationId xmlns:a16="http://schemas.microsoft.com/office/drawing/2014/main" id="{0B4B07B6-706B-4072-890F-E29BA3806C47}"/>
              </a:ext>
            </a:extLst>
          </p:cNvPr>
          <p:cNvSpPr>
            <a:spLocks noGrp="1"/>
          </p:cNvSpPr>
          <p:nvPr>
            <p:ph type="sldNum" sz="quarter" idx="12"/>
          </p:nvPr>
        </p:nvSpPr>
        <p:spPr/>
        <p:txBody>
          <a:bodyPr/>
          <a:lstStyle/>
          <a:p>
            <a:fld id="{F173735F-2667-4028-B606-D96AABD86FDB}" type="slidenum">
              <a:rPr lang="id-ID" smtClean="0"/>
              <a:pPr/>
              <a:t>11</a:t>
            </a:fld>
            <a:endParaRPr lang="id-ID"/>
          </a:p>
        </p:txBody>
      </p:sp>
      <p:sp>
        <p:nvSpPr>
          <p:cNvPr id="6" name="TextBox 5">
            <a:extLst>
              <a:ext uri="{FF2B5EF4-FFF2-40B4-BE49-F238E27FC236}">
                <a16:creationId xmlns:a16="http://schemas.microsoft.com/office/drawing/2014/main" id="{DE576417-2D79-4C66-B357-BC32388B9EB9}"/>
              </a:ext>
            </a:extLst>
          </p:cNvPr>
          <p:cNvSpPr txBox="1"/>
          <p:nvPr/>
        </p:nvSpPr>
        <p:spPr>
          <a:xfrm>
            <a:off x="1295400" y="2627784"/>
            <a:ext cx="7315200" cy="1200329"/>
          </a:xfrm>
          <a:prstGeom prst="rect">
            <a:avLst/>
          </a:prstGeom>
          <a:noFill/>
        </p:spPr>
        <p:txBody>
          <a:bodyPr wrap="square">
            <a:spAutoFit/>
          </a:bodyPr>
          <a:lstStyle/>
          <a:p>
            <a:pPr algn="just"/>
            <a:r>
              <a:rPr lang="en-GB" sz="1800" b="0" i="0" u="none" strike="noStrike" baseline="0" dirty="0">
                <a:latin typeface="TimesLTPro-Roman"/>
              </a:rPr>
              <a:t>You identify the </a:t>
            </a:r>
            <a:r>
              <a:rPr lang="en-GB" sz="1800" b="1" i="0" u="none" strike="noStrike" baseline="0" dirty="0">
                <a:latin typeface="TimesLTPro-Bold"/>
              </a:rPr>
              <a:t>measurement scale </a:t>
            </a:r>
            <a:r>
              <a:rPr lang="en-GB" sz="1800" b="0" i="0" u="none" strike="noStrike" baseline="0" dirty="0">
                <a:latin typeface="TimesLTPro-Roman"/>
              </a:rPr>
              <a:t>that the data for a variable represent, as part of defining a variable. The measurement scale defines the ordering of values and determines if differences among pairs of values for a variable are equivalent and whether you can express one value in </a:t>
            </a:r>
            <a:r>
              <a:rPr lang="en-ID" sz="1800" b="0" i="0" u="none" strike="noStrike" baseline="0" dirty="0">
                <a:latin typeface="TimesLTPro-Roman"/>
              </a:rPr>
              <a:t>terms of another.</a:t>
            </a:r>
            <a:endParaRPr lang="en-ID" dirty="0"/>
          </a:p>
        </p:txBody>
      </p:sp>
      <p:pic>
        <p:nvPicPr>
          <p:cNvPr id="8" name="Picture 7">
            <a:extLst>
              <a:ext uri="{FF2B5EF4-FFF2-40B4-BE49-F238E27FC236}">
                <a16:creationId xmlns:a16="http://schemas.microsoft.com/office/drawing/2014/main" id="{EF100752-8023-40DD-91E5-81C91EABD99F}"/>
              </a:ext>
            </a:extLst>
          </p:cNvPr>
          <p:cNvPicPr>
            <a:picLocks noChangeAspect="1"/>
          </p:cNvPicPr>
          <p:nvPr/>
        </p:nvPicPr>
        <p:blipFill>
          <a:blip r:embed="rId2"/>
          <a:stretch>
            <a:fillRect/>
          </a:stretch>
        </p:blipFill>
        <p:spPr>
          <a:xfrm>
            <a:off x="1452562" y="4179417"/>
            <a:ext cx="7000875" cy="1466850"/>
          </a:xfrm>
          <a:prstGeom prst="rect">
            <a:avLst/>
          </a:prstGeom>
        </p:spPr>
      </p:pic>
    </p:spTree>
    <p:extLst>
      <p:ext uri="{BB962C8B-B14F-4D97-AF65-F5344CB8AC3E}">
        <p14:creationId xmlns:p14="http://schemas.microsoft.com/office/powerpoint/2010/main" val="28497691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1415DF7-AF0E-410B-AF32-B3A479F5D9FF}"/>
              </a:ext>
            </a:extLst>
          </p:cNvPr>
          <p:cNvSpPr>
            <a:spLocks noGrp="1"/>
          </p:cNvSpPr>
          <p:nvPr>
            <p:ph type="ftr" sz="quarter" idx="11"/>
          </p:nvPr>
        </p:nvSpPr>
        <p:spPr/>
        <p:txBody>
          <a:bodyPr/>
          <a:lstStyle/>
          <a:p>
            <a:r>
              <a:rPr lang="id-ID"/>
              <a:t>Bina Nusantara University</a:t>
            </a:r>
          </a:p>
        </p:txBody>
      </p:sp>
      <p:sp>
        <p:nvSpPr>
          <p:cNvPr id="4" name="Slide Number Placeholder 3">
            <a:extLst>
              <a:ext uri="{FF2B5EF4-FFF2-40B4-BE49-F238E27FC236}">
                <a16:creationId xmlns:a16="http://schemas.microsoft.com/office/drawing/2014/main" id="{B1AC1464-B201-4F85-A997-FCFECD1D31FB}"/>
              </a:ext>
            </a:extLst>
          </p:cNvPr>
          <p:cNvSpPr>
            <a:spLocks noGrp="1"/>
          </p:cNvSpPr>
          <p:nvPr>
            <p:ph type="sldNum" sz="quarter" idx="12"/>
          </p:nvPr>
        </p:nvSpPr>
        <p:spPr/>
        <p:txBody>
          <a:bodyPr/>
          <a:lstStyle/>
          <a:p>
            <a:fld id="{F173735F-2667-4028-B606-D96AABD86FDB}" type="slidenum">
              <a:rPr lang="id-ID" smtClean="0"/>
              <a:pPr/>
              <a:t>12</a:t>
            </a:fld>
            <a:endParaRPr lang="id-ID"/>
          </a:p>
        </p:txBody>
      </p:sp>
      <p:sp>
        <p:nvSpPr>
          <p:cNvPr id="6" name="TextBox 5">
            <a:extLst>
              <a:ext uri="{FF2B5EF4-FFF2-40B4-BE49-F238E27FC236}">
                <a16:creationId xmlns:a16="http://schemas.microsoft.com/office/drawing/2014/main" id="{CBE416FD-8291-49BF-9D1D-E595E07ABD6A}"/>
              </a:ext>
            </a:extLst>
          </p:cNvPr>
          <p:cNvSpPr txBox="1"/>
          <p:nvPr/>
        </p:nvSpPr>
        <p:spPr>
          <a:xfrm>
            <a:off x="1143000" y="1905000"/>
            <a:ext cx="7543800" cy="923330"/>
          </a:xfrm>
          <a:prstGeom prst="rect">
            <a:avLst/>
          </a:prstGeom>
          <a:noFill/>
        </p:spPr>
        <p:txBody>
          <a:bodyPr wrap="square">
            <a:spAutoFit/>
          </a:bodyPr>
          <a:lstStyle/>
          <a:p>
            <a:pPr algn="just"/>
            <a:r>
              <a:rPr lang="en-GB" sz="1800" b="0" i="0" u="none" strike="noStrike" baseline="0" dirty="0">
                <a:latin typeface="TimesLTPro-Roman"/>
              </a:rPr>
              <a:t>You define numerical variables as using either an </a:t>
            </a:r>
            <a:r>
              <a:rPr lang="en-GB" sz="1800" b="1" i="0" u="none" strike="noStrike" baseline="0" dirty="0">
                <a:latin typeface="TimesLTPro-Bold"/>
              </a:rPr>
              <a:t>interval scale</a:t>
            </a:r>
            <a:r>
              <a:rPr lang="en-GB" sz="1800" b="0" i="0" u="none" strike="noStrike" baseline="0" dirty="0">
                <a:latin typeface="TimesLTPro-Roman"/>
              </a:rPr>
              <a:t>, which expresses a difference between measurements that do not include a true zero point, or a </a:t>
            </a:r>
            <a:r>
              <a:rPr lang="en-GB" sz="1800" b="1" i="0" u="none" strike="noStrike" baseline="0" dirty="0">
                <a:latin typeface="TimesLTPro-Bold"/>
              </a:rPr>
              <a:t>ratio scale</a:t>
            </a:r>
            <a:r>
              <a:rPr lang="en-GB" sz="1800" b="0" i="0" u="none" strike="noStrike" baseline="0" dirty="0">
                <a:latin typeface="TimesLTPro-Roman"/>
              </a:rPr>
              <a:t>, an ordered scale that includes a true zero point.</a:t>
            </a:r>
            <a:endParaRPr lang="en-ID" dirty="0"/>
          </a:p>
        </p:txBody>
      </p:sp>
      <p:sp>
        <p:nvSpPr>
          <p:cNvPr id="8" name="TextBox 7">
            <a:extLst>
              <a:ext uri="{FF2B5EF4-FFF2-40B4-BE49-F238E27FC236}">
                <a16:creationId xmlns:a16="http://schemas.microsoft.com/office/drawing/2014/main" id="{9E00E19F-7ECC-489E-A645-14FF0491EAE6}"/>
              </a:ext>
            </a:extLst>
          </p:cNvPr>
          <p:cNvSpPr txBox="1"/>
          <p:nvPr/>
        </p:nvSpPr>
        <p:spPr>
          <a:xfrm>
            <a:off x="2667000" y="3429000"/>
            <a:ext cx="5334000" cy="2308324"/>
          </a:xfrm>
          <a:prstGeom prst="rect">
            <a:avLst/>
          </a:prstGeom>
          <a:noFill/>
        </p:spPr>
        <p:txBody>
          <a:bodyPr wrap="square">
            <a:spAutoFit/>
          </a:bodyPr>
          <a:lstStyle/>
          <a:p>
            <a:pPr algn="just"/>
            <a:r>
              <a:rPr lang="en-GB" sz="1800" b="0" i="0" u="none" strike="noStrike" baseline="0" dirty="0">
                <a:latin typeface="TimesLTPro-Roman"/>
              </a:rPr>
              <a:t>Categorical variables use measurement scales that provide less insight into the values for the variable. For data measured on a </a:t>
            </a:r>
            <a:r>
              <a:rPr lang="en-GB" sz="1800" b="1" i="0" u="none" strike="noStrike" baseline="0" dirty="0">
                <a:latin typeface="TimesLTPro-Bold"/>
              </a:rPr>
              <a:t>nominal scale</a:t>
            </a:r>
            <a:r>
              <a:rPr lang="en-GB" sz="1800" b="0" i="0" u="none" strike="noStrike" baseline="0" dirty="0">
                <a:latin typeface="TimesLTPro-Roman"/>
              </a:rPr>
              <a:t>, category values express no order or ranking. For data measured on an </a:t>
            </a:r>
            <a:r>
              <a:rPr lang="en-GB" sz="1800" b="1" i="0" u="none" strike="noStrike" baseline="0" dirty="0">
                <a:latin typeface="TimesLTPro-Bold"/>
              </a:rPr>
              <a:t>ordinal scale</a:t>
            </a:r>
            <a:r>
              <a:rPr lang="en-GB" sz="1800" b="0" i="0" u="none" strike="noStrike" baseline="0" dirty="0">
                <a:latin typeface="TimesLTPro-Roman"/>
              </a:rPr>
              <a:t>, an ordering or ranking of category values is implied. Ordinal scales give you some information to compare values but not as much as interval </a:t>
            </a:r>
            <a:r>
              <a:rPr lang="en-ID" sz="1800" b="0" i="0" u="none" strike="noStrike" baseline="0" dirty="0">
                <a:latin typeface="TimesLTPro-Roman"/>
              </a:rPr>
              <a:t>or ratio scales.</a:t>
            </a:r>
            <a:endParaRPr lang="en-ID" dirty="0"/>
          </a:p>
        </p:txBody>
      </p:sp>
    </p:spTree>
    <p:extLst>
      <p:ext uri="{BB962C8B-B14F-4D97-AF65-F5344CB8AC3E}">
        <p14:creationId xmlns:p14="http://schemas.microsoft.com/office/powerpoint/2010/main" val="18512936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BD814-4E1A-44E1-A6FC-B3180B485E9B}"/>
              </a:ext>
            </a:extLst>
          </p:cNvPr>
          <p:cNvSpPr>
            <a:spLocks noGrp="1"/>
          </p:cNvSpPr>
          <p:nvPr>
            <p:ph type="title"/>
          </p:nvPr>
        </p:nvSpPr>
        <p:spPr/>
        <p:txBody>
          <a:bodyPr/>
          <a:lstStyle/>
          <a:p>
            <a:r>
              <a:rPr lang="en-US" dirty="0"/>
              <a:t>LEARNING THE BASICS</a:t>
            </a:r>
            <a:endParaRPr lang="en-ID" dirty="0"/>
          </a:p>
        </p:txBody>
      </p:sp>
      <p:sp>
        <p:nvSpPr>
          <p:cNvPr id="3" name="Footer Placeholder 2">
            <a:extLst>
              <a:ext uri="{FF2B5EF4-FFF2-40B4-BE49-F238E27FC236}">
                <a16:creationId xmlns:a16="http://schemas.microsoft.com/office/drawing/2014/main" id="{E6B2DD21-FCBA-4F86-8887-66F487F9AA5A}"/>
              </a:ext>
            </a:extLst>
          </p:cNvPr>
          <p:cNvSpPr>
            <a:spLocks noGrp="1"/>
          </p:cNvSpPr>
          <p:nvPr>
            <p:ph type="ftr" sz="quarter" idx="11"/>
          </p:nvPr>
        </p:nvSpPr>
        <p:spPr/>
        <p:txBody>
          <a:bodyPr/>
          <a:lstStyle/>
          <a:p>
            <a:r>
              <a:rPr lang="id-ID"/>
              <a:t>Bina Nusantara University</a:t>
            </a:r>
          </a:p>
        </p:txBody>
      </p:sp>
      <p:sp>
        <p:nvSpPr>
          <p:cNvPr id="4" name="Slide Number Placeholder 3">
            <a:extLst>
              <a:ext uri="{FF2B5EF4-FFF2-40B4-BE49-F238E27FC236}">
                <a16:creationId xmlns:a16="http://schemas.microsoft.com/office/drawing/2014/main" id="{9C0FCA34-FEB0-4470-B344-9994EA354834}"/>
              </a:ext>
            </a:extLst>
          </p:cNvPr>
          <p:cNvSpPr>
            <a:spLocks noGrp="1"/>
          </p:cNvSpPr>
          <p:nvPr>
            <p:ph type="sldNum" sz="quarter" idx="12"/>
          </p:nvPr>
        </p:nvSpPr>
        <p:spPr/>
        <p:txBody>
          <a:bodyPr/>
          <a:lstStyle/>
          <a:p>
            <a:fld id="{F173735F-2667-4028-B606-D96AABD86FDB}" type="slidenum">
              <a:rPr lang="id-ID" smtClean="0"/>
              <a:pPr/>
              <a:t>13</a:t>
            </a:fld>
            <a:endParaRPr lang="id-ID"/>
          </a:p>
        </p:txBody>
      </p:sp>
      <p:sp>
        <p:nvSpPr>
          <p:cNvPr id="6" name="TextBox 5">
            <a:extLst>
              <a:ext uri="{FF2B5EF4-FFF2-40B4-BE49-F238E27FC236}">
                <a16:creationId xmlns:a16="http://schemas.microsoft.com/office/drawing/2014/main" id="{52E5E9D3-48B0-4568-B2C6-09EA0769DA70}"/>
              </a:ext>
            </a:extLst>
          </p:cNvPr>
          <p:cNvSpPr txBox="1"/>
          <p:nvPr/>
        </p:nvSpPr>
        <p:spPr>
          <a:xfrm>
            <a:off x="1250528" y="2546935"/>
            <a:ext cx="7461672" cy="3366563"/>
          </a:xfrm>
          <a:prstGeom prst="rect">
            <a:avLst/>
          </a:prstGeom>
          <a:noFill/>
        </p:spPr>
        <p:txBody>
          <a:bodyPr wrap="square">
            <a:spAutoFit/>
          </a:bodyPr>
          <a:lstStyle/>
          <a:p>
            <a:pPr algn="just">
              <a:lnSpc>
                <a:spcPct val="150000"/>
              </a:lnSpc>
            </a:pPr>
            <a:r>
              <a:rPr lang="en-GB" sz="1800" b="0" i="0" u="none" strike="noStrike" baseline="0" dirty="0">
                <a:solidFill>
                  <a:srgbClr val="000000"/>
                </a:solidFill>
                <a:latin typeface="Times New Roman" panose="02020603050405020304" pitchFamily="18" charset="0"/>
                <a:cs typeface="Times New Roman" panose="02020603050405020304" pitchFamily="18" charset="0"/>
              </a:rPr>
              <a:t>1.1 Four different beverages are sold at a fast-food restaurant: soft drinks, tea, coffee, and bottled water.</a:t>
            </a:r>
          </a:p>
          <a:p>
            <a:pPr algn="just">
              <a:lnSpc>
                <a:spcPct val="150000"/>
              </a:lnSpc>
            </a:pPr>
            <a:r>
              <a:rPr lang="en-GB" sz="1800" b="1" i="0" u="none" strike="noStrike" baseline="0" dirty="0">
                <a:solidFill>
                  <a:srgbClr val="000000"/>
                </a:solidFill>
                <a:latin typeface="Times New Roman" panose="02020603050405020304" pitchFamily="18" charset="0"/>
                <a:cs typeface="Times New Roman" panose="02020603050405020304" pitchFamily="18" charset="0"/>
              </a:rPr>
              <a:t>	a. </a:t>
            </a:r>
            <a:r>
              <a:rPr lang="en-GB" sz="1800" b="0" i="0" u="none" strike="noStrike" baseline="0" dirty="0">
                <a:solidFill>
                  <a:srgbClr val="000000"/>
                </a:solidFill>
                <a:latin typeface="Times New Roman" panose="02020603050405020304" pitchFamily="18" charset="0"/>
                <a:cs typeface="Times New Roman" panose="02020603050405020304" pitchFamily="18" charset="0"/>
              </a:rPr>
              <a:t>Explain why the type of beverage sold is an example of a 	categorical </a:t>
            </a:r>
            <a:r>
              <a:rPr lang="en-ID" sz="1800" b="0" i="0" u="none" strike="noStrike" baseline="0" dirty="0">
                <a:solidFill>
                  <a:srgbClr val="000000"/>
                </a:solidFill>
                <a:latin typeface="Times New Roman" panose="02020603050405020304" pitchFamily="18" charset="0"/>
                <a:cs typeface="Times New Roman" panose="02020603050405020304" pitchFamily="18" charset="0"/>
              </a:rPr>
              <a:t>variable.</a:t>
            </a:r>
          </a:p>
          <a:p>
            <a:pPr algn="just">
              <a:lnSpc>
                <a:spcPct val="150000"/>
              </a:lnSpc>
            </a:pPr>
            <a:r>
              <a:rPr lang="en-GB" sz="1800" b="1" i="0" u="none" strike="noStrike" baseline="0" dirty="0">
                <a:solidFill>
                  <a:srgbClr val="000000"/>
                </a:solidFill>
                <a:latin typeface="Times New Roman" panose="02020603050405020304" pitchFamily="18" charset="0"/>
                <a:cs typeface="Times New Roman" panose="02020603050405020304" pitchFamily="18" charset="0"/>
              </a:rPr>
              <a:t>	b. </a:t>
            </a:r>
            <a:r>
              <a:rPr lang="en-GB" sz="1800" b="0" i="0" u="none" strike="noStrike" baseline="0" dirty="0">
                <a:solidFill>
                  <a:srgbClr val="000000"/>
                </a:solidFill>
                <a:latin typeface="Times New Roman" panose="02020603050405020304" pitchFamily="18" charset="0"/>
                <a:cs typeface="Times New Roman" panose="02020603050405020304" pitchFamily="18" charset="0"/>
              </a:rPr>
              <a:t>Explain why the type of beverage is an example of a nominal-	scaled </a:t>
            </a:r>
            <a:r>
              <a:rPr lang="en-ID" sz="1800" b="0" i="0" u="none" strike="noStrike" baseline="0" dirty="0">
                <a:solidFill>
                  <a:srgbClr val="000000"/>
                </a:solidFill>
                <a:latin typeface="Times New Roman" panose="02020603050405020304" pitchFamily="18" charset="0"/>
                <a:cs typeface="Times New Roman" panose="02020603050405020304" pitchFamily="18" charset="0"/>
              </a:rPr>
              <a:t>variable.</a:t>
            </a:r>
          </a:p>
          <a:p>
            <a:pPr algn="just">
              <a:lnSpc>
                <a:spcPct val="150000"/>
              </a:lnSpc>
            </a:pPr>
            <a:r>
              <a:rPr lang="en-GB" sz="1800" b="0" i="0" u="none" strike="noStrike" baseline="0" dirty="0">
                <a:solidFill>
                  <a:srgbClr val="000000"/>
                </a:solidFill>
                <a:latin typeface="Times New Roman" panose="02020603050405020304" pitchFamily="18" charset="0"/>
                <a:cs typeface="Times New Roman" panose="02020603050405020304" pitchFamily="18" charset="0"/>
              </a:rPr>
              <a:t>1.2 U.S. businesses are listed by size: small, medium, and large.</a:t>
            </a:r>
          </a:p>
          <a:p>
            <a:pPr algn="just">
              <a:lnSpc>
                <a:spcPct val="150000"/>
              </a:lnSpc>
            </a:pPr>
            <a:r>
              <a:rPr lang="en-GB" sz="1800" b="0" i="0" u="none" strike="noStrike" baseline="0" dirty="0">
                <a:solidFill>
                  <a:srgbClr val="000000"/>
                </a:solidFill>
                <a:latin typeface="Times New Roman" panose="02020603050405020304" pitchFamily="18" charset="0"/>
                <a:cs typeface="Times New Roman" panose="02020603050405020304" pitchFamily="18" charset="0"/>
              </a:rPr>
              <a:t>Explain why business size is an example of an ordinal-scaled variable.</a:t>
            </a:r>
            <a:endParaRPr lang="en-ID"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49611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32D6E59-110A-4C7B-8D2B-93BB20F8F7AF}"/>
              </a:ext>
            </a:extLst>
          </p:cNvPr>
          <p:cNvSpPr>
            <a:spLocks noGrp="1"/>
          </p:cNvSpPr>
          <p:nvPr>
            <p:ph type="ftr" sz="quarter" idx="11"/>
          </p:nvPr>
        </p:nvSpPr>
        <p:spPr/>
        <p:txBody>
          <a:bodyPr/>
          <a:lstStyle/>
          <a:p>
            <a:r>
              <a:rPr lang="id-ID"/>
              <a:t>Bina Nusantara University</a:t>
            </a:r>
          </a:p>
        </p:txBody>
      </p:sp>
      <p:sp>
        <p:nvSpPr>
          <p:cNvPr id="4" name="Slide Number Placeholder 3">
            <a:extLst>
              <a:ext uri="{FF2B5EF4-FFF2-40B4-BE49-F238E27FC236}">
                <a16:creationId xmlns:a16="http://schemas.microsoft.com/office/drawing/2014/main" id="{516B856F-77AB-4176-98C2-6FF2D21C4121}"/>
              </a:ext>
            </a:extLst>
          </p:cNvPr>
          <p:cNvSpPr>
            <a:spLocks noGrp="1"/>
          </p:cNvSpPr>
          <p:nvPr>
            <p:ph type="sldNum" sz="quarter" idx="12"/>
          </p:nvPr>
        </p:nvSpPr>
        <p:spPr/>
        <p:txBody>
          <a:bodyPr/>
          <a:lstStyle/>
          <a:p>
            <a:fld id="{F173735F-2667-4028-B606-D96AABD86FDB}" type="slidenum">
              <a:rPr lang="id-ID" smtClean="0"/>
              <a:pPr/>
              <a:t>14</a:t>
            </a:fld>
            <a:endParaRPr lang="id-ID"/>
          </a:p>
        </p:txBody>
      </p:sp>
      <p:sp>
        <p:nvSpPr>
          <p:cNvPr id="5" name="Title 4">
            <a:extLst>
              <a:ext uri="{FF2B5EF4-FFF2-40B4-BE49-F238E27FC236}">
                <a16:creationId xmlns:a16="http://schemas.microsoft.com/office/drawing/2014/main" id="{DC0600EE-9B53-4FAE-80DC-A958405E46C2}"/>
              </a:ext>
            </a:extLst>
          </p:cNvPr>
          <p:cNvSpPr>
            <a:spLocks noGrp="1"/>
          </p:cNvSpPr>
          <p:nvPr>
            <p:ph type="title"/>
          </p:nvPr>
        </p:nvSpPr>
        <p:spPr/>
        <p:txBody>
          <a:bodyPr/>
          <a:lstStyle/>
          <a:p>
            <a:r>
              <a:rPr lang="en-US" dirty="0"/>
              <a:t>COLLECTING DATA</a:t>
            </a:r>
            <a:endParaRPr lang="en-ID" dirty="0"/>
          </a:p>
        </p:txBody>
      </p:sp>
    </p:spTree>
    <p:extLst>
      <p:ext uri="{BB962C8B-B14F-4D97-AF65-F5344CB8AC3E}">
        <p14:creationId xmlns:p14="http://schemas.microsoft.com/office/powerpoint/2010/main" val="111987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8DF123E-1A15-4DCA-9FF2-34AE88F8D27F}"/>
              </a:ext>
            </a:extLst>
          </p:cNvPr>
          <p:cNvSpPr>
            <a:spLocks noGrp="1"/>
          </p:cNvSpPr>
          <p:nvPr>
            <p:ph type="ftr" sz="quarter" idx="11"/>
          </p:nvPr>
        </p:nvSpPr>
        <p:spPr/>
        <p:txBody>
          <a:bodyPr/>
          <a:lstStyle/>
          <a:p>
            <a:r>
              <a:rPr lang="id-ID"/>
              <a:t>Bina Nusantara University</a:t>
            </a:r>
          </a:p>
        </p:txBody>
      </p:sp>
      <p:sp>
        <p:nvSpPr>
          <p:cNvPr id="4" name="Slide Number Placeholder 3">
            <a:extLst>
              <a:ext uri="{FF2B5EF4-FFF2-40B4-BE49-F238E27FC236}">
                <a16:creationId xmlns:a16="http://schemas.microsoft.com/office/drawing/2014/main" id="{6FB59B99-C3AB-4EA3-93DD-559F32DBAD26}"/>
              </a:ext>
            </a:extLst>
          </p:cNvPr>
          <p:cNvSpPr>
            <a:spLocks noGrp="1"/>
          </p:cNvSpPr>
          <p:nvPr>
            <p:ph type="sldNum" sz="quarter" idx="12"/>
          </p:nvPr>
        </p:nvSpPr>
        <p:spPr/>
        <p:txBody>
          <a:bodyPr/>
          <a:lstStyle/>
          <a:p>
            <a:fld id="{F173735F-2667-4028-B606-D96AABD86FDB}" type="slidenum">
              <a:rPr lang="id-ID" smtClean="0"/>
              <a:pPr/>
              <a:t>15</a:t>
            </a:fld>
            <a:endParaRPr lang="id-ID"/>
          </a:p>
        </p:txBody>
      </p:sp>
      <p:sp>
        <p:nvSpPr>
          <p:cNvPr id="6" name="TextBox 5">
            <a:extLst>
              <a:ext uri="{FF2B5EF4-FFF2-40B4-BE49-F238E27FC236}">
                <a16:creationId xmlns:a16="http://schemas.microsoft.com/office/drawing/2014/main" id="{4D7C19F0-77C0-4701-B200-67E05B47B549}"/>
              </a:ext>
            </a:extLst>
          </p:cNvPr>
          <p:cNvSpPr txBox="1"/>
          <p:nvPr/>
        </p:nvSpPr>
        <p:spPr>
          <a:xfrm>
            <a:off x="1447800" y="1600200"/>
            <a:ext cx="6781800" cy="4618380"/>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GB" sz="1800" b="0" i="0" u="none" strike="noStrike" baseline="0" dirty="0">
                <a:latin typeface="TimesLTPro-Roman"/>
              </a:rPr>
              <a:t>A </a:t>
            </a:r>
            <a:r>
              <a:rPr lang="en-GB" sz="1800" b="1" i="0" u="none" strike="noStrike" baseline="0" dirty="0">
                <a:latin typeface="TimesLTPro-Bold"/>
              </a:rPr>
              <a:t>population </a:t>
            </a:r>
            <a:r>
              <a:rPr lang="en-GB" sz="1800" b="0" i="0" u="none" strike="noStrike" baseline="0" dirty="0">
                <a:latin typeface="TimesLTPro-Roman"/>
              </a:rPr>
              <a:t>contains all the items or individuals of interest that you seek to study. All of the GT&amp;M sales transactions for a specific year, all of the full-time students enrolled in a college, and all of the registered voters in Ohio are examples of populations.</a:t>
            </a:r>
          </a:p>
          <a:p>
            <a:pPr algn="just">
              <a:lnSpc>
                <a:spcPct val="150000"/>
              </a:lnSpc>
            </a:pPr>
            <a:endParaRPr lang="en-GB" sz="1800" b="0" i="0" u="none" strike="noStrike" baseline="0" dirty="0">
              <a:latin typeface="TimesLTPro-Roman"/>
            </a:endParaRPr>
          </a:p>
          <a:p>
            <a:pPr marL="285750" indent="-285750" algn="just">
              <a:lnSpc>
                <a:spcPct val="150000"/>
              </a:lnSpc>
              <a:buFont typeface="Arial" panose="020B0604020202020204" pitchFamily="34" charset="0"/>
              <a:buChar char="•"/>
            </a:pPr>
            <a:r>
              <a:rPr lang="en-GB" sz="1800" b="0" i="0" u="none" strike="noStrike" baseline="0" dirty="0">
                <a:latin typeface="TimesLTPro-Roman"/>
              </a:rPr>
              <a:t>A </a:t>
            </a:r>
            <a:r>
              <a:rPr lang="en-GB" sz="1800" b="1" i="0" u="none" strike="noStrike" baseline="0" dirty="0">
                <a:latin typeface="TimesLTPro-Bold"/>
              </a:rPr>
              <a:t>sample </a:t>
            </a:r>
            <a:r>
              <a:rPr lang="en-GB" sz="1800" b="0" i="0" u="none" strike="noStrike" baseline="0" dirty="0">
                <a:latin typeface="TimesLTPro-Roman"/>
              </a:rPr>
              <a:t>contains only a portion of a population of interest. You </a:t>
            </a:r>
            <a:r>
              <a:rPr lang="en-GB" sz="1800" b="0" i="0" u="none" strike="noStrike" baseline="0" dirty="0" err="1">
                <a:latin typeface="TimesLTPro-Roman"/>
              </a:rPr>
              <a:t>analyze</a:t>
            </a:r>
            <a:r>
              <a:rPr lang="en-GB" sz="1800" b="0" i="0" u="none" strike="noStrike" baseline="0" dirty="0">
                <a:latin typeface="TimesLTPro-Roman"/>
              </a:rPr>
              <a:t> a sample to estimate characteristics of an entire population. You might select a sample of 200 GT&amp;M sales transactions, a sample of 50 full-time students selected for a marketing study, or a sample of 500 registered voters in Ohio in lieu of </a:t>
            </a:r>
            <a:r>
              <a:rPr lang="en-GB" sz="1800" b="0" i="0" u="none" strike="noStrike" baseline="0" dirty="0" err="1">
                <a:latin typeface="TimesLTPro-Roman"/>
              </a:rPr>
              <a:t>analyzing</a:t>
            </a:r>
            <a:r>
              <a:rPr lang="en-GB" sz="1800" b="0" i="0" u="none" strike="noStrike" baseline="0" dirty="0">
                <a:latin typeface="TimesLTPro-Roman"/>
              </a:rPr>
              <a:t> the populations </a:t>
            </a:r>
            <a:r>
              <a:rPr lang="en-ID" sz="1800" b="0" i="0" u="none" strike="noStrike" baseline="0" dirty="0">
                <a:latin typeface="TimesLTPro-Roman"/>
              </a:rPr>
              <a:t>identified in this paragraph.</a:t>
            </a:r>
            <a:endParaRPr lang="en-ID" dirty="0"/>
          </a:p>
        </p:txBody>
      </p:sp>
    </p:spTree>
    <p:extLst>
      <p:ext uri="{BB962C8B-B14F-4D97-AF65-F5344CB8AC3E}">
        <p14:creationId xmlns:p14="http://schemas.microsoft.com/office/powerpoint/2010/main" val="22475335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2CE0D-F2BA-43FD-A469-044A2FAE6491}"/>
              </a:ext>
            </a:extLst>
          </p:cNvPr>
          <p:cNvSpPr>
            <a:spLocks noGrp="1"/>
          </p:cNvSpPr>
          <p:nvPr>
            <p:ph type="title"/>
          </p:nvPr>
        </p:nvSpPr>
        <p:spPr/>
        <p:txBody>
          <a:bodyPr/>
          <a:lstStyle/>
          <a:p>
            <a:r>
              <a:rPr lang="en-US" dirty="0"/>
              <a:t>DATA SOURCES</a:t>
            </a:r>
            <a:endParaRPr lang="en-ID" dirty="0"/>
          </a:p>
        </p:txBody>
      </p:sp>
      <p:sp>
        <p:nvSpPr>
          <p:cNvPr id="3" name="Footer Placeholder 2">
            <a:extLst>
              <a:ext uri="{FF2B5EF4-FFF2-40B4-BE49-F238E27FC236}">
                <a16:creationId xmlns:a16="http://schemas.microsoft.com/office/drawing/2014/main" id="{DDBA7D92-D75A-48DD-A291-C3B1F65FFFA9}"/>
              </a:ext>
            </a:extLst>
          </p:cNvPr>
          <p:cNvSpPr>
            <a:spLocks noGrp="1"/>
          </p:cNvSpPr>
          <p:nvPr>
            <p:ph type="ftr" sz="quarter" idx="11"/>
          </p:nvPr>
        </p:nvSpPr>
        <p:spPr/>
        <p:txBody>
          <a:bodyPr/>
          <a:lstStyle/>
          <a:p>
            <a:r>
              <a:rPr lang="id-ID"/>
              <a:t>Bina Nusantara University</a:t>
            </a:r>
          </a:p>
        </p:txBody>
      </p:sp>
      <p:sp>
        <p:nvSpPr>
          <p:cNvPr id="4" name="Slide Number Placeholder 3">
            <a:extLst>
              <a:ext uri="{FF2B5EF4-FFF2-40B4-BE49-F238E27FC236}">
                <a16:creationId xmlns:a16="http://schemas.microsoft.com/office/drawing/2014/main" id="{2524A8DD-65FE-4617-B7C7-EC152BDB9DE5}"/>
              </a:ext>
            </a:extLst>
          </p:cNvPr>
          <p:cNvSpPr>
            <a:spLocks noGrp="1"/>
          </p:cNvSpPr>
          <p:nvPr>
            <p:ph type="sldNum" sz="quarter" idx="12"/>
          </p:nvPr>
        </p:nvSpPr>
        <p:spPr/>
        <p:txBody>
          <a:bodyPr/>
          <a:lstStyle/>
          <a:p>
            <a:fld id="{F173735F-2667-4028-B606-D96AABD86FDB}" type="slidenum">
              <a:rPr lang="id-ID" smtClean="0"/>
              <a:pPr/>
              <a:t>16</a:t>
            </a:fld>
            <a:endParaRPr lang="id-ID"/>
          </a:p>
        </p:txBody>
      </p:sp>
      <p:sp>
        <p:nvSpPr>
          <p:cNvPr id="6" name="TextBox 5">
            <a:extLst>
              <a:ext uri="{FF2B5EF4-FFF2-40B4-BE49-F238E27FC236}">
                <a16:creationId xmlns:a16="http://schemas.microsoft.com/office/drawing/2014/main" id="{2DDAD29A-82C1-4290-B82F-3533453336B8}"/>
              </a:ext>
            </a:extLst>
          </p:cNvPr>
          <p:cNvSpPr txBox="1"/>
          <p:nvPr/>
        </p:nvSpPr>
        <p:spPr>
          <a:xfrm>
            <a:off x="1447800" y="2743200"/>
            <a:ext cx="7067128" cy="3371885"/>
          </a:xfrm>
          <a:prstGeom prst="rect">
            <a:avLst/>
          </a:prstGeom>
          <a:noFill/>
        </p:spPr>
        <p:txBody>
          <a:bodyPr wrap="square">
            <a:spAutoFit/>
          </a:bodyPr>
          <a:lstStyle/>
          <a:p>
            <a:pPr algn="just">
              <a:lnSpc>
                <a:spcPct val="150000"/>
              </a:lnSpc>
            </a:pPr>
            <a:r>
              <a:rPr lang="en-GB" sz="1800" b="0" i="0" u="none" strike="noStrike" baseline="0" dirty="0">
                <a:latin typeface="TimesLTPro-Roman"/>
              </a:rPr>
              <a:t>Data sources arise from the following activities:</a:t>
            </a:r>
          </a:p>
          <a:p>
            <a:pPr marL="285750" indent="-285750" algn="just">
              <a:lnSpc>
                <a:spcPct val="150000"/>
              </a:lnSpc>
              <a:buFont typeface="Arial" panose="020B0604020202020204" pitchFamily="34" charset="0"/>
              <a:buChar char="•"/>
            </a:pPr>
            <a:r>
              <a:rPr lang="en-GB" sz="1800" b="0" i="0" u="none" strike="noStrike" baseline="0" dirty="0">
                <a:latin typeface="TimesLTPro-Roman"/>
              </a:rPr>
              <a:t>Capturing data generated by ongoing business activities</a:t>
            </a:r>
          </a:p>
          <a:p>
            <a:pPr marL="285750" indent="-285750" algn="just">
              <a:lnSpc>
                <a:spcPct val="150000"/>
              </a:lnSpc>
              <a:buFont typeface="Arial" panose="020B0604020202020204" pitchFamily="34" charset="0"/>
              <a:buChar char="•"/>
            </a:pPr>
            <a:r>
              <a:rPr lang="en-GB" sz="1800" b="0" i="0" u="none" strike="noStrike" baseline="0" dirty="0">
                <a:latin typeface="TimesLTPro-Roman"/>
              </a:rPr>
              <a:t>Distributing data compiled by an organization or individual</a:t>
            </a:r>
          </a:p>
          <a:p>
            <a:pPr marL="285750" indent="-285750" algn="just">
              <a:lnSpc>
                <a:spcPct val="150000"/>
              </a:lnSpc>
              <a:buFont typeface="Arial" panose="020B0604020202020204" pitchFamily="34" charset="0"/>
              <a:buChar char="•"/>
            </a:pPr>
            <a:r>
              <a:rPr lang="en-GB" sz="1800" b="0" i="0" u="none" strike="noStrike" baseline="0" dirty="0">
                <a:latin typeface="TimesLTPro-Roman"/>
              </a:rPr>
              <a:t>Compiling the responses from a survey</a:t>
            </a:r>
          </a:p>
          <a:p>
            <a:pPr marL="285750" indent="-285750" algn="just">
              <a:lnSpc>
                <a:spcPct val="150000"/>
              </a:lnSpc>
              <a:buFont typeface="Arial" panose="020B0604020202020204" pitchFamily="34" charset="0"/>
              <a:buChar char="•"/>
            </a:pPr>
            <a:r>
              <a:rPr lang="en-GB" sz="1800" b="0" i="0" u="none" strike="noStrike" baseline="0" dirty="0">
                <a:latin typeface="TimesLTPro-Roman"/>
              </a:rPr>
              <a:t>Conducting a designed experiment and recording the outcomes of the experiment</a:t>
            </a:r>
          </a:p>
          <a:p>
            <a:pPr marL="285750" indent="-285750" algn="just">
              <a:lnSpc>
                <a:spcPct val="150000"/>
              </a:lnSpc>
              <a:buFont typeface="Arial" panose="020B0604020202020204" pitchFamily="34" charset="0"/>
              <a:buChar char="•"/>
            </a:pPr>
            <a:r>
              <a:rPr lang="en-GB" sz="1800" b="0" i="0" u="none" strike="noStrike" baseline="0" dirty="0">
                <a:latin typeface="TimesLTPro-Roman"/>
              </a:rPr>
              <a:t>Conducting an observational study and recording the results of the study</a:t>
            </a:r>
            <a:endParaRPr lang="en-ID" dirty="0"/>
          </a:p>
        </p:txBody>
      </p:sp>
    </p:spTree>
    <p:extLst>
      <p:ext uri="{BB962C8B-B14F-4D97-AF65-F5344CB8AC3E}">
        <p14:creationId xmlns:p14="http://schemas.microsoft.com/office/powerpoint/2010/main" val="3196437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D875B-31B7-443E-9730-0628078A9FD7}"/>
              </a:ext>
            </a:extLst>
          </p:cNvPr>
          <p:cNvSpPr>
            <a:spLocks noGrp="1"/>
          </p:cNvSpPr>
          <p:nvPr>
            <p:ph type="title"/>
          </p:nvPr>
        </p:nvSpPr>
        <p:spPr/>
        <p:txBody>
          <a:bodyPr/>
          <a:lstStyle/>
          <a:p>
            <a:r>
              <a:rPr lang="en-US" dirty="0"/>
              <a:t>APPLYING THE CONCEPT</a:t>
            </a:r>
            <a:endParaRPr lang="en-ID" dirty="0"/>
          </a:p>
        </p:txBody>
      </p:sp>
      <p:sp>
        <p:nvSpPr>
          <p:cNvPr id="3" name="Footer Placeholder 2">
            <a:extLst>
              <a:ext uri="{FF2B5EF4-FFF2-40B4-BE49-F238E27FC236}">
                <a16:creationId xmlns:a16="http://schemas.microsoft.com/office/drawing/2014/main" id="{14627D58-9D8A-4A69-B4F8-3A7FB1ACD105}"/>
              </a:ext>
            </a:extLst>
          </p:cNvPr>
          <p:cNvSpPr>
            <a:spLocks noGrp="1"/>
          </p:cNvSpPr>
          <p:nvPr>
            <p:ph type="ftr" sz="quarter" idx="11"/>
          </p:nvPr>
        </p:nvSpPr>
        <p:spPr/>
        <p:txBody>
          <a:bodyPr/>
          <a:lstStyle/>
          <a:p>
            <a:r>
              <a:rPr lang="id-ID"/>
              <a:t>Bina Nusantara University</a:t>
            </a:r>
          </a:p>
        </p:txBody>
      </p:sp>
      <p:sp>
        <p:nvSpPr>
          <p:cNvPr id="4" name="Slide Number Placeholder 3">
            <a:extLst>
              <a:ext uri="{FF2B5EF4-FFF2-40B4-BE49-F238E27FC236}">
                <a16:creationId xmlns:a16="http://schemas.microsoft.com/office/drawing/2014/main" id="{A2E04339-88E6-43DD-97D7-CE7B01A04E76}"/>
              </a:ext>
            </a:extLst>
          </p:cNvPr>
          <p:cNvSpPr>
            <a:spLocks noGrp="1"/>
          </p:cNvSpPr>
          <p:nvPr>
            <p:ph type="sldNum" sz="quarter" idx="12"/>
          </p:nvPr>
        </p:nvSpPr>
        <p:spPr/>
        <p:txBody>
          <a:bodyPr/>
          <a:lstStyle/>
          <a:p>
            <a:fld id="{F173735F-2667-4028-B606-D96AABD86FDB}" type="slidenum">
              <a:rPr lang="id-ID" smtClean="0"/>
              <a:pPr/>
              <a:t>17</a:t>
            </a:fld>
            <a:endParaRPr lang="id-ID"/>
          </a:p>
        </p:txBody>
      </p:sp>
      <p:sp>
        <p:nvSpPr>
          <p:cNvPr id="6" name="TextBox 5">
            <a:extLst>
              <a:ext uri="{FF2B5EF4-FFF2-40B4-BE49-F238E27FC236}">
                <a16:creationId xmlns:a16="http://schemas.microsoft.com/office/drawing/2014/main" id="{B13E3F8F-6955-4142-B31D-437FDC6A5FD6}"/>
              </a:ext>
            </a:extLst>
          </p:cNvPr>
          <p:cNvSpPr txBox="1"/>
          <p:nvPr/>
        </p:nvSpPr>
        <p:spPr>
          <a:xfrm>
            <a:off x="1619672" y="2996299"/>
            <a:ext cx="6838528" cy="2540888"/>
          </a:xfrm>
          <a:prstGeom prst="rect">
            <a:avLst/>
          </a:prstGeom>
          <a:noFill/>
        </p:spPr>
        <p:txBody>
          <a:bodyPr wrap="square">
            <a:spAutoFit/>
          </a:bodyPr>
          <a:lstStyle/>
          <a:p>
            <a:pPr algn="just">
              <a:lnSpc>
                <a:spcPct val="150000"/>
              </a:lnSpc>
            </a:pPr>
            <a:r>
              <a:rPr lang="en-GB" sz="1800" b="0" i="0" u="none" strike="noStrike" baseline="0" dirty="0">
                <a:latin typeface="TimesLTPro-Roman"/>
              </a:rPr>
              <a:t>A study is under way in Yosemite National Forest to determine the adult height of American pine trees. Specifically, the study is attempting to determine the factors that aid a tree in reaching heights greater than 60 feet tall. It is estimated that the forest contains 25,000 adult American pines. What type of data collection source do you think the researchers should use?</a:t>
            </a:r>
            <a:endParaRPr lang="en-ID" dirty="0"/>
          </a:p>
        </p:txBody>
      </p:sp>
    </p:spTree>
    <p:extLst>
      <p:ext uri="{BB962C8B-B14F-4D97-AF65-F5344CB8AC3E}">
        <p14:creationId xmlns:p14="http://schemas.microsoft.com/office/powerpoint/2010/main" val="16549256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40202EC-1B72-4942-B72A-FADE767B3CD9}"/>
              </a:ext>
            </a:extLst>
          </p:cNvPr>
          <p:cNvSpPr>
            <a:spLocks noGrp="1"/>
          </p:cNvSpPr>
          <p:nvPr>
            <p:ph type="ftr" sz="quarter" idx="11"/>
          </p:nvPr>
        </p:nvSpPr>
        <p:spPr/>
        <p:txBody>
          <a:bodyPr/>
          <a:lstStyle/>
          <a:p>
            <a:r>
              <a:rPr lang="id-ID"/>
              <a:t>Bina Nusantara University</a:t>
            </a:r>
          </a:p>
        </p:txBody>
      </p:sp>
      <p:sp>
        <p:nvSpPr>
          <p:cNvPr id="4" name="Slide Number Placeholder 3">
            <a:extLst>
              <a:ext uri="{FF2B5EF4-FFF2-40B4-BE49-F238E27FC236}">
                <a16:creationId xmlns:a16="http://schemas.microsoft.com/office/drawing/2014/main" id="{9F2B432E-2F3E-4EF3-888F-39A8468C567D}"/>
              </a:ext>
            </a:extLst>
          </p:cNvPr>
          <p:cNvSpPr>
            <a:spLocks noGrp="1"/>
          </p:cNvSpPr>
          <p:nvPr>
            <p:ph type="sldNum" sz="quarter" idx="12"/>
          </p:nvPr>
        </p:nvSpPr>
        <p:spPr/>
        <p:txBody>
          <a:bodyPr/>
          <a:lstStyle/>
          <a:p>
            <a:fld id="{F173735F-2667-4028-B606-D96AABD86FDB}" type="slidenum">
              <a:rPr lang="id-ID" smtClean="0"/>
              <a:pPr/>
              <a:t>18</a:t>
            </a:fld>
            <a:endParaRPr lang="id-ID"/>
          </a:p>
        </p:txBody>
      </p:sp>
      <p:sp>
        <p:nvSpPr>
          <p:cNvPr id="5" name="Title 4">
            <a:extLst>
              <a:ext uri="{FF2B5EF4-FFF2-40B4-BE49-F238E27FC236}">
                <a16:creationId xmlns:a16="http://schemas.microsoft.com/office/drawing/2014/main" id="{19484226-999B-4E28-AEF9-9F61B0C05DB0}"/>
              </a:ext>
            </a:extLst>
          </p:cNvPr>
          <p:cNvSpPr>
            <a:spLocks noGrp="1"/>
          </p:cNvSpPr>
          <p:nvPr>
            <p:ph type="title"/>
          </p:nvPr>
        </p:nvSpPr>
        <p:spPr/>
        <p:txBody>
          <a:bodyPr/>
          <a:lstStyle/>
          <a:p>
            <a:r>
              <a:rPr lang="en-US" dirty="0"/>
              <a:t>TYPES OF SAMPLING METHODS</a:t>
            </a:r>
            <a:endParaRPr lang="en-ID" dirty="0"/>
          </a:p>
        </p:txBody>
      </p:sp>
    </p:spTree>
    <p:extLst>
      <p:ext uri="{BB962C8B-B14F-4D97-AF65-F5344CB8AC3E}">
        <p14:creationId xmlns:p14="http://schemas.microsoft.com/office/powerpoint/2010/main" val="7080003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CB90FC9-6A02-4635-A770-9CAE775FC656}"/>
              </a:ext>
            </a:extLst>
          </p:cNvPr>
          <p:cNvSpPr>
            <a:spLocks noGrp="1"/>
          </p:cNvSpPr>
          <p:nvPr>
            <p:ph type="ftr" sz="quarter" idx="11"/>
          </p:nvPr>
        </p:nvSpPr>
        <p:spPr/>
        <p:txBody>
          <a:bodyPr/>
          <a:lstStyle/>
          <a:p>
            <a:r>
              <a:rPr lang="id-ID"/>
              <a:t>Bina Nusantara University</a:t>
            </a:r>
          </a:p>
        </p:txBody>
      </p:sp>
      <p:sp>
        <p:nvSpPr>
          <p:cNvPr id="4" name="Slide Number Placeholder 3">
            <a:extLst>
              <a:ext uri="{FF2B5EF4-FFF2-40B4-BE49-F238E27FC236}">
                <a16:creationId xmlns:a16="http://schemas.microsoft.com/office/drawing/2014/main" id="{76B0D63C-7CE8-4ED5-AF22-D6310641B80D}"/>
              </a:ext>
            </a:extLst>
          </p:cNvPr>
          <p:cNvSpPr>
            <a:spLocks noGrp="1"/>
          </p:cNvSpPr>
          <p:nvPr>
            <p:ph type="sldNum" sz="quarter" idx="12"/>
          </p:nvPr>
        </p:nvSpPr>
        <p:spPr/>
        <p:txBody>
          <a:bodyPr/>
          <a:lstStyle/>
          <a:p>
            <a:fld id="{F173735F-2667-4028-B606-D96AABD86FDB}" type="slidenum">
              <a:rPr lang="id-ID" smtClean="0"/>
              <a:pPr/>
              <a:t>19</a:t>
            </a:fld>
            <a:endParaRPr lang="id-ID"/>
          </a:p>
        </p:txBody>
      </p:sp>
      <p:graphicFrame>
        <p:nvGraphicFramePr>
          <p:cNvPr id="5" name="Diagram 4">
            <a:extLst>
              <a:ext uri="{FF2B5EF4-FFF2-40B4-BE49-F238E27FC236}">
                <a16:creationId xmlns:a16="http://schemas.microsoft.com/office/drawing/2014/main" id="{3B7BD776-B588-4299-96C2-00A475334051}"/>
              </a:ext>
            </a:extLst>
          </p:cNvPr>
          <p:cNvGraphicFramePr/>
          <p:nvPr>
            <p:extLst>
              <p:ext uri="{D42A27DB-BD31-4B8C-83A1-F6EECF244321}">
                <p14:modId xmlns:p14="http://schemas.microsoft.com/office/powerpoint/2010/main" val="4190245867"/>
              </p:ext>
            </p:extLst>
          </p:nvPr>
        </p:nvGraphicFramePr>
        <p:xfrm>
          <a:off x="1905000" y="1371600"/>
          <a:ext cx="6096000" cy="3136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67A65117-D1A5-4B9F-B5B0-9B0BDE66A2FF}"/>
              </a:ext>
            </a:extLst>
          </p:cNvPr>
          <p:cNvSpPr txBox="1"/>
          <p:nvPr/>
        </p:nvSpPr>
        <p:spPr>
          <a:xfrm>
            <a:off x="1600200" y="3840554"/>
            <a:ext cx="6705600" cy="2031325"/>
          </a:xfrm>
          <a:prstGeom prst="rect">
            <a:avLst/>
          </a:prstGeom>
          <a:noFill/>
        </p:spPr>
        <p:txBody>
          <a:bodyPr wrap="square" rtlCol="0">
            <a:spAutoFit/>
          </a:bodyPr>
          <a:lstStyle/>
          <a:p>
            <a:pPr marL="285750" indent="-285750" algn="just">
              <a:buFont typeface="Arial" panose="020B0604020202020204" pitchFamily="34" charset="0"/>
              <a:buChar char="•"/>
            </a:pPr>
            <a:r>
              <a:rPr lang="en-ID" sz="1800" b="0" i="0" u="none" strike="noStrike" baseline="0" dirty="0">
                <a:latin typeface="TimesLTPro-Roman"/>
              </a:rPr>
              <a:t>In </a:t>
            </a:r>
            <a:r>
              <a:rPr lang="en-GB" sz="1800" b="0" i="0" u="none" strike="noStrike" baseline="0" dirty="0">
                <a:latin typeface="TimesLTPro-Roman"/>
              </a:rPr>
              <a:t>a </a:t>
            </a:r>
            <a:r>
              <a:rPr lang="en-GB" sz="1800" b="1" i="0" u="none" strike="noStrike" baseline="0" dirty="0">
                <a:latin typeface="TimesLTPro-Bold"/>
              </a:rPr>
              <a:t>nonprobability sample</a:t>
            </a:r>
            <a:r>
              <a:rPr lang="en-GB" sz="1800" b="0" i="0" u="none" strike="noStrike" baseline="0" dirty="0">
                <a:latin typeface="TimesLTPro-Roman"/>
              </a:rPr>
              <a:t>, you select the items or individuals without knowing their probabilities of selection. </a:t>
            </a:r>
          </a:p>
          <a:p>
            <a:pPr marL="285750" indent="-285750" algn="just">
              <a:buFont typeface="Arial" panose="020B0604020202020204" pitchFamily="34" charset="0"/>
              <a:buChar char="•"/>
            </a:pPr>
            <a:endParaRPr lang="en-GB" dirty="0">
              <a:latin typeface="TimesLTPro-Roman"/>
            </a:endParaRPr>
          </a:p>
          <a:p>
            <a:pPr marL="285750" indent="-285750" algn="just">
              <a:buFont typeface="Arial" panose="020B0604020202020204" pitchFamily="34" charset="0"/>
              <a:buChar char="•"/>
            </a:pPr>
            <a:r>
              <a:rPr lang="en-GB" sz="1800" b="0" i="0" u="none" strike="noStrike" baseline="0" dirty="0">
                <a:latin typeface="TimesLTPro-Roman"/>
              </a:rPr>
              <a:t>In a </a:t>
            </a:r>
            <a:r>
              <a:rPr lang="en-GB" sz="1800" b="1" i="0" u="none" strike="noStrike" baseline="0" dirty="0">
                <a:latin typeface="TimesLTPro-Bold"/>
              </a:rPr>
              <a:t>probability sample</a:t>
            </a:r>
            <a:r>
              <a:rPr lang="en-GB" sz="1800" b="0" i="0" u="none" strike="noStrike" baseline="0" dirty="0">
                <a:latin typeface="TimesLTPro-Roman"/>
              </a:rPr>
              <a:t>, you select items based on known probabilities. Whenever possible, you should use a probability sample as such a sample will allow you to make inferences about the population being </a:t>
            </a:r>
            <a:r>
              <a:rPr lang="en-GB" sz="1800" b="0" i="0" u="none" strike="noStrike" baseline="0" dirty="0" err="1">
                <a:latin typeface="TimesLTPro-Roman"/>
              </a:rPr>
              <a:t>analyzed</a:t>
            </a:r>
            <a:r>
              <a:rPr lang="en-GB" sz="1800" b="0" i="0" u="none" strike="noStrike" baseline="0" dirty="0">
                <a:latin typeface="TimesLTPro-Roman"/>
              </a:rPr>
              <a:t>.</a:t>
            </a:r>
            <a:endParaRPr lang="en-ID" dirty="0"/>
          </a:p>
        </p:txBody>
      </p:sp>
    </p:spTree>
    <p:extLst>
      <p:ext uri="{BB962C8B-B14F-4D97-AF65-F5344CB8AC3E}">
        <p14:creationId xmlns:p14="http://schemas.microsoft.com/office/powerpoint/2010/main" val="20064025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ABD3649-39E4-4291-86D2-D4DCB4C5B4BC}"/>
              </a:ext>
            </a:extLst>
          </p:cNvPr>
          <p:cNvSpPr>
            <a:spLocks noGrp="1"/>
          </p:cNvSpPr>
          <p:nvPr>
            <p:ph type="ftr" sz="quarter" idx="11"/>
          </p:nvPr>
        </p:nvSpPr>
        <p:spPr/>
        <p:txBody>
          <a:bodyPr/>
          <a:lstStyle/>
          <a:p>
            <a:r>
              <a:rPr lang="id-ID"/>
              <a:t>Bina Nusantara University</a:t>
            </a:r>
          </a:p>
        </p:txBody>
      </p:sp>
      <p:sp>
        <p:nvSpPr>
          <p:cNvPr id="4" name="Slide Number Placeholder 3">
            <a:extLst>
              <a:ext uri="{FF2B5EF4-FFF2-40B4-BE49-F238E27FC236}">
                <a16:creationId xmlns:a16="http://schemas.microsoft.com/office/drawing/2014/main" id="{16D3D1F1-7DE8-4DAF-87FF-653CB5D062CB}"/>
              </a:ext>
            </a:extLst>
          </p:cNvPr>
          <p:cNvSpPr>
            <a:spLocks noGrp="1"/>
          </p:cNvSpPr>
          <p:nvPr>
            <p:ph type="sldNum" sz="quarter" idx="12"/>
          </p:nvPr>
        </p:nvSpPr>
        <p:spPr/>
        <p:txBody>
          <a:bodyPr/>
          <a:lstStyle/>
          <a:p>
            <a:fld id="{F173735F-2667-4028-B606-D96AABD86FDB}" type="slidenum">
              <a:rPr lang="id-ID" smtClean="0"/>
              <a:pPr/>
              <a:t>20</a:t>
            </a:fld>
            <a:endParaRPr lang="id-ID"/>
          </a:p>
        </p:txBody>
      </p:sp>
      <p:pic>
        <p:nvPicPr>
          <p:cNvPr id="6" name="Picture 5">
            <a:extLst>
              <a:ext uri="{FF2B5EF4-FFF2-40B4-BE49-F238E27FC236}">
                <a16:creationId xmlns:a16="http://schemas.microsoft.com/office/drawing/2014/main" id="{AEF775EF-4684-44FE-B02F-25AA3537AFF1}"/>
              </a:ext>
            </a:extLst>
          </p:cNvPr>
          <p:cNvPicPr>
            <a:picLocks noChangeAspect="1"/>
          </p:cNvPicPr>
          <p:nvPr/>
        </p:nvPicPr>
        <p:blipFill>
          <a:blip r:embed="rId2"/>
          <a:stretch>
            <a:fillRect/>
          </a:stretch>
        </p:blipFill>
        <p:spPr>
          <a:xfrm>
            <a:off x="1225729" y="2057400"/>
            <a:ext cx="3358971" cy="2038350"/>
          </a:xfrm>
          <a:prstGeom prst="rect">
            <a:avLst/>
          </a:prstGeom>
        </p:spPr>
      </p:pic>
      <p:pic>
        <p:nvPicPr>
          <p:cNvPr id="8" name="Picture 7">
            <a:extLst>
              <a:ext uri="{FF2B5EF4-FFF2-40B4-BE49-F238E27FC236}">
                <a16:creationId xmlns:a16="http://schemas.microsoft.com/office/drawing/2014/main" id="{814B3BCF-703A-4014-9D69-DFB9F2713228}"/>
              </a:ext>
            </a:extLst>
          </p:cNvPr>
          <p:cNvPicPr>
            <a:picLocks noChangeAspect="1"/>
          </p:cNvPicPr>
          <p:nvPr/>
        </p:nvPicPr>
        <p:blipFill>
          <a:blip r:embed="rId3"/>
          <a:stretch>
            <a:fillRect/>
          </a:stretch>
        </p:blipFill>
        <p:spPr>
          <a:xfrm>
            <a:off x="4267200" y="3912468"/>
            <a:ext cx="4019282" cy="2038350"/>
          </a:xfrm>
          <a:prstGeom prst="rect">
            <a:avLst/>
          </a:prstGeom>
        </p:spPr>
      </p:pic>
    </p:spTree>
    <p:extLst>
      <p:ext uri="{BB962C8B-B14F-4D97-AF65-F5344CB8AC3E}">
        <p14:creationId xmlns:p14="http://schemas.microsoft.com/office/powerpoint/2010/main" val="3841262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50940-2F52-4C88-A207-822B6EDBDFC5}"/>
              </a:ext>
            </a:extLst>
          </p:cNvPr>
          <p:cNvSpPr>
            <a:spLocks noGrp="1"/>
          </p:cNvSpPr>
          <p:nvPr>
            <p:ph type="title"/>
          </p:nvPr>
        </p:nvSpPr>
        <p:spPr/>
        <p:txBody>
          <a:bodyPr/>
          <a:lstStyle/>
          <a:p>
            <a:r>
              <a:rPr lang="en-US" dirty="0"/>
              <a:t>APPLYING THE CONCEPTS</a:t>
            </a:r>
            <a:endParaRPr lang="en-ID" dirty="0"/>
          </a:p>
        </p:txBody>
      </p:sp>
      <p:sp>
        <p:nvSpPr>
          <p:cNvPr id="3" name="Footer Placeholder 2">
            <a:extLst>
              <a:ext uri="{FF2B5EF4-FFF2-40B4-BE49-F238E27FC236}">
                <a16:creationId xmlns:a16="http://schemas.microsoft.com/office/drawing/2014/main" id="{4EEBE1A6-9DDB-44B4-8437-6F6986BC5D8D}"/>
              </a:ext>
            </a:extLst>
          </p:cNvPr>
          <p:cNvSpPr>
            <a:spLocks noGrp="1"/>
          </p:cNvSpPr>
          <p:nvPr>
            <p:ph type="ftr" sz="quarter" idx="11"/>
          </p:nvPr>
        </p:nvSpPr>
        <p:spPr/>
        <p:txBody>
          <a:bodyPr/>
          <a:lstStyle/>
          <a:p>
            <a:r>
              <a:rPr lang="id-ID"/>
              <a:t>Bina Nusantara University</a:t>
            </a:r>
          </a:p>
        </p:txBody>
      </p:sp>
      <p:sp>
        <p:nvSpPr>
          <p:cNvPr id="4" name="Slide Number Placeholder 3">
            <a:extLst>
              <a:ext uri="{FF2B5EF4-FFF2-40B4-BE49-F238E27FC236}">
                <a16:creationId xmlns:a16="http://schemas.microsoft.com/office/drawing/2014/main" id="{C9254FCB-B984-409C-B898-ABDDE85CA010}"/>
              </a:ext>
            </a:extLst>
          </p:cNvPr>
          <p:cNvSpPr>
            <a:spLocks noGrp="1"/>
          </p:cNvSpPr>
          <p:nvPr>
            <p:ph type="sldNum" sz="quarter" idx="12"/>
          </p:nvPr>
        </p:nvSpPr>
        <p:spPr/>
        <p:txBody>
          <a:bodyPr/>
          <a:lstStyle/>
          <a:p>
            <a:fld id="{F173735F-2667-4028-B606-D96AABD86FDB}" type="slidenum">
              <a:rPr lang="id-ID" smtClean="0"/>
              <a:pPr/>
              <a:t>21</a:t>
            </a:fld>
            <a:endParaRPr lang="id-ID"/>
          </a:p>
        </p:txBody>
      </p:sp>
      <p:sp>
        <p:nvSpPr>
          <p:cNvPr id="6" name="TextBox 5">
            <a:extLst>
              <a:ext uri="{FF2B5EF4-FFF2-40B4-BE49-F238E27FC236}">
                <a16:creationId xmlns:a16="http://schemas.microsoft.com/office/drawing/2014/main" id="{20CF44AD-642A-4BD8-B471-5890B9747F5B}"/>
              </a:ext>
            </a:extLst>
          </p:cNvPr>
          <p:cNvSpPr txBox="1"/>
          <p:nvPr/>
        </p:nvSpPr>
        <p:spPr>
          <a:xfrm>
            <a:off x="1828800" y="3200400"/>
            <a:ext cx="6172200" cy="2540888"/>
          </a:xfrm>
          <a:prstGeom prst="rect">
            <a:avLst/>
          </a:prstGeom>
          <a:noFill/>
        </p:spPr>
        <p:txBody>
          <a:bodyPr wrap="square">
            <a:spAutoFit/>
          </a:bodyPr>
          <a:lstStyle/>
          <a:p>
            <a:pPr algn="just">
              <a:lnSpc>
                <a:spcPct val="150000"/>
              </a:lnSpc>
            </a:pPr>
            <a:r>
              <a:rPr lang="en-GB" sz="1800" b="0" i="0" u="none" strike="noStrike" baseline="0" dirty="0">
                <a:latin typeface="TimesLTPro-Roman"/>
              </a:rPr>
              <a:t>You want to select a random sample of </a:t>
            </a:r>
            <a:r>
              <a:rPr lang="en-GB" sz="1800" b="0" i="1" u="none" strike="noStrike" baseline="0" dirty="0">
                <a:latin typeface="TimesLTPro-Italic"/>
              </a:rPr>
              <a:t>n </a:t>
            </a:r>
            <a:r>
              <a:rPr lang="en-GB" sz="1800" b="0" i="0" u="none" strike="noStrike" baseline="0" dirty="0">
                <a:latin typeface="PearsonMATHPRO08"/>
              </a:rPr>
              <a:t>= </a:t>
            </a:r>
            <a:r>
              <a:rPr lang="en-GB" sz="1800" b="0" i="0" u="none" strike="noStrike" baseline="0" dirty="0">
                <a:latin typeface="TimesLTPro-Roman"/>
              </a:rPr>
              <a:t>1 from a population of three items (which are called </a:t>
            </a:r>
            <a:r>
              <a:rPr lang="en-GB" sz="1800" b="0" i="1" u="none" strike="noStrike" baseline="0" dirty="0">
                <a:latin typeface="TimesLTPro-Italic"/>
              </a:rPr>
              <a:t>A</a:t>
            </a:r>
            <a:r>
              <a:rPr lang="en-GB" sz="1800" b="0" i="0" u="none" strike="noStrike" baseline="0" dirty="0">
                <a:latin typeface="TimesLTPro-Roman"/>
              </a:rPr>
              <a:t>, </a:t>
            </a:r>
            <a:r>
              <a:rPr lang="en-GB" sz="1800" b="0" i="1" u="none" strike="noStrike" baseline="0" dirty="0">
                <a:latin typeface="TimesLTPro-Italic"/>
              </a:rPr>
              <a:t>B</a:t>
            </a:r>
            <a:r>
              <a:rPr lang="en-GB" sz="1800" b="0" i="0" u="none" strike="noStrike" baseline="0" dirty="0">
                <a:latin typeface="TimesLTPro-Roman"/>
              </a:rPr>
              <a:t>, and </a:t>
            </a:r>
            <a:r>
              <a:rPr lang="en-GB" sz="1800" b="0" i="1" u="none" strike="noStrike" baseline="0" dirty="0">
                <a:latin typeface="TimesLTPro-Italic"/>
              </a:rPr>
              <a:t>C</a:t>
            </a:r>
            <a:r>
              <a:rPr lang="en-GB" sz="1800" b="0" i="0" u="none" strike="noStrike" baseline="0" dirty="0">
                <a:latin typeface="TimesLTPro-Roman"/>
              </a:rPr>
              <a:t>). The rule for selecting the sample is as follows: Flip a coin; if it is heads, pick item </a:t>
            </a:r>
            <a:r>
              <a:rPr lang="en-GB" sz="1800" b="0" i="1" u="none" strike="noStrike" baseline="0" dirty="0">
                <a:latin typeface="TimesLTPro-Italic"/>
              </a:rPr>
              <a:t>A</a:t>
            </a:r>
            <a:r>
              <a:rPr lang="en-GB" sz="1800" b="0" i="0" u="none" strike="noStrike" baseline="0" dirty="0">
                <a:latin typeface="TimesLTPro-Roman"/>
              </a:rPr>
              <a:t>; if it is tails, flip the coin again; this time, if it is heads, choose </a:t>
            </a:r>
            <a:r>
              <a:rPr lang="en-GB" sz="1800" b="0" i="1" u="none" strike="noStrike" baseline="0" dirty="0">
                <a:latin typeface="TimesLTPro-Italic"/>
              </a:rPr>
              <a:t>B</a:t>
            </a:r>
            <a:r>
              <a:rPr lang="en-GB" sz="1800" b="0" i="0" u="none" strike="noStrike" baseline="0" dirty="0">
                <a:latin typeface="TimesLTPro-Roman"/>
              </a:rPr>
              <a:t>; if it is tails, choose </a:t>
            </a:r>
            <a:r>
              <a:rPr lang="en-GB" sz="1800" b="0" i="1" u="none" strike="noStrike" baseline="0" dirty="0">
                <a:latin typeface="TimesLTPro-Italic"/>
              </a:rPr>
              <a:t>C</a:t>
            </a:r>
            <a:r>
              <a:rPr lang="en-GB" sz="1800" b="0" i="0" u="none" strike="noStrike" baseline="0" dirty="0">
                <a:latin typeface="TimesLTPro-Roman"/>
              </a:rPr>
              <a:t>. Explain why this is a probability</a:t>
            </a:r>
          </a:p>
          <a:p>
            <a:pPr algn="just">
              <a:lnSpc>
                <a:spcPct val="150000"/>
              </a:lnSpc>
            </a:pPr>
            <a:r>
              <a:rPr lang="en-GB" sz="1800" b="0" i="0" u="none" strike="noStrike" baseline="0" dirty="0">
                <a:latin typeface="TimesLTPro-Roman"/>
              </a:rPr>
              <a:t>sample but not a simple random sample.</a:t>
            </a:r>
            <a:endParaRPr lang="en-ID" dirty="0"/>
          </a:p>
        </p:txBody>
      </p:sp>
    </p:spTree>
    <p:extLst>
      <p:ext uri="{BB962C8B-B14F-4D97-AF65-F5344CB8AC3E}">
        <p14:creationId xmlns:p14="http://schemas.microsoft.com/office/powerpoint/2010/main" val="26822961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DDB4E3C-C535-4ABD-84C0-34E5EFA068ED}"/>
              </a:ext>
            </a:extLst>
          </p:cNvPr>
          <p:cNvSpPr>
            <a:spLocks noGrp="1"/>
          </p:cNvSpPr>
          <p:nvPr>
            <p:ph type="ftr" sz="quarter" idx="11"/>
          </p:nvPr>
        </p:nvSpPr>
        <p:spPr/>
        <p:txBody>
          <a:bodyPr/>
          <a:lstStyle/>
          <a:p>
            <a:r>
              <a:rPr lang="id-ID"/>
              <a:t>Bina Nusantara University</a:t>
            </a:r>
          </a:p>
        </p:txBody>
      </p:sp>
      <p:sp>
        <p:nvSpPr>
          <p:cNvPr id="4" name="Slide Number Placeholder 3">
            <a:extLst>
              <a:ext uri="{FF2B5EF4-FFF2-40B4-BE49-F238E27FC236}">
                <a16:creationId xmlns:a16="http://schemas.microsoft.com/office/drawing/2014/main" id="{FDD84A0C-E13F-46FC-8970-60FD2389ABBC}"/>
              </a:ext>
            </a:extLst>
          </p:cNvPr>
          <p:cNvSpPr>
            <a:spLocks noGrp="1"/>
          </p:cNvSpPr>
          <p:nvPr>
            <p:ph type="sldNum" sz="quarter" idx="12"/>
          </p:nvPr>
        </p:nvSpPr>
        <p:spPr/>
        <p:txBody>
          <a:bodyPr/>
          <a:lstStyle/>
          <a:p>
            <a:fld id="{F173735F-2667-4028-B606-D96AABD86FDB}" type="slidenum">
              <a:rPr lang="id-ID" smtClean="0"/>
              <a:pPr/>
              <a:t>22</a:t>
            </a:fld>
            <a:endParaRPr lang="id-ID"/>
          </a:p>
        </p:txBody>
      </p:sp>
      <p:sp>
        <p:nvSpPr>
          <p:cNvPr id="5" name="Title 4">
            <a:extLst>
              <a:ext uri="{FF2B5EF4-FFF2-40B4-BE49-F238E27FC236}">
                <a16:creationId xmlns:a16="http://schemas.microsoft.com/office/drawing/2014/main" id="{A8C7828A-E071-418E-A959-97FDC69FB298}"/>
              </a:ext>
            </a:extLst>
          </p:cNvPr>
          <p:cNvSpPr>
            <a:spLocks noGrp="1"/>
          </p:cNvSpPr>
          <p:nvPr>
            <p:ph type="title"/>
          </p:nvPr>
        </p:nvSpPr>
        <p:spPr/>
        <p:txBody>
          <a:bodyPr/>
          <a:lstStyle/>
          <a:p>
            <a:r>
              <a:rPr lang="en-US" dirty="0"/>
              <a:t>TYPES OF SURVEY ERRORS</a:t>
            </a:r>
            <a:endParaRPr lang="en-ID" dirty="0"/>
          </a:p>
        </p:txBody>
      </p:sp>
    </p:spTree>
    <p:extLst>
      <p:ext uri="{BB962C8B-B14F-4D97-AF65-F5344CB8AC3E}">
        <p14:creationId xmlns:p14="http://schemas.microsoft.com/office/powerpoint/2010/main" val="37013524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A1159D9-F74B-448E-81C2-520243515B42}"/>
              </a:ext>
            </a:extLst>
          </p:cNvPr>
          <p:cNvSpPr>
            <a:spLocks noGrp="1"/>
          </p:cNvSpPr>
          <p:nvPr>
            <p:ph type="ftr" sz="quarter" idx="11"/>
          </p:nvPr>
        </p:nvSpPr>
        <p:spPr/>
        <p:txBody>
          <a:bodyPr/>
          <a:lstStyle/>
          <a:p>
            <a:r>
              <a:rPr lang="id-ID"/>
              <a:t>Bina Nusantara University</a:t>
            </a:r>
          </a:p>
        </p:txBody>
      </p:sp>
      <p:sp>
        <p:nvSpPr>
          <p:cNvPr id="4" name="Slide Number Placeholder 3">
            <a:extLst>
              <a:ext uri="{FF2B5EF4-FFF2-40B4-BE49-F238E27FC236}">
                <a16:creationId xmlns:a16="http://schemas.microsoft.com/office/drawing/2014/main" id="{5CFE119D-0EA6-4124-AA4F-90B37E01DFD0}"/>
              </a:ext>
            </a:extLst>
          </p:cNvPr>
          <p:cNvSpPr>
            <a:spLocks noGrp="1"/>
          </p:cNvSpPr>
          <p:nvPr>
            <p:ph type="sldNum" sz="quarter" idx="12"/>
          </p:nvPr>
        </p:nvSpPr>
        <p:spPr/>
        <p:txBody>
          <a:bodyPr/>
          <a:lstStyle/>
          <a:p>
            <a:fld id="{F173735F-2667-4028-B606-D96AABD86FDB}" type="slidenum">
              <a:rPr lang="id-ID" smtClean="0"/>
              <a:pPr/>
              <a:t>23</a:t>
            </a:fld>
            <a:endParaRPr lang="id-ID"/>
          </a:p>
        </p:txBody>
      </p:sp>
      <p:sp>
        <p:nvSpPr>
          <p:cNvPr id="6" name="TextBox 5">
            <a:extLst>
              <a:ext uri="{FF2B5EF4-FFF2-40B4-BE49-F238E27FC236}">
                <a16:creationId xmlns:a16="http://schemas.microsoft.com/office/drawing/2014/main" id="{07F7276E-BB14-4B14-9458-8D89919C22B9}"/>
              </a:ext>
            </a:extLst>
          </p:cNvPr>
          <p:cNvSpPr txBox="1"/>
          <p:nvPr/>
        </p:nvSpPr>
        <p:spPr>
          <a:xfrm>
            <a:off x="1295400" y="2158556"/>
            <a:ext cx="7067128" cy="2540888"/>
          </a:xfrm>
          <a:prstGeom prst="rect">
            <a:avLst/>
          </a:prstGeom>
          <a:noFill/>
        </p:spPr>
        <p:txBody>
          <a:bodyPr wrap="square">
            <a:spAutoFit/>
          </a:bodyPr>
          <a:lstStyle/>
          <a:p>
            <a:pPr algn="just">
              <a:lnSpc>
                <a:spcPct val="150000"/>
              </a:lnSpc>
            </a:pPr>
            <a:r>
              <a:rPr lang="en-GB" sz="1800" b="0" i="0" u="none" strike="noStrike" baseline="0" dirty="0">
                <a:latin typeface="TimesLTPro-Roman"/>
              </a:rPr>
              <a:t>When you collect data using the compiled responses from a survey, you must verify two things about the survey in order to make sure you have results that can be used in a decision-making process. You must evaluate the validity of the survey to make sure the survey does not lack objectivity or credibility. To do this, you evaluate the purpose of the survey, the reason the survey was conducted, and for whom the survey was conducted.</a:t>
            </a:r>
            <a:endParaRPr lang="en-ID" dirty="0"/>
          </a:p>
        </p:txBody>
      </p:sp>
    </p:spTree>
    <p:extLst>
      <p:ext uri="{BB962C8B-B14F-4D97-AF65-F5344CB8AC3E}">
        <p14:creationId xmlns:p14="http://schemas.microsoft.com/office/powerpoint/2010/main" val="3726543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30C1491-B54B-40C4-9634-CE34C62F4506}"/>
              </a:ext>
            </a:extLst>
          </p:cNvPr>
          <p:cNvSpPr>
            <a:spLocks noGrp="1"/>
          </p:cNvSpPr>
          <p:nvPr>
            <p:ph type="ftr" sz="quarter" idx="11"/>
          </p:nvPr>
        </p:nvSpPr>
        <p:spPr/>
        <p:txBody>
          <a:bodyPr/>
          <a:lstStyle/>
          <a:p>
            <a:r>
              <a:rPr lang="id-ID"/>
              <a:t>Bina Nusantara University</a:t>
            </a:r>
          </a:p>
        </p:txBody>
      </p:sp>
      <p:sp>
        <p:nvSpPr>
          <p:cNvPr id="4" name="Slide Number Placeholder 3">
            <a:extLst>
              <a:ext uri="{FF2B5EF4-FFF2-40B4-BE49-F238E27FC236}">
                <a16:creationId xmlns:a16="http://schemas.microsoft.com/office/drawing/2014/main" id="{A813CCC0-1121-450A-860E-4C4859E4B3B5}"/>
              </a:ext>
            </a:extLst>
          </p:cNvPr>
          <p:cNvSpPr>
            <a:spLocks noGrp="1"/>
          </p:cNvSpPr>
          <p:nvPr>
            <p:ph type="sldNum" sz="quarter" idx="12"/>
          </p:nvPr>
        </p:nvSpPr>
        <p:spPr/>
        <p:txBody>
          <a:bodyPr/>
          <a:lstStyle/>
          <a:p>
            <a:fld id="{F173735F-2667-4028-B606-D96AABD86FDB}" type="slidenum">
              <a:rPr lang="id-ID" smtClean="0"/>
              <a:pPr/>
              <a:t>24</a:t>
            </a:fld>
            <a:endParaRPr lang="id-ID"/>
          </a:p>
        </p:txBody>
      </p:sp>
      <p:sp>
        <p:nvSpPr>
          <p:cNvPr id="6" name="TextBox 5">
            <a:extLst>
              <a:ext uri="{FF2B5EF4-FFF2-40B4-BE49-F238E27FC236}">
                <a16:creationId xmlns:a16="http://schemas.microsoft.com/office/drawing/2014/main" id="{86672141-A1F2-482A-858C-F8804C088EA8}"/>
              </a:ext>
            </a:extLst>
          </p:cNvPr>
          <p:cNvSpPr txBox="1"/>
          <p:nvPr/>
        </p:nvSpPr>
        <p:spPr>
          <a:xfrm>
            <a:off x="1600200" y="2438400"/>
            <a:ext cx="6540500" cy="3371885"/>
          </a:xfrm>
          <a:prstGeom prst="rect">
            <a:avLst/>
          </a:prstGeom>
          <a:noFill/>
        </p:spPr>
        <p:txBody>
          <a:bodyPr wrap="square">
            <a:spAutoFit/>
          </a:bodyPr>
          <a:lstStyle/>
          <a:p>
            <a:pPr algn="just">
              <a:lnSpc>
                <a:spcPct val="150000"/>
              </a:lnSpc>
            </a:pPr>
            <a:r>
              <a:rPr lang="en-ID" sz="1800" b="1" i="0" u="none" strike="noStrike" baseline="0" dirty="0">
                <a:latin typeface="TimesLTPro-Bold"/>
              </a:rPr>
              <a:t>Coverage error </a:t>
            </a:r>
            <a:r>
              <a:rPr lang="en-ID" sz="1800" b="0" i="0" u="none" strike="noStrike" baseline="0" dirty="0">
                <a:latin typeface="TimesLTPro-Roman"/>
              </a:rPr>
              <a:t>occurs if </a:t>
            </a:r>
            <a:r>
              <a:rPr lang="en-GB" sz="1800" b="0" i="0" u="none" strike="noStrike" baseline="0" dirty="0">
                <a:latin typeface="TimesLTPro-Roman"/>
              </a:rPr>
              <a:t>certain groups of items are excluded from the frame so that they have no chance of being selected in the sample or if items are included from outside the frame.</a:t>
            </a:r>
          </a:p>
          <a:p>
            <a:pPr algn="just">
              <a:lnSpc>
                <a:spcPct val="150000"/>
              </a:lnSpc>
            </a:pPr>
            <a:endParaRPr lang="en-GB" dirty="0">
              <a:latin typeface="TimesLTPro-Roman"/>
            </a:endParaRPr>
          </a:p>
          <a:p>
            <a:pPr algn="just">
              <a:lnSpc>
                <a:spcPct val="150000"/>
              </a:lnSpc>
            </a:pPr>
            <a:r>
              <a:rPr lang="en-GB" sz="1800" b="0" i="0" u="none" strike="noStrike" baseline="0" dirty="0">
                <a:latin typeface="TimesLTPro-Roman"/>
              </a:rPr>
              <a:t>Coverage error results in a </a:t>
            </a:r>
            <a:r>
              <a:rPr lang="en-GB" sz="1800" b="1" i="0" u="none" strike="noStrike" baseline="0" dirty="0">
                <a:latin typeface="TimesLTPro-Bold"/>
              </a:rPr>
              <a:t>selection bias</a:t>
            </a:r>
            <a:r>
              <a:rPr lang="en-GB" sz="1800" b="0" i="0" u="none" strike="noStrike" baseline="0" dirty="0">
                <a:latin typeface="TimesLTPro-Roman"/>
              </a:rPr>
              <a:t>. If the frame is inadequate because certain groups of items in the population were not properly included, any probability sample selected will provide only an estimate of the characteristics of the frame, not the </a:t>
            </a:r>
            <a:r>
              <a:rPr lang="en-GB" sz="1800" b="0" i="1" u="none" strike="noStrike" baseline="0" dirty="0">
                <a:latin typeface="TimesLTPro-Italic"/>
              </a:rPr>
              <a:t>actual </a:t>
            </a:r>
            <a:r>
              <a:rPr lang="en-GB" sz="1800" b="0" i="0" u="none" strike="noStrike" baseline="0" dirty="0">
                <a:latin typeface="TimesLTPro-Roman"/>
              </a:rPr>
              <a:t>population.</a:t>
            </a:r>
            <a:endParaRPr lang="en-ID" dirty="0"/>
          </a:p>
        </p:txBody>
      </p:sp>
    </p:spTree>
    <p:extLst>
      <p:ext uri="{BB962C8B-B14F-4D97-AF65-F5344CB8AC3E}">
        <p14:creationId xmlns:p14="http://schemas.microsoft.com/office/powerpoint/2010/main" val="18682202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8D58D0A-52D8-4EE6-A628-93E8BF6F172E}"/>
              </a:ext>
            </a:extLst>
          </p:cNvPr>
          <p:cNvSpPr>
            <a:spLocks noGrp="1"/>
          </p:cNvSpPr>
          <p:nvPr>
            <p:ph type="ftr" sz="quarter" idx="11"/>
          </p:nvPr>
        </p:nvSpPr>
        <p:spPr/>
        <p:txBody>
          <a:bodyPr/>
          <a:lstStyle/>
          <a:p>
            <a:r>
              <a:rPr lang="id-ID"/>
              <a:t>Bina Nusantara University</a:t>
            </a:r>
          </a:p>
        </p:txBody>
      </p:sp>
      <p:sp>
        <p:nvSpPr>
          <p:cNvPr id="4" name="Slide Number Placeholder 3">
            <a:extLst>
              <a:ext uri="{FF2B5EF4-FFF2-40B4-BE49-F238E27FC236}">
                <a16:creationId xmlns:a16="http://schemas.microsoft.com/office/drawing/2014/main" id="{D449430C-B98E-451A-8570-082D203BEBDA}"/>
              </a:ext>
            </a:extLst>
          </p:cNvPr>
          <p:cNvSpPr>
            <a:spLocks noGrp="1"/>
          </p:cNvSpPr>
          <p:nvPr>
            <p:ph type="sldNum" sz="quarter" idx="12"/>
          </p:nvPr>
        </p:nvSpPr>
        <p:spPr/>
        <p:txBody>
          <a:bodyPr/>
          <a:lstStyle/>
          <a:p>
            <a:fld id="{F173735F-2667-4028-B606-D96AABD86FDB}" type="slidenum">
              <a:rPr lang="id-ID" smtClean="0"/>
              <a:pPr/>
              <a:t>25</a:t>
            </a:fld>
            <a:endParaRPr lang="id-ID"/>
          </a:p>
        </p:txBody>
      </p:sp>
      <p:sp>
        <p:nvSpPr>
          <p:cNvPr id="6" name="TextBox 5">
            <a:extLst>
              <a:ext uri="{FF2B5EF4-FFF2-40B4-BE49-F238E27FC236}">
                <a16:creationId xmlns:a16="http://schemas.microsoft.com/office/drawing/2014/main" id="{3859605A-F842-4621-9A54-CBE6C90D5F7D}"/>
              </a:ext>
            </a:extLst>
          </p:cNvPr>
          <p:cNvSpPr txBox="1"/>
          <p:nvPr/>
        </p:nvSpPr>
        <p:spPr>
          <a:xfrm>
            <a:off x="1447800" y="2286000"/>
            <a:ext cx="7086600" cy="3371885"/>
          </a:xfrm>
          <a:prstGeom prst="rect">
            <a:avLst/>
          </a:prstGeom>
          <a:noFill/>
        </p:spPr>
        <p:txBody>
          <a:bodyPr wrap="square">
            <a:spAutoFit/>
          </a:bodyPr>
          <a:lstStyle/>
          <a:p>
            <a:pPr algn="just">
              <a:lnSpc>
                <a:spcPct val="150000"/>
              </a:lnSpc>
            </a:pPr>
            <a:r>
              <a:rPr lang="en-GB" sz="1800" b="0" i="0" u="none" strike="noStrike" baseline="0" dirty="0">
                <a:latin typeface="TimesLTPro-Roman"/>
              </a:rPr>
              <a:t>Not everyone is willing to respond to a survey. </a:t>
            </a:r>
            <a:r>
              <a:rPr lang="en-GB" sz="1800" b="1" i="0" u="none" strike="noStrike" baseline="0" dirty="0">
                <a:latin typeface="TimesLTPro-Bold"/>
              </a:rPr>
              <a:t>Nonresponse error </a:t>
            </a:r>
            <a:r>
              <a:rPr lang="en-GB" sz="1800" b="0" i="0" u="none" strike="noStrike" baseline="0" dirty="0">
                <a:latin typeface="TimesLTPro-Roman"/>
              </a:rPr>
              <a:t>arises from failure to collect data on all items in the sample and results in a  </a:t>
            </a:r>
            <a:r>
              <a:rPr lang="en-GB" sz="1800" b="1" i="0" u="none" strike="noStrike" baseline="0" dirty="0">
                <a:latin typeface="TimesLTPro-Bold"/>
              </a:rPr>
              <a:t>nonresponse bias</a:t>
            </a:r>
            <a:r>
              <a:rPr lang="en-GB" sz="1800" b="0" i="0" u="none" strike="noStrike" baseline="0" dirty="0">
                <a:latin typeface="TimesLTPro-Roman"/>
              </a:rPr>
              <a:t>.</a:t>
            </a:r>
          </a:p>
          <a:p>
            <a:pPr algn="just">
              <a:lnSpc>
                <a:spcPct val="150000"/>
              </a:lnSpc>
            </a:pPr>
            <a:r>
              <a:rPr lang="en-GB" sz="1800" b="0" i="0" u="none" strike="noStrike" baseline="0" dirty="0">
                <a:latin typeface="TimesLTPro-Roman"/>
              </a:rPr>
              <a:t>Because you cannot always assume that persons who do not respond to surveys are similar to those who do, you need to follow up on the nonresponses after a specified period of time. You should make several attempts to convince such individuals to complete the survey and possibly offer an </a:t>
            </a:r>
            <a:r>
              <a:rPr lang="en-ID" sz="1800" b="0" i="0" u="none" strike="noStrike" baseline="0" dirty="0">
                <a:latin typeface="TimesLTPro-Roman"/>
              </a:rPr>
              <a:t>incentive to participate.</a:t>
            </a:r>
            <a:endParaRPr lang="en-ID" dirty="0"/>
          </a:p>
        </p:txBody>
      </p:sp>
    </p:spTree>
    <p:extLst>
      <p:ext uri="{BB962C8B-B14F-4D97-AF65-F5344CB8AC3E}">
        <p14:creationId xmlns:p14="http://schemas.microsoft.com/office/powerpoint/2010/main" val="21416172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5698CCE-315F-4DAB-9129-6E4943B28DBF}"/>
              </a:ext>
            </a:extLst>
          </p:cNvPr>
          <p:cNvSpPr>
            <a:spLocks noGrp="1"/>
          </p:cNvSpPr>
          <p:nvPr>
            <p:ph type="ftr" sz="quarter" idx="11"/>
          </p:nvPr>
        </p:nvSpPr>
        <p:spPr/>
        <p:txBody>
          <a:bodyPr/>
          <a:lstStyle/>
          <a:p>
            <a:r>
              <a:rPr lang="id-ID"/>
              <a:t>Bina Nusantara University</a:t>
            </a:r>
          </a:p>
        </p:txBody>
      </p:sp>
      <p:sp>
        <p:nvSpPr>
          <p:cNvPr id="4" name="Slide Number Placeholder 3">
            <a:extLst>
              <a:ext uri="{FF2B5EF4-FFF2-40B4-BE49-F238E27FC236}">
                <a16:creationId xmlns:a16="http://schemas.microsoft.com/office/drawing/2014/main" id="{083E8269-E980-4F32-A075-EDF11BA8D243}"/>
              </a:ext>
            </a:extLst>
          </p:cNvPr>
          <p:cNvSpPr>
            <a:spLocks noGrp="1"/>
          </p:cNvSpPr>
          <p:nvPr>
            <p:ph type="sldNum" sz="quarter" idx="12"/>
          </p:nvPr>
        </p:nvSpPr>
        <p:spPr/>
        <p:txBody>
          <a:bodyPr/>
          <a:lstStyle/>
          <a:p>
            <a:fld id="{F173735F-2667-4028-B606-D96AABD86FDB}" type="slidenum">
              <a:rPr lang="id-ID" smtClean="0"/>
              <a:pPr/>
              <a:t>26</a:t>
            </a:fld>
            <a:endParaRPr lang="id-ID"/>
          </a:p>
        </p:txBody>
      </p:sp>
      <p:sp>
        <p:nvSpPr>
          <p:cNvPr id="6" name="TextBox 5">
            <a:extLst>
              <a:ext uri="{FF2B5EF4-FFF2-40B4-BE49-F238E27FC236}">
                <a16:creationId xmlns:a16="http://schemas.microsoft.com/office/drawing/2014/main" id="{0749E619-FE23-4024-BA2E-376637E2AB31}"/>
              </a:ext>
            </a:extLst>
          </p:cNvPr>
          <p:cNvSpPr txBox="1"/>
          <p:nvPr/>
        </p:nvSpPr>
        <p:spPr>
          <a:xfrm>
            <a:off x="1676400" y="2362200"/>
            <a:ext cx="6858000" cy="2956387"/>
          </a:xfrm>
          <a:prstGeom prst="rect">
            <a:avLst/>
          </a:prstGeom>
          <a:noFill/>
        </p:spPr>
        <p:txBody>
          <a:bodyPr wrap="square">
            <a:spAutoFit/>
          </a:bodyPr>
          <a:lstStyle/>
          <a:p>
            <a:pPr algn="just">
              <a:lnSpc>
                <a:spcPct val="150000"/>
              </a:lnSpc>
            </a:pPr>
            <a:r>
              <a:rPr lang="en-GB" sz="1800" b="0" i="0" u="none" strike="noStrike" baseline="0" dirty="0">
                <a:latin typeface="TimesLTPro-Roman"/>
              </a:rPr>
              <a:t>The follow-up responses are then compared to the initial responses in order to make valid inferences from the survey (see references 2, 4, and 5). The mode of response you use, such as face-to-face interview, telephone interview, paper questionnaire, or computerized questionnaire, affects the rate of response. Personal interviews and telephone interviews usually produce a higher response rate than do mail surveys—but at a </a:t>
            </a:r>
            <a:r>
              <a:rPr lang="en-ID" sz="1800" b="0" i="0" u="none" strike="noStrike" baseline="0" dirty="0">
                <a:latin typeface="TimesLTPro-Roman"/>
              </a:rPr>
              <a:t>higher cost.</a:t>
            </a:r>
            <a:endParaRPr lang="en-ID" dirty="0"/>
          </a:p>
        </p:txBody>
      </p:sp>
    </p:spTree>
    <p:extLst>
      <p:ext uri="{BB962C8B-B14F-4D97-AF65-F5344CB8AC3E}">
        <p14:creationId xmlns:p14="http://schemas.microsoft.com/office/powerpoint/2010/main" val="26622465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1BA2610-EB33-42B2-AD8E-B1718EB6AFA1}"/>
              </a:ext>
            </a:extLst>
          </p:cNvPr>
          <p:cNvSpPr>
            <a:spLocks noGrp="1"/>
          </p:cNvSpPr>
          <p:nvPr>
            <p:ph type="ftr" sz="quarter" idx="11"/>
          </p:nvPr>
        </p:nvSpPr>
        <p:spPr/>
        <p:txBody>
          <a:bodyPr/>
          <a:lstStyle/>
          <a:p>
            <a:r>
              <a:rPr lang="id-ID"/>
              <a:t>Bina Nusantara University</a:t>
            </a:r>
          </a:p>
        </p:txBody>
      </p:sp>
      <p:sp>
        <p:nvSpPr>
          <p:cNvPr id="4" name="Slide Number Placeholder 3">
            <a:extLst>
              <a:ext uri="{FF2B5EF4-FFF2-40B4-BE49-F238E27FC236}">
                <a16:creationId xmlns:a16="http://schemas.microsoft.com/office/drawing/2014/main" id="{A922988B-383B-4BBD-A412-D4F3390B50CD}"/>
              </a:ext>
            </a:extLst>
          </p:cNvPr>
          <p:cNvSpPr>
            <a:spLocks noGrp="1"/>
          </p:cNvSpPr>
          <p:nvPr>
            <p:ph type="sldNum" sz="quarter" idx="12"/>
          </p:nvPr>
        </p:nvSpPr>
        <p:spPr/>
        <p:txBody>
          <a:bodyPr/>
          <a:lstStyle/>
          <a:p>
            <a:fld id="{F173735F-2667-4028-B606-D96AABD86FDB}" type="slidenum">
              <a:rPr lang="id-ID" smtClean="0"/>
              <a:pPr/>
              <a:t>27</a:t>
            </a:fld>
            <a:endParaRPr lang="id-ID"/>
          </a:p>
        </p:txBody>
      </p:sp>
      <p:sp>
        <p:nvSpPr>
          <p:cNvPr id="6" name="TextBox 5">
            <a:extLst>
              <a:ext uri="{FF2B5EF4-FFF2-40B4-BE49-F238E27FC236}">
                <a16:creationId xmlns:a16="http://schemas.microsoft.com/office/drawing/2014/main" id="{9AECAB35-5963-4148-BAD8-C1F00AD05520}"/>
              </a:ext>
            </a:extLst>
          </p:cNvPr>
          <p:cNvSpPr txBox="1"/>
          <p:nvPr/>
        </p:nvSpPr>
        <p:spPr>
          <a:xfrm>
            <a:off x="1524000" y="1676400"/>
            <a:ext cx="6400800" cy="2125390"/>
          </a:xfrm>
          <a:prstGeom prst="rect">
            <a:avLst/>
          </a:prstGeom>
          <a:noFill/>
        </p:spPr>
        <p:txBody>
          <a:bodyPr wrap="square">
            <a:spAutoFit/>
          </a:bodyPr>
          <a:lstStyle/>
          <a:p>
            <a:pPr algn="just">
              <a:lnSpc>
                <a:spcPct val="150000"/>
              </a:lnSpc>
            </a:pPr>
            <a:r>
              <a:rPr lang="en-GB" sz="1800" b="0" i="0" u="none" strike="noStrike" baseline="0" dirty="0">
                <a:latin typeface="TimesLTPro-Roman"/>
              </a:rPr>
              <a:t>When conducting a probability sample, chance dictates which individuals or items will or will not be included in the sample. </a:t>
            </a:r>
            <a:r>
              <a:rPr lang="en-GB" sz="1800" b="1" i="0" u="none" strike="noStrike" baseline="0" dirty="0">
                <a:latin typeface="TimesLTPro-Bold"/>
              </a:rPr>
              <a:t>Sampling error </a:t>
            </a:r>
            <a:r>
              <a:rPr lang="en-GB" sz="1800" b="0" i="0" u="none" strike="noStrike" baseline="0" dirty="0">
                <a:latin typeface="TimesLTPro-Roman"/>
              </a:rPr>
              <a:t>reflects the variation, or “chance differences,” from sample to sample, based on the probability of particular individuals or items being selected in the particular samples.</a:t>
            </a:r>
            <a:endParaRPr lang="en-ID" dirty="0"/>
          </a:p>
        </p:txBody>
      </p:sp>
      <p:sp>
        <p:nvSpPr>
          <p:cNvPr id="8" name="TextBox 7">
            <a:extLst>
              <a:ext uri="{FF2B5EF4-FFF2-40B4-BE49-F238E27FC236}">
                <a16:creationId xmlns:a16="http://schemas.microsoft.com/office/drawing/2014/main" id="{5B84A766-6FCC-4959-A39C-4D51B6C01009}"/>
              </a:ext>
            </a:extLst>
          </p:cNvPr>
          <p:cNvSpPr txBox="1"/>
          <p:nvPr/>
        </p:nvSpPr>
        <p:spPr>
          <a:xfrm>
            <a:off x="1524000" y="4250400"/>
            <a:ext cx="6934200" cy="1754326"/>
          </a:xfrm>
          <a:prstGeom prst="rect">
            <a:avLst/>
          </a:prstGeom>
          <a:noFill/>
        </p:spPr>
        <p:txBody>
          <a:bodyPr wrap="square">
            <a:spAutoFit/>
          </a:bodyPr>
          <a:lstStyle/>
          <a:p>
            <a:pPr algn="just"/>
            <a:r>
              <a:rPr lang="en-GB" sz="1800" b="0" i="0" u="none" strike="noStrike" baseline="0" dirty="0">
                <a:latin typeface="TimesLTPro-Roman"/>
              </a:rPr>
              <a:t>When you read about the results of surveys or polls in newspapers or on the Internet, there is often a statement regarding a margin of error, such as “the results of this poll are expected to be within </a:t>
            </a:r>
            <a:r>
              <a:rPr lang="en-GB" sz="1800" b="0" i="0" u="none" strike="noStrike" baseline="0" dirty="0">
                <a:latin typeface="PearsonMATHPRO13"/>
              </a:rPr>
              <a:t>{</a:t>
            </a:r>
            <a:r>
              <a:rPr lang="en-GB" sz="1800" b="0" i="0" u="none" strike="noStrike" baseline="0" dirty="0">
                <a:latin typeface="TimesLTPro-Roman"/>
              </a:rPr>
              <a:t>4 percentage points of the actual value.” This </a:t>
            </a:r>
            <a:r>
              <a:rPr lang="en-GB" sz="1800" b="1" i="0" u="none" strike="noStrike" baseline="0" dirty="0">
                <a:latin typeface="TimesLTPro-Bold"/>
              </a:rPr>
              <a:t>margin of error </a:t>
            </a:r>
            <a:r>
              <a:rPr lang="en-GB" sz="1800" b="0" i="0" u="none" strike="noStrike" baseline="0" dirty="0">
                <a:latin typeface="TimesLTPro-Roman"/>
              </a:rPr>
              <a:t>is the sampling error. You can reduce sampling error by using larger sample sizes. Of course, doing so increases the cost of conducting the survey.</a:t>
            </a:r>
            <a:endParaRPr lang="en-ID" dirty="0"/>
          </a:p>
        </p:txBody>
      </p:sp>
    </p:spTree>
    <p:extLst>
      <p:ext uri="{BB962C8B-B14F-4D97-AF65-F5344CB8AC3E}">
        <p14:creationId xmlns:p14="http://schemas.microsoft.com/office/powerpoint/2010/main" val="33591470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5F55230-DDAC-403D-BD34-BF7CC5D26C34}"/>
              </a:ext>
            </a:extLst>
          </p:cNvPr>
          <p:cNvSpPr>
            <a:spLocks noGrp="1"/>
          </p:cNvSpPr>
          <p:nvPr>
            <p:ph type="ftr" sz="quarter" idx="11"/>
          </p:nvPr>
        </p:nvSpPr>
        <p:spPr/>
        <p:txBody>
          <a:bodyPr/>
          <a:lstStyle/>
          <a:p>
            <a:r>
              <a:rPr lang="id-ID"/>
              <a:t>Bina Nusantara University</a:t>
            </a:r>
          </a:p>
        </p:txBody>
      </p:sp>
      <p:sp>
        <p:nvSpPr>
          <p:cNvPr id="4" name="Slide Number Placeholder 3">
            <a:extLst>
              <a:ext uri="{FF2B5EF4-FFF2-40B4-BE49-F238E27FC236}">
                <a16:creationId xmlns:a16="http://schemas.microsoft.com/office/drawing/2014/main" id="{8381C0A5-1B99-4CEE-905B-E7481EF19CEA}"/>
              </a:ext>
            </a:extLst>
          </p:cNvPr>
          <p:cNvSpPr>
            <a:spLocks noGrp="1"/>
          </p:cNvSpPr>
          <p:nvPr>
            <p:ph type="sldNum" sz="quarter" idx="12"/>
          </p:nvPr>
        </p:nvSpPr>
        <p:spPr/>
        <p:txBody>
          <a:bodyPr/>
          <a:lstStyle/>
          <a:p>
            <a:fld id="{F173735F-2667-4028-B606-D96AABD86FDB}" type="slidenum">
              <a:rPr lang="id-ID" smtClean="0"/>
              <a:pPr/>
              <a:t>28</a:t>
            </a:fld>
            <a:endParaRPr lang="id-ID"/>
          </a:p>
        </p:txBody>
      </p:sp>
      <p:sp>
        <p:nvSpPr>
          <p:cNvPr id="6" name="TextBox 5">
            <a:extLst>
              <a:ext uri="{FF2B5EF4-FFF2-40B4-BE49-F238E27FC236}">
                <a16:creationId xmlns:a16="http://schemas.microsoft.com/office/drawing/2014/main" id="{E21F1E2D-D2C6-405C-83A0-4039EBAE9CEF}"/>
              </a:ext>
            </a:extLst>
          </p:cNvPr>
          <p:cNvSpPr txBox="1"/>
          <p:nvPr/>
        </p:nvSpPr>
        <p:spPr>
          <a:xfrm>
            <a:off x="1676400" y="2016125"/>
            <a:ext cx="6553200" cy="2540888"/>
          </a:xfrm>
          <a:prstGeom prst="rect">
            <a:avLst/>
          </a:prstGeom>
          <a:noFill/>
        </p:spPr>
        <p:txBody>
          <a:bodyPr wrap="square">
            <a:spAutoFit/>
          </a:bodyPr>
          <a:lstStyle/>
          <a:p>
            <a:pPr algn="just">
              <a:lnSpc>
                <a:spcPct val="150000"/>
              </a:lnSpc>
            </a:pPr>
            <a:r>
              <a:rPr lang="en-GB" sz="1800" b="0" i="0" u="none" strike="noStrike" baseline="0" dirty="0">
                <a:latin typeface="TimesLTPro-Roman"/>
              </a:rPr>
              <a:t>In the practice of good survey research, you design surveys with the intention of gathering meaningful and accurate information. Unfortunately, the survey results you get are often only a proxy for the ones you really desire. Unlike height or weight, certain information about </a:t>
            </a:r>
            <a:r>
              <a:rPr lang="en-GB" sz="1800" b="0" i="0" u="none" strike="noStrike" baseline="0" dirty="0" err="1">
                <a:latin typeface="TimesLTPro-Roman"/>
              </a:rPr>
              <a:t>behaviors</a:t>
            </a:r>
            <a:r>
              <a:rPr lang="en-GB" sz="1800" b="0" i="0" u="none" strike="noStrike" baseline="0" dirty="0">
                <a:latin typeface="TimesLTPro-Roman"/>
              </a:rPr>
              <a:t> and psychological states is impossible or impractical to obtain directly.</a:t>
            </a:r>
            <a:endParaRPr lang="en-ID" dirty="0"/>
          </a:p>
        </p:txBody>
      </p:sp>
    </p:spTree>
    <p:extLst>
      <p:ext uri="{BB962C8B-B14F-4D97-AF65-F5344CB8AC3E}">
        <p14:creationId xmlns:p14="http://schemas.microsoft.com/office/powerpoint/2010/main" val="5489976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0B2E884-C798-43B0-9E02-32BFF289B859}"/>
              </a:ext>
            </a:extLst>
          </p:cNvPr>
          <p:cNvSpPr>
            <a:spLocks noGrp="1"/>
          </p:cNvSpPr>
          <p:nvPr>
            <p:ph type="ftr" sz="quarter" idx="11"/>
          </p:nvPr>
        </p:nvSpPr>
        <p:spPr/>
        <p:txBody>
          <a:bodyPr/>
          <a:lstStyle/>
          <a:p>
            <a:r>
              <a:rPr lang="id-ID"/>
              <a:t>Bina Nusantara University</a:t>
            </a:r>
          </a:p>
        </p:txBody>
      </p:sp>
      <p:sp>
        <p:nvSpPr>
          <p:cNvPr id="4" name="Slide Number Placeholder 3">
            <a:extLst>
              <a:ext uri="{FF2B5EF4-FFF2-40B4-BE49-F238E27FC236}">
                <a16:creationId xmlns:a16="http://schemas.microsoft.com/office/drawing/2014/main" id="{A51E9037-3A98-4072-9A6B-731BF1C39ED8}"/>
              </a:ext>
            </a:extLst>
          </p:cNvPr>
          <p:cNvSpPr>
            <a:spLocks noGrp="1"/>
          </p:cNvSpPr>
          <p:nvPr>
            <p:ph type="sldNum" sz="quarter" idx="12"/>
          </p:nvPr>
        </p:nvSpPr>
        <p:spPr/>
        <p:txBody>
          <a:bodyPr/>
          <a:lstStyle/>
          <a:p>
            <a:fld id="{F173735F-2667-4028-B606-D96AABD86FDB}" type="slidenum">
              <a:rPr lang="id-ID" smtClean="0"/>
              <a:pPr/>
              <a:t>29</a:t>
            </a:fld>
            <a:endParaRPr lang="id-ID"/>
          </a:p>
        </p:txBody>
      </p:sp>
      <p:sp>
        <p:nvSpPr>
          <p:cNvPr id="6" name="TextBox 5">
            <a:extLst>
              <a:ext uri="{FF2B5EF4-FFF2-40B4-BE49-F238E27FC236}">
                <a16:creationId xmlns:a16="http://schemas.microsoft.com/office/drawing/2014/main" id="{7EFEBE7A-ED7A-44C5-B35C-6B92F07F07B6}"/>
              </a:ext>
            </a:extLst>
          </p:cNvPr>
          <p:cNvSpPr txBox="1"/>
          <p:nvPr/>
        </p:nvSpPr>
        <p:spPr>
          <a:xfrm>
            <a:off x="1866900" y="2366305"/>
            <a:ext cx="6477000" cy="2125390"/>
          </a:xfrm>
          <a:prstGeom prst="rect">
            <a:avLst/>
          </a:prstGeom>
          <a:noFill/>
        </p:spPr>
        <p:txBody>
          <a:bodyPr wrap="square">
            <a:spAutoFit/>
          </a:bodyPr>
          <a:lstStyle/>
          <a:p>
            <a:pPr algn="just">
              <a:lnSpc>
                <a:spcPct val="150000"/>
              </a:lnSpc>
            </a:pPr>
            <a:r>
              <a:rPr lang="en-GB" sz="1800" b="0" i="0" u="none" strike="noStrike" baseline="0" dirty="0">
                <a:latin typeface="TimesLTPro-Roman"/>
              </a:rPr>
              <a:t>When surveys rely on self-reported information, the mode of data collection, the respondent to the survey, and or the survey itself can be possible sources of </a:t>
            </a:r>
            <a:r>
              <a:rPr lang="en-GB" sz="1800" b="1" i="0" u="none" strike="noStrike" baseline="0" dirty="0">
                <a:latin typeface="TimesLTPro-Bold"/>
              </a:rPr>
              <a:t>measurement error</a:t>
            </a:r>
            <a:r>
              <a:rPr lang="en-GB" sz="1800" b="0" i="0" u="none" strike="noStrike" baseline="0" dirty="0">
                <a:latin typeface="TimesLTPro-Roman"/>
              </a:rPr>
              <a:t>. Satisficing, social desirability, reading ability, and/or interviewer effects can be dependent on the mode of data collection.</a:t>
            </a:r>
            <a:endParaRPr lang="en-ID" dirty="0"/>
          </a:p>
        </p:txBody>
      </p:sp>
    </p:spTree>
    <p:extLst>
      <p:ext uri="{BB962C8B-B14F-4D97-AF65-F5344CB8AC3E}">
        <p14:creationId xmlns:p14="http://schemas.microsoft.com/office/powerpoint/2010/main" val="17668921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429772B-40D3-44B2-9A09-4B37C04126AD}"/>
              </a:ext>
            </a:extLst>
          </p:cNvPr>
          <p:cNvSpPr>
            <a:spLocks noGrp="1"/>
          </p:cNvSpPr>
          <p:nvPr>
            <p:ph type="ftr" sz="quarter" idx="11"/>
          </p:nvPr>
        </p:nvSpPr>
        <p:spPr/>
        <p:txBody>
          <a:bodyPr/>
          <a:lstStyle/>
          <a:p>
            <a:r>
              <a:rPr lang="id-ID"/>
              <a:t>Bina Nusantara University</a:t>
            </a:r>
          </a:p>
        </p:txBody>
      </p:sp>
      <p:sp>
        <p:nvSpPr>
          <p:cNvPr id="4" name="Slide Number Placeholder 3">
            <a:extLst>
              <a:ext uri="{FF2B5EF4-FFF2-40B4-BE49-F238E27FC236}">
                <a16:creationId xmlns:a16="http://schemas.microsoft.com/office/drawing/2014/main" id="{9606A968-0EE1-43DC-9807-C63BEE0EFBFF}"/>
              </a:ext>
            </a:extLst>
          </p:cNvPr>
          <p:cNvSpPr>
            <a:spLocks noGrp="1"/>
          </p:cNvSpPr>
          <p:nvPr>
            <p:ph type="sldNum" sz="quarter" idx="12"/>
          </p:nvPr>
        </p:nvSpPr>
        <p:spPr/>
        <p:txBody>
          <a:bodyPr/>
          <a:lstStyle/>
          <a:p>
            <a:fld id="{F173735F-2667-4028-B606-D96AABD86FDB}" type="slidenum">
              <a:rPr lang="id-ID" smtClean="0"/>
              <a:pPr/>
              <a:t>30</a:t>
            </a:fld>
            <a:endParaRPr lang="id-ID"/>
          </a:p>
        </p:txBody>
      </p:sp>
      <p:sp>
        <p:nvSpPr>
          <p:cNvPr id="6" name="TextBox 5">
            <a:extLst>
              <a:ext uri="{FF2B5EF4-FFF2-40B4-BE49-F238E27FC236}">
                <a16:creationId xmlns:a16="http://schemas.microsoft.com/office/drawing/2014/main" id="{16BFCA8F-39A1-4CC7-8EAA-2BC9F7796A0E}"/>
              </a:ext>
            </a:extLst>
          </p:cNvPr>
          <p:cNvSpPr txBox="1"/>
          <p:nvPr/>
        </p:nvSpPr>
        <p:spPr>
          <a:xfrm>
            <a:off x="1600200" y="2057400"/>
            <a:ext cx="6753436" cy="2956387"/>
          </a:xfrm>
          <a:prstGeom prst="rect">
            <a:avLst/>
          </a:prstGeom>
          <a:noFill/>
        </p:spPr>
        <p:txBody>
          <a:bodyPr wrap="square">
            <a:spAutoFit/>
          </a:bodyPr>
          <a:lstStyle/>
          <a:p>
            <a:pPr algn="just">
              <a:lnSpc>
                <a:spcPct val="150000"/>
              </a:lnSpc>
            </a:pPr>
            <a:r>
              <a:rPr lang="en-GB" sz="1800" b="0" i="0" u="none" strike="noStrike" baseline="0" dirty="0">
                <a:latin typeface="TimesLTPro-Roman"/>
              </a:rPr>
              <a:t>The social desirability bias or cognitive/memory limitations of a respondent can affect the results. And vague questions, </a:t>
            </a:r>
            <a:r>
              <a:rPr lang="en-GB" sz="1800" b="0" i="0" u="none" strike="noStrike" baseline="0" dirty="0" err="1">
                <a:latin typeface="TimesLTPro-Roman"/>
              </a:rPr>
              <a:t>double-barreled</a:t>
            </a:r>
            <a:r>
              <a:rPr lang="en-GB" sz="1800" b="0" i="0" u="none" strike="noStrike" baseline="0" dirty="0">
                <a:latin typeface="TimesLTPro-Roman"/>
              </a:rPr>
              <a:t> questions that ask about multiple issues but require a single response, or questions that ask the respondent to report something that occurs over time but fail to clearly define the extent of time about which the question asks (the reference period) are some of the survey flaws that can cause </a:t>
            </a:r>
            <a:r>
              <a:rPr lang="en-ID" sz="1800" b="0" i="0" u="none" strike="noStrike" baseline="0" dirty="0">
                <a:latin typeface="TimesLTPro-Roman"/>
              </a:rPr>
              <a:t>errors.</a:t>
            </a:r>
            <a:endParaRPr lang="en-ID" dirty="0"/>
          </a:p>
        </p:txBody>
      </p:sp>
    </p:spTree>
    <p:extLst>
      <p:ext uri="{BB962C8B-B14F-4D97-AF65-F5344CB8AC3E}">
        <p14:creationId xmlns:p14="http://schemas.microsoft.com/office/powerpoint/2010/main" val="10066536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3C0B4-3763-4D66-A5D3-51F63F1E5EB4}"/>
              </a:ext>
            </a:extLst>
          </p:cNvPr>
          <p:cNvSpPr>
            <a:spLocks noGrp="1"/>
          </p:cNvSpPr>
          <p:nvPr>
            <p:ph type="title"/>
          </p:nvPr>
        </p:nvSpPr>
        <p:spPr/>
        <p:txBody>
          <a:bodyPr/>
          <a:lstStyle/>
          <a:p>
            <a:r>
              <a:rPr lang="en-US" dirty="0"/>
              <a:t>Applying The Concepts</a:t>
            </a:r>
            <a:endParaRPr lang="en-ID" dirty="0"/>
          </a:p>
        </p:txBody>
      </p:sp>
      <p:sp>
        <p:nvSpPr>
          <p:cNvPr id="3" name="Footer Placeholder 2">
            <a:extLst>
              <a:ext uri="{FF2B5EF4-FFF2-40B4-BE49-F238E27FC236}">
                <a16:creationId xmlns:a16="http://schemas.microsoft.com/office/drawing/2014/main" id="{D61B2250-6667-4C2D-93B3-78615520A8AB}"/>
              </a:ext>
            </a:extLst>
          </p:cNvPr>
          <p:cNvSpPr>
            <a:spLocks noGrp="1"/>
          </p:cNvSpPr>
          <p:nvPr>
            <p:ph type="ftr" sz="quarter" idx="11"/>
          </p:nvPr>
        </p:nvSpPr>
        <p:spPr/>
        <p:txBody>
          <a:bodyPr/>
          <a:lstStyle/>
          <a:p>
            <a:r>
              <a:rPr lang="id-ID"/>
              <a:t>Bina Nusantara University</a:t>
            </a:r>
          </a:p>
        </p:txBody>
      </p:sp>
      <p:sp>
        <p:nvSpPr>
          <p:cNvPr id="4" name="Slide Number Placeholder 3">
            <a:extLst>
              <a:ext uri="{FF2B5EF4-FFF2-40B4-BE49-F238E27FC236}">
                <a16:creationId xmlns:a16="http://schemas.microsoft.com/office/drawing/2014/main" id="{33AB5B5C-108D-4A8D-A9CD-1F395DF3BDB7}"/>
              </a:ext>
            </a:extLst>
          </p:cNvPr>
          <p:cNvSpPr>
            <a:spLocks noGrp="1"/>
          </p:cNvSpPr>
          <p:nvPr>
            <p:ph type="sldNum" sz="quarter" idx="12"/>
          </p:nvPr>
        </p:nvSpPr>
        <p:spPr/>
        <p:txBody>
          <a:bodyPr/>
          <a:lstStyle/>
          <a:p>
            <a:fld id="{F173735F-2667-4028-B606-D96AABD86FDB}" type="slidenum">
              <a:rPr lang="id-ID" smtClean="0"/>
              <a:pPr/>
              <a:t>31</a:t>
            </a:fld>
            <a:endParaRPr lang="id-ID"/>
          </a:p>
        </p:txBody>
      </p:sp>
      <p:sp>
        <p:nvSpPr>
          <p:cNvPr id="6" name="TextBox 5">
            <a:extLst>
              <a:ext uri="{FF2B5EF4-FFF2-40B4-BE49-F238E27FC236}">
                <a16:creationId xmlns:a16="http://schemas.microsoft.com/office/drawing/2014/main" id="{FA1CB857-0099-4674-9CD8-6BE91E6A3D87}"/>
              </a:ext>
            </a:extLst>
          </p:cNvPr>
          <p:cNvSpPr txBox="1"/>
          <p:nvPr/>
        </p:nvSpPr>
        <p:spPr>
          <a:xfrm>
            <a:off x="1371600" y="2627784"/>
            <a:ext cx="7315200" cy="2956387"/>
          </a:xfrm>
          <a:prstGeom prst="rect">
            <a:avLst/>
          </a:prstGeom>
          <a:noFill/>
        </p:spPr>
        <p:txBody>
          <a:bodyPr wrap="square">
            <a:spAutoFit/>
          </a:bodyPr>
          <a:lstStyle/>
          <a:p>
            <a:pPr algn="just">
              <a:lnSpc>
                <a:spcPct val="150000"/>
              </a:lnSpc>
            </a:pPr>
            <a:r>
              <a:rPr lang="en-GB" sz="1800" b="0" i="0" u="none" strike="noStrike" baseline="0" dirty="0">
                <a:latin typeface="TimesLTPro-Roman"/>
              </a:rPr>
              <a:t>A simple random sample of </a:t>
            </a:r>
            <a:r>
              <a:rPr lang="en-GB" sz="1800" b="0" i="1" u="none" strike="noStrike" baseline="0" dirty="0">
                <a:latin typeface="TimesLTPro-Italic"/>
              </a:rPr>
              <a:t>n </a:t>
            </a:r>
            <a:r>
              <a:rPr lang="en-GB" sz="1800" b="0" i="0" u="none" strike="noStrike" baseline="0" dirty="0">
                <a:latin typeface="PearsonMATHPRO08"/>
              </a:rPr>
              <a:t>= </a:t>
            </a:r>
            <a:r>
              <a:rPr lang="en-GB" sz="1800" b="0" i="0" u="none" strike="noStrike" baseline="0" dirty="0">
                <a:latin typeface="TimesLTPro-Roman"/>
              </a:rPr>
              <a:t>300 full-time employees  is selected from a company list containing the names of all </a:t>
            </a:r>
            <a:r>
              <a:rPr lang="en-GB" sz="1800" b="0" i="1" u="none" strike="noStrike" baseline="0" dirty="0">
                <a:latin typeface="TimesLTPro-Italic"/>
              </a:rPr>
              <a:t>N </a:t>
            </a:r>
            <a:r>
              <a:rPr lang="en-GB" sz="1800" b="0" i="0" u="none" strike="noStrike" baseline="0" dirty="0">
                <a:latin typeface="PearsonMATHPRO08"/>
              </a:rPr>
              <a:t>= </a:t>
            </a:r>
            <a:r>
              <a:rPr lang="en-GB" sz="1800" b="0" i="0" u="none" strike="noStrike" baseline="0" dirty="0">
                <a:latin typeface="TimesLTPro-Roman"/>
              </a:rPr>
              <a:t>5,000 full-time employees in order to evaluate job </a:t>
            </a:r>
            <a:r>
              <a:rPr lang="en-ID" sz="1800" b="0" i="0" u="none" strike="noStrike" baseline="0" dirty="0">
                <a:latin typeface="TimesLTPro-Roman"/>
              </a:rPr>
              <a:t>satisfaction.</a:t>
            </a:r>
          </a:p>
          <a:p>
            <a:pPr algn="just">
              <a:lnSpc>
                <a:spcPct val="150000"/>
              </a:lnSpc>
            </a:pPr>
            <a:r>
              <a:rPr lang="en-GB" sz="1800" b="1" i="0" u="none" strike="noStrike" baseline="0" dirty="0">
                <a:latin typeface="TimesLTPro-Bold"/>
              </a:rPr>
              <a:t>a. </a:t>
            </a:r>
            <a:r>
              <a:rPr lang="en-GB" sz="1800" b="0" i="0" u="none" strike="noStrike" baseline="0" dirty="0">
                <a:latin typeface="TimesLTPro-Roman"/>
              </a:rPr>
              <a:t>Give an example of possible coverage error.</a:t>
            </a:r>
          </a:p>
          <a:p>
            <a:pPr algn="just">
              <a:lnSpc>
                <a:spcPct val="150000"/>
              </a:lnSpc>
            </a:pPr>
            <a:r>
              <a:rPr lang="en-GB" sz="1800" b="1" i="0" u="none" strike="noStrike" baseline="0" dirty="0">
                <a:latin typeface="TimesLTPro-Bold"/>
              </a:rPr>
              <a:t>b. </a:t>
            </a:r>
            <a:r>
              <a:rPr lang="en-GB" sz="1800" b="0" i="0" u="none" strike="noStrike" baseline="0" dirty="0">
                <a:latin typeface="TimesLTPro-Roman"/>
              </a:rPr>
              <a:t>Give an example of possible nonresponse error.</a:t>
            </a:r>
          </a:p>
          <a:p>
            <a:pPr algn="just">
              <a:lnSpc>
                <a:spcPct val="150000"/>
              </a:lnSpc>
            </a:pPr>
            <a:r>
              <a:rPr lang="en-GB" sz="1800" b="1" i="0" u="none" strike="noStrike" baseline="0" dirty="0">
                <a:latin typeface="TimesLTPro-Bold"/>
              </a:rPr>
              <a:t>c. </a:t>
            </a:r>
            <a:r>
              <a:rPr lang="en-GB" sz="1800" b="0" i="0" u="none" strike="noStrike" baseline="0" dirty="0">
                <a:latin typeface="TimesLTPro-Roman"/>
              </a:rPr>
              <a:t>Give an example of possible sampling error.</a:t>
            </a:r>
          </a:p>
          <a:p>
            <a:pPr algn="just">
              <a:lnSpc>
                <a:spcPct val="150000"/>
              </a:lnSpc>
            </a:pPr>
            <a:r>
              <a:rPr lang="en-GB" sz="1800" b="1" i="0" u="none" strike="noStrike" baseline="0" dirty="0">
                <a:latin typeface="TimesLTPro-Bold"/>
              </a:rPr>
              <a:t>d. </a:t>
            </a:r>
            <a:r>
              <a:rPr lang="en-GB" sz="1800" b="0" i="0" u="none" strike="noStrike" baseline="0" dirty="0">
                <a:latin typeface="TimesLTPro-Roman"/>
              </a:rPr>
              <a:t>Give an example of possible measurement error.</a:t>
            </a:r>
            <a:endParaRPr lang="en-ID" dirty="0"/>
          </a:p>
        </p:txBody>
      </p:sp>
    </p:spTree>
    <p:extLst>
      <p:ext uri="{BB962C8B-B14F-4D97-AF65-F5344CB8AC3E}">
        <p14:creationId xmlns:p14="http://schemas.microsoft.com/office/powerpoint/2010/main" val="5467232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86608" y="3178175"/>
            <a:ext cx="7128792" cy="1470025"/>
          </a:xfrm>
        </p:spPr>
        <p:txBody>
          <a:bodyPr>
            <a:normAutofit/>
          </a:bodyPr>
          <a:lstStyle/>
          <a:p>
            <a:pPr>
              <a:lnSpc>
                <a:spcPct val="150000"/>
              </a:lnSpc>
            </a:pPr>
            <a:r>
              <a:rPr lang="en-US" sz="1800" dirty="0">
                <a:latin typeface="Times New Roman" panose="02020603050405020304" pitchFamily="18" charset="0"/>
                <a:cs typeface="Times New Roman" panose="02020603050405020304" pitchFamily="18" charset="0"/>
              </a:rPr>
              <a:t>David M. Levine, David F. Stephan, Kathryn A. </a:t>
            </a:r>
            <a:r>
              <a:rPr lang="en-US" sz="1800" dirty="0" err="1">
                <a:latin typeface="Times New Roman" panose="02020603050405020304" pitchFamily="18" charset="0"/>
                <a:cs typeface="Times New Roman" panose="02020603050405020304" pitchFamily="18" charset="0"/>
              </a:rPr>
              <a:t>Szabat</a:t>
            </a:r>
            <a:r>
              <a:rPr lang="en-US" sz="1800" dirty="0">
                <a:latin typeface="Times New Roman" panose="02020603050405020304" pitchFamily="18" charset="0"/>
                <a:cs typeface="Times New Roman" panose="02020603050405020304" pitchFamily="18" charset="0"/>
              </a:rPr>
              <a:t>. Statistics for Managers using Microsoft Excel. Pearson, 8</a:t>
            </a:r>
            <a:r>
              <a:rPr lang="en-US" sz="1800" baseline="30000" dirty="0">
                <a:latin typeface="Times New Roman" panose="02020603050405020304" pitchFamily="18" charset="0"/>
                <a:cs typeface="Times New Roman" panose="02020603050405020304" pitchFamily="18" charset="0"/>
              </a:rPr>
              <a:t>th</a:t>
            </a:r>
            <a:r>
              <a:rPr lang="en-US" sz="1800" dirty="0">
                <a:latin typeface="Times New Roman" panose="02020603050405020304" pitchFamily="18" charset="0"/>
                <a:cs typeface="Times New Roman" panose="02020603050405020304" pitchFamily="18" charset="0"/>
              </a:rPr>
              <a:t> Edition. </a:t>
            </a:r>
            <a:endParaRPr lang="id-ID" sz="1800" b="0" dirty="0"/>
          </a:p>
        </p:txBody>
      </p:sp>
    </p:spTree>
    <p:extLst>
      <p:ext uri="{BB962C8B-B14F-4D97-AF65-F5344CB8AC3E}">
        <p14:creationId xmlns:p14="http://schemas.microsoft.com/office/powerpoint/2010/main" val="15031798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9A013DB-8B9C-40DA-9739-5D2752F7CA84}"/>
              </a:ext>
            </a:extLst>
          </p:cNvPr>
          <p:cNvSpPr>
            <a:spLocks noGrp="1"/>
          </p:cNvSpPr>
          <p:nvPr>
            <p:ph type="ftr" sz="quarter" idx="11"/>
          </p:nvPr>
        </p:nvSpPr>
        <p:spPr/>
        <p:txBody>
          <a:bodyPr/>
          <a:lstStyle/>
          <a:p>
            <a:r>
              <a:rPr lang="id-ID"/>
              <a:t>Bina Nusantara University</a:t>
            </a:r>
          </a:p>
        </p:txBody>
      </p:sp>
      <p:sp>
        <p:nvSpPr>
          <p:cNvPr id="4" name="Slide Number Placeholder 3">
            <a:extLst>
              <a:ext uri="{FF2B5EF4-FFF2-40B4-BE49-F238E27FC236}">
                <a16:creationId xmlns:a16="http://schemas.microsoft.com/office/drawing/2014/main" id="{0C314EC1-A00F-4331-B9E3-BA8E5A99B352}"/>
              </a:ext>
            </a:extLst>
          </p:cNvPr>
          <p:cNvSpPr>
            <a:spLocks noGrp="1"/>
          </p:cNvSpPr>
          <p:nvPr>
            <p:ph type="sldNum" sz="quarter" idx="12"/>
          </p:nvPr>
        </p:nvSpPr>
        <p:spPr/>
        <p:txBody>
          <a:bodyPr/>
          <a:lstStyle/>
          <a:p>
            <a:fld id="{F173735F-2667-4028-B606-D96AABD86FDB}" type="slidenum">
              <a:rPr lang="id-ID" smtClean="0"/>
              <a:pPr/>
              <a:t>33</a:t>
            </a:fld>
            <a:endParaRPr lang="id-ID"/>
          </a:p>
        </p:txBody>
      </p:sp>
      <p:sp>
        <p:nvSpPr>
          <p:cNvPr id="7" name="Title 6">
            <a:extLst>
              <a:ext uri="{FF2B5EF4-FFF2-40B4-BE49-F238E27FC236}">
                <a16:creationId xmlns:a16="http://schemas.microsoft.com/office/drawing/2014/main" id="{542C1720-BD7B-4AE7-AAA2-6834297CA3B0}"/>
              </a:ext>
            </a:extLst>
          </p:cNvPr>
          <p:cNvSpPr>
            <a:spLocks noGrp="1"/>
          </p:cNvSpPr>
          <p:nvPr>
            <p:ph type="title"/>
          </p:nvPr>
        </p:nvSpPr>
        <p:spPr/>
        <p:txBody>
          <a:bodyPr/>
          <a:lstStyle/>
          <a:p>
            <a:r>
              <a:rPr lang="en-US" dirty="0"/>
              <a:t>Thank You</a:t>
            </a:r>
            <a:endParaRPr lang="en-ID" dirty="0"/>
          </a:p>
        </p:txBody>
      </p:sp>
    </p:spTree>
    <p:extLst>
      <p:ext uri="{BB962C8B-B14F-4D97-AF65-F5344CB8AC3E}">
        <p14:creationId xmlns:p14="http://schemas.microsoft.com/office/powerpoint/2010/main" val="3852228337"/>
      </p:ext>
    </p:extLst>
  </p:cSld>
  <p:clrMapOvr>
    <a:masterClrMapping/>
  </p:clrMapOvr>
</p:sld>
</file>

<file path=ppt/theme/theme1.xml><?xml version="1.0" encoding="utf-8"?>
<a:theme xmlns:a="http://schemas.openxmlformats.org/drawingml/2006/main" name="Template PPT 2015">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 PPT 2015</Template>
  <TotalTime>3734</TotalTime>
  <Words>2089</Words>
  <Application>Microsoft Office PowerPoint</Application>
  <PresentationFormat>On-screen Show (4:3)</PresentationFormat>
  <Paragraphs>135</Paragraphs>
  <Slides>33</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33</vt:i4>
      </vt:variant>
    </vt:vector>
  </HeadingPairs>
  <TitlesOfParts>
    <vt:vector size="44" baseType="lpstr">
      <vt:lpstr>PearsonMATHPRO08</vt:lpstr>
      <vt:lpstr>PearsonMATHPRO13</vt:lpstr>
      <vt:lpstr>TimesLTPro-Bold</vt:lpstr>
      <vt:lpstr>TimesLTPro-Italic</vt:lpstr>
      <vt:lpstr>TimesLTPro-Roman</vt:lpstr>
      <vt:lpstr>Arial</vt:lpstr>
      <vt:lpstr>Calibri</vt:lpstr>
      <vt:lpstr>Open Sans</vt:lpstr>
      <vt:lpstr>Times New Roman</vt:lpstr>
      <vt:lpstr>Verdana</vt:lpstr>
      <vt:lpstr>Template PPT 2015</vt:lpstr>
      <vt:lpstr>Defining and Collecting Data  Session  1</vt:lpstr>
      <vt:lpstr>PowerPoint Presentation</vt:lpstr>
      <vt:lpstr>USING STATISTICS: DEFINING MOMENTS</vt:lpstr>
      <vt:lpstr>PowerPoint Presentation</vt:lpstr>
      <vt:lpstr>PowerPoint Presentation</vt:lpstr>
      <vt:lpstr>DEFINING VARIABLES</vt:lpstr>
      <vt:lpstr>PowerPoint Presentation</vt:lpstr>
      <vt:lpstr>Classifying Variables by Type</vt:lpstr>
      <vt:lpstr>Classifying Variables by Type</vt:lpstr>
      <vt:lpstr>Classifying Variables by Type</vt:lpstr>
      <vt:lpstr>Measurement and Scales</vt:lpstr>
      <vt:lpstr>PowerPoint Presentation</vt:lpstr>
      <vt:lpstr>LEARNING THE BASICS</vt:lpstr>
      <vt:lpstr>COLLECTING DATA</vt:lpstr>
      <vt:lpstr>PowerPoint Presentation</vt:lpstr>
      <vt:lpstr>DATA SOURCES</vt:lpstr>
      <vt:lpstr>APPLYING THE CONCEPT</vt:lpstr>
      <vt:lpstr>TYPES OF SAMPLING METHODS</vt:lpstr>
      <vt:lpstr>PowerPoint Presentation</vt:lpstr>
      <vt:lpstr>PowerPoint Presentation</vt:lpstr>
      <vt:lpstr>APPLYING THE CONCEPTS</vt:lpstr>
      <vt:lpstr>TYPES OF SURVEY ERRORS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Applying The Concepts</vt:lpstr>
      <vt:lpstr>David M. Levine, David F. Stephan, Kathryn A. Szabat. Statistics for Managers using Microsoft Excel. Pearson, 8th Edition.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Session  #</dc:title>
  <dc:creator>Yulia</dc:creator>
  <cp:lastModifiedBy>Violitta Yesmaya</cp:lastModifiedBy>
  <cp:revision>54</cp:revision>
  <dcterms:created xsi:type="dcterms:W3CDTF">2015-05-04T03:33:03Z</dcterms:created>
  <dcterms:modified xsi:type="dcterms:W3CDTF">2022-09-19T15:34:40Z</dcterms:modified>
</cp:coreProperties>
</file>