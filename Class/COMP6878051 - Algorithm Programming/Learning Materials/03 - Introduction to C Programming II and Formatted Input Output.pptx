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51"/>
  </p:notesMasterIdLst>
  <p:sldIdLst>
    <p:sldId id="256" r:id="rId5"/>
    <p:sldId id="258" r:id="rId6"/>
    <p:sldId id="259" r:id="rId7"/>
    <p:sldId id="277" r:id="rId8"/>
    <p:sldId id="308" r:id="rId9"/>
    <p:sldId id="280" r:id="rId10"/>
    <p:sldId id="282" r:id="rId11"/>
    <p:sldId id="309" r:id="rId12"/>
    <p:sldId id="310" r:id="rId13"/>
    <p:sldId id="311" r:id="rId14"/>
    <p:sldId id="312" r:id="rId15"/>
    <p:sldId id="283" r:id="rId16"/>
    <p:sldId id="284" r:id="rId17"/>
    <p:sldId id="285" r:id="rId18"/>
    <p:sldId id="313" r:id="rId19"/>
    <p:sldId id="262" r:id="rId20"/>
    <p:sldId id="263" r:id="rId21"/>
    <p:sldId id="288" r:id="rId22"/>
    <p:sldId id="289" r:id="rId23"/>
    <p:sldId id="290" r:id="rId24"/>
    <p:sldId id="314" r:id="rId25"/>
    <p:sldId id="315" r:id="rId26"/>
    <p:sldId id="291" r:id="rId27"/>
    <p:sldId id="292" r:id="rId28"/>
    <p:sldId id="293" r:id="rId29"/>
    <p:sldId id="294" r:id="rId30"/>
    <p:sldId id="295" r:id="rId31"/>
    <p:sldId id="297" r:id="rId32"/>
    <p:sldId id="298" r:id="rId33"/>
    <p:sldId id="299" r:id="rId34"/>
    <p:sldId id="300" r:id="rId35"/>
    <p:sldId id="301" r:id="rId36"/>
    <p:sldId id="302" r:id="rId37"/>
    <p:sldId id="316" r:id="rId38"/>
    <p:sldId id="303" r:id="rId39"/>
    <p:sldId id="304" r:id="rId40"/>
    <p:sldId id="305" r:id="rId41"/>
    <p:sldId id="306" r:id="rId42"/>
    <p:sldId id="322" r:id="rId43"/>
    <p:sldId id="307" r:id="rId44"/>
    <p:sldId id="318" r:id="rId45"/>
    <p:sldId id="319" r:id="rId46"/>
    <p:sldId id="320" r:id="rId47"/>
    <p:sldId id="321" r:id="rId48"/>
    <p:sldId id="317" r:id="rId49"/>
    <p:sldId id="287" r:id="rId50"/>
  </p:sldIdLst>
  <p:sldSz cx="24384000" cy="13716000"/>
  <p:notesSz cx="6858000" cy="9144000"/>
  <p:embeddedFontLst>
    <p:embeddedFont>
      <p:font typeface="Consolas" panose="020B0609020204030204" pitchFamily="49" charset="0"/>
      <p:regular r:id="rId52"/>
      <p:bold r:id="rId53"/>
      <p:italic r:id="rId54"/>
      <p:boldItalic r:id="rId55"/>
    </p:embeddedFont>
    <p:embeddedFont>
      <p:font typeface="OCRB" panose="020B0609020202020204" pitchFamily="49" charset="0"/>
      <p:regular r:id="rId56"/>
    </p:embeddedFont>
    <p:embeddedFont>
      <p:font typeface="Open Sans ExtraBold" panose="020B0906030804020204" pitchFamily="34" charset="0"/>
      <p:bold r:id="rId57"/>
      <p:italic r:id="rId58"/>
      <p:boldItalic r:id="rId59"/>
    </p:embeddedFont>
    <p:embeddedFont>
      <p:font typeface="Open Sans Light" panose="020B0306030504020204" pitchFamily="34" charset="0"/>
      <p:regular r:id="rId60"/>
      <p:italic r:id="rId61"/>
    </p:embeddedFont>
    <p:embeddedFont>
      <p:font typeface="Open Sans Semibold" panose="020B0706030804020204" pitchFamily="34" charset="0"/>
      <p:bold r:id="rId62"/>
      <p:boldItalic r:id="rId63"/>
    </p:embeddedFont>
    <p:embeddedFont>
      <p:font typeface="Tahoma" panose="020B0604030504040204" pitchFamily="34" charset="0"/>
      <p:regular r:id="rId64"/>
      <p:bold r:id="rId65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6197"/>
  </p:normalViewPr>
  <p:slideViewPr>
    <p:cSldViewPr snapToGrid="0" snapToObjects="1">
      <p:cViewPr varScale="1">
        <p:scale>
          <a:sx n="33" d="100"/>
          <a:sy n="33" d="100"/>
        </p:scale>
        <p:origin x="774" y="66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font" Target="fonts/font12.fntdata"/><Relationship Id="rId68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66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font" Target="fonts/font10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font" Target="fonts/font5.fntdata"/><Relationship Id="rId64" Type="http://schemas.openxmlformats.org/officeDocument/2006/relationships/font" Target="fonts/font13.fntdata"/><Relationship Id="rId69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8.fntdata"/><Relationship Id="rId67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3.fntdata"/><Relationship Id="rId62" Type="http://schemas.openxmlformats.org/officeDocument/2006/relationships/font" Target="fonts/font11.fntdata"/><Relationship Id="rId7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font" Target="fonts/font6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1.fntdata"/><Relationship Id="rId60" Type="http://schemas.openxmlformats.org/officeDocument/2006/relationships/font" Target="fonts/font9.fntdata"/><Relationship Id="rId65" Type="http://schemas.openxmlformats.org/officeDocument/2006/relationships/font" Target="fonts/font1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ia Priccilia" userId="S::shania.priccilia@binus.edu::c4dd4a50-8335-4e39-a119-dc5e413d78e9" providerId="AD" clId="Web-{7FFA35BD-CD7D-9886-014A-D51C699726E8}"/>
    <pc:docChg chg="modSld">
      <pc:chgData name="Shania Priccilia" userId="S::shania.priccilia@binus.edu::c4dd4a50-8335-4e39-a119-dc5e413d78e9" providerId="AD" clId="Web-{7FFA35BD-CD7D-9886-014A-D51C699726E8}" dt="2025-06-30T10:21:41.181" v="12"/>
      <pc:docMkLst>
        <pc:docMk/>
      </pc:docMkLst>
      <pc:sldChg chg="modSp">
        <pc:chgData name="Shania Priccilia" userId="S::shania.priccilia@binus.edu::c4dd4a50-8335-4e39-a119-dc5e413d78e9" providerId="AD" clId="Web-{7FFA35BD-CD7D-9886-014A-D51C699726E8}" dt="2025-06-30T10:21:36.540" v="10" actId="20577"/>
        <pc:sldMkLst>
          <pc:docMk/>
          <pc:sldMk cId="3807564589" sldId="256"/>
        </pc:sldMkLst>
        <pc:spChg chg="mod">
          <ac:chgData name="Shania Priccilia" userId="S::shania.priccilia@binus.edu::c4dd4a50-8335-4e39-a119-dc5e413d78e9" providerId="AD" clId="Web-{7FFA35BD-CD7D-9886-014A-D51C699726E8}" dt="2025-06-30T10:21:36.540" v="10" actId="20577"/>
          <ac:spMkLst>
            <pc:docMk/>
            <pc:sldMk cId="3807564589" sldId="256"/>
            <ac:spMk id="2" creationId="{50F9371B-F92F-AED8-457A-F4BAE6779B8C}"/>
          </ac:spMkLst>
        </pc:spChg>
      </pc:sldChg>
      <pc:sldChg chg="addSp delSp modSp">
        <pc:chgData name="Shania Priccilia" userId="S::shania.priccilia@binus.edu::c4dd4a50-8335-4e39-a119-dc5e413d78e9" providerId="AD" clId="Web-{7FFA35BD-CD7D-9886-014A-D51C699726E8}" dt="2025-06-30T10:21:38.572" v="11"/>
        <pc:sldMkLst>
          <pc:docMk/>
          <pc:sldMk cId="1968907909" sldId="258"/>
        </pc:sldMkLst>
        <pc:spChg chg="add mod">
          <ac:chgData name="Shania Priccilia" userId="S::shania.priccilia@binus.edu::c4dd4a50-8335-4e39-a119-dc5e413d78e9" providerId="AD" clId="Web-{7FFA35BD-CD7D-9886-014A-D51C699726E8}" dt="2025-06-30T10:21:38.572" v="11"/>
          <ac:spMkLst>
            <pc:docMk/>
            <pc:sldMk cId="1968907909" sldId="258"/>
            <ac:spMk id="6" creationId="{2261ED72-0A8D-2637-C473-D9B0A9683DCE}"/>
          </ac:spMkLst>
        </pc:spChg>
      </pc:sldChg>
      <pc:sldChg chg="addSp delSp modSp">
        <pc:chgData name="Shania Priccilia" userId="S::shania.priccilia@binus.edu::c4dd4a50-8335-4e39-a119-dc5e413d78e9" providerId="AD" clId="Web-{7FFA35BD-CD7D-9886-014A-D51C699726E8}" dt="2025-06-30T10:21:41.181" v="12"/>
        <pc:sldMkLst>
          <pc:docMk/>
          <pc:sldMk cId="4105662268" sldId="259"/>
        </pc:sldMkLst>
        <pc:spChg chg="add mod">
          <ac:chgData name="Shania Priccilia" userId="S::shania.priccilia@binus.edu::c4dd4a50-8335-4e39-a119-dc5e413d78e9" providerId="AD" clId="Web-{7FFA35BD-CD7D-9886-014A-D51C699726E8}" dt="2025-06-30T10:21:41.181" v="12"/>
          <ac:spMkLst>
            <pc:docMk/>
            <pc:sldMk cId="4105662268" sldId="259"/>
            <ac:spMk id="6" creationId="{3A8C8563-A05D-D68E-6C3A-230B3E634B96}"/>
          </ac:spMkLst>
        </pc:spChg>
      </pc:sldChg>
    </pc:docChg>
  </pc:docChgLst>
  <pc:docChgLst>
    <pc:chgData name="Violitta Yesmaya" userId="4132fe74-a9e3-4df6-a260-6f1dbd02419b" providerId="ADAL" clId="{7DCD7E23-1549-40FA-8763-0BA790858AC9}"/>
    <pc:docChg chg="custSel modSld modMainMaster">
      <pc:chgData name="Violitta Yesmaya" userId="4132fe74-a9e3-4df6-a260-6f1dbd02419b" providerId="ADAL" clId="{7DCD7E23-1549-40FA-8763-0BA790858AC9}" dt="2025-07-29T15:58:49.593" v="3"/>
      <pc:docMkLst>
        <pc:docMk/>
      </pc:docMkLst>
      <pc:sldChg chg="delSp mod">
        <pc:chgData name="Violitta Yesmaya" userId="4132fe74-a9e3-4df6-a260-6f1dbd02419b" providerId="ADAL" clId="{7DCD7E23-1549-40FA-8763-0BA790858AC9}" dt="2025-07-29T15:47:07.307" v="2" actId="478"/>
        <pc:sldMkLst>
          <pc:docMk/>
          <pc:sldMk cId="3807564589" sldId="256"/>
        </pc:sldMkLst>
        <pc:spChg chg="del">
          <ac:chgData name="Violitta Yesmaya" userId="4132fe74-a9e3-4df6-a260-6f1dbd02419b" providerId="ADAL" clId="{7DCD7E23-1549-40FA-8763-0BA790858AC9}" dt="2025-07-29T15:47:07.307" v="2" actId="478"/>
          <ac:spMkLst>
            <pc:docMk/>
            <pc:sldMk cId="3807564589" sldId="256"/>
            <ac:spMk id="4" creationId="{319DA326-32BB-7EBF-F49C-D0308881B79F}"/>
          </ac:spMkLst>
        </pc:spChg>
      </pc:sldChg>
      <pc:sldChg chg="modSp mod">
        <pc:chgData name="Violitta Yesmaya" userId="4132fe74-a9e3-4df6-a260-6f1dbd02419b" providerId="ADAL" clId="{7DCD7E23-1549-40FA-8763-0BA790858AC9}" dt="2025-07-29T15:58:49.593" v="3"/>
        <pc:sldMkLst>
          <pc:docMk/>
          <pc:sldMk cId="1968907909" sldId="258"/>
        </pc:sldMkLst>
        <pc:spChg chg="mod">
          <ac:chgData name="Violitta Yesmaya" userId="4132fe74-a9e3-4df6-a260-6f1dbd02419b" providerId="ADAL" clId="{7DCD7E23-1549-40FA-8763-0BA790858AC9}" dt="2025-07-29T15:58:49.593" v="3"/>
          <ac:spMkLst>
            <pc:docMk/>
            <pc:sldMk cId="1968907909" sldId="258"/>
            <ac:spMk id="4" creationId="{BF639152-5297-4504-380C-94154A8D96CB}"/>
          </ac:spMkLst>
        </pc:spChg>
      </pc:sldChg>
      <pc:sldMasterChg chg="modSldLayout">
        <pc:chgData name="Violitta Yesmaya" userId="4132fe74-a9e3-4df6-a260-6f1dbd02419b" providerId="ADAL" clId="{7DCD7E23-1549-40FA-8763-0BA790858AC9}" dt="2025-07-29T15:46:59.431" v="1" actId="478"/>
        <pc:sldMasterMkLst>
          <pc:docMk/>
          <pc:sldMasterMk cId="0" sldId="2147483648"/>
        </pc:sldMasterMkLst>
        <pc:sldLayoutChg chg="delSp mod">
          <pc:chgData name="Violitta Yesmaya" userId="4132fe74-a9e3-4df6-a260-6f1dbd02419b" providerId="ADAL" clId="{7DCD7E23-1549-40FA-8763-0BA790858AC9}" dt="2025-07-29T15:46:59.431" v="1" actId="478"/>
          <pc:sldLayoutMkLst>
            <pc:docMk/>
            <pc:sldMasterMk cId="0" sldId="2147483648"/>
            <pc:sldLayoutMk cId="4094124863" sldId="2147483672"/>
          </pc:sldLayoutMkLst>
          <pc:spChg chg="del">
            <ac:chgData name="Violitta Yesmaya" userId="4132fe74-a9e3-4df6-a260-6f1dbd02419b" providerId="ADAL" clId="{7DCD7E23-1549-40FA-8763-0BA790858AC9}" dt="2025-07-29T15:46:57.207" v="0" actId="478"/>
            <ac:spMkLst>
              <pc:docMk/>
              <pc:sldMasterMk cId="0" sldId="2147483648"/>
              <pc:sldLayoutMk cId="4094124863" sldId="2147483672"/>
              <ac:spMk id="2" creationId="{D6474C2C-5958-6F6B-1482-E67DED339DDC}"/>
            </ac:spMkLst>
          </pc:spChg>
          <pc:spChg chg="del">
            <ac:chgData name="Violitta Yesmaya" userId="4132fe74-a9e3-4df6-a260-6f1dbd02419b" providerId="ADAL" clId="{7DCD7E23-1549-40FA-8763-0BA790858AC9}" dt="2025-07-29T15:46:59.431" v="1" actId="478"/>
            <ac:spMkLst>
              <pc:docMk/>
              <pc:sldMasterMk cId="0" sldId="2147483648"/>
              <pc:sldLayoutMk cId="4094124863" sldId="2147483672"/>
              <ac:spMk id="4" creationId="{5DC7F27E-9CB9-099F-4DA7-367C6ADB411B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gramiz.com/c-programming/c-input-output" TargetMode="External"/><Relationship Id="rId2" Type="http://schemas.openxmlformats.org/officeDocument/2006/relationships/hyperlink" Target="http://aelinik.free.fr/c/ch05.ht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 lIns="50800" tIns="50800" rIns="50800" bIns="50800" anchor="t">
            <a:normAutofit/>
          </a:bodyPr>
          <a:lstStyle/>
          <a:p>
            <a:r>
              <a:rPr lang="en-US" dirty="0"/>
              <a:t>Algorithm and programming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9600" dirty="0"/>
              <a:t>Introduction to C Programming II &amp; Formatted Input/Output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DA11B-2F9E-4E40-B94A-37951AF09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394E0-5EEE-7267-580E-42F911ACD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Learning Objectives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639152-5297-4504-380C-94154A8D96C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en-US" sz="3600" dirty="0">
                <a:latin typeface="+mj-lt"/>
                <a:cs typeface="Tahoma" pitchFamily="34" charset="0"/>
              </a:rPr>
              <a:t>At the end of this session, student will be able to: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en-US" sz="3600" dirty="0">
                <a:latin typeface="+mj-lt"/>
                <a:cs typeface="Tahoma" pitchFamily="34" charset="0"/>
              </a:rPr>
              <a:t>LO-1 : explain kind of algorithms in problem solving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en-US" sz="3600">
                <a:latin typeface="+mj-lt"/>
                <a:cs typeface="Tahoma" pitchFamily="34" charset="0"/>
              </a:rPr>
              <a:t>LO-2 : apply syntax and functions in C language in problem solving</a:t>
            </a:r>
            <a:endParaRPr lang="en-US" altLang="en-US" sz="3600" dirty="0">
              <a:latin typeface="+mj-lt"/>
              <a:cs typeface="Tahoma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61ED72-0A8D-2637-C473-D9B0A9683D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890790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99FFD-E58E-D8B4-ADED-E78957338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635E-1E02-2C02-4DC3-ACB1F7225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Subtopics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B5071-5AEC-07E9-E361-22C4629DB39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3185174"/>
            <a:ext cx="13714940" cy="889252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latin typeface="+mj-lt"/>
              </a:rPr>
              <a:t>Variable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latin typeface="+mj-lt"/>
              </a:rPr>
              <a:t>Data type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latin typeface="+mj-lt"/>
              </a:rPr>
              <a:t>Casting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latin typeface="+mj-lt"/>
              </a:rPr>
              <a:t>Constant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4000" dirty="0" err="1">
                <a:latin typeface="+mj-lt"/>
              </a:rPr>
              <a:t>Sizeof</a:t>
            </a:r>
            <a:endParaRPr lang="en-US" sz="4000" dirty="0">
              <a:latin typeface="+mj-l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latin typeface="+mj-lt"/>
              </a:rPr>
              <a:t>Suffix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latin typeface="+mj-lt"/>
              </a:rPr>
              <a:t>Standard Function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latin typeface="+mj-lt"/>
              </a:rPr>
              <a:t>Output Operation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latin typeface="+mj-lt"/>
              </a:rPr>
              <a:t>Input Operation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latin typeface="+mj-lt"/>
              </a:rPr>
              <a:t>Sample Program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latin typeface="+mj-lt"/>
              </a:rPr>
              <a:t>Exercise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8C8563-A05D-D68E-6C3A-230B3E634B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566226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A73FC-3A95-5A11-C765-712C1B106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27AA-BD38-B31C-5795-34D218B34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variable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6A1C28-EE5B-7847-A872-F0A8BC8906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en-US" sz="3200" b="1" dirty="0">
                <a:latin typeface="Tahoma" pitchFamily="34" charset="0"/>
                <a:cs typeface="Tahoma" pitchFamily="34" charset="0"/>
              </a:rPr>
              <a:t>definition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E426472-A809-2E4A-C0FC-36CC00CD45E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4733"/>
            <a:ext cx="19587723" cy="4774368"/>
          </a:xfrm>
        </p:spPr>
        <p:txBody>
          <a:bodyPr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Identifier for </a:t>
            </a: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storing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 data/information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Each variable has its </a:t>
            </a: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name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, </a:t>
            </a: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address (L-value), type, size 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and </a:t>
            </a: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data (R-value)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Data or variable value can be modified at run time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Declaration format: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	</a:t>
            </a:r>
            <a:r>
              <a:rPr lang="en-US" altLang="en-US" sz="3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&lt;data type&gt; &lt;variable name&gt;;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	&lt;data type&gt; &lt;variable name&gt; = &lt;initial value&gt;;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Example: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7" name="Picture 6" descr="A close up of words&#10;&#10;AI-generated content may be incorrect.">
            <a:extLst>
              <a:ext uri="{FF2B5EF4-FFF2-40B4-BE49-F238E27FC236}">
                <a16:creationId xmlns:a16="http://schemas.microsoft.com/office/drawing/2014/main" id="{C9FDA25B-73BD-96EE-8C30-D152F4738F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5627" y="8300259"/>
            <a:ext cx="8952374" cy="2996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46211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4B9BB-9AEC-A460-8C30-0FF7366C2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D6E84-74A6-34D6-35A2-DF3FA511E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variable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7306D-8AAA-4519-C34E-EBFBF50F56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en-US" sz="3200" b="1" dirty="0">
                <a:latin typeface="Tahoma" pitchFamily="34" charset="0"/>
                <a:cs typeface="Tahoma" pitchFamily="34" charset="0"/>
              </a:rPr>
              <a:t>definition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2E6D055-520D-AA30-CFFD-CB4F0868E9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485751"/>
              </p:ext>
            </p:extLst>
          </p:nvPr>
        </p:nvGraphicFramePr>
        <p:xfrm>
          <a:off x="8354937" y="5127146"/>
          <a:ext cx="4143659" cy="4023360"/>
        </p:xfrm>
        <a:graphic>
          <a:graphicData uri="http://schemas.openxmlformats.org/drawingml/2006/table">
            <a:tbl>
              <a:tblPr/>
              <a:tblGrid>
                <a:gridCol w="41436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86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d-ID" sz="60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Interstate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6A8486"/>
                        </a:gs>
                        <a:gs pos="50000">
                          <a:srgbClr val="9ABEC1"/>
                        </a:gs>
                        <a:gs pos="100000">
                          <a:srgbClr val="B8E3E6"/>
                        </a:gs>
                      </a:gsLst>
                      <a:lin ang="54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6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Interstate"/>
                        </a:rPr>
                        <a:t>65</a:t>
                      </a:r>
                      <a:endParaRPr kumimoji="0" lang="id-ID" sz="6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Interstate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6A8486"/>
                        </a:gs>
                        <a:gs pos="50000">
                          <a:srgbClr val="9ABEC1"/>
                        </a:gs>
                        <a:gs pos="100000">
                          <a:srgbClr val="B8E3E6"/>
                        </a:gs>
                      </a:gsLst>
                      <a:lin ang="54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d-ID" sz="6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Interstate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6A8486"/>
                        </a:gs>
                        <a:gs pos="50000">
                          <a:srgbClr val="9ABEC1"/>
                        </a:gs>
                        <a:gs pos="100000">
                          <a:srgbClr val="B8E3E6"/>
                        </a:gs>
                      </a:gsLst>
                      <a:lin ang="54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d-ID" sz="6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Interstate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6A8486"/>
                        </a:gs>
                        <a:gs pos="50000">
                          <a:srgbClr val="9ABEC1"/>
                        </a:gs>
                        <a:gs pos="100000">
                          <a:srgbClr val="B8E3E6"/>
                        </a:gs>
                      </a:gsLst>
                      <a:lin ang="54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6">
            <a:extLst>
              <a:ext uri="{FF2B5EF4-FFF2-40B4-BE49-F238E27FC236}">
                <a16:creationId xmlns:a16="http://schemas.microsoft.com/office/drawing/2014/main" id="{D38FF4C6-16A8-F9DA-9FB8-1A05C4928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4936" y="4258313"/>
            <a:ext cx="414366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Memory</a:t>
            </a:r>
            <a:endParaRPr lang="id-ID" sz="4000" dirty="0">
              <a:solidFill>
                <a:schemeClr val="bg2">
                  <a:lumMod val="10000"/>
                </a:schemeClr>
              </a:solidFill>
              <a:latin typeface="+mj-lt"/>
              <a:cs typeface="Tahoma" pitchFamily="34" charset="0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96293F51-0975-515A-2AD4-725EAEE665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42286" y="6343110"/>
            <a:ext cx="2282279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123456</a:t>
            </a:r>
            <a:endParaRPr lang="id-ID" sz="4000" dirty="0">
              <a:solidFill>
                <a:schemeClr val="bg2">
                  <a:lumMod val="10000"/>
                </a:schemeClr>
              </a:solidFill>
              <a:latin typeface="+mj-lt"/>
              <a:cs typeface="Tahoma" pitchFamily="34" charset="0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68E22022-F7EE-6192-8F83-FE9BE07B3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4163" y="4781302"/>
            <a:ext cx="228228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address</a:t>
            </a:r>
            <a:endParaRPr lang="id-ID" sz="4000" dirty="0">
              <a:solidFill>
                <a:schemeClr val="bg2">
                  <a:lumMod val="10000"/>
                </a:schemeClr>
              </a:solidFill>
              <a:latin typeface="+mj-lt"/>
              <a:cs typeface="Tahoma" pitchFamily="34" charset="0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9D5FC6F2-7B4A-4DBA-4A1D-DB0F7B7609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805" y="6251158"/>
            <a:ext cx="140406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4000" b="1" dirty="0" err="1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ch</a:t>
            </a:r>
            <a:endParaRPr lang="id-ID" sz="4000" b="1" dirty="0">
              <a:solidFill>
                <a:schemeClr val="bg2">
                  <a:lumMod val="10000"/>
                </a:schemeClr>
              </a:solidFill>
              <a:latin typeface="+mj-lt"/>
              <a:cs typeface="Tahoma" pitchFamily="34" charset="0"/>
            </a:endParaRP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2281656D-3652-FE1C-BEDE-DB8BD8D56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7461" y="8856037"/>
            <a:ext cx="257411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name</a:t>
            </a:r>
            <a:endParaRPr lang="id-ID" sz="4000" dirty="0">
              <a:solidFill>
                <a:schemeClr val="bg2">
                  <a:lumMod val="10000"/>
                </a:schemeClr>
              </a:solidFill>
              <a:latin typeface="+mj-lt"/>
              <a:cs typeface="Tahoma" pitchFamily="34" charset="0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AD7F1513-CBFA-BC35-32C8-ED01AF9D3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0380" y="9869465"/>
            <a:ext cx="280812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value</a:t>
            </a:r>
            <a:endParaRPr lang="id-ID" sz="4000" dirty="0">
              <a:solidFill>
                <a:schemeClr val="bg2">
                  <a:lumMod val="10000"/>
                </a:schemeClr>
              </a:solidFill>
              <a:latin typeface="+mj-lt"/>
              <a:cs typeface="Tahoma" pitchFamily="34" charset="0"/>
            </a:endParaRP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B74A58DE-51A6-6A9B-83DE-EC9B56E1C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4740" y="9010905"/>
            <a:ext cx="4044863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Range of value: -128 – 127</a:t>
            </a:r>
            <a:endParaRPr lang="id-ID" sz="4000" dirty="0">
              <a:solidFill>
                <a:schemeClr val="bg2">
                  <a:lumMod val="10000"/>
                </a:schemeClr>
              </a:solidFill>
              <a:latin typeface="+mj-lt"/>
              <a:cs typeface="Tahoma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09BE7BF-EAC7-D524-7D42-759D5E3D7F3D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 flipH="1">
            <a:off x="13983426" y="5489188"/>
            <a:ext cx="601877" cy="85392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0D712C1-F3B6-699A-3B01-44D32E97D221}"/>
              </a:ext>
            </a:extLst>
          </p:cNvPr>
          <p:cNvCxnSpPr>
            <a:cxnSpLocks/>
          </p:cNvCxnSpPr>
          <p:nvPr/>
        </p:nvCxnSpPr>
        <p:spPr>
          <a:xfrm flipV="1">
            <a:off x="5330834" y="6963955"/>
            <a:ext cx="1831503" cy="19248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F097273-12B1-D48E-2075-19197F9C160F}"/>
              </a:ext>
            </a:extLst>
          </p:cNvPr>
          <p:cNvCxnSpPr>
            <a:cxnSpLocks/>
          </p:cNvCxnSpPr>
          <p:nvPr/>
        </p:nvCxnSpPr>
        <p:spPr>
          <a:xfrm flipV="1">
            <a:off x="10344444" y="7050996"/>
            <a:ext cx="82322" cy="269491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1B8745D-A5EF-68F7-5421-85309618F10D}"/>
              </a:ext>
            </a:extLst>
          </p:cNvPr>
          <p:cNvCxnSpPr>
            <a:cxnSpLocks/>
          </p:cNvCxnSpPr>
          <p:nvPr/>
        </p:nvCxnSpPr>
        <p:spPr>
          <a:xfrm flipH="1" flipV="1">
            <a:off x="11185611" y="6808520"/>
            <a:ext cx="3399692" cy="204311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EDB9717-B299-0EE7-9A3C-51C65987BACD}"/>
              </a:ext>
            </a:extLst>
          </p:cNvPr>
          <p:cNvSpPr txBox="1"/>
          <p:nvPr/>
        </p:nvSpPr>
        <p:spPr>
          <a:xfrm>
            <a:off x="2167377" y="5038735"/>
            <a:ext cx="4859233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4400" b="1" dirty="0">
                <a:solidFill>
                  <a:schemeClr val="bg2">
                    <a:lumMod val="10000"/>
                  </a:schemeClr>
                </a:solidFill>
                <a:ea typeface="Tahoma" pitchFamily="34" charset="0"/>
                <a:cs typeface="Courier New" pitchFamily="49" charset="0"/>
                <a:sym typeface="Wingdings" pitchFamily="2" charset="2"/>
              </a:rPr>
              <a:t>char </a:t>
            </a:r>
            <a:r>
              <a:rPr lang="en-US" sz="4400" b="1" dirty="0" err="1">
                <a:solidFill>
                  <a:schemeClr val="bg2">
                    <a:lumMod val="10000"/>
                  </a:schemeClr>
                </a:solidFill>
                <a:ea typeface="Tahoma" pitchFamily="34" charset="0"/>
                <a:cs typeface="Courier New" pitchFamily="49" charset="0"/>
                <a:sym typeface="Wingdings" pitchFamily="2" charset="2"/>
              </a:rPr>
              <a:t>ch</a:t>
            </a:r>
            <a:r>
              <a:rPr lang="en-US" sz="4400" b="1" dirty="0">
                <a:solidFill>
                  <a:schemeClr val="bg2">
                    <a:lumMod val="10000"/>
                  </a:schemeClr>
                </a:solidFill>
                <a:ea typeface="Tahoma" pitchFamily="34" charset="0"/>
                <a:cs typeface="Courier New" pitchFamily="49" charset="0"/>
                <a:sym typeface="Wingdings" pitchFamily="2" charset="2"/>
              </a:rPr>
              <a:t>=65</a:t>
            </a:r>
            <a:endParaRPr lang="en-US" sz="44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609946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E06A4-D4AD-E15F-E8EA-F7D087403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1C9C0-B1E8-9D3B-CD1F-1B97C3D27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variable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4ECDF-FF6C-C6CE-AC22-66C391B261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en-US" sz="3200" b="1" dirty="0">
                <a:latin typeface="Tahoma" pitchFamily="34" charset="0"/>
                <a:cs typeface="Tahoma" pitchFamily="34" charset="0"/>
              </a:rPr>
              <a:t>Declaration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950BE99-0206-943F-72A0-E1413BEF8CD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4733"/>
            <a:ext cx="19587723" cy="2316917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Variable can be declared at every statement block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Block statement or compound statement is statement exists between </a:t>
            </a: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{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 and </a:t>
            </a: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}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 sign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Example:	</a:t>
            </a:r>
            <a:endParaRPr lang="en-US" altLang="en-US" sz="3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9B51A9-4C31-2FF1-3606-FD7ED8951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363" y="5623109"/>
            <a:ext cx="10894752" cy="653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40340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0526A-A419-9DDB-9BB5-C743A48C9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D36DB-8856-0D9E-2DE4-505744649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b="1" dirty="0">
                <a:latin typeface="Tahoma" pitchFamily="34" charset="0"/>
                <a:cs typeface="Tahoma" pitchFamily="34" charset="0"/>
              </a:rPr>
              <a:t>Data Type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2BC80B-E52B-EB85-7190-85A9CCC885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en-US" sz="3200" b="1" dirty="0">
                <a:latin typeface="Tahoma" pitchFamily="34" charset="0"/>
                <a:cs typeface="Tahoma" pitchFamily="34" charset="0"/>
              </a:rPr>
              <a:t>Definition 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1AF0F180-19C1-B279-CE0D-052B6D7180F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300067"/>
            <a:ext cx="8538723" cy="9866596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altLang="en-US" sz="32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In C, there are 5 data types and 4 modifiers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2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Data types:</a:t>
            </a:r>
          </a:p>
          <a:p>
            <a:pPr marL="623888" lvl="1" indent="0">
              <a:spcBef>
                <a:spcPts val="600"/>
              </a:spcBef>
              <a:buNone/>
            </a:pPr>
            <a:r>
              <a:rPr lang="en-US" altLang="en-US" sz="32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Character 	</a:t>
            </a:r>
            <a:r>
              <a:rPr lang="en-US" altLang="en-US" sz="32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sz="32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 char</a:t>
            </a:r>
          </a:p>
          <a:p>
            <a:pPr marL="623888" lvl="1" indent="0">
              <a:spcBef>
                <a:spcPts val="600"/>
              </a:spcBef>
              <a:buNone/>
            </a:pPr>
            <a:r>
              <a:rPr lang="en-US" altLang="en-US" sz="32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Integer		</a:t>
            </a:r>
            <a:r>
              <a:rPr lang="en-US" altLang="en-US" sz="32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32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int</a:t>
            </a:r>
          </a:p>
          <a:p>
            <a:pPr marL="623888" lvl="1" indent="0">
              <a:spcBef>
                <a:spcPts val="600"/>
              </a:spcBef>
              <a:buNone/>
            </a:pPr>
            <a:r>
              <a:rPr lang="en-US" altLang="en-US" sz="32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Floating point	</a:t>
            </a:r>
            <a:r>
              <a:rPr lang="en-US" altLang="en-US" sz="32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32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float</a:t>
            </a:r>
          </a:p>
          <a:p>
            <a:pPr marL="623888" lvl="1" indent="0">
              <a:spcBef>
                <a:spcPts val="600"/>
              </a:spcBef>
              <a:buNone/>
            </a:pPr>
            <a:r>
              <a:rPr lang="en-US" altLang="en-US" sz="32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Double floating point 	</a:t>
            </a:r>
            <a:r>
              <a:rPr lang="en-US" altLang="en-US" sz="32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32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double</a:t>
            </a:r>
          </a:p>
          <a:p>
            <a:pPr marL="623888" lvl="1" indent="0">
              <a:spcBef>
                <a:spcPts val="600"/>
              </a:spcBef>
              <a:buNone/>
            </a:pPr>
            <a:r>
              <a:rPr lang="en-US" altLang="en-US" sz="32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Void		</a:t>
            </a:r>
            <a:r>
              <a:rPr lang="en-US" altLang="en-US" sz="32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sz="32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 void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2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Modifiers:</a:t>
            </a:r>
          </a:p>
          <a:p>
            <a:pPr marL="623888" lvl="1" indent="0">
              <a:spcBef>
                <a:spcPts val="600"/>
              </a:spcBef>
              <a:buNone/>
            </a:pPr>
            <a:r>
              <a:rPr lang="en-US" altLang="en-US" sz="32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signed</a:t>
            </a:r>
          </a:p>
          <a:p>
            <a:pPr marL="623888" lvl="1" indent="0">
              <a:spcBef>
                <a:spcPts val="600"/>
              </a:spcBef>
              <a:buNone/>
            </a:pPr>
            <a:r>
              <a:rPr lang="en-US" altLang="en-US" sz="32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unsigned</a:t>
            </a:r>
          </a:p>
          <a:p>
            <a:pPr marL="623888" lvl="1" indent="0">
              <a:spcBef>
                <a:spcPts val="600"/>
              </a:spcBef>
              <a:buNone/>
            </a:pPr>
            <a:r>
              <a:rPr lang="en-US" altLang="en-US" sz="32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long</a:t>
            </a:r>
          </a:p>
          <a:p>
            <a:pPr marL="623888" lvl="1" indent="0">
              <a:spcBef>
                <a:spcPts val="600"/>
              </a:spcBef>
              <a:buNone/>
            </a:pPr>
            <a:r>
              <a:rPr lang="en-US" altLang="en-US" sz="32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short</a:t>
            </a:r>
          </a:p>
          <a:p>
            <a:pPr>
              <a:spcBef>
                <a:spcPts val="1200"/>
              </a:spcBef>
            </a:pPr>
            <a:r>
              <a:rPr lang="en-US" altLang="en-US" sz="32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Void used in </a:t>
            </a:r>
            <a:r>
              <a:rPr lang="en-US" altLang="en-US" sz="32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function</a:t>
            </a:r>
            <a:r>
              <a:rPr lang="en-US" altLang="en-US" sz="32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 identifier type as no return value. In variable, void data type is data type that can be transform into any data type </a:t>
            </a:r>
            <a:r>
              <a:rPr lang="en-US" altLang="en-US" sz="3200" dirty="0">
                <a:solidFill>
                  <a:srgbClr val="FF0000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(will be discussed later in pointer)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2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209581-7AB8-B003-BAC9-519707E72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600" y="3506504"/>
            <a:ext cx="12935560" cy="924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48116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427E4-49E3-1D05-E3DB-E0AA11D1A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F6DB3-C04E-C936-CF79-FE424FD2E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b="1" dirty="0">
                <a:latin typeface="Tahoma" pitchFamily="34" charset="0"/>
                <a:cs typeface="Tahoma" pitchFamily="34" charset="0"/>
              </a:rPr>
              <a:t>Data Type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ABAF5C-1A0B-A646-0B46-226CE98B5E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en-US" sz="3200" b="1" dirty="0">
                <a:latin typeface="Tahoma" pitchFamily="34" charset="0"/>
                <a:cs typeface="Tahoma" pitchFamily="34" charset="0"/>
              </a:rPr>
              <a:t>Definition 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A9A7E258-943D-F5DE-0E08-4555689EDCA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1"/>
            <a:ext cx="18650463" cy="9509062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en-US" sz="44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Data type in C is a combination of basic data type and its modifier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44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Example: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US" altLang="en-US" sz="44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signed char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US" altLang="en-US" sz="44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unsigned int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US" altLang="en-US" sz="44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long int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US" altLang="en-US" sz="44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etc.</a:t>
            </a:r>
          </a:p>
          <a:p>
            <a:pPr marL="623888" lvl="1" indent="0">
              <a:spcBef>
                <a:spcPts val="1200"/>
              </a:spcBef>
              <a:buNone/>
            </a:pPr>
            <a:endParaRPr lang="en-US" altLang="en-US" sz="32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24914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C9116-68E0-3FED-C926-B3F819265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62B5F-A77F-D555-BB6C-7AABA92B8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b="1" dirty="0">
                <a:latin typeface="Tahoma" pitchFamily="34" charset="0"/>
                <a:cs typeface="Tahoma" pitchFamily="34" charset="0"/>
              </a:rPr>
              <a:t>Data Type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F644E1-CE4C-1C60-9D3B-034CA0AC5E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en-US" sz="3200" b="1" dirty="0">
                <a:latin typeface="Tahoma" pitchFamily="34" charset="0"/>
                <a:cs typeface="Tahoma" pitchFamily="34" charset="0"/>
              </a:rPr>
              <a:t>definition </a:t>
            </a:r>
            <a:endParaRPr lang="en-US" dirty="0"/>
          </a:p>
        </p:txBody>
      </p:sp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E22B5D92-B2F1-A38A-34AB-03B0DB2C7C3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409950"/>
            <a:ext cx="18650463" cy="9756713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altLang="en-US" sz="44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Casting is a process to convert data type in C</a:t>
            </a:r>
          </a:p>
          <a:p>
            <a:pPr>
              <a:spcBef>
                <a:spcPts val="1200"/>
              </a:spcBef>
            </a:pPr>
            <a:r>
              <a:rPr lang="en-US" altLang="en-US" sz="44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Syntax : (</a:t>
            </a:r>
            <a:r>
              <a:rPr lang="en-US" altLang="en-US" sz="44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data type</a:t>
            </a:r>
            <a:r>
              <a:rPr lang="en-US" altLang="en-US" sz="44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)</a:t>
            </a:r>
          </a:p>
          <a:p>
            <a:pPr>
              <a:spcBef>
                <a:spcPts val="1200"/>
              </a:spcBef>
            </a:pPr>
            <a:r>
              <a:rPr lang="en-US" altLang="en-US" sz="44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Example :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US" altLang="en-US" sz="44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x;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US" altLang="en-US" sz="44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float f = 3.134;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US" altLang="en-US" sz="44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x = (int) f;</a:t>
            </a:r>
          </a:p>
          <a:p>
            <a:pPr marL="623888" lvl="1" indent="0">
              <a:spcBef>
                <a:spcPts val="1200"/>
              </a:spcBef>
              <a:buNone/>
            </a:pPr>
            <a:endParaRPr lang="en-US" altLang="en-US" sz="40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endParaRPr lang="en-US" altLang="en-US" sz="40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70" name="TextBox 8">
            <a:extLst>
              <a:ext uri="{FF2B5EF4-FFF2-40B4-BE49-F238E27FC236}">
                <a16:creationId xmlns:a16="http://schemas.microsoft.com/office/drawing/2014/main" id="{6F57EF0E-70A7-7212-69B0-D451D3C50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5507" y="9321994"/>
            <a:ext cx="2696307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casting</a:t>
            </a:r>
            <a:endParaRPr lang="id-ID" sz="4400" dirty="0">
              <a:solidFill>
                <a:schemeClr val="bg2">
                  <a:lumMod val="10000"/>
                </a:schemeClr>
              </a:solidFill>
              <a:latin typeface="+mj-lt"/>
              <a:cs typeface="Tahoma" pitchFamily="34" charset="0"/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5DDA64F-59C7-1B49-D26B-AB34C458771F}"/>
              </a:ext>
            </a:extLst>
          </p:cNvPr>
          <p:cNvCxnSpPr>
            <a:cxnSpLocks/>
          </p:cNvCxnSpPr>
          <p:nvPr/>
        </p:nvCxnSpPr>
        <p:spPr>
          <a:xfrm flipH="1" flipV="1">
            <a:off x="5046785" y="8288306"/>
            <a:ext cx="369277" cy="110479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367855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68B5F-B877-2E7E-87AF-6BFB01D6F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660C9-260A-D20B-4329-844A765F7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constant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9999C-EB76-052B-355D-B6497BE8DD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en-US" sz="3200" b="1" dirty="0">
                <a:latin typeface="Tahoma" pitchFamily="34" charset="0"/>
                <a:cs typeface="Tahoma" pitchFamily="34" charset="0"/>
              </a:rPr>
              <a:t>definition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729A7E06-0BD3-1487-82DA-487E672224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506504"/>
            <a:ext cx="19854423" cy="8717717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Constant / symbolic constant does not have address (only value) and its value can not be changed at run time.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Constant type:</a:t>
            </a:r>
          </a:p>
          <a:p>
            <a:pPr marL="1081088" lvl="1" indent="-4572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Integer constant    	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 -5    1</a:t>
            </a:r>
          </a:p>
          <a:p>
            <a:pPr marL="1081088" lvl="1" indent="-4572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Floating-point constant 	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3.14    </a:t>
            </a:r>
          </a:p>
          <a:p>
            <a:pPr marL="1081088" lvl="1" indent="-4572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Character constant  	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 'c' '1' '$'</a:t>
            </a:r>
          </a:p>
          <a:p>
            <a:pPr marL="1081088" lvl="1" indent="-4572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Escape sequence		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\n   \t    \"</a:t>
            </a:r>
          </a:p>
          <a:p>
            <a:pPr marL="1081088" lvl="1" indent="-4572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String constant		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 "BINUS"	"B"</a:t>
            </a:r>
          </a:p>
          <a:p>
            <a:pPr marL="1081088" lvl="1" indent="-4572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Symbolic constant	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 #define PHI 3.14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			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 const float PHI=3.14; 	</a:t>
            </a:r>
          </a:p>
        </p:txBody>
      </p:sp>
    </p:spTree>
    <p:extLst>
      <p:ext uri="{BB962C8B-B14F-4D97-AF65-F5344CB8AC3E}">
        <p14:creationId xmlns:p14="http://schemas.microsoft.com/office/powerpoint/2010/main" val="366693638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700E1-CF0D-661D-6ACD-DFD1CB03B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121CF-95E2-5323-2D8F-03E790C5A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constant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292ECA-002C-329C-DF46-74F673A214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en-US" sz="3200" b="1" dirty="0">
                <a:latin typeface="Tahoma" pitchFamily="34" charset="0"/>
                <a:cs typeface="Tahoma" pitchFamily="34" charset="0"/>
              </a:rPr>
              <a:t>Symbolic constant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57ADAF5-7A45-9B92-E0CE-4475C9F1FD6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833446"/>
            <a:ext cx="19854423" cy="8390775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Symbolic constant declaration does not need memory allocation</a:t>
            </a:r>
          </a:p>
          <a:p>
            <a:pPr>
              <a:spcBef>
                <a:spcPts val="1200"/>
              </a:spcBef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To declare symbolic constant, can be done by using pre-processor directive </a:t>
            </a:r>
            <a:r>
              <a:rPr lang="en-US" altLang="en-US" sz="40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#define </a:t>
            </a:r>
            <a:r>
              <a:rPr lang="en-US" altLang="en-US" sz="40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or keyword </a:t>
            </a:r>
            <a:r>
              <a:rPr lang="en-US" altLang="en-US" sz="40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const</a:t>
            </a:r>
            <a:endParaRPr lang="en-US" altLang="en-US" sz="40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spcBef>
                <a:spcPts val="1200"/>
              </a:spcBef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Example: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const float Pi=3.14;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#define  Pi  3.14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	</a:t>
            </a:r>
          </a:p>
        </p:txBody>
      </p:sp>
      <p:pic>
        <p:nvPicPr>
          <p:cNvPr id="6" name="Picture 5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37B73A1C-68B0-6DC2-7FBE-7B48103416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4571" y="6190582"/>
            <a:ext cx="11531306" cy="5387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89251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29FCD-F5C9-ED1D-75DC-C29B1D60A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EA6F4-DDCE-B550-B99E-2460BE20B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b="1" dirty="0">
                <a:latin typeface="Tahoma" pitchFamily="34" charset="0"/>
                <a:cs typeface="Tahoma" pitchFamily="34" charset="0"/>
              </a:rPr>
              <a:t>SIZEOF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DD7F9F-CC3B-B1C6-52EF-BB5D9E6F81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en-US" sz="3200" b="1" dirty="0">
                <a:latin typeface="Tahoma" pitchFamily="34" charset="0"/>
                <a:cs typeface="Tahoma" pitchFamily="34" charset="0"/>
              </a:rPr>
              <a:t>definition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E058588-A015-3F1C-F4DA-D8E5EB8CEF2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506504"/>
            <a:ext cx="18254223" cy="8717717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en-US" sz="3600" b="1" dirty="0" err="1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sizeof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 is an operator to find out size of a data type in C language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Syntax: </a:t>
            </a:r>
          </a:p>
          <a:p>
            <a:pPr marL="609600" lvl="1" indent="0">
              <a:spcBef>
                <a:spcPts val="1200"/>
              </a:spcBef>
              <a:buNone/>
            </a:pPr>
            <a:r>
              <a:rPr lang="en-US" altLang="en-US" sz="3600" b="1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	</a:t>
            </a:r>
            <a:r>
              <a:rPr lang="en-US" altLang="en-US" sz="3600" b="1" dirty="0" err="1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sizeof</a:t>
            </a:r>
            <a:r>
              <a:rPr lang="en-US" altLang="en-US" sz="3600" b="1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(expression)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Example :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	</a:t>
            </a:r>
            <a:r>
              <a:rPr lang="en-US" altLang="en-US" sz="3600" dirty="0" err="1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sizeof</a:t>
            </a:r>
            <a:r>
              <a:rPr lang="en-US" altLang="en-US" sz="3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(int) //the result will be 4 in Dev-V (Windows)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	</a:t>
            </a:r>
            <a:r>
              <a:rPr lang="en-US" altLang="en-US" sz="3600" dirty="0" err="1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sizeof</a:t>
            </a:r>
            <a:r>
              <a:rPr lang="en-US" altLang="en-US" sz="3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(int) //the result will be 2 in Turbo C </a:t>
            </a:r>
            <a:r>
              <a:rPr lang="en-US" altLang="en-US" sz="3600" dirty="0" err="1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ver</a:t>
            </a:r>
            <a:r>
              <a:rPr lang="en-US" altLang="en-US" sz="3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 2.0 (DOS)</a:t>
            </a:r>
          </a:p>
        </p:txBody>
      </p:sp>
    </p:spTree>
    <p:extLst>
      <p:ext uri="{BB962C8B-B14F-4D97-AF65-F5344CB8AC3E}">
        <p14:creationId xmlns:p14="http://schemas.microsoft.com/office/powerpoint/2010/main" val="426121565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92582-9162-D106-C7E4-79A10E230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B4836-8243-DEFD-4F3E-BD4EA5FE5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b="1" dirty="0">
                <a:latin typeface="Tahoma" pitchFamily="34" charset="0"/>
                <a:cs typeface="Tahoma" pitchFamily="34" charset="0"/>
              </a:rPr>
              <a:t>SUFFIX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577B6-4614-3B9E-32FF-3FE2D3FF2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en-US" sz="3200" b="1" dirty="0">
                <a:latin typeface="Tahoma" pitchFamily="34" charset="0"/>
                <a:cs typeface="Tahoma" pitchFamily="34" charset="0"/>
              </a:rPr>
              <a:t>definition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2C08223E-FEF3-4E7A-6CAE-7EE1BA66441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8" y="3300067"/>
            <a:ext cx="10261010" cy="9866596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Suffix for floating point constant in C: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F or f for float data type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L or l for long double data type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Default double data type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2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endParaRPr lang="en-US" altLang="en-US" sz="32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Suffix for integer constant in C: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U or u for unsigned integer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L or l for long integer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UL or ul or LU or </a:t>
            </a:r>
            <a:r>
              <a:rPr lang="en-US" altLang="en-US" sz="3600" dirty="0" err="1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lu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 for unsigned long integer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Default integer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2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A238F-0CCF-EB7D-B53F-5BDE24254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1424" y="3770323"/>
            <a:ext cx="8755508" cy="24041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53526D-8A4F-A18F-FFA4-0BABEE203283}"/>
              </a:ext>
            </a:extLst>
          </p:cNvPr>
          <p:cNvSpPr txBox="1"/>
          <p:nvPr/>
        </p:nvSpPr>
        <p:spPr>
          <a:xfrm>
            <a:off x="12671424" y="3223274"/>
            <a:ext cx="853440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altLang="en-US" sz="3200" b="1" dirty="0">
                <a:solidFill>
                  <a:schemeClr val="bg2">
                    <a:lumMod val="10000"/>
                  </a:schemeClr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Example floating point constant:</a:t>
            </a:r>
          </a:p>
        </p:txBody>
      </p:sp>
      <p:pic>
        <p:nvPicPr>
          <p:cNvPr id="9" name="Picture 8" descr="Blue text on a white background&#10;&#10;AI-generated content may be incorrect.">
            <a:extLst>
              <a:ext uri="{FF2B5EF4-FFF2-40B4-BE49-F238E27FC236}">
                <a16:creationId xmlns:a16="http://schemas.microsoft.com/office/drawing/2014/main" id="{2462B909-BE5D-D32E-B415-03255C05CE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1424" y="8004459"/>
            <a:ext cx="10261011" cy="26861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DD14354-7B9B-DBEA-E967-66A1F09816BF}"/>
              </a:ext>
            </a:extLst>
          </p:cNvPr>
          <p:cNvSpPr txBox="1"/>
          <p:nvPr/>
        </p:nvSpPr>
        <p:spPr>
          <a:xfrm>
            <a:off x="12671424" y="7338926"/>
            <a:ext cx="10634223" cy="6052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altLang="en-US" sz="3200" b="1" dirty="0">
                <a:solidFill>
                  <a:schemeClr val="bg2">
                    <a:lumMod val="10000"/>
                  </a:schemeClr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Example integer constant:</a:t>
            </a:r>
          </a:p>
        </p:txBody>
      </p:sp>
    </p:spTree>
    <p:extLst>
      <p:ext uri="{BB962C8B-B14F-4D97-AF65-F5344CB8AC3E}">
        <p14:creationId xmlns:p14="http://schemas.microsoft.com/office/powerpoint/2010/main" val="268023381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5B5B0-EA3F-D826-9C88-EBD79998A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C7A79-2641-4F6F-4725-71A459219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b="1" dirty="0">
                <a:latin typeface="Tahoma" pitchFamily="34" charset="0"/>
                <a:cs typeface="Tahoma" pitchFamily="34" charset="0"/>
              </a:rPr>
              <a:t>SUFFIX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BE643-CADF-C805-2577-99FE4900E1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definition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CFB5CDA-3E6E-0380-6506-C82640E74BD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300067"/>
            <a:ext cx="19460171" cy="9866596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Some compilers will give warning for differ in data type, as can be seen from the following example Visual C++:</a:t>
            </a:r>
          </a:p>
          <a:p>
            <a:pPr>
              <a:spcBef>
                <a:spcPts val="1200"/>
              </a:spcBef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Example :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	</a:t>
            </a:r>
            <a:r>
              <a:rPr lang="en-US" altLang="en-US" sz="3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float  x;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	x = 3.14;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	</a:t>
            </a:r>
            <a:r>
              <a:rPr lang="en-US" altLang="en-US" sz="3600" b="1" dirty="0">
                <a:solidFill>
                  <a:srgbClr val="FF0000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warning: truncation from 'const double' to 'float’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600" dirty="0">
              <a:solidFill>
                <a:srgbClr val="FF0000"/>
              </a:solidFill>
              <a:latin typeface="Consolas" panose="020B0609020204030204" pitchFamily="49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How to deal with the issue? You may use </a:t>
            </a: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casting or suffix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	</a:t>
            </a:r>
            <a:r>
              <a:rPr lang="en-US" altLang="en-US" sz="3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float x;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	x = (float)3.14;	// casting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Consolas" panose="020B0609020204030204" pitchFamily="49" charset="0"/>
                <a:ea typeface="Open Sans Light" panose="020B0306030504020204" pitchFamily="34" charset="0"/>
                <a:cs typeface="Open Sans Light" panose="020B0306030504020204" pitchFamily="34" charset="0"/>
              </a:rPr>
              <a:t>	x = 3.14f;	// or suffix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82085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CA807-C2FE-3B46-5EE0-A1D5528E1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01773-270D-FC51-32FE-3D3DF2A36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b="1" dirty="0">
                <a:latin typeface="Tahoma" pitchFamily="34" charset="0"/>
                <a:cs typeface="Tahoma" pitchFamily="34" charset="0"/>
              </a:rPr>
              <a:t>SUFFIX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449C55-2B8B-F089-1A02-2A5C78A19E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example</a:t>
            </a:r>
            <a:endParaRPr lang="en-US" dirty="0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5895A18-DE52-6569-7294-D60F989E6EF7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770" y="3622432"/>
            <a:ext cx="15603780" cy="6070251"/>
          </a:xfrm>
        </p:spPr>
      </p:pic>
      <p:pic>
        <p:nvPicPr>
          <p:cNvPr id="9" name="Picture 8" descr="A black text with black letters&#10;&#10;AI-generated content may be incorrect.">
            <a:extLst>
              <a:ext uri="{FF2B5EF4-FFF2-40B4-BE49-F238E27FC236}">
                <a16:creationId xmlns:a16="http://schemas.microsoft.com/office/drawing/2014/main" id="{CA368002-B7A4-7597-32D8-0A05316532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1838" y="9609069"/>
            <a:ext cx="9720392" cy="2996169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7B721C0-2C73-63E1-0D0C-B5EF680B74FE}"/>
              </a:ext>
            </a:extLst>
          </p:cNvPr>
          <p:cNvSpPr txBox="1"/>
          <p:nvPr/>
        </p:nvSpPr>
        <p:spPr>
          <a:xfrm>
            <a:off x="17240250" y="8795426"/>
            <a:ext cx="4743450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altLang="en-US" sz="4400" b="1" dirty="0">
                <a:solidFill>
                  <a:schemeClr val="bg2">
                    <a:lumMod val="10000"/>
                  </a:schemeClr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80326114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9BEF-9542-7100-1D62-738DD1E84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Standard function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571B89-20C8-3334-2B4D-61CE8AA817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58487A-CC6E-01E0-FD53-981205337EC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19568673" cy="8186342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Standard library function</a:t>
            </a:r>
          </a:p>
          <a:p>
            <a:pPr marL="1081088" lvl="1" indent="-457200" algn="just">
              <a:spcBef>
                <a:spcPts val="1200"/>
              </a:spcBef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Predefined functions provided by the C compiler.</a:t>
            </a:r>
          </a:p>
          <a:p>
            <a:pPr marL="1081088" lvl="1" indent="-457200" algn="just">
              <a:spcBef>
                <a:spcPts val="1200"/>
              </a:spcBef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To use them, include the appropriate header file using the </a:t>
            </a:r>
            <a:r>
              <a:rPr lang="en-US" altLang="en-US" sz="36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#include</a:t>
            </a: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 directive.</a:t>
            </a:r>
          </a:p>
          <a:p>
            <a:pPr marL="1081088" lvl="1" indent="-457200" algn="just">
              <a:spcBef>
                <a:spcPts val="1200"/>
              </a:spcBef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Example: For input and output operations, use the </a:t>
            </a:r>
            <a:r>
              <a:rPr lang="en-US" altLang="en-US" sz="36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Standard Input/Output Library:</a:t>
            </a: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 </a:t>
            </a:r>
            <a:r>
              <a:rPr lang="en-US" altLang="en-US" sz="36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  <a:sym typeface="Wingdings" panose="05000000000000000000" pitchFamily="2" charset="2"/>
              </a:rPr>
              <a:t>#include &lt;</a:t>
            </a:r>
            <a:r>
              <a:rPr lang="en-US" altLang="en-US" sz="3600" b="1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  <a:sym typeface="Wingdings" panose="05000000000000000000" pitchFamily="2" charset="2"/>
              </a:rPr>
              <a:t>stdio.h</a:t>
            </a:r>
            <a:r>
              <a:rPr lang="en-US" altLang="en-US" sz="36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  <a:sym typeface="Wingdings" panose="05000000000000000000" pitchFamily="2" charset="2"/>
              </a:rPr>
              <a:t>&gt;</a:t>
            </a:r>
          </a:p>
          <a:p>
            <a:pPr marL="1203325" lvl="2" indent="0" algn="just">
              <a:spcBef>
                <a:spcPts val="1200"/>
              </a:spcBef>
              <a:buNone/>
            </a:pPr>
            <a:endParaRPr lang="en-US" altLang="en-US" sz="36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User defined function</a:t>
            </a:r>
          </a:p>
          <a:p>
            <a:pPr marL="1081088" lvl="1" indent="-457200" algn="just">
              <a:spcBef>
                <a:spcPts val="1200"/>
              </a:spcBef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Also called programmer-defined functions.</a:t>
            </a:r>
          </a:p>
          <a:p>
            <a:pPr marL="1081088" lvl="1" indent="-457200" algn="just">
              <a:spcBef>
                <a:spcPts val="1200"/>
              </a:spcBef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Created by the programmer to perform specific tasks within a program.</a:t>
            </a:r>
          </a:p>
          <a:p>
            <a:pPr marL="1081088" lvl="1" indent="-457200" algn="just">
              <a:spcBef>
                <a:spcPts val="1200"/>
              </a:spcBef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Help make code modular, reusable, and easier to manage.</a:t>
            </a:r>
          </a:p>
        </p:txBody>
      </p:sp>
    </p:spTree>
    <p:extLst>
      <p:ext uri="{BB962C8B-B14F-4D97-AF65-F5344CB8AC3E}">
        <p14:creationId xmlns:p14="http://schemas.microsoft.com/office/powerpoint/2010/main" val="85200880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484B9-594F-2DE5-DE71-E78002091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7F59E-0F59-A4B4-73B7-703ED4812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OUTPUT OPERATION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EA1DD-852A-16BE-F3B3-3072D6CB0C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FUNCTION USED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E5CF9C-3A2A-DF8F-7C3F-993BD77533B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18863823" cy="7924800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To display data on the screen, C provides several standard library functions, such as: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40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609600" lvl="1" indent="0" algn="just">
              <a:spcBef>
                <a:spcPts val="1200"/>
              </a:spcBef>
              <a:buNone/>
            </a:pPr>
            <a:r>
              <a:rPr lang="en-US" altLang="en-US" sz="40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printf()</a:t>
            </a:r>
          </a:p>
          <a:p>
            <a:pPr marL="609600" lvl="1" indent="0" algn="just">
              <a:spcBef>
                <a:spcPts val="1200"/>
              </a:spcBef>
              <a:buNone/>
            </a:pPr>
            <a:r>
              <a:rPr lang="en-US" altLang="en-US" sz="4000" b="1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putchar</a:t>
            </a:r>
            <a:r>
              <a:rPr lang="en-US" altLang="en-US" sz="40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()</a:t>
            </a:r>
          </a:p>
          <a:p>
            <a:pPr marL="609600" lvl="1" indent="0" algn="just">
              <a:spcBef>
                <a:spcPts val="1200"/>
              </a:spcBef>
              <a:buNone/>
            </a:pPr>
            <a:r>
              <a:rPr lang="en-US" altLang="en-US" sz="4000" b="1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putch</a:t>
            </a:r>
            <a:r>
              <a:rPr lang="en-US" altLang="en-US" sz="40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() 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(Note: available in 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conio.h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)</a:t>
            </a:r>
          </a:p>
          <a:p>
            <a:pPr marL="609600" lvl="1" indent="0" algn="just">
              <a:spcBef>
                <a:spcPts val="1200"/>
              </a:spcBef>
              <a:buNone/>
            </a:pPr>
            <a:r>
              <a:rPr lang="en-US" altLang="en-US" sz="40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puts()</a:t>
            </a:r>
          </a:p>
          <a:p>
            <a:pPr marL="609600" lvl="1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134240215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333AE-BC2C-A991-EA21-7725AB1A7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31008-2143-EB47-2FA5-F94F139BA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OUTPUT OPERATION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615393-B2E6-45B0-F88C-EE588599D1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PRINTF FUNCTION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A34E68-57FB-2531-1391-FDBC4C1EB11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20049246" cy="79248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Used to display data on the standard output (typically the screen), with a specified format.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Header file : </a:t>
            </a:r>
            <a:r>
              <a:rPr lang="en-US" altLang="en-US" sz="3600" b="1" dirty="0" err="1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stdio.h</a:t>
            </a:r>
            <a:endParaRPr lang="en-US" altLang="en-US" sz="3600" b="1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Syntax: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	</a:t>
            </a:r>
            <a:r>
              <a:rPr lang="en-US" altLang="en-US" sz="36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printf(const char *format[,argument, …]);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Example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600" b="1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A95FD0-6173-62AD-AD95-CA81F5D75A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980"/>
          <a:stretch/>
        </p:blipFill>
        <p:spPr>
          <a:xfrm>
            <a:off x="2167377" y="7446302"/>
            <a:ext cx="8176773" cy="4136098"/>
          </a:xfrm>
          <a:prstGeom prst="rect">
            <a:avLst/>
          </a:prstGeom>
        </p:spPr>
      </p:pic>
      <p:pic>
        <p:nvPicPr>
          <p:cNvPr id="10" name="Picture 9" descr="A white background with text and symbols&#10;&#10;AI-generated content may be incorrect.">
            <a:extLst>
              <a:ext uri="{FF2B5EF4-FFF2-40B4-BE49-F238E27FC236}">
                <a16:creationId xmlns:a16="http://schemas.microsoft.com/office/drawing/2014/main" id="{2072E891-AECA-6BEA-F633-17B24AAD01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36" y="7446302"/>
            <a:ext cx="12381020" cy="41164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FD1983D-03C4-C64D-5ED6-BD1FB0231A8A}"/>
              </a:ext>
            </a:extLst>
          </p:cNvPr>
          <p:cNvSpPr txBox="1"/>
          <p:nvPr/>
        </p:nvSpPr>
        <p:spPr>
          <a:xfrm>
            <a:off x="5238750" y="11785893"/>
            <a:ext cx="12192000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Both programs will display the same output on the screen.</a:t>
            </a:r>
            <a:endParaRPr lang="en-US" altLang="en-US" sz="2800" dirty="0">
              <a:solidFill>
                <a:schemeClr val="bg2">
                  <a:lumMod val="10000"/>
                </a:schemeClr>
              </a:solidFill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62182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A6AAA-FC07-5BAC-7477-11834A139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1C471-66A9-D6B5-1EDD-ACE68A5F2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OUTPUT OPERATION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6A1D6E-B3A3-EFBF-1FD5-454355502E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d-ID" altLang="en-US" b="1" dirty="0" err="1">
                <a:latin typeface="Tahoma" pitchFamily="34" charset="0"/>
                <a:cs typeface="Tahoma" pitchFamily="34" charset="0"/>
              </a:rPr>
              <a:t>Output</a:t>
            </a:r>
            <a:r>
              <a:rPr lang="id-ID" altLang="en-US" b="1" dirty="0">
                <a:latin typeface="Tahoma" pitchFamily="34" charset="0"/>
                <a:cs typeface="Tahoma" pitchFamily="34" charset="0"/>
              </a:rPr>
              <a:t> </a:t>
            </a:r>
            <a:r>
              <a:rPr lang="id-ID" altLang="en-US" b="1" dirty="0" err="1">
                <a:latin typeface="Tahoma" pitchFamily="34" charset="0"/>
                <a:cs typeface="Tahoma" pitchFamily="34" charset="0"/>
              </a:rPr>
              <a:t>Formatting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D362B6-3510-3FFB-B143-FD1145EEE94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20049246" cy="3028950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Output also has formatted specification: </a:t>
            </a:r>
            <a:endParaRPr lang="en-US" altLang="en-US" sz="3600" b="1" dirty="0">
              <a:latin typeface="Consolas" panose="020B0609020204030204" pitchFamily="49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%[flags][width][.precision] type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3C452400-762A-4F71-C778-B882F4652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7377" y="5724468"/>
            <a:ext cx="8767323" cy="4474686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width</a:t>
            </a: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 :	number of columns provided</a:t>
            </a: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cs typeface="Tahoma" pitchFamily="34" charset="0"/>
            </a:endParaRPr>
          </a:p>
          <a:p>
            <a:pPr marL="0" marR="0" lvl="0" indent="0" algn="l" defTabSz="914400" eaLnBrk="1" fontAlgn="base" latinLnBrk="0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precision</a:t>
            </a: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 : digit number</a:t>
            </a:r>
          </a:p>
          <a:p>
            <a:pPr marL="0" marR="0" lvl="0" indent="0" algn="l" defTabSz="914400" eaLnBrk="1" fontAlgn="base" latinLnBrk="0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flags</a:t>
            </a: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  :</a:t>
            </a:r>
          </a:p>
          <a:p>
            <a:pPr marL="0" marR="0" lvl="0" indent="0" algn="l" defTabSz="914400" eaLnBrk="1" fontAlgn="base" latinLnBrk="0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can be changed into:</a:t>
            </a:r>
          </a:p>
          <a:p>
            <a:pPr marL="0" marR="0" lvl="0" indent="0" algn="l" defTabSz="914400" eaLnBrk="1" fontAlgn="base" latinLnBrk="0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none	: right justify</a:t>
            </a:r>
          </a:p>
          <a:p>
            <a:pPr marL="0" marR="0" lvl="0" indent="0" algn="l" defTabSz="914400" eaLnBrk="1" fontAlgn="base" latinLnBrk="0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 		: left justify</a:t>
            </a:r>
          </a:p>
          <a:p>
            <a:pPr marL="0" marR="0" lvl="0" indent="0" algn="l" defTabSz="914400" eaLnBrk="1" fontAlgn="base" latinLnBrk="0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+		: for positive &amp; negative value</a:t>
            </a:r>
            <a:endParaRPr kumimoji="0" lang="en-US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cs typeface="Tahoma" pitchFamily="34" charset="0"/>
            </a:endParaRP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773AF013-5E8C-B780-FD50-5DCC5FCF1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36202" y="5638366"/>
            <a:ext cx="8420100" cy="7001019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type</a:t>
            </a: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 :</a:t>
            </a:r>
          </a:p>
          <a:p>
            <a:pPr marL="0" marR="0" lvl="0" indent="0" algn="l" defTabSz="914400" eaLnBrk="1" fontAlgn="base" latinLnBrk="0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d –or- </a:t>
            </a:r>
            <a:r>
              <a:rPr kumimoji="0" lang="en-US" alt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i</a:t>
            </a: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 	:  signed decimal</a:t>
            </a:r>
          </a:p>
          <a:p>
            <a:pPr marL="0" marR="0" lvl="0" indent="0" algn="l" defTabSz="914400" eaLnBrk="1" fontAlgn="base" latinLnBrk="0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o		:  unsigned octal</a:t>
            </a:r>
          </a:p>
          <a:p>
            <a:pPr marL="0" marR="0" lvl="0" indent="0" algn="l" defTabSz="914400" eaLnBrk="1" fontAlgn="base" latinLnBrk="0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u		:  unsigned decimal</a:t>
            </a:r>
          </a:p>
          <a:p>
            <a:pPr marL="0" marR="0" lvl="0" indent="0" algn="l" defTabSz="914400" eaLnBrk="1" fontAlgn="base" latinLnBrk="0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x		:  unsigned hexadecimal</a:t>
            </a:r>
          </a:p>
          <a:p>
            <a:pPr marL="0" marR="0" lvl="0" indent="0" algn="l" defTabSz="914400" eaLnBrk="1" fontAlgn="base" latinLnBrk="0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f		:  floating point</a:t>
            </a:r>
          </a:p>
          <a:p>
            <a:pPr marL="0" marR="0" lvl="0" indent="0" algn="l" defTabSz="914400" eaLnBrk="1" fontAlgn="base" latinLnBrk="0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e		:  floating point (exponent)</a:t>
            </a:r>
          </a:p>
          <a:p>
            <a:pPr marL="0" marR="0" lvl="0" indent="0" algn="l" defTabSz="914400" eaLnBrk="1" fontAlgn="base" latinLnBrk="0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c		:  single character</a:t>
            </a:r>
          </a:p>
          <a:p>
            <a:pPr marL="0" marR="0" lvl="0" indent="0" algn="l" defTabSz="914400" eaLnBrk="1" fontAlgn="base" latinLnBrk="0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s		:  string</a:t>
            </a:r>
          </a:p>
          <a:p>
            <a:pPr marL="0" marR="0" lvl="0" indent="0" algn="l" defTabSz="914400" eaLnBrk="1" fontAlgn="base" latinLnBrk="0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%		:  % character</a:t>
            </a:r>
          </a:p>
          <a:p>
            <a:pPr marL="0" marR="0" lvl="0" indent="0" algn="l" defTabSz="914400" eaLnBrk="1" fontAlgn="base" latinLnBrk="0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p		:  pointer</a:t>
            </a:r>
          </a:p>
        </p:txBody>
      </p:sp>
    </p:spTree>
    <p:extLst>
      <p:ext uri="{BB962C8B-B14F-4D97-AF65-F5344CB8AC3E}">
        <p14:creationId xmlns:p14="http://schemas.microsoft.com/office/powerpoint/2010/main" val="3247158347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D0282-77D6-6B08-E252-3B1B18F92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CFE4F-97B7-BE7F-C87A-0EE5F9757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OUTPUT OPERATION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DFBC5-9968-0C22-9D66-B8FC089B37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d-ID" altLang="en-US" b="1" dirty="0" err="1">
                <a:latin typeface="Tahoma" pitchFamily="34" charset="0"/>
                <a:cs typeface="Tahoma" pitchFamily="34" charset="0"/>
              </a:rPr>
              <a:t>Output</a:t>
            </a:r>
            <a:r>
              <a:rPr lang="id-ID" altLang="en-US" b="1" dirty="0">
                <a:latin typeface="Tahoma" pitchFamily="34" charset="0"/>
                <a:cs typeface="Tahoma" pitchFamily="34" charset="0"/>
              </a:rPr>
              <a:t> </a:t>
            </a:r>
            <a:r>
              <a:rPr lang="id-ID" altLang="en-US" b="1" dirty="0" err="1">
                <a:latin typeface="Tahoma" pitchFamily="34" charset="0"/>
                <a:cs typeface="Tahoma" pitchFamily="34" charset="0"/>
              </a:rPr>
              <a:t>Formatting</a:t>
            </a:r>
            <a:r>
              <a:rPr lang="en-US" altLang="en-US" b="1" dirty="0">
                <a:latin typeface="Tahoma" pitchFamily="34" charset="0"/>
                <a:cs typeface="Tahoma" pitchFamily="34" charset="0"/>
              </a:rPr>
              <a:t> (CONT)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51B3C7-385F-2DE3-41BF-937EACF7FE6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17854173" cy="4343299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For long data type, add </a:t>
            </a: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l 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at the front of data type: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long double  	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%</a:t>
            </a:r>
            <a:r>
              <a:rPr lang="en-US" altLang="en-US" sz="3600" dirty="0" err="1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lf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unsigned long int 	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%</a:t>
            </a:r>
            <a:r>
              <a:rPr lang="en-US" altLang="en-US" sz="3600" dirty="0" err="1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lu</a:t>
            </a:r>
            <a:endParaRPr lang="en-US" altLang="en-US" sz="36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long int		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%</a:t>
            </a:r>
            <a:r>
              <a:rPr lang="en-US" altLang="en-US" sz="3600" dirty="0" err="1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ld</a:t>
            </a:r>
            <a:endParaRPr lang="en-US" altLang="en-US" sz="36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Example 1</a:t>
            </a:r>
          </a:p>
        </p:txBody>
      </p:sp>
      <p:pic>
        <p:nvPicPr>
          <p:cNvPr id="8" name="Picture 7" descr="A white background with text and symbols&#10;&#10;AI-generated content may be incorrect.">
            <a:extLst>
              <a:ext uri="{FF2B5EF4-FFF2-40B4-BE49-F238E27FC236}">
                <a16:creationId xmlns:a16="http://schemas.microsoft.com/office/drawing/2014/main" id="{87E1CE4F-3148-E632-BBE3-C655E4448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377" y="8000899"/>
            <a:ext cx="15334892" cy="4743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168436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3438B-91C5-9F82-7D69-39BCE8555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3EB0E-425D-C783-E009-2EDE00F5C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OUTPUT OPERATION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B127B9-9204-F4DC-7832-2460B8B1C7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d-ID" altLang="en-US" b="1" dirty="0" err="1">
                <a:latin typeface="Tahoma" pitchFamily="34" charset="0"/>
                <a:cs typeface="Tahoma" pitchFamily="34" charset="0"/>
              </a:rPr>
              <a:t>Output</a:t>
            </a:r>
            <a:r>
              <a:rPr lang="id-ID" altLang="en-US" b="1" dirty="0">
                <a:latin typeface="Tahoma" pitchFamily="34" charset="0"/>
                <a:cs typeface="Tahoma" pitchFamily="34" charset="0"/>
              </a:rPr>
              <a:t> </a:t>
            </a:r>
            <a:r>
              <a:rPr lang="id-ID" altLang="en-US" b="1" dirty="0" err="1">
                <a:latin typeface="Tahoma" pitchFamily="34" charset="0"/>
                <a:cs typeface="Tahoma" pitchFamily="34" charset="0"/>
              </a:rPr>
              <a:t>Formatting</a:t>
            </a:r>
            <a:r>
              <a:rPr lang="en-US" altLang="en-US" b="1" dirty="0">
                <a:latin typeface="Tahoma" pitchFamily="34" charset="0"/>
                <a:cs typeface="Tahoma" pitchFamily="34" charset="0"/>
              </a:rPr>
              <a:t> (CONT)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610545-C12D-F39A-710D-2B7822C5D95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1"/>
            <a:ext cx="17854173" cy="803546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Example 2</a:t>
            </a:r>
          </a:p>
        </p:txBody>
      </p:sp>
      <p:pic>
        <p:nvPicPr>
          <p:cNvPr id="6" name="Picture 5" descr="A close-up of text&#10;&#10;AI-generated content may be incorrect.">
            <a:extLst>
              <a:ext uri="{FF2B5EF4-FFF2-40B4-BE49-F238E27FC236}">
                <a16:creationId xmlns:a16="http://schemas.microsoft.com/office/drawing/2014/main" id="{41B9F6B6-894D-8A23-4597-86DA481BD7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377" y="4498536"/>
            <a:ext cx="19366905" cy="517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530873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E07B1-DF56-6854-4E73-52BE5CDDE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A0A7D-36D3-EEA8-0012-2C5ABD431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OUTPUT OPERATION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BEEFB-0B9A-BF50-4781-405EA1CC84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d-ID" altLang="en-US" b="1" dirty="0" err="1">
                <a:latin typeface="Tahoma" pitchFamily="34" charset="0"/>
                <a:cs typeface="Tahoma" pitchFamily="34" charset="0"/>
              </a:rPr>
              <a:t>Output</a:t>
            </a:r>
            <a:r>
              <a:rPr lang="id-ID" altLang="en-US" b="1" dirty="0">
                <a:latin typeface="Tahoma" pitchFamily="34" charset="0"/>
                <a:cs typeface="Tahoma" pitchFamily="34" charset="0"/>
              </a:rPr>
              <a:t> </a:t>
            </a:r>
            <a:r>
              <a:rPr lang="id-ID" altLang="en-US" b="1" dirty="0" err="1">
                <a:latin typeface="Tahoma" pitchFamily="34" charset="0"/>
                <a:cs typeface="Tahoma" pitchFamily="34" charset="0"/>
              </a:rPr>
              <a:t>Formatting</a:t>
            </a:r>
            <a:r>
              <a:rPr lang="en-US" altLang="en-US" b="1" dirty="0">
                <a:latin typeface="Tahoma" pitchFamily="34" charset="0"/>
                <a:cs typeface="Tahoma" pitchFamily="34" charset="0"/>
              </a:rPr>
              <a:t> (CONT)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9591AD-F05B-76BA-5746-E40CE6660BC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363952"/>
            <a:ext cx="17854173" cy="803546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Example 3</a:t>
            </a:r>
          </a:p>
        </p:txBody>
      </p:sp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311A4B61-A8B7-F8F4-112A-0E9656B630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377" y="4167498"/>
            <a:ext cx="10757707" cy="7676444"/>
          </a:xfrm>
          <a:prstGeom prst="rect">
            <a:avLst/>
          </a:prstGeom>
        </p:spPr>
      </p:pic>
      <p:pic>
        <p:nvPicPr>
          <p:cNvPr id="11" name="Picture 10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BC05101B-D669-54F6-3479-0F9D94F581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8617" y="6858000"/>
            <a:ext cx="9071383" cy="47441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BD31FBC-DECE-FC7C-2507-14DEB2365F8B}"/>
              </a:ext>
            </a:extLst>
          </p:cNvPr>
          <p:cNvSpPr txBox="1"/>
          <p:nvPr/>
        </p:nvSpPr>
        <p:spPr>
          <a:xfrm>
            <a:off x="16342583" y="5803789"/>
            <a:ext cx="4743450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altLang="en-US" sz="4400" b="1" dirty="0">
                <a:solidFill>
                  <a:schemeClr val="bg2">
                    <a:lumMod val="10000"/>
                  </a:schemeClr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472657987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24C56-8A2C-74DB-1AAA-19FEBDD49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72EF4-48BA-F954-BF24-BD2D2BEAE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OUTPUT OPERATION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9AA61A-3D19-03F5-302A-35C9A88E4E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PUTCHAR FUNCTION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C79EF-4F2E-6CF3-3287-E01C0DB7EB7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20049246" cy="64008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Functionality:</a:t>
            </a:r>
          </a:p>
          <a:p>
            <a:pPr marL="1195388" lvl="1" indent="-5715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Displaying character on the monitor at cursor position. After display, cursor will move to the next position</a:t>
            </a:r>
          </a:p>
          <a:p>
            <a:pPr marL="1195388" lvl="1" indent="-5715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Return EOF if error, and return the displayed character after successfully done</a:t>
            </a:r>
          </a:p>
          <a:p>
            <a:pPr marL="1195388" lvl="1" indent="-5715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 err="1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putchar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 is a macro similar to : </a:t>
            </a:r>
            <a:r>
              <a:rPr lang="en-US" altLang="en-US" sz="3600" dirty="0" err="1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putc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(c, </a:t>
            </a:r>
            <a:r>
              <a:rPr lang="en-US" altLang="en-US" sz="3600" dirty="0" err="1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stdout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 ) 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Header File: </a:t>
            </a:r>
            <a:r>
              <a:rPr lang="en-US" altLang="en-US" sz="3600" b="1" dirty="0" err="1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stdio.h</a:t>
            </a:r>
            <a:endParaRPr lang="en-US" altLang="en-US" sz="3600" b="1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Syntax: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	</a:t>
            </a:r>
            <a:r>
              <a:rPr lang="en-US" altLang="en-US" sz="40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</a:t>
            </a:r>
            <a:r>
              <a:rPr lang="en-US" altLang="en-US" sz="4000" b="1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putchar</a:t>
            </a:r>
            <a:r>
              <a:rPr lang="en-US" altLang="en-US" sz="40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(int c);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Example: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600" b="1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6" name="Picture 5" descr="A black and red text&#10;&#10;AI-generated content may be incorrect.">
            <a:extLst>
              <a:ext uri="{FF2B5EF4-FFF2-40B4-BE49-F238E27FC236}">
                <a16:creationId xmlns:a16="http://schemas.microsoft.com/office/drawing/2014/main" id="{A6511AED-019E-B84A-44FE-0FA59EEA5B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053" y="10026619"/>
            <a:ext cx="9810947" cy="2539305"/>
          </a:xfrm>
          <a:prstGeom prst="rect">
            <a:avLst/>
          </a:prstGeom>
        </p:spPr>
      </p:pic>
      <p:sp>
        <p:nvSpPr>
          <p:cNvPr id="7" name="Text Box 4">
            <a:extLst>
              <a:ext uri="{FF2B5EF4-FFF2-40B4-BE49-F238E27FC236}">
                <a16:creationId xmlns:a16="http://schemas.microsoft.com/office/drawing/2014/main" id="{EB3B70FF-8215-8829-D260-8A40C1287B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0" y="10058400"/>
            <a:ext cx="8767323" cy="1316771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Output:</a:t>
            </a:r>
          </a:p>
          <a:p>
            <a:pPr marL="0" marR="0" lvl="0" indent="0" algn="l" defTabSz="914400" eaLnBrk="1" fontAlgn="base" latinLnBrk="0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600" kern="1200" dirty="0">
                <a:solidFill>
                  <a:prstClr val="black"/>
                </a:solidFill>
                <a:latin typeface="+mj-lt"/>
                <a:cs typeface="Tahoma" pitchFamily="34" charset="0"/>
              </a:rPr>
              <a:t>A</a:t>
            </a:r>
            <a:endParaRPr kumimoji="0" lang="en-US" altLang="en-US" sz="360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182275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6B92B-5700-C8A8-64FA-1F4D593E1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C3444-3FDC-6864-7564-0E9C49E34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OUTPUT OPERATION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4BF5B-9BBC-0F9E-3751-20202EB727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putch</a:t>
            </a:r>
            <a:r>
              <a:rPr lang="en-US" dirty="0"/>
              <a:t> function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2088D4-7EBD-6D97-5A2B-885207F8DE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20049246" cy="64008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Functionality:</a:t>
            </a:r>
          </a:p>
          <a:p>
            <a:pPr marL="1195388" lvl="1" indent="-5715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Display ASCII character to the monitor without moving cursor to its next position</a:t>
            </a:r>
          </a:p>
          <a:p>
            <a:pPr marL="1195388" lvl="1" indent="-5715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Return EOF if error, and return the displayed character after successfully done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Header File: </a:t>
            </a:r>
            <a:r>
              <a:rPr lang="en-US" altLang="en-US" sz="3600" b="1" dirty="0" err="1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conio.h</a:t>
            </a:r>
            <a:endParaRPr lang="en-US" altLang="en-US" sz="3600" b="1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Syntax: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	</a:t>
            </a:r>
            <a:r>
              <a:rPr lang="en-US" altLang="en-US" sz="40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</a:t>
            </a:r>
            <a:r>
              <a:rPr lang="en-US" altLang="en-US" sz="4000" b="1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putch</a:t>
            </a:r>
            <a:r>
              <a:rPr lang="en-US" altLang="en-US" sz="40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(int c);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Example: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600" b="1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84035488-90ED-7F43-879F-765CD72E9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56334" y="8746601"/>
            <a:ext cx="8767323" cy="1316771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Output:</a:t>
            </a:r>
          </a:p>
          <a:p>
            <a:pPr marL="0" marR="0" lvl="0" indent="0" algn="l" defTabSz="914400" eaLnBrk="1" fontAlgn="base" latinLnBrk="0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600" kern="1200" dirty="0">
                <a:solidFill>
                  <a:prstClr val="black"/>
                </a:solidFill>
                <a:latin typeface="+mj-lt"/>
                <a:cs typeface="Tahoma" pitchFamily="34" charset="0"/>
              </a:rPr>
              <a:t>B</a:t>
            </a:r>
            <a:endParaRPr kumimoji="0" lang="en-US" altLang="en-US" sz="360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cs typeface="Tahoma" pitchFamily="34" charset="0"/>
            </a:endParaRPr>
          </a:p>
        </p:txBody>
      </p:sp>
      <p:pic>
        <p:nvPicPr>
          <p:cNvPr id="8" name="Picture 7" descr="A group of red and black symbols&#10;&#10;AI-generated content may be incorrect.">
            <a:extLst>
              <a:ext uri="{FF2B5EF4-FFF2-40B4-BE49-F238E27FC236}">
                <a16:creationId xmlns:a16="http://schemas.microsoft.com/office/drawing/2014/main" id="{865B38B4-8139-DDE8-E8F4-EC1A314B84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930" y="8746231"/>
            <a:ext cx="8216270" cy="184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998089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A602D-2BAC-C2C1-9680-E980E503D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7384C-0EB3-7C9B-BBED-799A686A6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OUTPUT OPERATION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90F70-2ABB-522C-A7BC-E79299C3D3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PUTS FUNCTION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96EAC-9B60-9514-3CB2-4A6EB44799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20049246" cy="64008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Functionality:</a:t>
            </a:r>
          </a:p>
          <a:p>
            <a:pPr marL="1195388" lvl="1" indent="-5715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Display string to the monitor and move the cursor to new line</a:t>
            </a:r>
          </a:p>
          <a:p>
            <a:pPr marL="1195388" lvl="1" indent="-5715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Return non-negative value when successful and EOF if error) 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Header File: </a:t>
            </a:r>
            <a:r>
              <a:rPr lang="en-US" altLang="en-US" sz="3600" b="1" dirty="0" err="1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stdio.h</a:t>
            </a:r>
            <a:endParaRPr lang="en-US" altLang="en-US" sz="3600" b="1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Syntax: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	</a:t>
            </a:r>
            <a:r>
              <a:rPr lang="en-US" altLang="en-US" sz="40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puts(const  char *str);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Example: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600" b="1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23A84DF7-3237-499B-95F9-D06CB709B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6700" y="8947768"/>
            <a:ext cx="9277350" cy="1948354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eaLnBrk="1" fontAlgn="base" latinLnBrk="0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Output:</a:t>
            </a:r>
          </a:p>
          <a:p>
            <a:pPr marL="0" marR="0" lvl="0" indent="0" algn="l" defTabSz="914400" eaLnBrk="1" fontAlgn="base" latinLnBrk="0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600" kern="1200" dirty="0">
                <a:solidFill>
                  <a:prstClr val="black"/>
                </a:solidFill>
                <a:latin typeface="+mj-lt"/>
                <a:cs typeface="Tahoma" pitchFamily="34" charset="0"/>
              </a:rPr>
              <a:t>Welcome</a:t>
            </a:r>
          </a:p>
          <a:p>
            <a:pPr marL="0" marR="0" lvl="0" indent="0" algn="l" defTabSz="914400" eaLnBrk="1" fontAlgn="base" latinLnBrk="0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600" kern="1200" dirty="0">
                <a:solidFill>
                  <a:prstClr val="black"/>
                </a:solidFill>
                <a:latin typeface="+mj-lt"/>
                <a:cs typeface="Tahoma" pitchFamily="34" charset="0"/>
              </a:rPr>
              <a:t>To BINUS</a:t>
            </a:r>
            <a:endParaRPr kumimoji="0" lang="en-US" altLang="en-US" sz="360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cs typeface="Tahoma" pitchFamily="34" charset="0"/>
            </a:endParaRPr>
          </a:p>
        </p:txBody>
      </p:sp>
      <p:pic>
        <p:nvPicPr>
          <p:cNvPr id="8" name="Picture 7" descr="A close up of blue text&#10;&#10;AI-generated content may be incorrect.">
            <a:extLst>
              <a:ext uri="{FF2B5EF4-FFF2-40B4-BE49-F238E27FC236}">
                <a16:creationId xmlns:a16="http://schemas.microsoft.com/office/drawing/2014/main" id="{F5C4FC81-DD55-FD23-5890-779A68FD17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178"/>
          <a:stretch/>
        </p:blipFill>
        <p:spPr>
          <a:xfrm>
            <a:off x="2320093" y="8966818"/>
            <a:ext cx="8214557" cy="1778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976397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DB9F4-BA69-8764-0639-51C1111E4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3CDB9-DD3F-78D3-B4B5-0537F59DD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INPUT OPERATION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58EC5-36B3-2C34-948C-D92B07E978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FUNCTION USED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4B48FB-0AC7-277D-2645-7460A1C6C3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18863823" cy="7924800"/>
          </a:xfrm>
        </p:spPr>
        <p:txBody>
          <a:bodyPr>
            <a:normAutofit lnSpcReduction="10000"/>
          </a:bodyPr>
          <a:lstStyle/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Input Operation: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The process of receiving data into memory using standard input devices (such as a keyboard or disk).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40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Standard library functions related to input operations include: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scanf()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b="1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getchar</a:t>
            </a:r>
            <a:r>
              <a:rPr lang="en-US" altLang="en-US" sz="40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()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b="1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getch</a:t>
            </a:r>
            <a:r>
              <a:rPr lang="en-US" altLang="en-US" sz="40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() 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(Note: available in 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conio.h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)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b="1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getche</a:t>
            </a:r>
            <a:r>
              <a:rPr lang="en-US" altLang="en-US" sz="40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() 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(Note: available in 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conio.h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)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gets()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865709517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594AB-ED0B-C9A6-9AE0-C15DEBBA9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72F3F-6F7B-5BA2-EA9F-FCC021754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INPUT OPERATION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BEB1A-C39C-3053-685E-065DC99176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d-ID" altLang="en-US" b="1" dirty="0" err="1">
                <a:latin typeface="Tahoma" pitchFamily="34" charset="0"/>
                <a:cs typeface="Tahoma" pitchFamily="34" charset="0"/>
              </a:rPr>
              <a:t>scanf</a:t>
            </a:r>
            <a:r>
              <a:rPr lang="id-ID" altLang="en-US" b="1" dirty="0">
                <a:latin typeface="Tahoma" pitchFamily="34" charset="0"/>
                <a:cs typeface="Tahoma" pitchFamily="34" charset="0"/>
              </a:rPr>
              <a:t> </a:t>
            </a:r>
            <a:r>
              <a:rPr lang="id-ID" altLang="en-US" b="1" dirty="0" err="1">
                <a:latin typeface="Tahoma" pitchFamily="34" charset="0"/>
                <a:cs typeface="Tahoma" pitchFamily="34" charset="0"/>
              </a:rPr>
              <a:t>function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B03CC4-DDB9-76D0-D273-137D38E2045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657600"/>
            <a:ext cx="20406873" cy="79248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All the argument type are pointers (address of a variable).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To get the address of a variable use “</a:t>
            </a: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&amp;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” sign.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Header file : </a:t>
            </a:r>
            <a:r>
              <a:rPr lang="en-US" altLang="en-US" sz="3600" b="1" dirty="0" err="1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stdio.h</a:t>
            </a:r>
            <a:endParaRPr lang="en-US" altLang="en-US" sz="36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spcBef>
                <a:spcPts val="1200"/>
              </a:spcBef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Syntax: 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US" altLang="en-US" sz="36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scanf( const char *format [,argument]... );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US" altLang="en-US" sz="32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*format: “%type”, </a:t>
            </a:r>
            <a:r>
              <a:rPr lang="id-ID" altLang="en-US" sz="3200" dirty="0" err="1">
                <a:latin typeface="+mj-lt"/>
                <a:cs typeface="Tahoma" pitchFamily="34" charset="0"/>
              </a:rPr>
              <a:t>where</a:t>
            </a:r>
            <a:r>
              <a:rPr lang="id-ID" altLang="en-US" sz="3200" dirty="0">
                <a:latin typeface="+mj-lt"/>
                <a:cs typeface="Tahoma" pitchFamily="34" charset="0"/>
              </a:rPr>
              <a:t> </a:t>
            </a:r>
            <a:r>
              <a:rPr lang="id-ID" altLang="en-US" sz="3200" b="1" i="1" dirty="0" err="1">
                <a:latin typeface="+mj-lt"/>
                <a:cs typeface="Tahoma" pitchFamily="34" charset="0"/>
              </a:rPr>
              <a:t>type</a:t>
            </a:r>
            <a:r>
              <a:rPr lang="id-ID" altLang="en-US" sz="3200" dirty="0">
                <a:latin typeface="+mj-lt"/>
                <a:cs typeface="Tahoma" pitchFamily="34" charset="0"/>
              </a:rPr>
              <a:t> </a:t>
            </a:r>
            <a:r>
              <a:rPr lang="id-ID" altLang="en-US" sz="3200" dirty="0" err="1">
                <a:latin typeface="+mj-lt"/>
                <a:cs typeface="Tahoma" pitchFamily="34" charset="0"/>
              </a:rPr>
              <a:t>can</a:t>
            </a:r>
            <a:r>
              <a:rPr lang="id-ID" altLang="en-US" sz="3200" dirty="0">
                <a:latin typeface="+mj-lt"/>
                <a:cs typeface="Tahoma" pitchFamily="34" charset="0"/>
              </a:rPr>
              <a:t> </a:t>
            </a:r>
            <a:r>
              <a:rPr lang="id-ID" altLang="en-US" sz="3200" dirty="0" err="1">
                <a:latin typeface="+mj-lt"/>
                <a:cs typeface="Tahoma" pitchFamily="34" charset="0"/>
              </a:rPr>
              <a:t>be</a:t>
            </a:r>
            <a:r>
              <a:rPr lang="id-ID" altLang="en-US" sz="3200" dirty="0">
                <a:latin typeface="+mj-lt"/>
                <a:cs typeface="Tahoma" pitchFamily="34" charset="0"/>
              </a:rPr>
              <a:t> </a:t>
            </a:r>
            <a:r>
              <a:rPr lang="id-ID" altLang="en-US" sz="3200" dirty="0" err="1">
                <a:latin typeface="+mj-lt"/>
                <a:cs typeface="Tahoma" pitchFamily="34" charset="0"/>
              </a:rPr>
              <a:t>substituted</a:t>
            </a:r>
            <a:r>
              <a:rPr lang="id-ID" altLang="en-US" sz="3200" dirty="0">
                <a:latin typeface="+mj-lt"/>
                <a:cs typeface="Tahoma" pitchFamily="34" charset="0"/>
              </a:rPr>
              <a:t> </a:t>
            </a:r>
            <a:r>
              <a:rPr lang="id-ID" altLang="en-US" sz="3200" dirty="0" err="1">
                <a:latin typeface="+mj-lt"/>
                <a:cs typeface="Tahoma" pitchFamily="34" charset="0"/>
              </a:rPr>
              <a:t>with</a:t>
            </a:r>
            <a:r>
              <a:rPr lang="id-ID" altLang="en-US" sz="3200" dirty="0">
                <a:latin typeface="+mj-lt"/>
                <a:cs typeface="Tahoma" pitchFamily="34" charset="0"/>
              </a:rPr>
              <a:t> </a:t>
            </a:r>
            <a:r>
              <a:rPr lang="id-ID" altLang="en-US" sz="3200" dirty="0" err="1">
                <a:latin typeface="+mj-lt"/>
                <a:cs typeface="Tahoma" pitchFamily="34" charset="0"/>
              </a:rPr>
              <a:t>one</a:t>
            </a:r>
            <a:r>
              <a:rPr lang="id-ID" altLang="en-US" sz="3200" dirty="0">
                <a:latin typeface="+mj-lt"/>
                <a:cs typeface="Tahoma" pitchFamily="34" charset="0"/>
              </a:rPr>
              <a:t> </a:t>
            </a:r>
            <a:r>
              <a:rPr lang="id-ID" altLang="en-US" sz="3200" dirty="0" err="1">
                <a:latin typeface="+mj-lt"/>
                <a:cs typeface="Tahoma" pitchFamily="34" charset="0"/>
              </a:rPr>
              <a:t>of</a:t>
            </a:r>
            <a:r>
              <a:rPr lang="id-ID" altLang="en-US" sz="3200" dirty="0">
                <a:latin typeface="+mj-lt"/>
                <a:cs typeface="Tahoma" pitchFamily="34" charset="0"/>
              </a:rPr>
              <a:t> </a:t>
            </a:r>
            <a:r>
              <a:rPr lang="id-ID" altLang="en-US" sz="3200" dirty="0" err="1">
                <a:latin typeface="+mj-lt"/>
                <a:cs typeface="Tahoma" pitchFamily="34" charset="0"/>
              </a:rPr>
              <a:t>the</a:t>
            </a:r>
            <a:r>
              <a:rPr lang="id-ID" altLang="en-US" sz="3200" dirty="0">
                <a:latin typeface="+mj-lt"/>
                <a:cs typeface="Tahoma" pitchFamily="34" charset="0"/>
              </a:rPr>
              <a:t> </a:t>
            </a:r>
            <a:r>
              <a:rPr lang="id-ID" altLang="en-US" sz="3200" dirty="0" err="1">
                <a:latin typeface="+mj-lt"/>
                <a:cs typeface="Tahoma" pitchFamily="34" charset="0"/>
              </a:rPr>
              <a:t>following</a:t>
            </a:r>
            <a:r>
              <a:rPr lang="id-ID" altLang="en-US" sz="3200" dirty="0">
                <a:latin typeface="+mj-lt"/>
                <a:cs typeface="Tahoma" pitchFamily="34" charset="0"/>
              </a:rPr>
              <a:t> </a:t>
            </a:r>
            <a:r>
              <a:rPr lang="id-ID" altLang="en-US" sz="3200" dirty="0" err="1">
                <a:latin typeface="+mj-lt"/>
                <a:cs typeface="Tahoma" pitchFamily="34" charset="0"/>
              </a:rPr>
              <a:t>list</a:t>
            </a:r>
            <a:r>
              <a:rPr lang="en-US" altLang="en-US" sz="3200" dirty="0">
                <a:latin typeface="+mj-lt"/>
                <a:cs typeface="Tahoma" pitchFamily="34" charset="0"/>
              </a:rPr>
              <a:t> (next page)</a:t>
            </a:r>
            <a:endParaRPr lang="en-US" altLang="en-US" sz="36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scanf() function returns an integer that stated how many fields are successfully assigned</a:t>
            </a:r>
          </a:p>
          <a:p>
            <a:pPr>
              <a:spcBef>
                <a:spcPts val="1200"/>
              </a:spcBef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Example: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600" b="1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6" name="Picture 5" descr="A close up of a sign&#10;&#10;AI-generated content may be incorrect.">
            <a:extLst>
              <a:ext uri="{FF2B5EF4-FFF2-40B4-BE49-F238E27FC236}">
                <a16:creationId xmlns:a16="http://schemas.microsoft.com/office/drawing/2014/main" id="{3444ADB1-4E0E-76FF-8DD1-696D7098C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127" y="9392513"/>
            <a:ext cx="8087396" cy="1903759"/>
          </a:xfrm>
          <a:prstGeom prst="rect">
            <a:avLst/>
          </a:prstGeom>
        </p:spPr>
      </p:pic>
      <p:pic>
        <p:nvPicPr>
          <p:cNvPr id="11" name="Picture 10" descr="A close-up of blue text&#10;&#10;AI-generated content may be incorrect.">
            <a:extLst>
              <a:ext uri="{FF2B5EF4-FFF2-40B4-BE49-F238E27FC236}">
                <a16:creationId xmlns:a16="http://schemas.microsoft.com/office/drawing/2014/main" id="{22BAF49E-9983-5F98-D147-EA8AE810AA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9392514"/>
            <a:ext cx="10881873" cy="20618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5D7D096-0DA6-E0F4-B4BD-3429A5CE6697}"/>
              </a:ext>
            </a:extLst>
          </p:cNvPr>
          <p:cNvSpPr txBox="1"/>
          <p:nvPr/>
        </p:nvSpPr>
        <p:spPr>
          <a:xfrm>
            <a:off x="10134601" y="11647607"/>
            <a:ext cx="13853994" cy="4801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914400" lvl="1" indent="0" algn="l">
              <a:lnSpc>
                <a:spcPct val="90000"/>
              </a:lnSpc>
            </a:pPr>
            <a:r>
              <a:rPr lang="en-US" altLang="en-US" sz="28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*Input </a:t>
            </a:r>
            <a:r>
              <a:rPr lang="en-US" altLang="en-US" sz="2800" b="1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three</a:t>
            </a:r>
            <a:r>
              <a:rPr lang="en-US" altLang="en-US" sz="28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 values of integer, for example </a:t>
            </a:r>
            <a:r>
              <a:rPr lang="en-US" altLang="en-US" sz="2800" b="1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6 7 8</a:t>
            </a:r>
            <a:r>
              <a:rPr lang="en-US" altLang="en-US" sz="28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, then </a:t>
            </a:r>
            <a:r>
              <a:rPr lang="en-US" altLang="en-US" sz="2800" b="1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r = 3</a:t>
            </a:r>
            <a:r>
              <a:rPr lang="en-US" altLang="en-US" sz="28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168558774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9EAFD-016C-CDF9-132E-C51079B9D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680E7-8E81-4BBE-75E5-36B9B67BA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INPUT OPERATION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6FDE3-6F11-2252-C5AE-1D2B1331E8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d-ID" altLang="en-US" b="1" dirty="0" err="1">
                <a:latin typeface="Tahoma" pitchFamily="34" charset="0"/>
                <a:cs typeface="Tahoma" pitchFamily="34" charset="0"/>
              </a:rPr>
              <a:t>scanf</a:t>
            </a:r>
            <a:r>
              <a:rPr lang="id-ID" altLang="en-US" b="1" dirty="0">
                <a:latin typeface="Tahoma" pitchFamily="34" charset="0"/>
                <a:cs typeface="Tahoma" pitchFamily="34" charset="0"/>
              </a:rPr>
              <a:t> </a:t>
            </a:r>
            <a:r>
              <a:rPr lang="id-ID" altLang="en-US" b="1" dirty="0" err="1">
                <a:latin typeface="Tahoma" pitchFamily="34" charset="0"/>
                <a:cs typeface="Tahoma" pitchFamily="34" charset="0"/>
              </a:rPr>
              <a:t>function</a:t>
            </a:r>
            <a:r>
              <a:rPr lang="en-US" altLang="en-US" b="1" dirty="0">
                <a:latin typeface="Tahoma" pitchFamily="34" charset="0"/>
                <a:cs typeface="Tahoma" pitchFamily="34" charset="0"/>
              </a:rPr>
              <a:t> (CONT)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8C7721-C04E-F100-1F1F-04E2F7F6421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20049246" cy="803546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Format Type</a:t>
            </a:r>
          </a:p>
        </p:txBody>
      </p:sp>
      <p:graphicFrame>
        <p:nvGraphicFramePr>
          <p:cNvPr id="5" name="Group 2">
            <a:extLst>
              <a:ext uri="{FF2B5EF4-FFF2-40B4-BE49-F238E27FC236}">
                <a16:creationId xmlns:a16="http://schemas.microsoft.com/office/drawing/2014/main" id="{153260B8-3797-0FDE-0A58-8C45E278D0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66993"/>
              </p:ext>
            </p:extLst>
          </p:nvPr>
        </p:nvGraphicFramePr>
        <p:xfrm>
          <a:off x="2236213" y="4498535"/>
          <a:ext cx="14577896" cy="5760720"/>
        </p:xfrm>
        <a:graphic>
          <a:graphicData uri="http://schemas.openxmlformats.org/drawingml/2006/table">
            <a:tbl>
              <a:tblPr/>
              <a:tblGrid>
                <a:gridCol w="3330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1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Used to scan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41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d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u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x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e, f, g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integer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unsigned integer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hexadecimal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floating point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single character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41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s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o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[…]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[^..]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tabLst>
                          <a:tab pos="228600" algn="l"/>
                        </a:tabLst>
                        <a:defRPr sz="20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228600" algn="l"/>
                        </a:tabLst>
                        <a:defRPr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tabLst>
                          <a:tab pos="228600" algn="l"/>
                        </a:tabLst>
                        <a:defRPr sz="20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tabLst>
                          <a:tab pos="228600" algn="l"/>
                        </a:tabLst>
                        <a:defRPr sz="14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228600" algn="l"/>
                        </a:tabLst>
                        <a:defRPr sz="14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</a:tabLst>
                        <a:defRPr sz="14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</a:tabLst>
                        <a:defRPr sz="14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</a:tabLst>
                        <a:defRPr sz="14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</a:tabLst>
                        <a:defRPr sz="1400">
                          <a:solidFill>
                            <a:schemeClr val="tx1"/>
                          </a:solidFill>
                          <a:latin typeface="Interstate" pitchFamily="2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0" lang="en-US" alt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string ended with white space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Times New Roman" pitchFamily="18" charset="0"/>
                        <a:buNone/>
                        <a:tabLst>
                          <a:tab pos="228600" algn="l"/>
                        </a:tabLst>
                      </a:pPr>
                      <a:r>
                        <a:rPr kumimoji="0" lang="en-US" alt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data unsigned octal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0" lang="en-US" alt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string ended with non of the value inside [...]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0" lang="en-US" alt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string ended with the value inside [...]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0565581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D85DE-C39A-4C93-4E67-AB08949C5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F6104-6897-934B-3939-B81C412E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INPUT OPERATION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13C6D-B8E4-66E3-D000-9A3F55A090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d-ID" altLang="en-US" b="1" dirty="0" err="1">
                <a:latin typeface="Tahoma" pitchFamily="34" charset="0"/>
                <a:cs typeface="Tahoma" pitchFamily="34" charset="0"/>
              </a:rPr>
              <a:t>scanf</a:t>
            </a:r>
            <a:r>
              <a:rPr lang="id-ID" altLang="en-US" b="1" dirty="0">
                <a:latin typeface="Tahoma" pitchFamily="34" charset="0"/>
                <a:cs typeface="Tahoma" pitchFamily="34" charset="0"/>
              </a:rPr>
              <a:t> </a:t>
            </a:r>
            <a:r>
              <a:rPr lang="id-ID" altLang="en-US" b="1" dirty="0" err="1">
                <a:latin typeface="Tahoma" pitchFamily="34" charset="0"/>
                <a:cs typeface="Tahoma" pitchFamily="34" charset="0"/>
              </a:rPr>
              <a:t>function</a:t>
            </a:r>
            <a:r>
              <a:rPr lang="en-US" altLang="en-US" b="1" dirty="0">
                <a:latin typeface="Tahoma" pitchFamily="34" charset="0"/>
                <a:cs typeface="Tahoma" pitchFamily="34" charset="0"/>
              </a:rPr>
              <a:t> (CONT)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293221-4A73-8D61-988F-CC282B27136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20049246" cy="803546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If exist an x integer variable, state the difference of x and &amp;x?</a:t>
            </a:r>
          </a:p>
        </p:txBody>
      </p:sp>
      <p:graphicFrame>
        <p:nvGraphicFramePr>
          <p:cNvPr id="8" name="Group 27">
            <a:extLst>
              <a:ext uri="{FF2B5EF4-FFF2-40B4-BE49-F238E27FC236}">
                <a16:creationId xmlns:a16="http://schemas.microsoft.com/office/drawing/2014/main" id="{6B7ED1FC-0CD7-DCCF-7822-7B912A6339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5934329"/>
              </p:ext>
            </p:extLst>
          </p:nvPr>
        </p:nvGraphicFramePr>
        <p:xfrm>
          <a:off x="2386791" y="7340041"/>
          <a:ext cx="13891773" cy="1298448"/>
        </p:xfrm>
        <a:graphic>
          <a:graphicData uri="http://schemas.openxmlformats.org/drawingml/2006/table">
            <a:tbl>
              <a:tblPr/>
              <a:tblGrid>
                <a:gridCol w="48811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3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75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Variable Name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Address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45678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Value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234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8553B88-380C-9B58-E924-F324C4545990}"/>
              </a:ext>
            </a:extLst>
          </p:cNvPr>
          <p:cNvSpPr txBox="1"/>
          <p:nvPr/>
        </p:nvSpPr>
        <p:spPr>
          <a:xfrm>
            <a:off x="1900677" y="9066492"/>
            <a:ext cx="12192000" cy="21236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1" algn="l">
              <a:buFontTx/>
              <a:buNone/>
            </a:pPr>
            <a:r>
              <a:rPr lang="en-US" altLang="en-US" sz="4400" b="1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Answer:</a:t>
            </a:r>
          </a:p>
          <a:p>
            <a:pPr lvl="1" algn="l">
              <a:buFontTx/>
              <a:buNone/>
            </a:pPr>
            <a:r>
              <a:rPr lang="en-US" altLang="en-US" sz="44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x 	: 234</a:t>
            </a:r>
          </a:p>
          <a:p>
            <a:pPr lvl="1" algn="l">
              <a:buFontTx/>
              <a:buNone/>
            </a:pPr>
            <a:r>
              <a:rPr lang="en-US" altLang="en-US" sz="44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&amp;x 	: 45678</a:t>
            </a:r>
          </a:p>
        </p:txBody>
      </p:sp>
      <p:pic>
        <p:nvPicPr>
          <p:cNvPr id="12" name="Picture 11" descr="A group of red and blue text&#10;&#10;AI-generated content may be incorrect.">
            <a:extLst>
              <a:ext uri="{FF2B5EF4-FFF2-40B4-BE49-F238E27FC236}">
                <a16:creationId xmlns:a16="http://schemas.microsoft.com/office/drawing/2014/main" id="{4FC5B80E-1731-06C3-D8C0-2110440222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855" y="4702705"/>
            <a:ext cx="9330045" cy="204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850575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9F157-BBAE-FD4E-3E95-0165B4C3A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59C85-1CF1-EF42-A944-53988A587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INPUT OPERATION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78407D-B237-073F-045E-3C4D720A6F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d-ID" altLang="en-US" b="1" dirty="0" err="1">
                <a:latin typeface="Tahoma" pitchFamily="34" charset="0"/>
                <a:cs typeface="Tahoma" pitchFamily="34" charset="0"/>
              </a:rPr>
              <a:t>scanf</a:t>
            </a:r>
            <a:r>
              <a:rPr lang="id-ID" altLang="en-US" b="1" dirty="0">
                <a:latin typeface="Tahoma" pitchFamily="34" charset="0"/>
                <a:cs typeface="Tahoma" pitchFamily="34" charset="0"/>
              </a:rPr>
              <a:t> </a:t>
            </a:r>
            <a:r>
              <a:rPr lang="id-ID" altLang="en-US" b="1" dirty="0" err="1">
                <a:latin typeface="Tahoma" pitchFamily="34" charset="0"/>
                <a:cs typeface="Tahoma" pitchFamily="34" charset="0"/>
              </a:rPr>
              <a:t>function</a:t>
            </a:r>
            <a:r>
              <a:rPr lang="en-US" altLang="en-US" b="1" dirty="0">
                <a:latin typeface="Tahoma" pitchFamily="34" charset="0"/>
                <a:cs typeface="Tahoma" pitchFamily="34" charset="0"/>
              </a:rPr>
              <a:t> EXAMPLE PROGRAM</a:t>
            </a:r>
            <a:endParaRPr lang="en-US" dirty="0"/>
          </a:p>
        </p:txBody>
      </p:sp>
      <p:pic>
        <p:nvPicPr>
          <p:cNvPr id="21" name="Picture 20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956CD9EB-FA01-6458-FD0A-7ECC52CA4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377" y="8839059"/>
            <a:ext cx="12101073" cy="4612517"/>
          </a:xfrm>
          <a:prstGeom prst="rect">
            <a:avLst/>
          </a:prstGeom>
        </p:spPr>
      </p:pic>
      <p:pic>
        <p:nvPicPr>
          <p:cNvPr id="25" name="Picture 2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38348673-707B-6BD5-1AC4-1BDA5E6518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377" y="3519562"/>
            <a:ext cx="12101073" cy="5152156"/>
          </a:xfrm>
          <a:prstGeom prst="rect">
            <a:avLst/>
          </a:prstGeom>
        </p:spPr>
      </p:pic>
      <p:sp>
        <p:nvSpPr>
          <p:cNvPr id="26" name="Rectangle 10">
            <a:extLst>
              <a:ext uri="{FF2B5EF4-FFF2-40B4-BE49-F238E27FC236}">
                <a16:creationId xmlns:a16="http://schemas.microsoft.com/office/drawing/2014/main" id="{86DA2A70-BD36-9A0E-946E-677FA3864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750" y="11145317"/>
            <a:ext cx="7718270" cy="107721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id-ID" altLang="en-US" sz="3200" b="1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scanf() </a:t>
            </a:r>
            <a:r>
              <a:rPr lang="en-US" altLang="en-US" sz="32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function  can use more than one argument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CB522AD-6A56-F881-5039-C4D25BB23B79}"/>
              </a:ext>
            </a:extLst>
          </p:cNvPr>
          <p:cNvCxnSpPr>
            <a:cxnSpLocks/>
          </p:cNvCxnSpPr>
          <p:nvPr/>
        </p:nvCxnSpPr>
        <p:spPr>
          <a:xfrm flipH="1">
            <a:off x="10363200" y="11683926"/>
            <a:ext cx="249555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9769817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2FB17-BF6F-FE4E-5682-B1390DF6E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3F110-8910-7834-7D7E-44D6EFEFB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INPUT OPERATION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D62E1-7437-445A-9720-E1F4907FA8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d-ID" altLang="en-US" b="1" dirty="0" err="1">
                <a:latin typeface="Tahoma" pitchFamily="34" charset="0"/>
                <a:cs typeface="Tahoma" pitchFamily="34" charset="0"/>
              </a:rPr>
              <a:t>scanf</a:t>
            </a:r>
            <a:r>
              <a:rPr lang="id-ID" altLang="en-US" b="1" dirty="0">
                <a:latin typeface="Tahoma" pitchFamily="34" charset="0"/>
                <a:cs typeface="Tahoma" pitchFamily="34" charset="0"/>
              </a:rPr>
              <a:t> </a:t>
            </a:r>
            <a:r>
              <a:rPr lang="id-ID" altLang="en-US" b="1" dirty="0" err="1">
                <a:latin typeface="Tahoma" pitchFamily="34" charset="0"/>
                <a:cs typeface="Tahoma" pitchFamily="34" charset="0"/>
              </a:rPr>
              <a:t>function</a:t>
            </a:r>
            <a:r>
              <a:rPr lang="en-US" altLang="en-US" b="1" dirty="0">
                <a:latin typeface="Tahoma" pitchFamily="34" charset="0"/>
                <a:cs typeface="Tahoma" pitchFamily="34" charset="0"/>
              </a:rPr>
              <a:t> EXAMPLE PROGRAM</a:t>
            </a:r>
            <a:endParaRPr lang="en-US" dirty="0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EE800E4-825B-FFA8-D65B-DD6DD05000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377" y="3621558"/>
            <a:ext cx="17338541" cy="7903692"/>
          </a:xfrm>
          <a:prstGeom prst="rect">
            <a:avLst/>
          </a:prstGeom>
        </p:spPr>
      </p:pic>
      <p:sp>
        <p:nvSpPr>
          <p:cNvPr id="4" name="Rectangle 10">
            <a:extLst>
              <a:ext uri="{FF2B5EF4-FFF2-40B4-BE49-F238E27FC236}">
                <a16:creationId xmlns:a16="http://schemas.microsoft.com/office/drawing/2014/main" id="{1CE9C407-E779-FF3A-533B-A58F088E9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6252" y="11296272"/>
            <a:ext cx="8833338" cy="132343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4000">
                <a:solidFill>
                  <a:schemeClr val="bg2">
                    <a:lumMod val="10000"/>
                  </a:schemeClr>
                </a:solidFill>
              </a:rPr>
              <a:t>Data type for each variable in the function argument can be different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5EFAF3E-5E13-8933-5B65-D3CBC3E3F9F1}"/>
              </a:ext>
            </a:extLst>
          </p:cNvPr>
          <p:cNvCxnSpPr>
            <a:cxnSpLocks/>
          </p:cNvCxnSpPr>
          <p:nvPr/>
        </p:nvCxnSpPr>
        <p:spPr>
          <a:xfrm flipH="1" flipV="1">
            <a:off x="12192000" y="9319846"/>
            <a:ext cx="1066800" cy="2088883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8221342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9A67F-C46B-09BD-BD31-181E1D97E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305BD-6D48-8A65-F262-188CB6019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INPUT OPERATION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E22E1-E0DE-3C03-3784-C2565DBF0B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d-ID" altLang="en-US" b="1" dirty="0" err="1">
                <a:latin typeface="Tahoma" pitchFamily="34" charset="0"/>
                <a:cs typeface="Tahoma" pitchFamily="34" charset="0"/>
              </a:rPr>
              <a:t>scanf</a:t>
            </a:r>
            <a:r>
              <a:rPr lang="id-ID" altLang="en-US" b="1" dirty="0">
                <a:latin typeface="Tahoma" pitchFamily="34" charset="0"/>
                <a:cs typeface="Tahoma" pitchFamily="34" charset="0"/>
              </a:rPr>
              <a:t> </a:t>
            </a:r>
            <a:r>
              <a:rPr lang="id-ID" altLang="en-US" b="1" dirty="0" err="1">
                <a:latin typeface="Tahoma" pitchFamily="34" charset="0"/>
                <a:cs typeface="Tahoma" pitchFamily="34" charset="0"/>
              </a:rPr>
              <a:t>function</a:t>
            </a:r>
            <a:r>
              <a:rPr lang="en-US" altLang="en-US" b="1" dirty="0">
                <a:latin typeface="Tahoma" pitchFamily="34" charset="0"/>
                <a:cs typeface="Tahoma" pitchFamily="34" charset="0"/>
              </a:rPr>
              <a:t> EXAMPLE PROGRAM</a:t>
            </a:r>
            <a:endParaRPr lang="en-US" dirty="0"/>
          </a:p>
        </p:txBody>
      </p:sp>
      <p:pic>
        <p:nvPicPr>
          <p:cNvPr id="6" name="Picture 5" descr="A white background with text and symbols&#10;&#10;AI-generated content may be incorrect.">
            <a:extLst>
              <a:ext uri="{FF2B5EF4-FFF2-40B4-BE49-F238E27FC236}">
                <a16:creationId xmlns:a16="http://schemas.microsoft.com/office/drawing/2014/main" id="{98F287E5-8EB9-F93A-1978-3AE3EA78F3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376" y="3751332"/>
            <a:ext cx="15775031" cy="56784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C560B0-885F-088D-B716-FAF947E33DB9}"/>
              </a:ext>
            </a:extLst>
          </p:cNvPr>
          <p:cNvSpPr txBox="1"/>
          <p:nvPr/>
        </p:nvSpPr>
        <p:spPr>
          <a:xfrm>
            <a:off x="2167376" y="9677400"/>
            <a:ext cx="15775031" cy="20867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ss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 variable is a pointer then we need not putting extra </a:t>
            </a: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&amp;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 sign (</a:t>
            </a: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&amp;ss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) in the function argument </a:t>
            </a:r>
            <a:r>
              <a:rPr lang="en-US" altLang="en-US" sz="3600" i="1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(pointer will be discussed later separately)</a:t>
            </a:r>
          </a:p>
          <a:p>
            <a:pPr algn="l">
              <a:lnSpc>
                <a:spcPct val="90000"/>
              </a:lnSpc>
            </a:pPr>
            <a:endParaRPr lang="en-US" altLang="en-US" sz="3600" dirty="0">
              <a:solidFill>
                <a:schemeClr val="bg2">
                  <a:lumMod val="10000"/>
                </a:schemeClr>
              </a:solidFill>
              <a:latin typeface="+mj-lt"/>
              <a:cs typeface="Tahoma" pitchFamily="34" charset="0"/>
            </a:endParaRPr>
          </a:p>
          <a:p>
            <a:pPr algn="l">
              <a:lnSpc>
                <a:spcPct val="90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String takes only till the first whitespace found</a:t>
            </a:r>
          </a:p>
        </p:txBody>
      </p:sp>
    </p:spTree>
    <p:extLst>
      <p:ext uri="{BB962C8B-B14F-4D97-AF65-F5344CB8AC3E}">
        <p14:creationId xmlns:p14="http://schemas.microsoft.com/office/powerpoint/2010/main" val="2434074617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C2B39-FEBE-56A9-CB05-F18E11388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11569-46E4-AC95-4CC5-321F15E5E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INPUT OPERATION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67081-6DEE-6B91-A0AF-66C968A981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INPUT FORMATTING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E29460-14B4-7042-92EB-5A880D818BB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292159" y="3260663"/>
            <a:ext cx="18863823" cy="43815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Space char, tab, linefeed, carriage-return, form-feed, vertical-tab, and new-line entitle ”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white-space characters” </a:t>
            </a:r>
          </a:p>
          <a:p>
            <a:pPr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Using previous example, if a string 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“good morning every one” 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entered then ss value will only contain 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“good”</a:t>
            </a:r>
          </a:p>
          <a:p>
            <a:pPr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To get string that ended with certain character for example 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Enter (new line)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, use scanf() with format: </a:t>
            </a:r>
            <a:r>
              <a:rPr lang="en-US" altLang="en-US" sz="36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[^\n]</a:t>
            </a:r>
            <a:endParaRPr lang="en-US" altLang="en-US" sz="3200" b="1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spcBef>
                <a:spcPts val="1200"/>
              </a:spcBef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Example 1: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3AB35A79-6220-3387-F436-5658C7D64598}"/>
              </a:ext>
            </a:extLst>
          </p:cNvPr>
          <p:cNvSpPr txBox="1">
            <a:spLocks/>
          </p:cNvSpPr>
          <p:nvPr/>
        </p:nvSpPr>
        <p:spPr>
          <a:xfrm>
            <a:off x="2416941" y="9927128"/>
            <a:ext cx="18614257" cy="2471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%[...]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tells scanf to read a sequence of characters that match a certain set.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^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(caret) means "not“. [^\n] means read all characters until a newline character is encountered.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This allows the user to input a full line of text (including spaces), and scanf will stop reading when it encounters a newline (Enter key).</a:t>
            </a:r>
            <a:endParaRPr lang="en-US" altLang="en-US" sz="3200" b="1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13" name="Picture 12" descr="A close up of a smile&#10;&#10;AI-generated content may be incorrect.">
            <a:extLst>
              <a:ext uri="{FF2B5EF4-FFF2-40B4-BE49-F238E27FC236}">
                <a16:creationId xmlns:a16="http://schemas.microsoft.com/office/drawing/2014/main" id="{62A470EA-938D-B714-F19C-9B55BF046E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467"/>
          <a:stretch/>
        </p:blipFill>
        <p:spPr>
          <a:xfrm>
            <a:off x="2606774" y="7404900"/>
            <a:ext cx="9117296" cy="2231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113081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8FE41-CA10-1052-0F9B-90C8FBA2A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E9435-EADA-DF5C-A576-466A4BD3B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INPUT OPERATION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38465-6A7B-AD76-EE24-E4ACE0A300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INPUT FORMATTING (CONT)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37A8ED-30F3-E170-8D9C-F44D24A65A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292159" y="3601406"/>
            <a:ext cx="18863823" cy="1014562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Example 2: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CBAED9A-0A51-A3C0-5FFC-CBF11DC718E5}"/>
              </a:ext>
            </a:extLst>
          </p:cNvPr>
          <p:cNvSpPr txBox="1">
            <a:spLocks/>
          </p:cNvSpPr>
          <p:nvPr/>
        </p:nvSpPr>
        <p:spPr>
          <a:xfrm>
            <a:off x="11724070" y="4098497"/>
            <a:ext cx="10367771" cy="2759503"/>
          </a:xfrm>
          <a:prstGeom prst="rect">
            <a:avLst/>
          </a:prstGeom>
          <a:ln w="12700">
            <a:solidFill>
              <a:schemeClr val="bg2">
                <a:lumMod val="10000"/>
              </a:schemeClr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If the string is: 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http://binusmaya.binus.ac.id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, ss variable will contain only 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http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This happens because the character : is not a letter (a–z), so it is treated as the end of the string segment being processed.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E1B778-444C-5CC6-AB87-965500DC5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459" y="4376268"/>
            <a:ext cx="8136987" cy="1916049"/>
          </a:xfrm>
          <a:prstGeom prst="rect">
            <a:avLst/>
          </a:prstGeom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4501078-C972-E745-9346-B3017FBAAABF}"/>
              </a:ext>
            </a:extLst>
          </p:cNvPr>
          <p:cNvSpPr txBox="1">
            <a:spLocks/>
          </p:cNvSpPr>
          <p:nvPr/>
        </p:nvSpPr>
        <p:spPr>
          <a:xfrm>
            <a:off x="2167377" y="7198743"/>
            <a:ext cx="18863823" cy="2857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Example 3: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8E4C9594-73FC-5C37-F1D9-DB54A745A76B}"/>
              </a:ext>
            </a:extLst>
          </p:cNvPr>
          <p:cNvSpPr txBox="1">
            <a:spLocks/>
          </p:cNvSpPr>
          <p:nvPr/>
        </p:nvSpPr>
        <p:spPr>
          <a:xfrm>
            <a:off x="11599288" y="8236614"/>
            <a:ext cx="10105471" cy="3333493"/>
          </a:xfrm>
          <a:prstGeom prst="rect">
            <a:avLst/>
          </a:prstGeom>
          <a:ln w="12700">
            <a:solidFill>
              <a:schemeClr val="bg2">
                <a:lumMod val="10000"/>
              </a:schemeClr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If the input value is 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44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:</a:t>
            </a:r>
          </a:p>
          <a:p>
            <a:pPr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If interpreted as an octal number, it is equal to 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36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in decimal.</a:t>
            </a:r>
          </a:p>
          <a:p>
            <a:pPr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If interpreted as a hexadecimal number, it is equal to 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68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in decimal.</a:t>
            </a:r>
          </a:p>
        </p:txBody>
      </p:sp>
      <p:pic>
        <p:nvPicPr>
          <p:cNvPr id="16" name="Picture 15" descr="A group of letters and numbers&#10;&#10;AI-generated content may be incorrect.">
            <a:extLst>
              <a:ext uri="{FF2B5EF4-FFF2-40B4-BE49-F238E27FC236}">
                <a16:creationId xmlns:a16="http://schemas.microsoft.com/office/drawing/2014/main" id="{56997118-FCCF-9559-FA0D-B9FC57E8AF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29647"/>
          <a:stretch/>
        </p:blipFill>
        <p:spPr>
          <a:xfrm>
            <a:off x="2602345" y="7962780"/>
            <a:ext cx="8089102" cy="388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469469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6FF4A-2A0F-72BD-2451-5F8F8A56C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AEAE4-7493-6DF9-52C5-5527A220B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INPUT OPERATION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A8F81-9F0C-654B-B67A-78C719167A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GETCHAR FUNCTION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5B0B93-C710-E975-2A44-551744E0AA0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20049246" cy="64008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Functionality:</a:t>
            </a:r>
          </a:p>
          <a:p>
            <a:pPr marL="1195388" lvl="1" indent="-5715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Return the next ASCII character from keyboard buffer</a:t>
            </a:r>
          </a:p>
          <a:p>
            <a:pPr marL="1195388" lvl="1" indent="-5715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Shown on the monitor screen</a:t>
            </a:r>
          </a:p>
          <a:p>
            <a:pPr marL="1195388" lvl="1" indent="-5715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Awaiting for ENTER pressed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Header File: </a:t>
            </a:r>
            <a:r>
              <a:rPr lang="en-US" altLang="en-US" sz="3600" b="1" dirty="0" err="1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stdio.h</a:t>
            </a:r>
            <a:endParaRPr lang="en-US" altLang="en-US" sz="3600" b="1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Syntax: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	</a:t>
            </a:r>
            <a:r>
              <a:rPr lang="en-US" altLang="en-US" sz="40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</a:t>
            </a:r>
            <a:r>
              <a:rPr lang="en-US" altLang="en-US" sz="4000" b="1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getchar</a:t>
            </a:r>
            <a:r>
              <a:rPr lang="en-US" altLang="en-US" sz="40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(void);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Example: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600" b="1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8" name="Picture 7" descr="A black text with red letters&#10;&#10;AI-generated content may be incorrect.">
            <a:extLst>
              <a:ext uri="{FF2B5EF4-FFF2-40B4-BE49-F238E27FC236}">
                <a16:creationId xmlns:a16="http://schemas.microsoft.com/office/drawing/2014/main" id="{3CAC5967-B3C9-1829-4322-E4808320F2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5860" y="9408758"/>
            <a:ext cx="9410392" cy="246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616706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82B20-F042-99E2-BD69-5D02ECF17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382A1-4D0F-DC65-377E-0A4D0888B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INPUT OPERATION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9880D-3479-241C-291D-61E2615C2C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d-ID" altLang="en-US" b="1" dirty="0" err="1">
                <a:latin typeface="Tahoma" pitchFamily="34" charset="0"/>
                <a:cs typeface="Tahoma" pitchFamily="34" charset="0"/>
              </a:rPr>
              <a:t>getch</a:t>
            </a:r>
            <a:r>
              <a:rPr lang="en-US" dirty="0"/>
              <a:t> FUNCTION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D7ACF2-77A9-EA72-F886-18015ABCF3F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20049246" cy="64008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Functionality:</a:t>
            </a:r>
          </a:p>
          <a:p>
            <a:pPr marL="1195388" lvl="1" indent="-5715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Return the next ASCII character from keyboard buffer</a:t>
            </a:r>
          </a:p>
          <a:p>
            <a:pPr marL="1195388" lvl="1" indent="-5715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Does not show on 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the monitor screen</a:t>
            </a:r>
          </a:p>
          <a:p>
            <a:pPr marL="1195388" lvl="1" indent="-5715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Does not wait for ENTER pressed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Header File: </a:t>
            </a:r>
            <a:r>
              <a:rPr lang="en-US" altLang="en-US" sz="3600" b="1" dirty="0" err="1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conio.h</a:t>
            </a:r>
            <a:endParaRPr lang="en-US" altLang="en-US" sz="3600" b="1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Syntax: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	</a:t>
            </a:r>
            <a:r>
              <a:rPr lang="en-US" altLang="en-US" sz="40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</a:t>
            </a:r>
            <a:r>
              <a:rPr lang="en-US" altLang="en-US" sz="4000" b="1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getch</a:t>
            </a:r>
            <a:r>
              <a:rPr lang="en-US" altLang="en-US" sz="40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(void);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Example: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600" b="1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6" name="Picture 5" descr="A red text on a white background&#10;&#10;AI-generated content may be incorrect.">
            <a:extLst>
              <a:ext uri="{FF2B5EF4-FFF2-40B4-BE49-F238E27FC236}">
                <a16:creationId xmlns:a16="http://schemas.microsoft.com/office/drawing/2014/main" id="{D74B7A26-FAF6-0483-7E1A-53A7F3BF2E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2014" y="9403034"/>
            <a:ext cx="10473886" cy="2415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458165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3B88F-8BF5-192D-88EA-4038AEA72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D26B5-A91C-F873-0D90-A8E42DBFB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INPUT OPERATION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8A10F-940F-12AF-120A-61376BD5EF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d-ID" altLang="en-US" b="1" dirty="0" err="1">
                <a:latin typeface="Tahoma" pitchFamily="34" charset="0"/>
                <a:cs typeface="Tahoma" pitchFamily="34" charset="0"/>
              </a:rPr>
              <a:t>getch</a:t>
            </a:r>
            <a:r>
              <a:rPr lang="en-US" altLang="en-US" b="1" dirty="0">
                <a:latin typeface="Tahoma" pitchFamily="34" charset="0"/>
                <a:cs typeface="Tahoma" pitchFamily="34" charset="0"/>
              </a:rPr>
              <a:t>E</a:t>
            </a:r>
            <a:r>
              <a:rPr lang="en-US" dirty="0"/>
              <a:t> FUNCTION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AFBACC-851A-4028-D9CC-440EB6062C0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20049246" cy="64008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Functionality:</a:t>
            </a:r>
          </a:p>
          <a:p>
            <a:pPr marL="1195388" lvl="1" indent="-5715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Return the next ASCII character from keyboard buffer</a:t>
            </a:r>
          </a:p>
          <a:p>
            <a:pPr marL="1195388" lvl="1" indent="-5715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Shown on the monitor screen</a:t>
            </a:r>
          </a:p>
          <a:p>
            <a:pPr marL="1195388" lvl="1" indent="-5715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Does not wait for ENTER pressed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Header File: </a:t>
            </a:r>
            <a:r>
              <a:rPr lang="en-US" altLang="en-US" sz="3600" b="1" dirty="0" err="1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conio.h</a:t>
            </a:r>
            <a:endParaRPr lang="en-US" altLang="en-US" sz="3600" b="1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Syntax: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	</a:t>
            </a:r>
            <a:r>
              <a:rPr lang="en-US" altLang="en-US" sz="40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</a:t>
            </a:r>
            <a:r>
              <a:rPr lang="en-US" altLang="en-US" sz="4000" b="1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getche</a:t>
            </a:r>
            <a:r>
              <a:rPr lang="en-US" altLang="en-US" sz="40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(void);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Example: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600" b="1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7" name="Picture 6" descr="A red and black text&#10;&#10;AI-generated content may be incorrect.">
            <a:extLst>
              <a:ext uri="{FF2B5EF4-FFF2-40B4-BE49-F238E27FC236}">
                <a16:creationId xmlns:a16="http://schemas.microsoft.com/office/drawing/2014/main" id="{6A729B6D-7166-300B-04B0-40E5DC9F3E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284" y="9656958"/>
            <a:ext cx="10230566" cy="225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050738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34A57-B498-9597-3F5F-71722EDDE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A24C3-99C2-D0EE-F097-C3CFB4BCB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INPUT OPERATION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DA5D3-E2E8-414C-374C-9A77252D16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GETS</a:t>
            </a:r>
            <a:r>
              <a:rPr lang="en-US" dirty="0"/>
              <a:t> FUNCTION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6E2B43-CB32-F188-5A66-056A9C4D798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20049246" cy="64008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Functionality:</a:t>
            </a:r>
          </a:p>
          <a:p>
            <a:pPr marL="1195388" lvl="1" indent="-5715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Read a string from keyboard till find new-line and save in buffer</a:t>
            </a:r>
          </a:p>
          <a:p>
            <a:pPr marL="1195388" lvl="1" indent="-5715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New-line will later on replaced with null character </a:t>
            </a:r>
          </a:p>
          <a:p>
            <a:pPr marL="1195388" lvl="1" indent="-5715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Will return NULL if error and return its argument (buffer) if success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Header File: </a:t>
            </a:r>
            <a:r>
              <a:rPr lang="en-US" altLang="en-US" sz="3600" b="1" dirty="0" err="1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stdio.h</a:t>
            </a:r>
            <a:endParaRPr lang="en-US" altLang="en-US" sz="3600" b="1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Syntax: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	</a:t>
            </a:r>
            <a:r>
              <a:rPr lang="en-US" altLang="en-US" sz="40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char *gets(char *buffer);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Example: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600" b="1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6" name="Picture 5" descr="A red and white text&#10;&#10;AI-generated content may be incorrect.">
            <a:extLst>
              <a:ext uri="{FF2B5EF4-FFF2-40B4-BE49-F238E27FC236}">
                <a16:creationId xmlns:a16="http://schemas.microsoft.com/office/drawing/2014/main" id="{22A472A5-099C-7ACB-E779-293A104604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85"/>
          <a:stretch/>
        </p:blipFill>
        <p:spPr>
          <a:xfrm>
            <a:off x="2419986" y="9585920"/>
            <a:ext cx="9257664" cy="209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478632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7DAD7-8F5F-A7E0-2DDB-140892867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28380-0C21-30DF-40A8-9A78B7713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Sample program</a:t>
            </a:r>
          </a:p>
        </p:txBody>
      </p:sp>
      <p:pic>
        <p:nvPicPr>
          <p:cNvPr id="11" name="Content Placeholder 10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773066DF-365B-7B45-8FE3-DD28FED700A3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377" y="3536938"/>
            <a:ext cx="12572999" cy="8938151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AE159CC-121A-1BE4-5B77-3C4F600B9E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93810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DF2F1-5499-149E-EB89-E8126A8FF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B7BFD-FC8F-7856-D2CA-02BF50EE4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71D936-1A83-77B8-1410-14D0212529F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2954215"/>
            <a:ext cx="20049246" cy="9284677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en-US" sz="39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Question 1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9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</a:t>
            </a:r>
            <a:r>
              <a:rPr lang="en-US" altLang="en-US" sz="39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x,y,z,w</a:t>
            </a:r>
            <a:r>
              <a:rPr lang="en-US" altLang="en-US" sz="39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9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x=scanf("%d %d %</a:t>
            </a:r>
            <a:r>
              <a:rPr lang="en-US" altLang="en-US" sz="39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d",&amp;y,&amp;z,&amp;w</a:t>
            </a:r>
            <a:r>
              <a:rPr lang="en-US" altLang="en-US" sz="39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); </a:t>
            </a:r>
          </a:p>
          <a:p>
            <a:pPr>
              <a:spcBef>
                <a:spcPts val="1200"/>
              </a:spcBef>
            </a:pPr>
            <a:r>
              <a:rPr lang="en-US" altLang="en-US" sz="39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What happen if input was 2 integer values from the keyboard?</a:t>
            </a:r>
          </a:p>
          <a:p>
            <a:pPr>
              <a:spcBef>
                <a:spcPts val="1200"/>
              </a:spcBef>
            </a:pPr>
            <a:r>
              <a:rPr lang="en-US" altLang="en-US" sz="39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What is x value if 3 characters values given as the input?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9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9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Question 2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9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char ss1[40];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9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char ss2[40];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9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x=scanf(”%s %s”,ss1,ss2);</a:t>
            </a:r>
          </a:p>
          <a:p>
            <a:pPr>
              <a:spcBef>
                <a:spcPts val="1200"/>
              </a:spcBef>
            </a:pPr>
            <a:r>
              <a:rPr lang="en-US" altLang="en-US" sz="39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What is ss1 and ss2, if the input from keyboard is ”Good morning everyone”  ?</a:t>
            </a:r>
          </a:p>
          <a:p>
            <a:pPr>
              <a:spcBef>
                <a:spcPts val="1200"/>
              </a:spcBef>
            </a:pPr>
            <a:r>
              <a:rPr lang="en-US" altLang="en-US" sz="39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What is x if the input : ”Class 1PAT”  ?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40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817887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C606F-8335-6281-4D36-D680F9DB5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60575-BD46-189E-64A6-DE197C259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1F66E7-10F4-681B-1F46-786F60E5785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2954215"/>
            <a:ext cx="20049246" cy="9284677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Question 3: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char ss[40];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scanf(”%4s”, ss);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What is ss value, if the input : ”Good morning”  ?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Question 4: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char </a:t>
            </a:r>
            <a:r>
              <a:rPr lang="en-US" altLang="en-US" sz="36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ch</a:t>
            </a: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ch</a:t>
            </a: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= </a:t>
            </a:r>
            <a:r>
              <a:rPr lang="en-US" altLang="en-US" sz="36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getchar</a:t>
            </a: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What is </a:t>
            </a:r>
            <a:r>
              <a:rPr lang="en-US" altLang="en-US" sz="3600" dirty="0" err="1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ch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 value, if the input : Binus ?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Question 5: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char ch1, ch2;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ch1 = </a:t>
            </a:r>
            <a:r>
              <a:rPr lang="en-US" altLang="en-US" sz="36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getchar</a:t>
            </a: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(); // input word “Binus” here!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ch2 = </a:t>
            </a:r>
            <a:r>
              <a:rPr lang="en-US" altLang="en-US" sz="36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getchar</a:t>
            </a: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What is the value of ch1 and ch2, if the input : Binus ?</a:t>
            </a:r>
            <a:endParaRPr lang="en-US" altLang="en-US" sz="36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072250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99DD0-5EA3-76AF-BF21-9F8C8BDBB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9EE3B-A37B-7026-8C11-5FC014DB8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120AA1-1A60-50C4-ECBF-8D5556245C6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2954215"/>
            <a:ext cx="20049246" cy="9284677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Question 6: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Create a program in C to receive input from standard input (keyboard) for the following data: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Assignment Score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Mid Exam Score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Final Exam Score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Calculate and display Final Score using :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Final Score = 20%*Assignment + 30%*Mid + 50%*Final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70023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B59A6-922F-A241-D1F3-CB86EF5DF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B1AE4-67B1-D5C0-EE90-54B71DAC2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EF6A6B-88B3-55C2-62A6-71CEB68F47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2954215"/>
            <a:ext cx="20049246" cy="9284677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en-US" sz="32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Question 7:</a:t>
            </a:r>
          </a:p>
          <a:p>
            <a:pPr indent="-347663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#include &lt;</a:t>
            </a:r>
            <a:r>
              <a:rPr lang="id-ID" sz="32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stdio.h</a:t>
            </a: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&gt;</a:t>
            </a:r>
          </a:p>
          <a:p>
            <a:pPr indent="-347663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int main()</a:t>
            </a:r>
          </a:p>
          <a:p>
            <a:pPr indent="-347663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{</a:t>
            </a:r>
          </a:p>
          <a:p>
            <a:pPr indent="-347663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   </a:t>
            </a:r>
            <a:r>
              <a:rPr lang="id-ID" sz="32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char</a:t>
            </a: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 </a:t>
            </a:r>
            <a:r>
              <a:rPr lang="id-ID" sz="32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name</a:t>
            </a: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[40];</a:t>
            </a:r>
          </a:p>
          <a:p>
            <a:pPr indent="-347663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   int </a:t>
            </a:r>
            <a:r>
              <a:rPr lang="id-ID" sz="32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nim</a:t>
            </a: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;</a:t>
            </a:r>
          </a:p>
          <a:p>
            <a:pPr indent="-347663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   </a:t>
            </a:r>
            <a:r>
              <a:rPr lang="id-ID" sz="32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char</a:t>
            </a: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 gender;</a:t>
            </a:r>
          </a:p>
          <a:p>
            <a:pPr indent="-347663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   </a:t>
            </a:r>
            <a:r>
              <a:rPr lang="id-ID" sz="32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printf</a:t>
            </a: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("</a:t>
            </a:r>
            <a:r>
              <a:rPr lang="id-ID" sz="32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Name</a:t>
            </a: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:"); </a:t>
            </a:r>
            <a:r>
              <a:rPr lang="id-ID" sz="32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scanf</a:t>
            </a: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("%[^\n]",</a:t>
            </a:r>
            <a:r>
              <a:rPr lang="id-ID" sz="32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name</a:t>
            </a: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);</a:t>
            </a:r>
          </a:p>
          <a:p>
            <a:pPr indent="-347663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   </a:t>
            </a:r>
            <a:r>
              <a:rPr lang="id-ID" sz="32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printf</a:t>
            </a: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("</a:t>
            </a:r>
            <a:r>
              <a:rPr lang="id-ID" sz="32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StudentNum</a:t>
            </a: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 :"); </a:t>
            </a:r>
            <a:r>
              <a:rPr lang="id-ID" sz="32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scanf</a:t>
            </a: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("%d",&amp;</a:t>
            </a:r>
            <a:r>
              <a:rPr lang="id-ID" sz="32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nim</a:t>
            </a: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);</a:t>
            </a:r>
          </a:p>
          <a:p>
            <a:pPr indent="-347663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   </a:t>
            </a:r>
            <a:r>
              <a:rPr lang="id-ID" sz="32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printf</a:t>
            </a: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("Gender (M/F):"); gender=</a:t>
            </a:r>
            <a:r>
              <a:rPr lang="id-ID" sz="32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getchar</a:t>
            </a: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();</a:t>
            </a:r>
          </a:p>
          <a:p>
            <a:pPr indent="-347663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   </a:t>
            </a:r>
            <a:r>
              <a:rPr lang="id-ID" sz="32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return</a:t>
            </a: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 0;</a:t>
            </a:r>
          </a:p>
          <a:p>
            <a:pPr indent="-347663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}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2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2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After entering name and student number, program will exit to prompt. gender=</a:t>
            </a:r>
            <a:r>
              <a:rPr lang="en-US" altLang="en-US" sz="3200" dirty="0" err="1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getchar</a:t>
            </a:r>
            <a:r>
              <a:rPr lang="en-US" altLang="en-US" sz="32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() seems to be never executed. Explain why?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2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116614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87282-0441-7FAE-83CA-D8759CB41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83583-1990-8FE6-AA0F-A81B0B35F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90CDEA-7072-48EE-F1B3-4A6002B608F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2954215"/>
            <a:ext cx="20049246" cy="9284677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en-US" sz="32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Question 8:</a:t>
            </a:r>
          </a:p>
          <a:p>
            <a:pPr indent="-347663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#include &lt;</a:t>
            </a:r>
            <a:r>
              <a:rPr lang="id-ID" sz="32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stdio.h</a:t>
            </a: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&gt; </a:t>
            </a:r>
          </a:p>
          <a:p>
            <a:pPr indent="-347663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int main(){</a:t>
            </a:r>
          </a:p>
          <a:p>
            <a:pPr indent="-347663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    </a:t>
            </a:r>
            <a:r>
              <a:rPr lang="id-ID" sz="32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char</a:t>
            </a: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 </a:t>
            </a:r>
            <a:r>
              <a:rPr lang="id-ID" sz="32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ss</a:t>
            </a: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[]="10 % 3 = 1\n";</a:t>
            </a:r>
          </a:p>
          <a:p>
            <a:pPr indent="-347663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    </a:t>
            </a:r>
            <a:r>
              <a:rPr lang="id-ID" sz="32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char</a:t>
            </a: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 </a:t>
            </a:r>
            <a:r>
              <a:rPr lang="id-ID" sz="32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str</a:t>
            </a: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[]=“</a:t>
            </a:r>
            <a:r>
              <a:rPr lang="id-ID" sz="32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Welcome</a:t>
            </a: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 </a:t>
            </a:r>
            <a:r>
              <a:rPr lang="id-ID" sz="32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to</a:t>
            </a: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 </a:t>
            </a:r>
            <a:r>
              <a:rPr lang="id-ID" sz="32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Binus</a:t>
            </a: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 </a:t>
            </a:r>
            <a:r>
              <a:rPr lang="id-ID" sz="32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everyone</a:t>
            </a: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\n";</a:t>
            </a:r>
          </a:p>
          <a:p>
            <a:pPr indent="-347663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    </a:t>
            </a:r>
            <a:r>
              <a:rPr lang="id-ID" sz="32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printf</a:t>
            </a: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(</a:t>
            </a:r>
            <a:r>
              <a:rPr lang="id-ID" sz="32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ss</a:t>
            </a: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);</a:t>
            </a:r>
          </a:p>
          <a:p>
            <a:pPr indent="-347663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    </a:t>
            </a:r>
            <a:r>
              <a:rPr lang="id-ID" sz="32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printf</a:t>
            </a: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("%s",</a:t>
            </a:r>
            <a:r>
              <a:rPr lang="id-ID" sz="32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ss</a:t>
            </a: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);</a:t>
            </a:r>
          </a:p>
          <a:p>
            <a:pPr indent="-347663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    </a:t>
            </a:r>
            <a:r>
              <a:rPr lang="id-ID" sz="32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printf</a:t>
            </a: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(</a:t>
            </a:r>
            <a:r>
              <a:rPr lang="id-ID" sz="32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str</a:t>
            </a: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);</a:t>
            </a:r>
          </a:p>
          <a:p>
            <a:pPr indent="-347663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    </a:t>
            </a:r>
            <a:r>
              <a:rPr lang="id-ID" sz="32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printf</a:t>
            </a: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("%s",</a:t>
            </a:r>
            <a:r>
              <a:rPr lang="id-ID" sz="32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str</a:t>
            </a: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);</a:t>
            </a:r>
          </a:p>
          <a:p>
            <a:pPr indent="-347663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    </a:t>
            </a:r>
            <a:r>
              <a:rPr lang="id-ID" sz="32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return</a:t>
            </a: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 0;</a:t>
            </a:r>
          </a:p>
          <a:p>
            <a:pPr indent="-347663">
              <a:lnSpc>
                <a:spcPct val="120000"/>
              </a:lnSpc>
              <a:spcBef>
                <a:spcPts val="0"/>
              </a:spcBef>
              <a:buNone/>
            </a:pPr>
            <a:r>
              <a:rPr lang="id-ID" sz="32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}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2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2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What is the output of the above code ?</a:t>
            </a:r>
          </a:p>
        </p:txBody>
      </p:sp>
    </p:spTree>
    <p:extLst>
      <p:ext uri="{BB962C8B-B14F-4D97-AF65-F5344CB8AC3E}">
        <p14:creationId xmlns:p14="http://schemas.microsoft.com/office/powerpoint/2010/main" val="2949638493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57DA9-675D-56A1-D2BA-943C4AC61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9F779-1DCD-9C86-429A-30219B7E1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35D6C6-2B4F-20A6-EB23-8F478AED450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52850"/>
            <a:ext cx="20049246" cy="64008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en-US" sz="40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Syntax for Output: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40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	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printf, 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putchar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, 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putch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, puts</a:t>
            </a:r>
          </a:p>
          <a:p>
            <a:pPr>
              <a:spcBef>
                <a:spcPts val="1200"/>
              </a:spcBef>
            </a:pPr>
            <a:r>
              <a:rPr lang="en-US" altLang="en-US" sz="40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Syntax for Input: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40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	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scanf, 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getchar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, 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getch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, 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getche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, gets</a:t>
            </a:r>
          </a:p>
          <a:p>
            <a:pPr>
              <a:spcBef>
                <a:spcPts val="1200"/>
              </a:spcBef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The screen (DOS mode) divided into row and column, normally max column = 80 and max row = 25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40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170819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09BD8-6A35-C6F1-8612-C1D26B504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445B8-DA6B-8391-50C8-B64F103BB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REFRENCES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C637192-B017-8920-94C9-2C0A55F44F6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300067"/>
            <a:ext cx="19460171" cy="10018368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Paul Deitel &amp; Harvey Deitel. (2021). C how to program. 09. Pearson  Education. New York. ISBN: 9780137398393. 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Reading from and Writing to Standard I/O: 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hlinkClick r:id="rId2"/>
              </a:rPr>
              <a:t>http://aelinik.free.fr/c/ch05.htm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   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C Input/Output (I/O): 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hlinkClick r:id="rId3"/>
              </a:rPr>
              <a:t>https://www.programiz.com/c-programming/c-input-output</a:t>
            </a:r>
            <a:endParaRPr lang="en-US" altLang="en-US" sz="36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90936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2437cf3-862c-4aa8-bd7e-caeecb8e11df">
      <Terms xmlns="http://schemas.microsoft.com/office/infopath/2007/PartnerControls"/>
    </lcf76f155ced4ddcb4097134ff3c332f>
    <TaxCatchAll xmlns="fc2d5289-3ec1-4d76-80c1-a1cd17baf85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CA077843E12C45ABBF89EA0D3E6ECB" ma:contentTypeVersion="12" ma:contentTypeDescription="Create a new document." ma:contentTypeScope="" ma:versionID="5ed595dea67b8b322e39378c6251215c">
  <xsd:schema xmlns:xsd="http://www.w3.org/2001/XMLSchema" xmlns:xs="http://www.w3.org/2001/XMLSchema" xmlns:p="http://schemas.microsoft.com/office/2006/metadata/properties" xmlns:ns2="02437cf3-862c-4aa8-bd7e-caeecb8e11df" xmlns:ns3="fc2d5289-3ec1-4d76-80c1-a1cd17baf85c" targetNamespace="http://schemas.microsoft.com/office/2006/metadata/properties" ma:root="true" ma:fieldsID="d378c5c85e55afa0691156e287dbbb41" ns2:_="" ns3:_="">
    <xsd:import namespace="02437cf3-862c-4aa8-bd7e-caeecb8e11df"/>
    <xsd:import namespace="fc2d5289-3ec1-4d76-80c1-a1cd17baf8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437cf3-862c-4aa8-bd7e-caeecb8e11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12802744-7fd5-42e0-b4ac-2f85b671ef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2d5289-3ec1-4d76-80c1-a1cd17baf85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ed2725a-0247-41b8-b239-ecd86c77a8ad}" ma:internalName="TaxCatchAll" ma:showField="CatchAllData" ma:web="fc2d5289-3ec1-4d76-80c1-a1cd17baf8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1CD1C06-B250-4150-9F72-211DA65639D5}">
  <ds:schemaRefs>
    <ds:schemaRef ds:uri="http://schemas.microsoft.com/office/2006/metadata/properties"/>
    <ds:schemaRef ds:uri="http://schemas.microsoft.com/office/infopath/2007/PartnerControls"/>
    <ds:schemaRef ds:uri="02437cf3-862c-4aa8-bd7e-caeecb8e11df"/>
    <ds:schemaRef ds:uri="fc2d5289-3ec1-4d76-80c1-a1cd17baf85c"/>
  </ds:schemaRefs>
</ds:datastoreItem>
</file>

<file path=customXml/itemProps2.xml><?xml version="1.0" encoding="utf-8"?>
<ds:datastoreItem xmlns:ds="http://schemas.openxmlformats.org/officeDocument/2006/customXml" ds:itemID="{0E6AEBA7-514E-4B5E-A637-B78A144D03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437cf3-862c-4aa8-bd7e-caeecb8e11df"/>
    <ds:schemaRef ds:uri="fc2d5289-3ec1-4d76-80c1-a1cd17baf8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7EA2229-21B1-4242-8D75-F6CB836C339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1. Algorithm &amp; Programming and Introduction to C Programming</Template>
  <TotalTime>2545</TotalTime>
  <Words>2507</Words>
  <Application>Microsoft Office PowerPoint</Application>
  <PresentationFormat>Custom</PresentationFormat>
  <Paragraphs>437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8" baseType="lpstr">
      <vt:lpstr>Courier New</vt:lpstr>
      <vt:lpstr>Times New Roman</vt:lpstr>
      <vt:lpstr>Arial</vt:lpstr>
      <vt:lpstr>Interstate</vt:lpstr>
      <vt:lpstr>Tahoma</vt:lpstr>
      <vt:lpstr>Open Sans Semibold</vt:lpstr>
      <vt:lpstr>Wingdings</vt:lpstr>
      <vt:lpstr>Open Sans Light</vt:lpstr>
      <vt:lpstr>OCRB</vt:lpstr>
      <vt:lpstr>Open Sans ExtraBold</vt:lpstr>
      <vt:lpstr>Consolas</vt:lpstr>
      <vt:lpstr>21_BasicWhite</vt:lpstr>
      <vt:lpstr>Introduction to C Programming II &amp; Formatted Input/Output</vt:lpstr>
      <vt:lpstr>Learning Objectives</vt:lpstr>
      <vt:lpstr>Subtopics</vt:lpstr>
      <vt:lpstr>variable</vt:lpstr>
      <vt:lpstr>variable</vt:lpstr>
      <vt:lpstr>variable</vt:lpstr>
      <vt:lpstr>Data Type</vt:lpstr>
      <vt:lpstr>Data Type</vt:lpstr>
      <vt:lpstr>Data Type</vt:lpstr>
      <vt:lpstr>constant</vt:lpstr>
      <vt:lpstr>constant</vt:lpstr>
      <vt:lpstr>SIZEOF</vt:lpstr>
      <vt:lpstr>SUFFIX</vt:lpstr>
      <vt:lpstr>SUFFIX</vt:lpstr>
      <vt:lpstr>SUFFIX</vt:lpstr>
      <vt:lpstr>Standard function</vt:lpstr>
      <vt:lpstr>OUTPUT OPERATION</vt:lpstr>
      <vt:lpstr>OUTPUT OPERATION</vt:lpstr>
      <vt:lpstr>OUTPUT OPERATION</vt:lpstr>
      <vt:lpstr>OUTPUT OPERATION</vt:lpstr>
      <vt:lpstr>OUTPUT OPERATION</vt:lpstr>
      <vt:lpstr>OUTPUT OPERATION</vt:lpstr>
      <vt:lpstr>OUTPUT OPERATION</vt:lpstr>
      <vt:lpstr>OUTPUT OPERATION</vt:lpstr>
      <vt:lpstr>OUTPUT OPERATION</vt:lpstr>
      <vt:lpstr>INPUT OPERATION</vt:lpstr>
      <vt:lpstr>INPUT OPERATION</vt:lpstr>
      <vt:lpstr>INPUT OPERATION</vt:lpstr>
      <vt:lpstr>INPUT OPERATION</vt:lpstr>
      <vt:lpstr>INPUT OPERATION</vt:lpstr>
      <vt:lpstr>INPUT OPERATION</vt:lpstr>
      <vt:lpstr>INPUT OPERATION</vt:lpstr>
      <vt:lpstr>INPUT OPERATION</vt:lpstr>
      <vt:lpstr>INPUT OPERATION</vt:lpstr>
      <vt:lpstr>INPUT OPERATION</vt:lpstr>
      <vt:lpstr>INPUT OPERATION</vt:lpstr>
      <vt:lpstr>INPUT OPERATION</vt:lpstr>
      <vt:lpstr>INPUT OPERATION</vt:lpstr>
      <vt:lpstr>Sample program</vt:lpstr>
      <vt:lpstr>exercise</vt:lpstr>
      <vt:lpstr>exercise</vt:lpstr>
      <vt:lpstr>exercise</vt:lpstr>
      <vt:lpstr>exercise</vt:lpstr>
      <vt:lpstr>exercise</vt:lpstr>
      <vt:lpstr>SUMMARY</vt:lpstr>
      <vt:lpstr>REFRENCES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SHANIA PRICCILIA</dc:creator>
  <cp:lastModifiedBy>Violitta Yesmaya</cp:lastModifiedBy>
  <cp:revision>26</cp:revision>
  <dcterms:created xsi:type="dcterms:W3CDTF">2025-05-12T11:13:33Z</dcterms:created>
  <dcterms:modified xsi:type="dcterms:W3CDTF">2025-07-29T15:58:52Z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0x010100B4CA077843E12C45ABBF89EA0D3E6ECB</vt:lpwstr>
  </property>
  <property fmtid="{D5CDD505-2E9C-101B-9397-08002B2CF9AE}" pid="3" name="MediaServiceImageTags">
    <vt:lpwstr/>
  </property>
</Properties>
</file>