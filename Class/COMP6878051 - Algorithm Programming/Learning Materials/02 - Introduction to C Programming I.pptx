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25"/>
  </p:notesMasterIdLst>
  <p:sldIdLst>
    <p:sldId id="256" r:id="rId5"/>
    <p:sldId id="258" r:id="rId6"/>
    <p:sldId id="259" r:id="rId7"/>
    <p:sldId id="272" r:id="rId8"/>
    <p:sldId id="274" r:id="rId9"/>
    <p:sldId id="273" r:id="rId10"/>
    <p:sldId id="288" r:id="rId11"/>
    <p:sldId id="289" r:id="rId12"/>
    <p:sldId id="275" r:id="rId13"/>
    <p:sldId id="276" r:id="rId14"/>
    <p:sldId id="279" r:id="rId15"/>
    <p:sldId id="278" r:id="rId16"/>
    <p:sldId id="291" r:id="rId17"/>
    <p:sldId id="292" r:id="rId18"/>
    <p:sldId id="293" r:id="rId19"/>
    <p:sldId id="294" r:id="rId20"/>
    <p:sldId id="295" r:id="rId21"/>
    <p:sldId id="286" r:id="rId22"/>
    <p:sldId id="296" r:id="rId23"/>
    <p:sldId id="287" r:id="rId24"/>
  </p:sldIdLst>
  <p:sldSz cx="24384000" cy="13716000"/>
  <p:notesSz cx="6858000" cy="9144000"/>
  <p:embeddedFontLst>
    <p:embeddedFont>
      <p:font typeface="Cambria Math" panose="02040503050406030204" pitchFamily="18" charset="0"/>
      <p:regular r:id="rId26"/>
    </p:embeddedFon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OCRB" panose="020B0609020202020204" pitchFamily="49" charset="0"/>
      <p:regular r:id="rId31"/>
    </p:embeddedFont>
    <p:embeddedFont>
      <p:font typeface="Open Sans ExtraBold" panose="020B0906030804020204" pitchFamily="34" charset="0"/>
      <p:bold r:id="rId32"/>
      <p:italic r:id="rId33"/>
      <p:boldItalic r:id="rId34"/>
    </p:embeddedFont>
    <p:embeddedFont>
      <p:font typeface="Open Sans Light" panose="020B0306030504020204" pitchFamily="34" charset="0"/>
      <p:regular r:id="rId35"/>
      <p:italic r:id="rId36"/>
    </p:embeddedFont>
    <p:embeddedFont>
      <p:font typeface="Open Sans Semibold" panose="020B0706030804020204" pitchFamily="34" charset="0"/>
      <p:bold r:id="rId37"/>
      <p:boldItalic r:id="rId38"/>
    </p:embeddedFont>
    <p:embeddedFont>
      <p:font typeface="Tahoma" panose="020B0604030504040204" pitchFamily="34" charset="0"/>
      <p:regular r:id="rId39"/>
      <p:bold r:id="rId40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6197"/>
  </p:normalViewPr>
  <p:slideViewPr>
    <p:cSldViewPr snapToGrid="0" snapToObjects="1">
      <p:cViewPr varScale="1">
        <p:scale>
          <a:sx n="33" d="100"/>
          <a:sy n="33" d="100"/>
        </p:scale>
        <p:origin x="774" y="66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17.xml"/><Relationship Id="rId34" Type="http://schemas.openxmlformats.org/officeDocument/2006/relationships/font" Target="fonts/font9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ia Priccilia" userId="S::shania.priccilia@binus.edu::c4dd4a50-8335-4e39-a119-dc5e413d78e9" providerId="AD" clId="Web-{973AA485-D780-BF75-28C7-1209EC2721C9}"/>
    <pc:docChg chg="modSld">
      <pc:chgData name="Shania Priccilia" userId="S::shania.priccilia@binus.edu::c4dd4a50-8335-4e39-a119-dc5e413d78e9" providerId="AD" clId="Web-{973AA485-D780-BF75-28C7-1209EC2721C9}" dt="2025-06-30T10:11:08.109" v="20"/>
      <pc:docMkLst>
        <pc:docMk/>
      </pc:docMkLst>
      <pc:sldChg chg="modSp">
        <pc:chgData name="Shania Priccilia" userId="S::shania.priccilia@binus.edu::c4dd4a50-8335-4e39-a119-dc5e413d78e9" providerId="AD" clId="Web-{973AA485-D780-BF75-28C7-1209EC2721C9}" dt="2025-06-30T10:11:01.077" v="18" actId="20577"/>
        <pc:sldMkLst>
          <pc:docMk/>
          <pc:sldMk cId="3807564589" sldId="256"/>
        </pc:sldMkLst>
        <pc:spChg chg="mod">
          <ac:chgData name="Shania Priccilia" userId="S::shania.priccilia@binus.edu::c4dd4a50-8335-4e39-a119-dc5e413d78e9" providerId="AD" clId="Web-{973AA485-D780-BF75-28C7-1209EC2721C9}" dt="2025-06-30T10:11:01.077" v="18" actId="20577"/>
          <ac:spMkLst>
            <pc:docMk/>
            <pc:sldMk cId="3807564589" sldId="256"/>
            <ac:spMk id="2" creationId="{50F9371B-F92F-AED8-457A-F4BAE6779B8C}"/>
          </ac:spMkLst>
        </pc:spChg>
      </pc:sldChg>
      <pc:sldChg chg="addSp delSp modSp">
        <pc:chgData name="Shania Priccilia" userId="S::shania.priccilia@binus.edu::c4dd4a50-8335-4e39-a119-dc5e413d78e9" providerId="AD" clId="Web-{973AA485-D780-BF75-28C7-1209EC2721C9}" dt="2025-06-30T10:11:04.812" v="19"/>
        <pc:sldMkLst>
          <pc:docMk/>
          <pc:sldMk cId="1968907909" sldId="258"/>
        </pc:sldMkLst>
        <pc:spChg chg="add mod">
          <ac:chgData name="Shania Priccilia" userId="S::shania.priccilia@binus.edu::c4dd4a50-8335-4e39-a119-dc5e413d78e9" providerId="AD" clId="Web-{973AA485-D780-BF75-28C7-1209EC2721C9}" dt="2025-06-30T10:11:04.812" v="19"/>
          <ac:spMkLst>
            <pc:docMk/>
            <pc:sldMk cId="1968907909" sldId="258"/>
            <ac:spMk id="6" creationId="{12846B9D-0409-5767-6228-7A692AF6381C}"/>
          </ac:spMkLst>
        </pc:spChg>
      </pc:sldChg>
      <pc:sldChg chg="addSp delSp modSp">
        <pc:chgData name="Shania Priccilia" userId="S::shania.priccilia@binus.edu::c4dd4a50-8335-4e39-a119-dc5e413d78e9" providerId="AD" clId="Web-{973AA485-D780-BF75-28C7-1209EC2721C9}" dt="2025-06-30T10:11:08.109" v="20"/>
        <pc:sldMkLst>
          <pc:docMk/>
          <pc:sldMk cId="4105662268" sldId="259"/>
        </pc:sldMkLst>
        <pc:spChg chg="add mod">
          <ac:chgData name="Shania Priccilia" userId="S::shania.priccilia@binus.edu::c4dd4a50-8335-4e39-a119-dc5e413d78e9" providerId="AD" clId="Web-{973AA485-D780-BF75-28C7-1209EC2721C9}" dt="2025-06-30T10:11:08.109" v="20"/>
          <ac:spMkLst>
            <pc:docMk/>
            <pc:sldMk cId="4105662268" sldId="259"/>
            <ac:spMk id="6" creationId="{C8FCC154-05AF-A2EC-818F-47E0CDB4A6C7}"/>
          </ac:spMkLst>
        </pc:spChg>
      </pc:sldChg>
    </pc:docChg>
  </pc:docChgLst>
  <pc:docChgLst>
    <pc:chgData name="Violitta Yesmaya" userId="4132fe74-a9e3-4df6-a260-6f1dbd02419b" providerId="ADAL" clId="{1A23B4AC-8B8F-40F1-B70C-063028F45DF2}"/>
    <pc:docChg chg="undo custSel modSld modMainMaster">
      <pc:chgData name="Violitta Yesmaya" userId="4132fe74-a9e3-4df6-a260-6f1dbd02419b" providerId="ADAL" clId="{1A23B4AC-8B8F-40F1-B70C-063028F45DF2}" dt="2025-07-29T15:59:33.576" v="18"/>
      <pc:docMkLst>
        <pc:docMk/>
      </pc:docMkLst>
      <pc:sldChg chg="delSp mod">
        <pc:chgData name="Violitta Yesmaya" userId="4132fe74-a9e3-4df6-a260-6f1dbd02419b" providerId="ADAL" clId="{1A23B4AC-8B8F-40F1-B70C-063028F45DF2}" dt="2025-07-29T15:42:39.080" v="4" actId="478"/>
        <pc:sldMkLst>
          <pc:docMk/>
          <pc:sldMk cId="3807564589" sldId="256"/>
        </pc:sldMkLst>
        <pc:spChg chg="del">
          <ac:chgData name="Violitta Yesmaya" userId="4132fe74-a9e3-4df6-a260-6f1dbd02419b" providerId="ADAL" clId="{1A23B4AC-8B8F-40F1-B70C-063028F45DF2}" dt="2025-07-29T15:42:39.080" v="4" actId="478"/>
          <ac:spMkLst>
            <pc:docMk/>
            <pc:sldMk cId="3807564589" sldId="256"/>
            <ac:spMk id="4" creationId="{319DA326-32BB-7EBF-F49C-D0308881B79F}"/>
          </ac:spMkLst>
        </pc:spChg>
      </pc:sldChg>
      <pc:sldChg chg="modSp mod">
        <pc:chgData name="Violitta Yesmaya" userId="4132fe74-a9e3-4df6-a260-6f1dbd02419b" providerId="ADAL" clId="{1A23B4AC-8B8F-40F1-B70C-063028F45DF2}" dt="2025-07-29T15:59:33.576" v="18"/>
        <pc:sldMkLst>
          <pc:docMk/>
          <pc:sldMk cId="1968907909" sldId="258"/>
        </pc:sldMkLst>
        <pc:spChg chg="mod">
          <ac:chgData name="Violitta Yesmaya" userId="4132fe74-a9e3-4df6-a260-6f1dbd02419b" providerId="ADAL" clId="{1A23B4AC-8B8F-40F1-B70C-063028F45DF2}" dt="2025-07-29T15:59:33.576" v="18"/>
          <ac:spMkLst>
            <pc:docMk/>
            <pc:sldMk cId="1968907909" sldId="258"/>
            <ac:spMk id="4" creationId="{BF639152-5297-4504-380C-94154A8D96CB}"/>
          </ac:spMkLst>
        </pc:spChg>
      </pc:sldChg>
      <pc:sldMasterChg chg="modSldLayout">
        <pc:chgData name="Violitta Yesmaya" userId="4132fe74-a9e3-4df6-a260-6f1dbd02419b" providerId="ADAL" clId="{1A23B4AC-8B8F-40F1-B70C-063028F45DF2}" dt="2025-07-29T15:42:33.633" v="3" actId="478"/>
        <pc:sldMasterMkLst>
          <pc:docMk/>
          <pc:sldMasterMk cId="0" sldId="2147483648"/>
        </pc:sldMasterMkLst>
        <pc:sldLayoutChg chg="addSp delSp mod">
          <pc:chgData name="Violitta Yesmaya" userId="4132fe74-a9e3-4df6-a260-6f1dbd02419b" providerId="ADAL" clId="{1A23B4AC-8B8F-40F1-B70C-063028F45DF2}" dt="2025-07-29T15:42:33.633" v="3" actId="478"/>
          <pc:sldLayoutMkLst>
            <pc:docMk/>
            <pc:sldMasterMk cId="0" sldId="2147483648"/>
            <pc:sldLayoutMk cId="4094124863" sldId="2147483672"/>
          </pc:sldLayoutMkLst>
          <pc:spChg chg="del">
            <ac:chgData name="Violitta Yesmaya" userId="4132fe74-a9e3-4df6-a260-6f1dbd02419b" providerId="ADAL" clId="{1A23B4AC-8B8F-40F1-B70C-063028F45DF2}" dt="2025-07-29T15:42:31.596" v="2" actId="478"/>
            <ac:spMkLst>
              <pc:docMk/>
              <pc:sldMasterMk cId="0" sldId="2147483648"/>
              <pc:sldLayoutMk cId="4094124863" sldId="2147483672"/>
              <ac:spMk id="2" creationId="{D6474C2C-5958-6F6B-1482-E67DED339DDC}"/>
            </ac:spMkLst>
          </pc:spChg>
          <pc:spChg chg="add del">
            <ac:chgData name="Violitta Yesmaya" userId="4132fe74-a9e3-4df6-a260-6f1dbd02419b" providerId="ADAL" clId="{1A23B4AC-8B8F-40F1-B70C-063028F45DF2}" dt="2025-07-29T15:42:33.633" v="3" actId="478"/>
            <ac:spMkLst>
              <pc:docMk/>
              <pc:sldMasterMk cId="0" sldId="2147483648"/>
              <pc:sldLayoutMk cId="4094124863" sldId="2147483672"/>
              <ac:spMk id="4" creationId="{5DC7F27E-9CB9-099F-4DA7-367C6ADB411B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sciitable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aelinik.free.fr/c/ch04.htm" TargetMode="External"/><Relationship Id="rId2" Type="http://schemas.openxmlformats.org/officeDocument/2006/relationships/hyperlink" Target="http://aelinik.free.fr/c/ch02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 dirty="0"/>
              <a:t>Algorithm and programming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9600" dirty="0"/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DA11B-2F9E-4E40-B94A-37951AF09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394E0-5EEE-7267-580E-42F911ACD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Learning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39152-5297-4504-380C-94154A8D96C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955457" y="5334432"/>
            <a:ext cx="15043355" cy="452226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en-US" sz="3600" dirty="0">
                <a:latin typeface="+mj-lt"/>
                <a:cs typeface="Tahoma" pitchFamily="34" charset="0"/>
              </a:rPr>
              <a:t>At the end of this session, student will be able to: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en-US" sz="3600" dirty="0">
                <a:latin typeface="+mj-lt"/>
                <a:cs typeface="Tahoma" pitchFamily="34" charset="0"/>
              </a:rPr>
              <a:t>LO-1 : explain kind of algorithms in problem solving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en-US" sz="3600">
                <a:latin typeface="+mj-lt"/>
                <a:cs typeface="Tahoma" pitchFamily="34" charset="0"/>
              </a:rPr>
              <a:t>LO-2 : apply syntax and functions in C language in problem solving</a:t>
            </a:r>
            <a:endParaRPr lang="en-US" altLang="en-US" sz="3600" dirty="0">
              <a:latin typeface="+mj-lt"/>
              <a:cs typeface="Tahoma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2846B9D-0409-5767-6228-7A692AF638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90790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99FFD-E58E-D8B4-ADED-E78957338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635E-1E02-2C02-4DC3-ACB1F7225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Subtopics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B5071-5AEC-07E9-E361-22C4629DB39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44130" y="3758649"/>
            <a:ext cx="13714940" cy="731457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Introduction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C Standard Library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C Structure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Comments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Characters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Identifiers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Keywords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C Library Example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Exercise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FCC154-05AF-A2EC-818F-47E0CDB4A6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66226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5ABEC-D0EF-1DA8-7A85-AFA13ED26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EC33E-B3D0-79EA-B484-21AE7CB8D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IntroductioN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C9FC0-E017-7D09-18E6-34D85ED044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HISTORY OF 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E2F67-FFA2-AF58-6554-3BF7E99A49A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244823" cy="9810750"/>
          </a:xfrm>
        </p:spPr>
        <p:txBody>
          <a:bodyPr>
            <a:normAutofit/>
          </a:bodyPr>
          <a:lstStyle/>
          <a:p>
            <a:pPr algn="just">
              <a:lnSpc>
                <a:spcPct val="114000"/>
              </a:lnSpc>
              <a:spcBef>
                <a:spcPts val="1200"/>
              </a:spcBef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History of C:</a:t>
            </a: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623888" lvl="1" indent="0" algn="just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altLang="en-US" sz="3200" dirty="0">
                <a:solidFill>
                  <a:srgbClr val="C00000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1967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US" alt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BCPL designed by Martin Richards for OS and compiler development.</a:t>
            </a:r>
          </a:p>
          <a:p>
            <a:pPr marL="623888" lvl="1" indent="0" algn="just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altLang="en-US" sz="3200" dirty="0">
                <a:solidFill>
                  <a:srgbClr val="C00000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1970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US" alt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B created by Ken Thompson for early UNIX development at Bell Labs.</a:t>
            </a:r>
          </a:p>
          <a:p>
            <a:pPr marL="623888" lvl="1" indent="0" algn="just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altLang="en-US" sz="3200" dirty="0">
                <a:solidFill>
                  <a:srgbClr val="C00000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1972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C developed by Dennis Ritchie at Bell Labs, based on B.</a:t>
            </a:r>
          </a:p>
          <a:p>
            <a:pPr marL="623888" lvl="1" indent="0" algn="just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altLang="en-US" sz="3200" dirty="0">
                <a:solidFill>
                  <a:srgbClr val="C00000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1989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 ANSI standardized C (ANSI C),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later ISO adopted it as well.</a:t>
            </a:r>
          </a:p>
          <a:p>
            <a:pPr marL="623888" lvl="1" indent="0" algn="just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C11 (2011), C18 (2018)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Latest official standards, adding modern features and fixing bugs.</a:t>
            </a:r>
          </a:p>
          <a:p>
            <a:pPr algn="just">
              <a:lnSpc>
                <a:spcPct val="114000"/>
              </a:lnSpc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While many modern languages like Python, C++, and Java are widely used today, C remains a powerful language for algorithm and systems programming because it offers:</a:t>
            </a:r>
          </a:p>
          <a:p>
            <a:pPr marL="1138238" lvl="1" indent="-514350" algn="just">
              <a:lnSpc>
                <a:spcPct val="114000"/>
              </a:lnSpc>
              <a:spcBef>
                <a:spcPts val="1200"/>
              </a:spcBef>
              <a:buSzPct val="100000"/>
              <a:buAutoNum type="arabicPeriod"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High performance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for speed-critical systems</a:t>
            </a:r>
          </a:p>
          <a:p>
            <a:pPr marL="1138238" lvl="1" indent="-514350" algn="just">
              <a:lnSpc>
                <a:spcPct val="114000"/>
              </a:lnSpc>
              <a:spcBef>
                <a:spcPts val="1200"/>
              </a:spcBef>
              <a:buSzPct val="100000"/>
              <a:buAutoNum type="arabicPeriod"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Portability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across hardware platforms</a:t>
            </a:r>
          </a:p>
          <a:p>
            <a:pPr marL="1138238" lvl="1" indent="-514350" algn="just">
              <a:lnSpc>
                <a:spcPct val="114000"/>
              </a:lnSpc>
              <a:spcBef>
                <a:spcPts val="1200"/>
              </a:spcBef>
              <a:buSzPct val="100000"/>
              <a:buAutoNum type="arabicPeriod"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Low-level memory access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and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fine hardware control</a:t>
            </a:r>
          </a:p>
          <a:p>
            <a:pPr marL="1138238" lvl="1" indent="-514350" algn="just">
              <a:lnSpc>
                <a:spcPct val="114000"/>
              </a:lnSpc>
              <a:spcBef>
                <a:spcPts val="1200"/>
              </a:spcBef>
              <a:buSzPct val="100000"/>
              <a:buAutoNum type="arabicPeriod"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Efficiency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in both time and space, ideal for optimizing algorithms</a:t>
            </a:r>
          </a:p>
        </p:txBody>
      </p:sp>
    </p:spTree>
    <p:extLst>
      <p:ext uri="{BB962C8B-B14F-4D97-AF65-F5344CB8AC3E}">
        <p14:creationId xmlns:p14="http://schemas.microsoft.com/office/powerpoint/2010/main" val="205174756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98661-F94D-521D-C980-21DFFF69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8294E-131D-4585-8022-A769B6585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 STANDARD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2FEA3-3388-C0C3-40A2-5BA8511BD1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 STANDARD LIBRARY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C9E9BDDC-1358-AC3F-C869-5909F5CB07C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17403" y="3543301"/>
            <a:ext cx="19587723" cy="888188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We write the program code in a file that contains the main C source code, typically with a .c (or .</a:t>
            </a:r>
            <a:r>
              <a:rPr lang="en-US" altLang="en-US" sz="3200" dirty="0" err="1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cpp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for C++) extension. Example: </a:t>
            </a:r>
            <a:r>
              <a:rPr lang="en-US" altLang="en-US" sz="3200" b="1" dirty="0" err="1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main.c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200" b="1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When programming in C, we typically use the following building blocks:</a:t>
            </a:r>
          </a:p>
          <a:p>
            <a:pPr marL="1138238" lvl="1" indent="-514350">
              <a:spcBef>
                <a:spcPts val="1200"/>
              </a:spcBef>
              <a:buSzPct val="100000"/>
              <a:buFont typeface="+mj-lt"/>
              <a:buAutoNum type="arabicPeriod"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 Standard Library Functions</a:t>
            </a:r>
          </a:p>
          <a:p>
            <a:pPr marL="1203325" lvl="2" indent="0">
              <a:spcBef>
                <a:spcPts val="1200"/>
              </a:spcBef>
              <a:buNone/>
            </a:pPr>
            <a:r>
              <a:rPr lang="en-US" altLang="en-US" sz="32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&lt;</a:t>
            </a:r>
            <a:r>
              <a:rPr lang="en-US" altLang="en-US" sz="3200" dirty="0" err="1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math.h</a:t>
            </a:r>
            <a:r>
              <a:rPr lang="en-US" altLang="en-US" sz="32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&gt;	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: Mathematical Functions</a:t>
            </a:r>
          </a:p>
          <a:p>
            <a:pPr marL="1203325" lvl="2" indent="0">
              <a:spcBef>
                <a:spcPts val="1200"/>
              </a:spcBef>
              <a:buNone/>
            </a:pPr>
            <a:r>
              <a:rPr lang="en-US" altLang="en-US" sz="32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&lt;</a:t>
            </a:r>
            <a:r>
              <a:rPr lang="en-US" altLang="en-US" sz="3200" dirty="0" err="1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stdio.h</a:t>
            </a:r>
            <a:r>
              <a:rPr lang="en-US" altLang="en-US" sz="32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&gt;	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: Input and Output</a:t>
            </a:r>
          </a:p>
          <a:p>
            <a:pPr marL="1203325" lvl="2" indent="0">
              <a:spcBef>
                <a:spcPts val="1200"/>
              </a:spcBef>
              <a:buNone/>
            </a:pPr>
            <a:r>
              <a:rPr lang="en-US" altLang="en-US" sz="32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&lt;</a:t>
            </a:r>
            <a:r>
              <a:rPr lang="en-US" altLang="en-US" sz="3200" dirty="0" err="1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stdlib.h</a:t>
            </a:r>
            <a:r>
              <a:rPr lang="en-US" altLang="en-US" sz="32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&gt;	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: Utility Functions</a:t>
            </a:r>
          </a:p>
          <a:p>
            <a:pPr marL="1203325" lvl="2" indent="0">
              <a:spcBef>
                <a:spcPts val="1200"/>
              </a:spcBef>
              <a:buNone/>
            </a:pPr>
            <a:r>
              <a:rPr lang="en-US" altLang="en-US" sz="32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&lt;</a:t>
            </a:r>
            <a:r>
              <a:rPr lang="en-US" altLang="en-US" sz="3200" dirty="0" err="1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string.h</a:t>
            </a:r>
            <a:r>
              <a:rPr lang="en-US" altLang="en-US" sz="32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&gt;	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: String Functions</a:t>
            </a:r>
          </a:p>
          <a:p>
            <a:pPr marL="1203325" lvl="2" indent="0">
              <a:spcBef>
                <a:spcPts val="1200"/>
              </a:spcBef>
              <a:buNone/>
            </a:pPr>
            <a:r>
              <a:rPr lang="en-US" altLang="en-US" sz="32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&lt;</a:t>
            </a:r>
            <a:r>
              <a:rPr lang="en-US" altLang="en-US" sz="3200" dirty="0" err="1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time.h</a:t>
            </a:r>
            <a:r>
              <a:rPr lang="en-US" altLang="en-US" sz="32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&gt;	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: Time and Date Functions</a:t>
            </a:r>
            <a:endParaRPr lang="en-US" altLang="en-US" sz="3200" b="1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1138238" lvl="1" indent="-514350">
              <a:spcBef>
                <a:spcPts val="1200"/>
              </a:spcBef>
              <a:buSzPct val="100000"/>
              <a:buFont typeface="+mj-lt"/>
              <a:buAutoNum type="arabicPeriod"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User-Defined Functions</a:t>
            </a:r>
          </a:p>
          <a:p>
            <a:pPr marL="1203325" lvl="2" indent="0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Functions you create yourself</a:t>
            </a:r>
          </a:p>
          <a:p>
            <a:pPr marL="1138238" lvl="1" indent="-514350">
              <a:spcBef>
                <a:spcPts val="1200"/>
              </a:spcBef>
              <a:buSzPct val="100000"/>
              <a:buFont typeface="+mj-lt"/>
              <a:buAutoNum type="arabicPeriod"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Third-Party Functions</a:t>
            </a:r>
          </a:p>
          <a:p>
            <a:pPr marL="1203325" lvl="2" indent="0">
              <a:spcBef>
                <a:spcPts val="1200"/>
              </a:spcBef>
              <a:buSzPct val="100000"/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Functions other people have created and made available to you</a:t>
            </a:r>
          </a:p>
          <a:p>
            <a:pPr>
              <a:spcBef>
                <a:spcPts val="1200"/>
              </a:spcBef>
            </a:pPr>
            <a:endParaRPr lang="en-US" altLang="en-US" sz="3200" b="1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1938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985D7-FA9B-198B-027B-855B98E70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DC504-0E57-11B1-8352-F8856FF3BD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Main function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F9E849-1018-B4F1-8541-EA5E3DBA8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877" y="3867150"/>
            <a:ext cx="6257353" cy="3611457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7B18BB8-B5C1-11FD-9223-285B2FB4BD8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17403" y="7643119"/>
            <a:ext cx="19587723" cy="4782061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 is a structured programming language. It organizes code into functions.</a:t>
            </a:r>
          </a:p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Every C program must have a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main()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function, main() is where the program starts running</a:t>
            </a:r>
          </a:p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 is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case sensitive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:</a:t>
            </a:r>
          </a:p>
          <a:p>
            <a:pPr marL="1081088" lvl="1" indent="-457200">
              <a:spcBef>
                <a:spcPts val="1200"/>
              </a:spcBef>
              <a:buFont typeface="Wingdings" panose="05000000000000000000" pitchFamily="2" charset="2"/>
              <a:buChar char="à"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main is different from Main</a:t>
            </a:r>
          </a:p>
          <a:p>
            <a:pPr marL="1081088" lvl="1" indent="-457200">
              <a:spcBef>
                <a:spcPts val="1200"/>
              </a:spcBef>
              <a:buFont typeface="Wingdings" panose="05000000000000000000" pitchFamily="2" charset="2"/>
              <a:buChar char="à"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sum is different from Sum</a:t>
            </a:r>
          </a:p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Every command (statement) must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end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with a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semicolon (;)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382CECA-910A-178F-8A8D-AA4BE66A1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568" y="3867150"/>
            <a:ext cx="6274499" cy="34453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C69EC67-5FC1-DC8B-58E8-7CDC4A88C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3405" y="3867148"/>
            <a:ext cx="6274499" cy="344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68766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B7B5B-A5C0-E6CF-73AE-554F58472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8E880-1AB0-970F-EAB0-05071C9C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F987E-0BEF-A562-61D7-AD6E943BD3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Main function structure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5D2CCFB-EC02-6EEB-56EF-832D0230FD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17403" y="7658101"/>
            <a:ext cx="19587723" cy="476708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return(0);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indicates a normal program termination without error.</a:t>
            </a:r>
          </a:p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By default, functions are assumed to return an integer (int) type if no return type is explicitly specified. </a:t>
            </a:r>
          </a:p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However, not all C compiler is familiar with all main function described above. Example:</a:t>
            </a:r>
          </a:p>
          <a:p>
            <a:pPr marL="1081088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Using Turbo C 2.0 (DOS) and Microsoft Visual C++ (Windows) compilers: statements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void main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and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int main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compile successfully, but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main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may produce a warning.</a:t>
            </a:r>
          </a:p>
          <a:p>
            <a:pPr marL="1081088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Using Dev-C++ (Windows) and </a:t>
            </a:r>
            <a:r>
              <a:rPr lang="en-US" altLang="en-US" sz="3200" dirty="0" err="1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gcc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(Linux) compilers: statements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main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and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int main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compile successfully, but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void main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may produce a warning.</a:t>
            </a:r>
            <a:endParaRPr lang="en-US" altLang="en-US" sz="3200" b="1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60E986-614F-B62F-073F-FF7BC27D1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877" y="3867150"/>
            <a:ext cx="6257353" cy="36114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C40A61-47DB-39BE-C1E8-DD58FB76C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568" y="3867150"/>
            <a:ext cx="6274499" cy="34453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3D9783-6D81-CA84-91DA-FEF35BC90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3405" y="3867148"/>
            <a:ext cx="6274499" cy="344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1716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41163-F971-F148-FF71-E25265FE8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75A51-9EC3-6349-3872-86883C70D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69B57-93F8-7C04-F937-6603628653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6">
                <a:extLst>
                  <a:ext uri="{FF2B5EF4-FFF2-40B4-BE49-F238E27FC236}">
                    <a16:creationId xmlns:a16="http://schemas.microsoft.com/office/drawing/2014/main" id="{9CEE8F16-5D64-B7D8-5E37-13630481CF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7377" y="6891032"/>
                <a:ext cx="12070904" cy="37856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/>
                <a:r>
                  <a:rPr lang="id-ID" sz="4000" dirty="0">
                    <a:solidFill>
                      <a:schemeClr val="bg2">
                        <a:lumMod val="10000"/>
                      </a:schemeClr>
                    </a:solidFill>
                    <a:latin typeface="Courier New" pitchFamily="49" charset="0"/>
                    <a:ea typeface="Tahoma" pitchFamily="34" charset="0"/>
                    <a:cs typeface="Courier New" pitchFamily="49" charset="0"/>
                  </a:rPr>
                  <a:t>#include&lt;stdio.h&gt;</a:t>
                </a:r>
              </a:p>
              <a:p>
                <a:pPr algn="l"/>
                <a:r>
                  <a:rPr lang="id-ID" sz="4000" dirty="0">
                    <a:solidFill>
                      <a:schemeClr val="bg2">
                        <a:lumMod val="10000"/>
                      </a:schemeClr>
                    </a:solidFill>
                    <a:latin typeface="Courier New" pitchFamily="49" charset="0"/>
                    <a:ea typeface="Tahoma" pitchFamily="34" charset="0"/>
                    <a:cs typeface="Courier New" pitchFamily="49" charset="0"/>
                  </a:rPr>
                  <a:t>int main()</a:t>
                </a:r>
              </a:p>
              <a:p>
                <a:pPr algn="l"/>
                <a:r>
                  <a:rPr lang="id-ID" sz="4000" dirty="0">
                    <a:solidFill>
                      <a:schemeClr val="bg2">
                        <a:lumMod val="10000"/>
                      </a:schemeClr>
                    </a:solidFill>
                    <a:latin typeface="Courier New" pitchFamily="49" charset="0"/>
                    <a:ea typeface="Tahoma" pitchFamily="34" charset="0"/>
                    <a:cs typeface="Courier New" pitchFamily="49" charset="0"/>
                  </a:rPr>
                  <a:t>{</a:t>
                </a:r>
              </a:p>
              <a:p>
                <a:pPr algn="l"/>
                <a:r>
                  <a:rPr lang="id-ID" sz="4000" dirty="0">
                    <a:solidFill>
                      <a:schemeClr val="bg2">
                        <a:lumMod val="10000"/>
                      </a:schemeClr>
                    </a:solidFill>
                    <a:latin typeface="Courier New" pitchFamily="49" charset="0"/>
                    <a:ea typeface="Tahoma" pitchFamily="34" charset="0"/>
                    <a:cs typeface="Courier New" pitchFamily="49" charset="0"/>
                  </a:rPr>
                  <a:t>	</a:t>
                </a:r>
                <a:r>
                  <a:rPr lang="id-ID" sz="4000" dirty="0" err="1">
                    <a:solidFill>
                      <a:schemeClr val="bg2">
                        <a:lumMod val="10000"/>
                      </a:schemeClr>
                    </a:solidFill>
                    <a:latin typeface="Courier New" panose="02070309020205020404" pitchFamily="49" charset="0"/>
                    <a:ea typeface="Tahoma" pitchFamily="34" charset="0"/>
                    <a:cs typeface="Courier New" pitchFamily="49" charset="0"/>
                  </a:rPr>
                  <a:t>printf</a:t>
                </a:r>
                <a:r>
                  <a:rPr lang="id-ID" sz="4000" dirty="0">
                    <a:solidFill>
                      <a:schemeClr val="bg2">
                        <a:lumMod val="10000"/>
                      </a:schemeClr>
                    </a:solidFill>
                    <a:latin typeface="Courier New" panose="02070309020205020404" pitchFamily="49" charset="0"/>
                    <a:ea typeface="Tahoma" pitchFamily="34" charset="0"/>
                    <a:cs typeface="Courier New" pitchFamily="49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id-ID" sz="400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Tahoma" pitchFamily="34" charset="0"/>
                        <a:cs typeface="Courier New" pitchFamily="49" charset="0"/>
                      </a:rPr>
                      <m:t>"</m:t>
                    </m:r>
                  </m:oMath>
                </a14:m>
                <a:r>
                  <a:rPr lang="id-ID" sz="4000" dirty="0" err="1">
                    <a:solidFill>
                      <a:schemeClr val="bg2">
                        <a:lumMod val="10000"/>
                      </a:schemeClr>
                    </a:solidFill>
                    <a:latin typeface="Courier New" panose="02070309020205020404" pitchFamily="49" charset="0"/>
                    <a:ea typeface="Tahoma" pitchFamily="34" charset="0"/>
                    <a:cs typeface="Courier New" pitchFamily="49" charset="0"/>
                  </a:rPr>
                  <a:t>Welcome</a:t>
                </a:r>
                <a:r>
                  <a:rPr lang="id-ID" sz="4000" dirty="0">
                    <a:solidFill>
                      <a:schemeClr val="bg2">
                        <a:lumMod val="10000"/>
                      </a:schemeClr>
                    </a:solidFill>
                    <a:latin typeface="Courier New" panose="02070309020205020404" pitchFamily="49" charset="0"/>
                    <a:ea typeface="Tahoma" pitchFamily="34" charset="0"/>
                    <a:cs typeface="Courier New" pitchFamily="49" charset="0"/>
                  </a:rPr>
                  <a:t> </a:t>
                </a:r>
                <a:r>
                  <a:rPr lang="id-ID" sz="4000" dirty="0" err="1">
                    <a:solidFill>
                      <a:schemeClr val="bg2">
                        <a:lumMod val="10000"/>
                      </a:schemeClr>
                    </a:solidFill>
                    <a:latin typeface="Courier New" panose="02070309020205020404" pitchFamily="49" charset="0"/>
                    <a:ea typeface="Tahoma" pitchFamily="34" charset="0"/>
                    <a:cs typeface="Courier New" pitchFamily="49" charset="0"/>
                  </a:rPr>
                  <a:t>to</a:t>
                </a:r>
                <a:r>
                  <a:rPr lang="id-ID" sz="4000" dirty="0">
                    <a:solidFill>
                      <a:schemeClr val="bg2">
                        <a:lumMod val="10000"/>
                      </a:schemeClr>
                    </a:solidFill>
                    <a:latin typeface="Courier New" pitchFamily="49" charset="0"/>
                    <a:ea typeface="Tahoma" pitchFamily="34" charset="0"/>
                    <a:cs typeface="Courier New" pitchFamily="49" charset="0"/>
                  </a:rPr>
                  <a:t> BINUS\n</a:t>
                </a:r>
                <a14:m>
                  <m:oMath xmlns:m="http://schemas.openxmlformats.org/officeDocument/2006/math">
                    <m:r>
                      <a:rPr lang="id-ID" sz="4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Tahoma" pitchFamily="34" charset="0"/>
                        <a:cs typeface="Courier New" pitchFamily="49" charset="0"/>
                      </a:rPr>
                      <m:t>"</m:t>
                    </m:r>
                  </m:oMath>
                </a14:m>
                <a:r>
                  <a:rPr lang="id-ID" sz="4000" dirty="0">
                    <a:solidFill>
                      <a:schemeClr val="bg2">
                        <a:lumMod val="10000"/>
                      </a:schemeClr>
                    </a:solidFill>
                    <a:latin typeface="Courier New" pitchFamily="49" charset="0"/>
                    <a:ea typeface="Tahoma" pitchFamily="34" charset="0"/>
                    <a:cs typeface="Courier New" pitchFamily="49" charset="0"/>
                  </a:rPr>
                  <a:t>);</a:t>
                </a:r>
              </a:p>
              <a:p>
                <a:pPr algn="l"/>
                <a:r>
                  <a:rPr lang="id-ID" sz="4000" dirty="0">
                    <a:solidFill>
                      <a:schemeClr val="bg2">
                        <a:lumMod val="10000"/>
                      </a:schemeClr>
                    </a:solidFill>
                    <a:latin typeface="Courier New" pitchFamily="49" charset="0"/>
                    <a:ea typeface="Tahoma" pitchFamily="34" charset="0"/>
                    <a:cs typeface="Courier New" pitchFamily="49" charset="0"/>
                  </a:rPr>
                  <a:t>	</a:t>
                </a:r>
                <a:r>
                  <a:rPr lang="id-ID" sz="4000" dirty="0" err="1">
                    <a:solidFill>
                      <a:schemeClr val="bg2">
                        <a:lumMod val="10000"/>
                      </a:schemeClr>
                    </a:solidFill>
                    <a:latin typeface="Courier New" panose="02070309020205020404" pitchFamily="49" charset="0"/>
                    <a:ea typeface="Tahoma" pitchFamily="34" charset="0"/>
                    <a:cs typeface="Courier New" pitchFamily="49" charset="0"/>
                  </a:rPr>
                  <a:t>return</a:t>
                </a:r>
                <a:r>
                  <a:rPr lang="id-ID" sz="4000" dirty="0">
                    <a:solidFill>
                      <a:schemeClr val="bg2">
                        <a:lumMod val="10000"/>
                      </a:schemeClr>
                    </a:solidFill>
                    <a:latin typeface="Courier New" pitchFamily="49" charset="0"/>
                    <a:ea typeface="Tahoma" pitchFamily="34" charset="0"/>
                    <a:cs typeface="Courier New" pitchFamily="49" charset="0"/>
                  </a:rPr>
                  <a:t>(0);</a:t>
                </a:r>
              </a:p>
              <a:p>
                <a:pPr algn="l"/>
                <a:r>
                  <a:rPr lang="id-ID" sz="4000" dirty="0">
                    <a:solidFill>
                      <a:schemeClr val="bg2">
                        <a:lumMod val="10000"/>
                      </a:schemeClr>
                    </a:solidFill>
                    <a:latin typeface="Courier New" pitchFamily="49" charset="0"/>
                    <a:ea typeface="Tahoma" pitchFamily="34" charset="0"/>
                    <a:cs typeface="Courier New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9" name="TextBox 6">
                <a:extLst>
                  <a:ext uri="{FF2B5EF4-FFF2-40B4-BE49-F238E27FC236}">
                    <a16:creationId xmlns:a16="http://schemas.microsoft.com/office/drawing/2014/main" id="{9CEE8F16-5D64-B7D8-5E37-13630481C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7377" y="6891032"/>
                <a:ext cx="12070904" cy="3785652"/>
              </a:xfrm>
              <a:prstGeom prst="rect">
                <a:avLst/>
              </a:prstGeom>
              <a:blipFill>
                <a:blip r:embed="rId2"/>
                <a:stretch>
                  <a:fillRect l="-1766" t="-2729" b="-577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8">
            <a:extLst>
              <a:ext uri="{FF2B5EF4-FFF2-40B4-BE49-F238E27FC236}">
                <a16:creationId xmlns:a16="http://schemas.microsoft.com/office/drawing/2014/main" id="{DA850F18-208A-CD36-EEE0-FE1AA421B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7500" y="3145942"/>
            <a:ext cx="10026162" cy="298543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+mj-lt"/>
                <a:cs typeface="Tahoma" pitchFamily="34" charset="0"/>
              </a:rPr>
              <a:t>#include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 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is a directive command to tell the computer to search for printf function prototype at header file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stdio.h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 as well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  <a:sym typeface="Wingdings" pitchFamily="2" charset="2"/>
              </a:rPr>
              <a:t>Directive 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+mj-lt"/>
                <a:ea typeface="Tahoma" pitchFamily="34" charset="0"/>
                <a:cs typeface="Courier New" pitchFamily="49" charset="0"/>
                <a:sym typeface="Wingdings" pitchFamily="2" charset="2"/>
              </a:rPr>
              <a:t>#include 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  <a:sym typeface="Wingdings" pitchFamily="2" charset="2"/>
              </a:rPr>
              <a:t>generally written at the beginning of a program</a:t>
            </a:r>
          </a:p>
          <a:p>
            <a:endParaRPr lang="id-ID" sz="2800" dirty="0">
              <a:solidFill>
                <a:schemeClr val="bg2">
                  <a:lumMod val="10000"/>
                </a:schemeClr>
              </a:solidFill>
              <a:latin typeface="+mj-lt"/>
              <a:cs typeface="Tahoma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CE1D9BB-BFA9-C706-E9D6-1A3B568198C0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7658100" y="4638659"/>
            <a:ext cx="2819400" cy="256224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883592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EFB3F-75CE-4171-C151-411804DB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28D0-2C33-B70D-473A-6D9936226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b="1" dirty="0">
                <a:latin typeface="Tahoma" pitchFamily="34" charset="0"/>
                <a:cs typeface="Tahoma" pitchFamily="34" charset="0"/>
              </a:rPr>
              <a:t>Comments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D632E-65AD-E2C7-1E74-F17EA1BD3F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3200" b="1" dirty="0">
                <a:latin typeface="Tahoma" pitchFamily="34" charset="0"/>
                <a:cs typeface="Tahoma" pitchFamily="34" charset="0"/>
              </a:rPr>
              <a:t>Comments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EFB9E463-E27F-001D-B357-E8FA70033A4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4733"/>
            <a:ext cx="19587723" cy="273601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Comments is used for readability of the program</a:t>
            </a:r>
          </a:p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Not accounted as a command/statement by the compiler</a:t>
            </a:r>
          </a:p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Using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/*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*/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 for multi line comments</a:t>
            </a:r>
          </a:p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Using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//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at the beginning of line for one line comment</a:t>
            </a:r>
          </a:p>
        </p:txBody>
      </p:sp>
      <p:pic>
        <p:nvPicPr>
          <p:cNvPr id="9" name="Picture 8" descr="A computer program code on a white background&#10;&#10;AI-generated content may be incorrect.">
            <a:extLst>
              <a:ext uri="{FF2B5EF4-FFF2-40B4-BE49-F238E27FC236}">
                <a16:creationId xmlns:a16="http://schemas.microsoft.com/office/drawing/2014/main" id="{8EB65EE2-7B19-0856-C3FD-8726125F0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294" y="6378508"/>
            <a:ext cx="13767147" cy="580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03203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8612F-B3C5-A24B-BF91-5FDC652A4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98520-537E-CEA4-39D7-C6CECB08F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b="1" dirty="0">
                <a:latin typeface="Tahoma" pitchFamily="34" charset="0"/>
                <a:cs typeface="Tahoma" pitchFamily="34" charset="0"/>
              </a:rPr>
              <a:t>Character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A4C98-F9FB-6510-0AB0-88CC12DB09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3200" b="1" dirty="0">
                <a:latin typeface="Tahoma" pitchFamily="34" charset="0"/>
                <a:cs typeface="Tahoma" pitchFamily="34" charset="0"/>
              </a:rPr>
              <a:t>Character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B4CCF82-94B8-07C4-7176-9F7CA003562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8" y="3264732"/>
            <a:ext cx="11230570" cy="7577332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 program is written using ASCII character subset:</a:t>
            </a:r>
          </a:p>
          <a:p>
            <a:pPr marL="609600" lvl="1" indent="0">
              <a:spcBef>
                <a:spcPts val="1200"/>
              </a:spcBef>
              <a:buNone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Capital letters A…Z</a:t>
            </a:r>
          </a:p>
          <a:p>
            <a:pPr marL="609600" lvl="1" indent="0">
              <a:spcBef>
                <a:spcPts val="1200"/>
              </a:spcBef>
              <a:buNone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Lower Case a…z</a:t>
            </a:r>
          </a:p>
          <a:p>
            <a:pPr marL="609600" lvl="1" indent="0">
              <a:spcBef>
                <a:spcPts val="1200"/>
              </a:spcBef>
              <a:buNone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Digit 0…9</a:t>
            </a:r>
          </a:p>
          <a:p>
            <a:pPr marL="609600" lvl="1" indent="0">
              <a:spcBef>
                <a:spcPts val="1200"/>
              </a:spcBef>
              <a:buNone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Symbol ‘!’, ‘&amp;’, ‘+’, ‘\’, ‘_’, etc.</a:t>
            </a:r>
          </a:p>
          <a:p>
            <a:pPr>
              <a:spcBef>
                <a:spcPts val="1200"/>
              </a:spcBef>
            </a:pP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ASCII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(American Standard Code for Information Interchange)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hlinkClick r:id="rId2"/>
              </a:rPr>
              <a:t>http://www.asciitable.com/</a:t>
            </a: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</a:t>
            </a:r>
            <a:r>
              <a:rPr lang="en-US" sz="3600" dirty="0">
                <a:latin typeface="+mn-lt"/>
              </a:rPr>
              <a:t>o represent special characters that can't be typed directly or would be confusing to include directly we use </a:t>
            </a:r>
            <a:r>
              <a:rPr lang="en-US" sz="3600" b="1" dirty="0">
                <a:latin typeface="+mn-lt"/>
              </a:rPr>
              <a:t>escape characters</a:t>
            </a:r>
            <a:r>
              <a:rPr lang="en-US" sz="3600" dirty="0">
                <a:latin typeface="+mn-lt"/>
              </a:rPr>
              <a:t>.</a:t>
            </a: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D6DF921-754D-D198-D539-2C41C47329C0}"/>
              </a:ext>
            </a:extLst>
          </p:cNvPr>
          <p:cNvSpPr txBox="1">
            <a:spLocks noChangeArrowheads="1"/>
          </p:cNvSpPr>
          <p:nvPr/>
        </p:nvSpPr>
        <p:spPr>
          <a:xfrm>
            <a:off x="14338528" y="3264732"/>
            <a:ext cx="8116633" cy="7577332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+mn-lt"/>
                <a:cs typeface="Tahoma" pitchFamily="34" charset="0"/>
                <a:sym typeface="Wingdings" pitchFamily="2" charset="2"/>
              </a:rPr>
              <a:t>\a			bell, alert, system beep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+mn-lt"/>
                <a:cs typeface="Tahoma" pitchFamily="34" charset="0"/>
                <a:sym typeface="Wingdings" pitchFamily="2" charset="2"/>
              </a:rPr>
              <a:t>\b			back space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+mn-lt"/>
                <a:cs typeface="Tahoma" pitchFamily="34" charset="0"/>
                <a:sym typeface="Wingdings" pitchFamily="2" charset="2"/>
              </a:rPr>
              <a:t>\t			horizontal tab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+mn-lt"/>
                <a:cs typeface="Tahoma" pitchFamily="34" charset="0"/>
                <a:sym typeface="Wingdings" pitchFamily="2" charset="2"/>
              </a:rPr>
              <a:t>\n			new line, line feed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+mn-lt"/>
                <a:cs typeface="Tahoma" pitchFamily="34" charset="0"/>
                <a:sym typeface="Wingdings" pitchFamily="2" charset="2"/>
              </a:rPr>
              <a:t>\v			vertical tab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+mn-lt"/>
                <a:cs typeface="Tahoma" pitchFamily="34" charset="0"/>
                <a:sym typeface="Wingdings" pitchFamily="2" charset="2"/>
              </a:rPr>
              <a:t>\r			carriage return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+mn-lt"/>
                <a:cs typeface="Tahoma" pitchFamily="34" charset="0"/>
                <a:sym typeface="Wingdings" pitchFamily="2" charset="2"/>
              </a:rPr>
              <a:t>\’			single quote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+mn-lt"/>
                <a:cs typeface="Tahoma" pitchFamily="34" charset="0"/>
                <a:sym typeface="Wingdings" pitchFamily="2" charset="2"/>
              </a:rPr>
              <a:t>\”			double quote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+mn-lt"/>
                <a:cs typeface="Tahoma" pitchFamily="34" charset="0"/>
                <a:sym typeface="Wingdings" pitchFamily="2" charset="2"/>
              </a:rPr>
              <a:t>\\			backslash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+mn-lt"/>
                <a:cs typeface="Tahoma" pitchFamily="34" charset="0"/>
                <a:sym typeface="Wingdings" pitchFamily="2" charset="2"/>
              </a:rPr>
              <a:t>\</a:t>
            </a:r>
            <a:r>
              <a:rPr lang="en-US" altLang="en-US" sz="3600" dirty="0" err="1">
                <a:solidFill>
                  <a:schemeClr val="bg2">
                    <a:lumMod val="10000"/>
                  </a:schemeClr>
                </a:solidFill>
                <a:latin typeface="+mn-lt"/>
                <a:cs typeface="Tahoma" pitchFamily="34" charset="0"/>
                <a:sym typeface="Wingdings" pitchFamily="2" charset="2"/>
              </a:rPr>
              <a:t>xdd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+mn-lt"/>
                <a:cs typeface="Tahoma" pitchFamily="34" charset="0"/>
                <a:sym typeface="Wingdings" pitchFamily="2" charset="2"/>
              </a:rPr>
              <a:t>		hexadecimal notation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+mn-lt"/>
                <a:cs typeface="Tahoma" pitchFamily="34" charset="0"/>
                <a:sym typeface="Wingdings" pitchFamily="2" charset="2"/>
              </a:rPr>
              <a:t>\</a:t>
            </a:r>
            <a:r>
              <a:rPr lang="en-US" altLang="en-US" sz="3600" dirty="0" err="1">
                <a:solidFill>
                  <a:schemeClr val="bg2">
                    <a:lumMod val="10000"/>
                  </a:schemeClr>
                </a:solidFill>
                <a:latin typeface="+mn-lt"/>
                <a:cs typeface="Tahoma" pitchFamily="34" charset="0"/>
                <a:sym typeface="Wingdings" pitchFamily="2" charset="2"/>
              </a:rPr>
              <a:t>ddd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+mn-lt"/>
                <a:cs typeface="Tahoma" pitchFamily="34" charset="0"/>
                <a:sym typeface="Wingdings" pitchFamily="2" charset="2"/>
              </a:rPr>
              <a:t>		octal notation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C4B751-4B4A-281D-030E-29547E246A92}"/>
              </a:ext>
            </a:extLst>
          </p:cNvPr>
          <p:cNvSpPr txBox="1"/>
          <p:nvPr/>
        </p:nvSpPr>
        <p:spPr>
          <a:xfrm>
            <a:off x="12299188" y="10996111"/>
            <a:ext cx="12195312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Example of Escape Characters</a:t>
            </a:r>
            <a:endParaRPr lang="en-US" altLang="en-US" sz="3200" dirty="0">
              <a:solidFill>
                <a:schemeClr val="bg2">
                  <a:lumMod val="10000"/>
                </a:schemeClr>
              </a:solidFill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95248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321B8-7A90-7504-11CE-54B8D1F6A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6BCD1-A773-2C68-CE17-C924A8CCA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Identifiers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9C0FB-BB71-7E51-ABDB-08F3580F15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Identifiers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9917A0E-2391-4727-E4C5-5B55D35E28E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8" y="3264732"/>
            <a:ext cx="19797272" cy="7577332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Identifier 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is the name used to identify a variable, function, array, class, or any other user-defined element in a programming language. </a:t>
            </a:r>
          </a:p>
          <a:p>
            <a:pPr marL="0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Identifier rules in C:</a:t>
            </a:r>
          </a:p>
          <a:p>
            <a:pPr marL="1081088" lvl="1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Started with a letter or underscore (_)</a:t>
            </a:r>
          </a:p>
          <a:p>
            <a:pPr marL="1081088" lvl="1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Can include letters (A–Z, a–z), digits (0–9), and underscores (_).</a:t>
            </a:r>
          </a:p>
          <a:p>
            <a:pPr marL="1081088" lvl="1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Case sensitive</a:t>
            </a:r>
          </a:p>
          <a:p>
            <a:pPr marL="1081088" lvl="1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Maximum length is vary for every compiler</a:t>
            </a:r>
          </a:p>
          <a:p>
            <a:pPr marL="1081088" lvl="1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Never use reserved word/keywords (such as: for, while, if, main)</a:t>
            </a:r>
          </a:p>
          <a:p>
            <a:pPr marL="0">
              <a:spcBef>
                <a:spcPts val="1200"/>
              </a:spcBef>
            </a:pP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Example:</a:t>
            </a:r>
          </a:p>
          <a:p>
            <a:pPr marL="623888" lvl="1" indent="-287338">
              <a:spcBef>
                <a:spcPts val="1200"/>
              </a:spcBef>
              <a:buNone/>
            </a:pPr>
            <a:r>
              <a:rPr lang="en-US" altLang="en-US" sz="3600" dirty="0">
                <a:latin typeface="Tahoma" pitchFamily="34" charset="0"/>
                <a:cs typeface="Tahoma" pitchFamily="34" charset="0"/>
                <a:sym typeface="Wingdings" pitchFamily="2" charset="2"/>
              </a:rPr>
              <a:t>(v) name, x1, _total, cubic()</a:t>
            </a:r>
          </a:p>
          <a:p>
            <a:pPr marL="623888" lvl="1" indent="-287338">
              <a:spcBef>
                <a:spcPts val="1200"/>
              </a:spcBef>
              <a:buNone/>
            </a:pPr>
            <a:r>
              <a:rPr lang="en-US" altLang="en-US" sz="3600" dirty="0">
                <a:latin typeface="Tahoma" pitchFamily="34" charset="0"/>
                <a:cs typeface="Tahoma" pitchFamily="34" charset="0"/>
                <a:sym typeface="Wingdings" pitchFamily="2" charset="2"/>
              </a:rPr>
              <a:t>(x)</a:t>
            </a:r>
            <a:r>
              <a:rPr lang="en-US" altLang="en-US" sz="3600" dirty="0">
                <a:solidFill>
                  <a:srgbClr val="FF0000"/>
                </a:solidFill>
                <a:latin typeface="Tahoma" pitchFamily="34" charset="0"/>
                <a:cs typeface="Tahoma" pitchFamily="34" charset="0"/>
                <a:sym typeface="Wingdings" pitchFamily="2" charset="2"/>
              </a:rPr>
              <a:t> 1time, int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59403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211F-31C6-BA72-EE12-ACF7024D0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40C01-E1AC-AEF9-FD1F-DF7CCFCB2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b="1" dirty="0">
                <a:latin typeface="Tahoma" pitchFamily="34" charset="0"/>
                <a:cs typeface="Tahoma" pitchFamily="34" charset="0"/>
              </a:rPr>
              <a:t>Keywords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3A65C-FA87-F557-7255-ECE41FBF9C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3200" b="1" dirty="0">
                <a:latin typeface="Tahoma" pitchFamily="34" charset="0"/>
                <a:cs typeface="Tahoma" pitchFamily="34" charset="0"/>
              </a:rPr>
              <a:t>Keywords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FAB37FB-B3F6-ADE6-3D3F-2B81F8F180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8" y="3264732"/>
            <a:ext cx="19797272" cy="7577332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Keywords/reserved words are words that have special meaning to the C compiler.</a:t>
            </a:r>
          </a:p>
          <a:p>
            <a:pPr>
              <a:spcBef>
                <a:spcPts val="1200"/>
              </a:spcBef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C40EB7-B1CB-C7BD-DB51-67BBD395B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8289" y="4696919"/>
            <a:ext cx="11074657" cy="738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8518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CDBD3-F20B-FAAB-3A24-32F7F6692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9E3A5-893F-A4C7-ACE7-742B9196D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b="1" dirty="0">
                <a:latin typeface="Tahoma" pitchFamily="34" charset="0"/>
                <a:cs typeface="Tahoma" pitchFamily="34" charset="0"/>
              </a:rPr>
              <a:t>Keywords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4459D-04B6-68BF-3F11-C37A05E4C5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3200" b="1" dirty="0">
                <a:latin typeface="Tahoma" pitchFamily="34" charset="0"/>
                <a:cs typeface="Tahoma" pitchFamily="34" charset="0"/>
              </a:rPr>
              <a:t>Keywords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A8B22683-2F31-F883-45F3-06024F7061B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087600" y="3264732"/>
            <a:ext cx="6877050" cy="3206406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Some compilers will highlight keywords with distinct color, as seen from the figure below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53A6F12-CCB9-0BA1-5112-BEB518008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8" y="3383955"/>
            <a:ext cx="12612758" cy="834050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63CF3D-A462-38A3-551A-20C5A22BE5C5}"/>
              </a:ext>
            </a:extLst>
          </p:cNvPr>
          <p:cNvCxnSpPr>
            <a:cxnSpLocks/>
          </p:cNvCxnSpPr>
          <p:nvPr/>
        </p:nvCxnSpPr>
        <p:spPr>
          <a:xfrm flipH="1" flipV="1">
            <a:off x="6019800" y="3794943"/>
            <a:ext cx="8912736" cy="5823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048D21F-C762-A5E4-9C62-2A8D8E337A80}"/>
              </a:ext>
            </a:extLst>
          </p:cNvPr>
          <p:cNvCxnSpPr>
            <a:cxnSpLocks/>
          </p:cNvCxnSpPr>
          <p:nvPr/>
        </p:nvCxnSpPr>
        <p:spPr>
          <a:xfrm flipH="1">
            <a:off x="3587262" y="4377290"/>
            <a:ext cx="11345274" cy="381714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428361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F5B76-9FD4-4BB2-9A2A-1714D01D7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F4E1-7C14-CBF0-B8EA-5415782B1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b="1" dirty="0">
                <a:latin typeface="Tahoma" pitchFamily="34" charset="0"/>
                <a:cs typeface="Tahoma" pitchFamily="34" charset="0"/>
              </a:rPr>
              <a:t>SAMPLE CODE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024E3-802A-345E-CABA-0D4DCCAABC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3200" b="1" dirty="0" err="1">
                <a:latin typeface="Tahoma" pitchFamily="34" charset="0"/>
                <a:cs typeface="Tahoma" pitchFamily="34" charset="0"/>
              </a:rPr>
              <a:t>Math.h</a:t>
            </a:r>
            <a:endParaRPr lang="en-US" dirty="0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116EDCA3-FB5B-1719-B270-6EBB245CB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7" y="3538125"/>
            <a:ext cx="13510773" cy="5994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49F3DA90-21FA-9C12-0B1F-3155739A5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34426" y="9099636"/>
            <a:ext cx="9282197" cy="3109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44DFEA-DD61-FD77-B707-AE63A3D13900}"/>
              </a:ext>
            </a:extLst>
          </p:cNvPr>
          <p:cNvSpPr txBox="1"/>
          <p:nvPr/>
        </p:nvSpPr>
        <p:spPr>
          <a:xfrm>
            <a:off x="3369427" y="9992789"/>
            <a:ext cx="8362950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tx2">
                    <a:lumMod val="50000"/>
                  </a:schemeClr>
                </a:solidFill>
              </a:rPr>
              <a:t>math.h</a:t>
            </a:r>
            <a:r>
              <a:rPr lang="en-US" sz="36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</a:rPr>
              <a:t>contains function declarations for a wide range of mathematical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291251-04DD-B70B-193C-9F1C0D68D10E}"/>
              </a:ext>
            </a:extLst>
          </p:cNvPr>
          <p:cNvSpPr txBox="1"/>
          <p:nvPr/>
        </p:nvSpPr>
        <p:spPr>
          <a:xfrm>
            <a:off x="16683477" y="8988017"/>
            <a:ext cx="3319023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chemeClr val="tx2">
                    <a:lumMod val="50000"/>
                  </a:schemeClr>
                </a:solidFill>
              </a:rPr>
              <a:t>Output:</a:t>
            </a:r>
            <a:endParaRPr lang="en-US" sz="36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51430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8AA58-4A46-ADFE-2CA4-D3C6E527C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2BDDB-41E4-258C-A293-DEC8ED7BF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b="1" dirty="0">
                <a:latin typeface="Tahoma" pitchFamily="34" charset="0"/>
                <a:cs typeface="Tahoma" pitchFamily="34" charset="0"/>
              </a:rPr>
              <a:t>SAMPLE CODE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8C779-14AD-53F9-8246-B2062D89C0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3200" b="1" dirty="0" err="1">
                <a:latin typeface="Tahoma" pitchFamily="34" charset="0"/>
                <a:cs typeface="Tahoma" pitchFamily="34" charset="0"/>
              </a:rPr>
              <a:t>stdlib.h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19CB94-A0D0-4574-867A-AF662B603460}"/>
              </a:ext>
            </a:extLst>
          </p:cNvPr>
          <p:cNvSpPr txBox="1"/>
          <p:nvPr/>
        </p:nvSpPr>
        <p:spPr>
          <a:xfrm>
            <a:off x="11182349" y="3645180"/>
            <a:ext cx="10515601" cy="39703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600" b="1" dirty="0" err="1">
                <a:solidFill>
                  <a:schemeClr val="tx2">
                    <a:lumMod val="50000"/>
                  </a:schemeClr>
                </a:solidFill>
              </a:rPr>
              <a:t>stdlib.h</a:t>
            </a:r>
            <a:r>
              <a:rPr lang="en-US" sz="36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</a:rPr>
              <a:t>is a standard C header file that provides functions for: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>
                    <a:lumMod val="50000"/>
                  </a:schemeClr>
                </a:solidFill>
              </a:rPr>
              <a:t>Memory allocation 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(malloc, free, </a:t>
            </a:r>
            <a:r>
              <a:rPr lang="en-US" sz="3600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>
                    <a:lumMod val="50000"/>
                  </a:schemeClr>
                </a:solidFill>
              </a:rPr>
              <a:t>Process control 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(exit, system, </a:t>
            </a:r>
            <a:r>
              <a:rPr lang="en-US" sz="3600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>
                    <a:lumMod val="50000"/>
                  </a:schemeClr>
                </a:solidFill>
              </a:rPr>
              <a:t>Conversions between strings and numbers 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3600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atoi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3600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itoa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3600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3600" dirty="0">
              <a:solidFill>
                <a:schemeClr val="tx2">
                  <a:lumMod val="50000"/>
                </a:schemeClr>
              </a:solidFill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>
                    <a:lumMod val="50000"/>
                  </a:schemeClr>
                </a:solidFill>
              </a:rPr>
              <a:t>Random number generation 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3600" dirty="0" err="1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srand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rand)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D3E141C-4107-D7C4-0BC0-34D55DD66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90428" y="3467799"/>
            <a:ext cx="8048972" cy="8376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8436220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CB991-E6B7-9DE3-8B2D-9237A0C0A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78641-8472-410B-1A83-89EB29978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b="1" dirty="0">
                <a:latin typeface="Tahoma" pitchFamily="34" charset="0"/>
                <a:cs typeface="Tahoma" pitchFamily="34" charset="0"/>
              </a:rPr>
              <a:t>SAMPLE CODE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B2224-0C98-8D22-8F28-D34BFAE28C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3200" b="1" dirty="0" err="1">
                <a:latin typeface="Tahoma" pitchFamily="34" charset="0"/>
                <a:cs typeface="Tahoma" pitchFamily="34" charset="0"/>
              </a:rPr>
              <a:t>string.h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8C214C-6A98-F0A1-36E8-26C30D04C775}"/>
              </a:ext>
            </a:extLst>
          </p:cNvPr>
          <p:cNvSpPr txBox="1"/>
          <p:nvPr/>
        </p:nvSpPr>
        <p:spPr>
          <a:xfrm>
            <a:off x="2167377" y="10444240"/>
            <a:ext cx="15949173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600" b="1" dirty="0" err="1">
                <a:solidFill>
                  <a:schemeClr val="tx2">
                    <a:lumMod val="50000"/>
                  </a:schemeClr>
                </a:solidFill>
              </a:rPr>
              <a:t>string.h</a:t>
            </a:r>
            <a:r>
              <a:rPr lang="en-US" sz="36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</a:rPr>
              <a:t>provides functions to manipulate strings and memory blocks.</a:t>
            </a:r>
            <a:endParaRPr lang="en-US" sz="36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B37BE9B-F2EA-3F99-75C7-09EC33E92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7" y="3756856"/>
            <a:ext cx="12137741" cy="620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71299898-93F8-F19C-0BD6-4D86231A6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022103" y="4565118"/>
            <a:ext cx="5856448" cy="1798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6721D8-EFC1-4A40-64D6-A6376FDA97BF}"/>
              </a:ext>
            </a:extLst>
          </p:cNvPr>
          <p:cNvSpPr txBox="1"/>
          <p:nvPr/>
        </p:nvSpPr>
        <p:spPr>
          <a:xfrm>
            <a:off x="14797527" y="3687705"/>
            <a:ext cx="3319023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chemeClr val="tx2">
                    <a:lumMod val="50000"/>
                  </a:schemeClr>
                </a:solidFill>
              </a:rPr>
              <a:t>Output:</a:t>
            </a:r>
            <a:endParaRPr lang="en-US" sz="36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85108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44D28-2BD3-8B72-0DFA-8C730519B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60F59-6FF3-5D5B-5E09-8C3C2CBE9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b="1" dirty="0">
                <a:latin typeface="Tahoma" pitchFamily="34" charset="0"/>
                <a:cs typeface="Tahoma" pitchFamily="34" charset="0"/>
              </a:rPr>
              <a:t>SAMPLE CODE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81F62-1C25-487D-1A6D-F3BD1F667A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3200" b="1" dirty="0" err="1">
                <a:latin typeface="Tahoma" pitchFamily="34" charset="0"/>
                <a:cs typeface="Tahoma" pitchFamily="34" charset="0"/>
              </a:rPr>
              <a:t>time.h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6E399F-080F-E37A-21F2-DFD17A0ED315}"/>
              </a:ext>
            </a:extLst>
          </p:cNvPr>
          <p:cNvSpPr txBox="1"/>
          <p:nvPr/>
        </p:nvSpPr>
        <p:spPr>
          <a:xfrm>
            <a:off x="2167377" y="10614511"/>
            <a:ext cx="15949173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600" b="1" dirty="0" err="1">
                <a:solidFill>
                  <a:schemeClr val="tx2">
                    <a:lumMod val="50000"/>
                  </a:schemeClr>
                </a:solidFill>
              </a:rPr>
              <a:t>time.h</a:t>
            </a:r>
            <a:r>
              <a:rPr lang="en-US" sz="36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</a:rPr>
              <a:t> provides functions and types for managing and manipulating time and date information.</a:t>
            </a:r>
            <a:endParaRPr lang="en-US" sz="36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AC26BCB-F937-3B94-BBD6-B22744625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7" y="3592525"/>
            <a:ext cx="11486005" cy="653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F566D533-29EB-4B9D-23DA-46DB1FE29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09708" y="9773576"/>
            <a:ext cx="12531507" cy="510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1BDB19-A60D-96C3-41C3-805573D6E3CA}"/>
              </a:ext>
            </a:extLst>
          </p:cNvPr>
          <p:cNvSpPr txBox="1"/>
          <p:nvPr/>
        </p:nvSpPr>
        <p:spPr>
          <a:xfrm>
            <a:off x="17083527" y="8961918"/>
            <a:ext cx="3319023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chemeClr val="tx2">
                    <a:lumMod val="50000"/>
                  </a:schemeClr>
                </a:solidFill>
              </a:rPr>
              <a:t>Output:</a:t>
            </a:r>
            <a:endParaRPr lang="en-US" sz="3600" dirty="0">
              <a:solidFill>
                <a:schemeClr val="tx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34554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8DB86-E82C-601A-4E06-93224C583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EDF95-3CD5-F8D5-6C69-94135DF5B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4C35047-62D1-AF64-950A-68B41F6C9F8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00067"/>
            <a:ext cx="19460171" cy="8282333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State whether each of the following statements is TRUE or FALSE. If it is FALSE, explain why.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Every C program begins execution at main function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Comments cause the computer to print the text enclosed between /* and */ on the screen when the program is executed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All variables must be defined before used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All variables must be given a type when they’re defined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 considers number and Number to be identical</a:t>
            </a:r>
          </a:p>
          <a:p>
            <a:pPr>
              <a:spcBef>
                <a:spcPts val="1200"/>
              </a:spcBef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00475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35434-CE0F-AC92-FB31-D9097E7F0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3EB83-D4A5-6D2E-4C0C-1A540A590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DAD960B-1435-7902-BE7D-0C8B02D446A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00067"/>
            <a:ext cx="19460171" cy="10018368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 is used because: high performance, portability and efficiency 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 language is a structural programming language. It consists of functions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 program has one main function called </a:t>
            </a: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main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 language is </a:t>
            </a: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case sensitive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. 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Every statement in C language should be ended with a </a:t>
            </a: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semi-colon (;)</a:t>
            </a:r>
          </a:p>
          <a:p>
            <a:pPr>
              <a:spcBef>
                <a:spcPts val="1200"/>
              </a:spcBef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50517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09BD8-6A35-C6F1-8612-C1D26B504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445B8-DA6B-8391-50C8-B64F103BB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REFRENCES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C637192-B017-8920-94C9-2C0A55F44F6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00067"/>
            <a:ext cx="19460171" cy="10018368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Paul Deitel &amp; Harvey Deitel. (2021). C how to program. 09. Pearson  Education. New York. ISBN: 9780137398393. 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Jeri R. Hanly , Elliot B. Koffman. (2016). Problem Solving and Program Design in C. 08. ISBN: 9781292098814 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Writing Your First C Program: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2"/>
              </a:rPr>
              <a:t>http://aelinik.free.fr/c/ch02.htm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Data Types and Names in C: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3"/>
              </a:rPr>
              <a:t>http://aelinik.free.fr/c/ch04.htm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690936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2437cf3-862c-4aa8-bd7e-caeecb8e11df">
      <Terms xmlns="http://schemas.microsoft.com/office/infopath/2007/PartnerControls"/>
    </lcf76f155ced4ddcb4097134ff3c332f>
    <TaxCatchAll xmlns="fc2d5289-3ec1-4d76-80c1-a1cd17baf85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CA077843E12C45ABBF89EA0D3E6ECB" ma:contentTypeVersion="12" ma:contentTypeDescription="Create a new document." ma:contentTypeScope="" ma:versionID="5ed595dea67b8b322e39378c6251215c">
  <xsd:schema xmlns:xsd="http://www.w3.org/2001/XMLSchema" xmlns:xs="http://www.w3.org/2001/XMLSchema" xmlns:p="http://schemas.microsoft.com/office/2006/metadata/properties" xmlns:ns2="02437cf3-862c-4aa8-bd7e-caeecb8e11df" xmlns:ns3="fc2d5289-3ec1-4d76-80c1-a1cd17baf85c" targetNamespace="http://schemas.microsoft.com/office/2006/metadata/properties" ma:root="true" ma:fieldsID="d378c5c85e55afa0691156e287dbbb41" ns2:_="" ns3:_="">
    <xsd:import namespace="02437cf3-862c-4aa8-bd7e-caeecb8e11df"/>
    <xsd:import namespace="fc2d5289-3ec1-4d76-80c1-a1cd17baf8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37cf3-862c-4aa8-bd7e-caeecb8e11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2d5289-3ec1-4d76-80c1-a1cd17baf85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ed2725a-0247-41b8-b239-ecd86c77a8ad}" ma:internalName="TaxCatchAll" ma:showField="CatchAllData" ma:web="fc2d5289-3ec1-4d76-80c1-a1cd17baf8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66B44F-52A0-4F26-8872-F7126C188EFF}">
  <ds:schemaRefs>
    <ds:schemaRef ds:uri="http://schemas.microsoft.com/office/2006/metadata/properties"/>
    <ds:schemaRef ds:uri="http://schemas.microsoft.com/office/infopath/2007/PartnerControls"/>
    <ds:schemaRef ds:uri="02437cf3-862c-4aa8-bd7e-caeecb8e11df"/>
    <ds:schemaRef ds:uri="fc2d5289-3ec1-4d76-80c1-a1cd17baf85c"/>
  </ds:schemaRefs>
</ds:datastoreItem>
</file>

<file path=customXml/itemProps2.xml><?xml version="1.0" encoding="utf-8"?>
<ds:datastoreItem xmlns:ds="http://schemas.openxmlformats.org/officeDocument/2006/customXml" ds:itemID="{14A2B69F-A855-4A0D-B508-41FAB626DB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437cf3-862c-4aa8-bd7e-caeecb8e11df"/>
    <ds:schemaRef ds:uri="fc2d5289-3ec1-4d76-80c1-a1cd17baf8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B079F0C-1134-4132-9781-D3D50B28D11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1. Algorithm &amp; Programming and Introduction to C Programming</Template>
  <TotalTime>2075</TotalTime>
  <Words>1240</Words>
  <Application>Microsoft Office PowerPoint</Application>
  <PresentationFormat>Custom</PresentationFormat>
  <Paragraphs>154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Consolas</vt:lpstr>
      <vt:lpstr>OCRB</vt:lpstr>
      <vt:lpstr>Open Sans ExtraBold</vt:lpstr>
      <vt:lpstr>Arial</vt:lpstr>
      <vt:lpstr>Tahoma</vt:lpstr>
      <vt:lpstr>Calibri</vt:lpstr>
      <vt:lpstr>Courier New</vt:lpstr>
      <vt:lpstr>Open Sans Light</vt:lpstr>
      <vt:lpstr>Wingdings</vt:lpstr>
      <vt:lpstr>Cambria Math</vt:lpstr>
      <vt:lpstr>Open Sans Semibold</vt:lpstr>
      <vt:lpstr>21_BasicWhite</vt:lpstr>
      <vt:lpstr>Introduction to C programming</vt:lpstr>
      <vt:lpstr>Learning Objectives</vt:lpstr>
      <vt:lpstr>Subtopics</vt:lpstr>
      <vt:lpstr>IntroductioN</vt:lpstr>
      <vt:lpstr>C STANDARD LIBRARY</vt:lpstr>
      <vt:lpstr>C structure</vt:lpstr>
      <vt:lpstr>C structure</vt:lpstr>
      <vt:lpstr>C structure</vt:lpstr>
      <vt:lpstr>Comments</vt:lpstr>
      <vt:lpstr>Character</vt:lpstr>
      <vt:lpstr>Identifiers</vt:lpstr>
      <vt:lpstr>Keywords</vt:lpstr>
      <vt:lpstr>Keywords</vt:lpstr>
      <vt:lpstr>SAMPLE CODE</vt:lpstr>
      <vt:lpstr>SAMPLE CODE</vt:lpstr>
      <vt:lpstr>SAMPLE CODE</vt:lpstr>
      <vt:lpstr>SAMPLE CODE</vt:lpstr>
      <vt:lpstr>EXERCISE</vt:lpstr>
      <vt:lpstr>SUMMARY</vt:lpstr>
      <vt:lpstr>REFRENCES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SHANIA PRICCILIA</dc:creator>
  <cp:lastModifiedBy>Violitta Yesmaya</cp:lastModifiedBy>
  <cp:revision>23</cp:revision>
  <dcterms:created xsi:type="dcterms:W3CDTF">2025-05-12T11:13:33Z</dcterms:created>
  <dcterms:modified xsi:type="dcterms:W3CDTF">2025-07-29T15:59:34Z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0x010100B4CA077843E12C45ABBF89EA0D3E6ECB</vt:lpwstr>
  </property>
  <property fmtid="{D5CDD505-2E9C-101B-9397-08002B2CF9AE}" pid="3" name="MediaServiceImageTags">
    <vt:lpwstr/>
  </property>
</Properties>
</file>