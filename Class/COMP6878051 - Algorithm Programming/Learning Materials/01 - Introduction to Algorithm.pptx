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8"/>
  </p:notesMasterIdLst>
  <p:sldIdLst>
    <p:sldId id="256" r:id="rId5"/>
    <p:sldId id="258" r:id="rId6"/>
    <p:sldId id="259" r:id="rId7"/>
    <p:sldId id="262" r:id="rId8"/>
    <p:sldId id="263" r:id="rId9"/>
    <p:sldId id="270" r:id="rId10"/>
    <p:sldId id="288" r:id="rId11"/>
    <p:sldId id="289" r:id="rId12"/>
    <p:sldId id="290" r:id="rId13"/>
    <p:sldId id="291" r:id="rId14"/>
    <p:sldId id="292" r:id="rId15"/>
    <p:sldId id="294" r:id="rId16"/>
    <p:sldId id="295" r:id="rId17"/>
    <p:sldId id="297" r:id="rId18"/>
    <p:sldId id="298" r:id="rId19"/>
    <p:sldId id="264" r:id="rId20"/>
    <p:sldId id="266" r:id="rId21"/>
    <p:sldId id="299" r:id="rId22"/>
    <p:sldId id="300" r:id="rId23"/>
    <p:sldId id="301" r:id="rId24"/>
    <p:sldId id="302" r:id="rId25"/>
    <p:sldId id="303" r:id="rId26"/>
    <p:sldId id="304" r:id="rId27"/>
    <p:sldId id="268" r:id="rId28"/>
    <p:sldId id="265" r:id="rId29"/>
    <p:sldId id="269" r:id="rId30"/>
    <p:sldId id="271" r:id="rId31"/>
    <p:sldId id="305" r:id="rId32"/>
    <p:sldId id="306" r:id="rId33"/>
    <p:sldId id="307" r:id="rId34"/>
    <p:sldId id="286" r:id="rId35"/>
    <p:sldId id="308" r:id="rId36"/>
    <p:sldId id="287" r:id="rId37"/>
  </p:sldIdLst>
  <p:sldSz cx="24384000" cy="13716000"/>
  <p:notesSz cx="6858000" cy="9144000"/>
  <p:embeddedFontLst>
    <p:embeddedFont>
      <p:font typeface="OCRB" panose="020B0609020202020204" pitchFamily="49" charset="0"/>
      <p:regular r:id="rId39"/>
    </p:embeddedFont>
    <p:embeddedFont>
      <p:font typeface="Open Sans ExtraBold" panose="020B0906030804020204" pitchFamily="34" charset="0"/>
      <p:bold r:id="rId40"/>
      <p:italic r:id="rId41"/>
      <p:boldItalic r:id="rId42"/>
    </p:embeddedFont>
    <p:embeddedFont>
      <p:font typeface="Open Sans Light" panose="020B0306030504020204" pitchFamily="34" charset="0"/>
      <p:regular r:id="rId43"/>
      <p:italic r:id="rId44"/>
    </p:embeddedFont>
    <p:embeddedFont>
      <p:font typeface="Open Sans Semibold" panose="020B0706030804020204" pitchFamily="34" charset="0"/>
      <p:bold r:id="rId45"/>
      <p:boldItalic r:id="rId46"/>
    </p:embeddedFont>
    <p:embeddedFont>
      <p:font typeface="Tahoma" panose="020B0604030504040204" pitchFamily="34" charset="0"/>
      <p:regular r:id="rId47"/>
      <p:bold r:id="rId4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197"/>
  </p:normalViewPr>
  <p:slideViewPr>
    <p:cSldViewPr snapToGrid="0" snapToObjects="1">
      <p:cViewPr varScale="1">
        <p:scale>
          <a:sx n="33" d="100"/>
          <a:sy n="33" d="100"/>
        </p:scale>
        <p:origin x="774" y="6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A PRICCILIA" userId="28f68feb-2ad7-4195-8423-6eee3405c604" providerId="ADAL" clId="{FC1FAC5B-DB8F-48AF-871B-87BA5651ED3E}"/>
    <pc:docChg chg="custSel modSld">
      <pc:chgData name="SHANIA PRICCILIA" userId="28f68feb-2ad7-4195-8423-6eee3405c604" providerId="ADAL" clId="{FC1FAC5B-DB8F-48AF-871B-87BA5651ED3E}" dt="2025-06-26T05:41:52.037" v="2" actId="478"/>
      <pc:docMkLst>
        <pc:docMk/>
      </pc:docMkLst>
      <pc:sldChg chg="modSp mod">
        <pc:chgData name="SHANIA PRICCILIA" userId="28f68feb-2ad7-4195-8423-6eee3405c604" providerId="ADAL" clId="{FC1FAC5B-DB8F-48AF-871B-87BA5651ED3E}" dt="2025-06-26T05:41:45.765" v="0" actId="20577"/>
        <pc:sldMkLst>
          <pc:docMk/>
          <pc:sldMk cId="3807564589" sldId="256"/>
        </pc:sldMkLst>
        <pc:spChg chg="mod">
          <ac:chgData name="SHANIA PRICCILIA" userId="28f68feb-2ad7-4195-8423-6eee3405c604" providerId="ADAL" clId="{FC1FAC5B-DB8F-48AF-871B-87BA5651ED3E}" dt="2025-06-26T05:41:45.765" v="0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addSp delSp modSp mod">
        <pc:chgData name="SHANIA PRICCILIA" userId="28f68feb-2ad7-4195-8423-6eee3405c604" providerId="ADAL" clId="{FC1FAC5B-DB8F-48AF-871B-87BA5651ED3E}" dt="2025-06-26T05:41:49.492" v="1" actId="478"/>
        <pc:sldMkLst>
          <pc:docMk/>
          <pc:sldMk cId="1968907909" sldId="258"/>
        </pc:sldMkLst>
        <pc:spChg chg="add mod">
          <ac:chgData name="SHANIA PRICCILIA" userId="28f68feb-2ad7-4195-8423-6eee3405c604" providerId="ADAL" clId="{FC1FAC5B-DB8F-48AF-871B-87BA5651ED3E}" dt="2025-06-26T05:41:49.492" v="1" actId="478"/>
          <ac:spMkLst>
            <pc:docMk/>
            <pc:sldMk cId="1968907909" sldId="258"/>
            <ac:spMk id="6" creationId="{48D18402-8FF5-BF7B-6C63-3E3EBE13F3FB}"/>
          </ac:spMkLst>
        </pc:spChg>
      </pc:sldChg>
      <pc:sldChg chg="addSp delSp modSp mod">
        <pc:chgData name="SHANIA PRICCILIA" userId="28f68feb-2ad7-4195-8423-6eee3405c604" providerId="ADAL" clId="{FC1FAC5B-DB8F-48AF-871B-87BA5651ED3E}" dt="2025-06-26T05:41:52.037" v="2" actId="478"/>
        <pc:sldMkLst>
          <pc:docMk/>
          <pc:sldMk cId="4105662268" sldId="259"/>
        </pc:sldMkLst>
        <pc:spChg chg="add mod">
          <ac:chgData name="SHANIA PRICCILIA" userId="28f68feb-2ad7-4195-8423-6eee3405c604" providerId="ADAL" clId="{FC1FAC5B-DB8F-48AF-871B-87BA5651ED3E}" dt="2025-06-26T05:41:52.037" v="2" actId="478"/>
          <ac:spMkLst>
            <pc:docMk/>
            <pc:sldMk cId="4105662268" sldId="259"/>
            <ac:spMk id="6" creationId="{A2637A35-AD25-D609-03AC-F1A916ECDFFD}"/>
          </ac:spMkLst>
        </pc:spChg>
      </pc:sldChg>
    </pc:docChg>
  </pc:docChgLst>
  <pc:docChgLst>
    <pc:chgData name="Violitta Yesmaya" userId="4132fe74-a9e3-4df6-a260-6f1dbd02419b" providerId="ADAL" clId="{C6332C69-8F17-43F8-9848-FAA1F52B122D}"/>
    <pc:docChg chg="custSel modSld modMainMaster">
      <pc:chgData name="Violitta Yesmaya" userId="4132fe74-a9e3-4df6-a260-6f1dbd02419b" providerId="ADAL" clId="{C6332C69-8F17-43F8-9848-FAA1F52B122D}" dt="2025-07-29T15:59:15.129" v="4"/>
      <pc:docMkLst>
        <pc:docMk/>
      </pc:docMkLst>
      <pc:sldChg chg="addSp delSp modSp mod">
        <pc:chgData name="Violitta Yesmaya" userId="4132fe74-a9e3-4df6-a260-6f1dbd02419b" providerId="ADAL" clId="{C6332C69-8F17-43F8-9848-FAA1F52B122D}" dt="2025-07-29T15:41:18.975" v="0" actId="478"/>
        <pc:sldMkLst>
          <pc:docMk/>
          <pc:sldMk cId="3807564589" sldId="256"/>
        </pc:sldMkLst>
        <pc:spChg chg="del">
          <ac:chgData name="Violitta Yesmaya" userId="4132fe74-a9e3-4df6-a260-6f1dbd02419b" providerId="ADAL" clId="{C6332C69-8F17-43F8-9848-FAA1F52B122D}" dt="2025-07-29T15:41:18.975" v="0" actId="478"/>
          <ac:spMkLst>
            <pc:docMk/>
            <pc:sldMk cId="3807564589" sldId="256"/>
            <ac:spMk id="4" creationId="{319DA326-32BB-7EBF-F49C-D0308881B79F}"/>
          </ac:spMkLst>
        </pc:spChg>
        <pc:spChg chg="add mod">
          <ac:chgData name="Violitta Yesmaya" userId="4132fe74-a9e3-4df6-a260-6f1dbd02419b" providerId="ADAL" clId="{C6332C69-8F17-43F8-9848-FAA1F52B122D}" dt="2025-07-29T15:41:18.975" v="0" actId="478"/>
          <ac:spMkLst>
            <pc:docMk/>
            <pc:sldMk cId="3807564589" sldId="256"/>
            <ac:spMk id="6" creationId="{E4997430-078A-2BB0-8479-62BCC293E3E5}"/>
          </ac:spMkLst>
        </pc:spChg>
      </pc:sldChg>
      <pc:sldChg chg="modSp mod">
        <pc:chgData name="Violitta Yesmaya" userId="4132fe74-a9e3-4df6-a260-6f1dbd02419b" providerId="ADAL" clId="{C6332C69-8F17-43F8-9848-FAA1F52B122D}" dt="2025-07-29T15:59:15.129" v="4"/>
        <pc:sldMkLst>
          <pc:docMk/>
          <pc:sldMk cId="1968907909" sldId="258"/>
        </pc:sldMkLst>
        <pc:spChg chg="mod">
          <ac:chgData name="Violitta Yesmaya" userId="4132fe74-a9e3-4df6-a260-6f1dbd02419b" providerId="ADAL" clId="{C6332C69-8F17-43F8-9848-FAA1F52B122D}" dt="2025-07-29T15:59:15.129" v="4"/>
          <ac:spMkLst>
            <pc:docMk/>
            <pc:sldMk cId="1968907909" sldId="258"/>
            <ac:spMk id="4" creationId="{BF639152-5297-4504-380C-94154A8D96CB}"/>
          </ac:spMkLst>
        </pc:spChg>
      </pc:sldChg>
      <pc:sldMasterChg chg="modSldLayout">
        <pc:chgData name="Violitta Yesmaya" userId="4132fe74-a9e3-4df6-a260-6f1dbd02419b" providerId="ADAL" clId="{C6332C69-8F17-43F8-9848-FAA1F52B122D}" dt="2025-07-29T15:41:59.883" v="1" actId="478"/>
        <pc:sldMasterMkLst>
          <pc:docMk/>
          <pc:sldMasterMk cId="0" sldId="2147483648"/>
        </pc:sldMasterMkLst>
        <pc:sldLayoutChg chg="delSp mod">
          <pc:chgData name="Violitta Yesmaya" userId="4132fe74-a9e3-4df6-a260-6f1dbd02419b" providerId="ADAL" clId="{C6332C69-8F17-43F8-9848-FAA1F52B122D}" dt="2025-07-29T15:41:59.883" v="1" actId="478"/>
          <pc:sldLayoutMkLst>
            <pc:docMk/>
            <pc:sldMasterMk cId="0" sldId="2147483648"/>
            <pc:sldLayoutMk cId="4094124863" sldId="2147483672"/>
          </pc:sldLayoutMkLst>
          <pc:spChg chg="del">
            <ac:chgData name="Violitta Yesmaya" userId="4132fe74-a9e3-4df6-a260-6f1dbd02419b" providerId="ADAL" clId="{C6332C69-8F17-43F8-9848-FAA1F52B122D}" dt="2025-07-29T15:41:59.883" v="1" actId="478"/>
            <ac:spMkLst>
              <pc:docMk/>
              <pc:sldMasterMk cId="0" sldId="2147483648"/>
              <pc:sldLayoutMk cId="4094124863" sldId="2147483672"/>
              <ac:spMk id="4" creationId="{5DC7F27E-9CB9-099F-4DA7-367C6ADB411B}"/>
            </ac:spMkLst>
          </pc:spChg>
        </pc:sldLayoutChg>
      </pc:sldMasterChg>
    </pc:docChg>
  </pc:docChgLst>
  <pc:docChgLst>
    <pc:chgData name="Shania Priccilia" userId="S::shania.priccilia@binus.edu::c4dd4a50-8335-4e39-a119-dc5e413d78e9" providerId="AD" clId="Web-{379C41B5-58A7-CD2A-5283-21816D2EB4C1}"/>
    <pc:docChg chg="modSld">
      <pc:chgData name="Shania Priccilia" userId="S::shania.priccilia@binus.edu::c4dd4a50-8335-4e39-a119-dc5e413d78e9" providerId="AD" clId="Web-{379C41B5-58A7-CD2A-5283-21816D2EB4C1}" dt="2025-06-30T10:05:18.427" v="14" actId="20577"/>
      <pc:docMkLst>
        <pc:docMk/>
      </pc:docMkLst>
      <pc:sldChg chg="modSp">
        <pc:chgData name="Shania Priccilia" userId="S::shania.priccilia@binus.edu::c4dd4a50-8335-4e39-a119-dc5e413d78e9" providerId="AD" clId="Web-{379C41B5-58A7-CD2A-5283-21816D2EB4C1}" dt="2025-06-30T10:05:18.427" v="14" actId="20577"/>
        <pc:sldMkLst>
          <pc:docMk/>
          <pc:sldMk cId="3807564589" sldId="256"/>
        </pc:sldMkLst>
        <pc:spChg chg="mod">
          <ac:chgData name="Shania Priccilia" userId="S::shania.priccilia@binus.edu::c4dd4a50-8335-4e39-a119-dc5e413d78e9" providerId="AD" clId="Web-{379C41B5-58A7-CD2A-5283-21816D2EB4C1}" dt="2025-06-30T10:05:18.427" v="14" actId="20577"/>
          <ac:spMkLst>
            <pc:docMk/>
            <pc:sldMk cId="3807564589" sldId="256"/>
            <ac:spMk id="2" creationId="{50F9371B-F92F-AED8-457A-F4BAE6779B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aelinik.free.fr/c/ch04.htm" TargetMode="External"/><Relationship Id="rId2" Type="http://schemas.openxmlformats.org/officeDocument/2006/relationships/hyperlink" Target="http://aelinik.free.fr/c/ch02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figure/Control-structures-sequence-selection-and-iteration_fig1_35041303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Algorithm and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9600" dirty="0"/>
              <a:t>Introduction to algorithm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997430-078A-2BB0-8479-62BCC293E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A11B-2F9E-4E40-B94A-37951AF0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94E0-5EEE-7267-580E-42F911AC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9152-5297-4504-380C-94154A8D96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At the end of this session, student will be able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>
                <a:latin typeface="+mj-lt"/>
                <a:cs typeface="Tahoma" pitchFamily="34" charset="0"/>
              </a:rPr>
              <a:t>LO-1 : explain kind of algorithms in problem solving</a:t>
            </a:r>
            <a:endParaRPr lang="en-ID" sz="3600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D18402-8FF5-BF7B-6C63-3E3EBE13F3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079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9FFD-E58E-D8B4-ADED-E7895733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635E-1E02-2C02-4DC3-ACB1F722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B5071-5AEC-07E9-E361-22C4629DB3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1"/>
            <a:ext cx="13714940" cy="524080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Algorithm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Algorithm Development Steps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Pseudo-code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Flow Chart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Structured Theorem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4000" dirty="0">
                <a:latin typeface="+mj-lt"/>
              </a:rPr>
              <a:t>Exercise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637A35-AD25-D609-03AC-F1A916ECDF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622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9BEF-9542-7100-1D62-738DD1E8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71B89-20C8-3334-2B4D-61CE8AA817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8487A-CC6E-01E0-FD53-981205337E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7105650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Algorithm is a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step-by-step procedure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for solving a problem, clearly defining the actions to be performed and the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order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in which they should be executed.</a:t>
            </a:r>
          </a:p>
          <a:p>
            <a:pPr algn="just">
              <a:spcBef>
                <a:spcPts val="18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 the programming domain, algorithm define as a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structured method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used to solve a problem using a computer, often written as a series of logical steps or instructions.</a:t>
            </a:r>
          </a:p>
          <a:p>
            <a:pPr algn="just">
              <a:spcBef>
                <a:spcPts val="18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Simple algorithm Example: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Add Two Numbers Algorithm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Input the first number → A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Input the second number → B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Add A and B, store the result in SUM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Display SUM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0088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484B9-594F-2DE5-DE71-E78002091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7F59E-0F59-A4B4-73B7-703ED481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EA1DD-852A-16BE-F3B3-3072D6CB0C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Simple algorithm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5CF9C-3A2A-DF8F-7C3F-993BD77533B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2133600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People may follow different steps (algorithms) to solve the same problem. As long as the result is correct, each algorithm is valid.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Let’s look at two example algorithms for calculating the average of 3 numbers: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9DB31-78B6-AEB1-123F-BE6035F8579B}"/>
              </a:ext>
            </a:extLst>
          </p:cNvPr>
          <p:cNvSpPr txBox="1"/>
          <p:nvPr/>
        </p:nvSpPr>
        <p:spPr>
          <a:xfrm>
            <a:off x="1962150" y="5829509"/>
            <a:ext cx="12192000" cy="38164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623888" lvl="1" indent="0" algn="just">
              <a:spcBef>
                <a:spcPts val="1200"/>
              </a:spcBef>
              <a:buSzPct val="100000"/>
            </a:pP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Algorithm 1: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Read temperature A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Read temperature B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Read temperature C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Compute average = (A + B + C) / 3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AutoNum type="arabicPeriod"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Display average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C188D6-8CD7-6FF2-C9E2-BD38607FB0D0}"/>
              </a:ext>
            </a:extLst>
          </p:cNvPr>
          <p:cNvSpPr txBox="1"/>
          <p:nvPr/>
        </p:nvSpPr>
        <p:spPr>
          <a:xfrm>
            <a:off x="11258550" y="5787986"/>
            <a:ext cx="8686800" cy="38164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1" algn="just">
              <a:spcBef>
                <a:spcPts val="1200"/>
              </a:spcBef>
              <a:buSzPct val="100000"/>
            </a:pP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Algorithm 2: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Read all three temperatures together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Store them as A, B, and C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Compute sum = A + B + C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Compute average = sum / 3</a:t>
            </a:r>
          </a:p>
          <a:p>
            <a:pPr marL="1138238" lvl="1" indent="-514350" algn="just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Display average</a:t>
            </a:r>
          </a:p>
        </p:txBody>
      </p:sp>
    </p:spTree>
    <p:extLst>
      <p:ext uri="{BB962C8B-B14F-4D97-AF65-F5344CB8AC3E}">
        <p14:creationId xmlns:p14="http://schemas.microsoft.com/office/powerpoint/2010/main" val="134240215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EF94D-D0F9-C798-30C5-5C36623A8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23CB-7A16-410E-4FA6-ED28FFDB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A5E2B-E8C1-F1FB-08DB-CD11337DCC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Good Algorithm Practice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ECAC1-A11A-3EB3-05E9-23287524CF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8214873" cy="790575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Having the right logical flow to solve the problem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Producing the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correct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output in a time efficient manner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Written using unambiguous structured language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Easy implementation into real programming language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All steps and operations are clearly defined and ended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10D2306-3174-9F71-EB67-2B6686083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083" y="3657600"/>
            <a:ext cx="11154540" cy="768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9214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5EB3F-461A-CC66-03CA-9A0E6E62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BA27-EC8C-3CF4-158E-347D166A2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DEVELOPMENT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6DD29-3853-CE56-33EB-119B95744F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35D3003A-3C96-03C6-3411-48EA81135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495" y="4004518"/>
            <a:ext cx="17537010" cy="907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561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80F3-0F5C-6622-6C79-0E3263D90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6556-09E4-9371-5410-12874ADC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DEVELOPMENT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31E49-CE75-F0DB-C012-261BDC9947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MODEL DEVELOPMENT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F620F47C-3FA9-9AE9-AE43-D7F874C20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495" y="4004518"/>
            <a:ext cx="17538192" cy="920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1519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305B-03A0-2A76-87AA-6134C021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48C8-E875-A231-03C2-025F4925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DEVELOPMENT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CF0E3-239B-1F36-7B34-4639BDB2E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ALGORITHM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59E56-E5AE-357D-1585-253B83F62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431" y="3311442"/>
            <a:ext cx="13368216" cy="974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6837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D74A2-3718-68C0-20E1-5D4D25CC6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DEAC-8D3F-6A95-EA49-36BD94F6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DEVELOPMENT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29418-CD07-2AC0-4E6A-19D27EBE10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WRITING CODE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76329D-DAC7-5327-ACE4-4D0768B0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728" y="3798278"/>
            <a:ext cx="16212543" cy="1073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3649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41DA-E21B-D631-981F-DE1974F02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D916-067D-017B-7560-4501FB1D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DEVELOPMENT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604F8-C5E3-4878-E676-F1BB53AC1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COMPILE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63923F-1AD3-582A-5B4E-1CEABFE0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995" y="3798278"/>
            <a:ext cx="16257276" cy="1050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0790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866FD-8CE9-95E2-ACB0-8A7AB4C97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29D4-4B74-BDA4-0155-B5BA82845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DEVELOPMENT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811B6-EE01-FAA8-61FA-D4044C42B7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SYNTAX ERROR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66ADB4C-BE08-4CE2-64C9-57FB0BE01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729" y="3798277"/>
            <a:ext cx="16212542" cy="1056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8123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F784-C11D-821C-8EB4-8FB0DCB5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901C-89CF-93B9-6D5C-B6C82E5E4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DEVELOPMENT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ECA9D-6AAE-F1A2-6B41-DB41AE598F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RUN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BF368-8F46-74E0-D4EE-28CEFF2E9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729" y="3856221"/>
            <a:ext cx="16212542" cy="1059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7079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19691-2B30-7C3A-3E79-BEA0B2AF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F117-5BFA-0418-4DAA-3E527A9B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DEVELOPMENT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E05CB-D805-981D-1A8D-FDB7A4C217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OUTPUT ERROR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57DE64-6998-C01C-6F17-1BF2BC98A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729" y="3856220"/>
            <a:ext cx="16360664" cy="887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72933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6A6D1-B630-A184-B87C-FDA745E2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CA35E-AEFA-A03F-BE8B-39CC868B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 DEVELOPMENT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B5D55-BA33-F0FE-22C5-20B3101932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B84AE-A882-B67F-CF95-57CD2CB83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729" y="3856219"/>
            <a:ext cx="16360664" cy="887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3039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8B52A-E9EE-8BC1-24F0-10453581B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96013-2448-77B9-5393-3A8E125C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1D910-548A-8B81-BC03-6D410632A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Representing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9E922-C892-9066-5B3B-9836D5C1AE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941070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To develop and represent an algorithm clearly, we can use:</a:t>
            </a:r>
          </a:p>
          <a:p>
            <a:pPr marL="514350" indent="-514350" algn="just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Writing</a:t>
            </a:r>
          </a:p>
          <a:p>
            <a:pPr lvl="1" algn="just"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Structured English</a:t>
            </a:r>
          </a:p>
          <a:p>
            <a:pPr lvl="1" algn="just"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Pseudocode</a:t>
            </a:r>
          </a:p>
          <a:p>
            <a:pPr marL="609600" lvl="1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 step-by-step description of the algorithm that resembles a programming language but is not actual code. It uses simple English-like instructions for each step.</a:t>
            </a:r>
          </a:p>
          <a:p>
            <a:pPr marL="609600" lvl="1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2. Drawing</a:t>
            </a:r>
          </a:p>
          <a:p>
            <a:pPr lvl="1" algn="just">
              <a:spcBef>
                <a:spcPts val="1200"/>
              </a:spcBef>
              <a:buSzPct val="100000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Flowchart</a:t>
            </a:r>
          </a:p>
          <a:p>
            <a:pPr marL="609600" lvl="1" indent="0" algn="just">
              <a:spcBef>
                <a:spcPts val="1200"/>
              </a:spcBef>
              <a:buSzPct val="100000"/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 diagrammatic representation of an algorithm that uses symbols and arrows to depict the flow of control. </a:t>
            </a:r>
          </a:p>
        </p:txBody>
      </p:sp>
    </p:spTree>
    <p:extLst>
      <p:ext uri="{BB962C8B-B14F-4D97-AF65-F5344CB8AC3E}">
        <p14:creationId xmlns:p14="http://schemas.microsoft.com/office/powerpoint/2010/main" val="180433627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70660-1C0E-D483-87AD-37175BE29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DF0D-9149-FD74-69B8-8EF6A055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Pseudocode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FDCF4-10A3-C939-C207-0336B35791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ED06A-410E-DCD0-6A2E-BD97B772B0F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9410700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Pseudocode is an artificial and informal language used to design and describe algorithms before writing actual code. 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It focuses on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logic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and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not bound by the syntax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of any specific language, making it flexible and easy to read.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Pseudocode uses everyday language and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simple keywords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to describe control structure.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of common keywords:</a:t>
            </a:r>
          </a:p>
          <a:p>
            <a:pPr algn="just">
              <a:spcBef>
                <a:spcPts val="1200"/>
              </a:spcBef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F10822-8513-D794-1B92-3CE625A48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533797"/>
              </p:ext>
            </p:extLst>
          </p:nvPr>
        </p:nvGraphicFramePr>
        <p:xfrm>
          <a:off x="2559050" y="7497233"/>
          <a:ext cx="18834100" cy="405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28150">
                  <a:extLst>
                    <a:ext uri="{9D8B030D-6E8A-4147-A177-3AD203B41FA5}">
                      <a16:colId xmlns:a16="http://schemas.microsoft.com/office/drawing/2014/main" val="2455886074"/>
                    </a:ext>
                  </a:extLst>
                </a:gridCol>
                <a:gridCol w="9505950">
                  <a:extLst>
                    <a:ext uri="{9D8B030D-6E8A-4147-A177-3AD203B41FA5}">
                      <a16:colId xmlns:a16="http://schemas.microsoft.com/office/drawing/2014/main" val="1452283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Example Keywords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026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read, 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36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print, display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52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Storing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set, 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617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Decision (Selection)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if … else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593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Repetition (Loop)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While,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70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calculate, add, subtract, multiply, divide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28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87317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46149-6E28-72FF-E7D3-66C8003E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4D83-B792-B795-74E0-0E07F602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Pseudocode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4D38D-CD1E-8725-76EC-5876CCA2A8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EB42A-D03B-603A-8367-EAB37A60F27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941070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Statements can be used when a computer receive information or input: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Read, Get, Input 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or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Key-In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Example: 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Read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bilangan</a:t>
            </a: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Get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tax_code</a:t>
            </a: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Baca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students_name</a:t>
            </a: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79826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D21CC-97B9-6FAD-2DAA-785DAD3B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3191-C87B-89FB-6AAA-646C9C59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Pseudocode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81616-6F72-49C5-93C3-BC97A7D00E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C2FC5-D74B-C8CA-0AE9-BDEC263202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941070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Statements can be used when a computer displaying information or output: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Print, Write, Put, Output, 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or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Display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Example: 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 “Bina Nusantara University”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Write “Algorithm and Programming”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Output Total</a:t>
            </a:r>
          </a:p>
        </p:txBody>
      </p:sp>
    </p:spTree>
    <p:extLst>
      <p:ext uri="{BB962C8B-B14F-4D97-AF65-F5344CB8AC3E}">
        <p14:creationId xmlns:p14="http://schemas.microsoft.com/office/powerpoint/2010/main" val="128725812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B467-AF8A-2D72-7D39-E79EE5F9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2F0B9-7B0F-493D-DD90-002FF5CD1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Pseudocode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54CBC-9F33-DBC5-C2D2-DFEB049CE7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Compute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9F6DB-0151-E363-4D76-D1F44222E3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941070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To do arithmetic calculation the following operators are used: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+ (add)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-  (subtract)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* (multiply)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/  (divide)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() (scope)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Statement 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Compute, Calculate </a:t>
            </a: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or  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Add</a:t>
            </a: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also can be used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Example: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Add number to total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Total = Total + number</a:t>
            </a:r>
          </a:p>
        </p:txBody>
      </p:sp>
    </p:spTree>
    <p:extLst>
      <p:ext uri="{BB962C8B-B14F-4D97-AF65-F5344CB8AC3E}">
        <p14:creationId xmlns:p14="http://schemas.microsoft.com/office/powerpoint/2010/main" val="331368116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6EC9-E89C-1F79-5C2C-B75C1F65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7212-C140-8405-0F98-4EA99006A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Pseudocode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38AF1-DEF1-02F0-DC6B-04BE9BCDA5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b="1" dirty="0">
                <a:latin typeface="Tahoma" pitchFamily="34" charset="0"/>
                <a:cs typeface="Tahoma" pitchFamily="34" charset="0"/>
              </a:rPr>
              <a:t>Store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5653D-E69F-ED63-7E4F-81FE5D5B67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941070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There are three ways of storing value into a variable: 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Initializing value using statement Initialize or Set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Storing value as calculation result using =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To simply store a value into a variable using “Save” or Store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Set Counter to 0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Total = Price * Qty</a:t>
            </a:r>
          </a:p>
        </p:txBody>
      </p:sp>
    </p:spTree>
    <p:extLst>
      <p:ext uri="{BB962C8B-B14F-4D97-AF65-F5344CB8AC3E}">
        <p14:creationId xmlns:p14="http://schemas.microsoft.com/office/powerpoint/2010/main" val="307637308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293E-7582-5F6F-7114-B89A6538E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246E-FDD6-2B56-B8C0-32B3832B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Pseudocode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ADE44-B5F3-00E0-E42A-1F6A74478F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b="1" dirty="0">
                <a:latin typeface="Tahoma" pitchFamily="34" charset="0"/>
                <a:cs typeface="Tahoma" pitchFamily="34" charset="0"/>
              </a:rPr>
              <a:t>Decision (SELECTION)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FBF55-1495-6AD3-0E36-DEFB0E26872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941070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One of the main operation in computing is comparing values and choosing options based on its result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Keyword used: 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IF, THEN and ELSE 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IF Menu=‘1’ THEN 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Discount = 0.1 * price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ELSE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Discount = 0.2 * price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ENDIF</a:t>
            </a:r>
          </a:p>
        </p:txBody>
      </p:sp>
    </p:spTree>
    <p:extLst>
      <p:ext uri="{BB962C8B-B14F-4D97-AF65-F5344CB8AC3E}">
        <p14:creationId xmlns:p14="http://schemas.microsoft.com/office/powerpoint/2010/main" val="116749473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93AC8-781F-D758-7D24-B89580A8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288F-8DDA-C3B3-B415-D74A97BF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Pseudocode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A7E77-A4D1-2134-E2CC-85C2779E96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b="1" dirty="0">
                <a:latin typeface="Tahoma" pitchFamily="34" charset="0"/>
                <a:cs typeface="Tahoma" pitchFamily="34" charset="0"/>
              </a:rPr>
              <a:t>Repetition (Looping)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F6813-6696-6438-3447-DDDD3A29113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244823" cy="941070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To repeat an action/step, we use keyword 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DOWHILE and ENDDO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DOWHILE number &lt; 10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	print number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	number = number +1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ENDDO </a:t>
            </a:r>
          </a:p>
        </p:txBody>
      </p:sp>
    </p:spTree>
    <p:extLst>
      <p:ext uri="{BB962C8B-B14F-4D97-AF65-F5344CB8AC3E}">
        <p14:creationId xmlns:p14="http://schemas.microsoft.com/office/powerpoint/2010/main" val="400510912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EFF4D-F481-85B2-5E91-E3352004D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6F19-7464-4DC5-E71F-28A7FB82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Pseudocode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C39D2-0306-6509-EC26-53A6D33EB9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7C456-8EA0-CA8B-6578-612E8BAAFBD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8805423" cy="9410700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1: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Algorithm using a calculator to sum values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Start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Set the calculator ON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Empty any values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Do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Input price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Push plus button (+)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While all prices have been input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Print total price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Set the calculator OFF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End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2C7F665-1AC9-5044-6DDD-F5AC0EA59374}"/>
              </a:ext>
            </a:extLst>
          </p:cNvPr>
          <p:cNvSpPr txBox="1">
            <a:spLocks/>
          </p:cNvSpPr>
          <p:nvPr/>
        </p:nvSpPr>
        <p:spPr>
          <a:xfrm>
            <a:off x="12530577" y="3657600"/>
            <a:ext cx="9891273" cy="941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2: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Algorithm to count average score of 10 students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Start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Set total = 0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Set grade counter = 1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While grade counter is less than or equal to 10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Input next score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Add score into total 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Add 1 to grade counter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Set class average = total/10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Print the class average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End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endParaRPr lang="en-US" altLang="en-US" sz="3200" b="1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80800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F647-AABC-86E8-E271-CCAF4AAB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flowchart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E73BA-7E19-8F88-D5DD-E357B02A4C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symbol</a:t>
            </a:r>
          </a:p>
        </p:txBody>
      </p:sp>
      <p:pic>
        <p:nvPicPr>
          <p:cNvPr id="5" name="Picture 26">
            <a:extLst>
              <a:ext uri="{FF2B5EF4-FFF2-40B4-BE49-F238E27FC236}">
                <a16:creationId xmlns:a16="http://schemas.microsoft.com/office/drawing/2014/main" id="{D131BEA5-11A9-C58D-E574-3294F2FAD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068" y="3260663"/>
            <a:ext cx="11072682" cy="943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995079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82BB-4163-E680-1D5F-5EB58CBA4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27E59-0095-C8DA-3824-9FDF8A94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flowchart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F8C44-B8B5-F1B5-F3C3-A3CEDCFA2D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57CBE9-B11A-82EC-0E9A-039C9CE94C7F}"/>
              </a:ext>
            </a:extLst>
          </p:cNvPr>
          <p:cNvGrpSpPr/>
          <p:nvPr/>
        </p:nvGrpSpPr>
        <p:grpSpPr>
          <a:xfrm>
            <a:off x="10642396" y="2990851"/>
            <a:ext cx="7615117" cy="9624074"/>
            <a:chOff x="2057400" y="1600200"/>
            <a:chExt cx="3810000" cy="5105400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C7E4B7E6-D1DC-0644-EDBD-FA03B68CD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1600200"/>
              <a:ext cx="990600" cy="457200"/>
            </a:xfrm>
            <a:prstGeom prst="flowChartTermina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altLang="en-US" sz="3200" dirty="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Start</a:t>
              </a:r>
            </a:p>
          </p:txBody>
        </p:sp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D4CFD6DF-0C72-1939-9D46-1EB1AEBF1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2971800"/>
              <a:ext cx="2133600" cy="381000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altLang="en-US" sz="3200" dirty="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 d = b^2 – 4ac</a:t>
              </a:r>
            </a:p>
          </p:txBody>
        </p:sp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88EB748E-95CD-24E0-7066-898580767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3581400"/>
              <a:ext cx="1676400" cy="457200"/>
            </a:xfrm>
            <a:prstGeom prst="flowChartDecision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altLang="en-US" sz="3200" dirty="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 d &lt; 0</a:t>
              </a:r>
            </a:p>
          </p:txBody>
        </p:sp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15C17BC6-5556-93A8-1838-07C849B59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4495800"/>
              <a:ext cx="1600200" cy="685800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Print message</a:t>
              </a:r>
            </a:p>
            <a:p>
              <a:pPr algn="ctr"/>
              <a:r>
                <a:rPr lang="en-US" altLang="en-US" sz="320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“Imaginary”</a:t>
              </a:r>
            </a:p>
          </p:txBody>
        </p:sp>
        <p:sp>
          <p:nvSpPr>
            <p:cNvPr id="10" name="AutoShape 7">
              <a:extLst>
                <a:ext uri="{FF2B5EF4-FFF2-40B4-BE49-F238E27FC236}">
                  <a16:creationId xmlns:a16="http://schemas.microsoft.com/office/drawing/2014/main" id="{83543A56-C9AE-301D-8190-642FE5FA6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4495800"/>
              <a:ext cx="2057400" cy="685800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altLang="en-US" sz="3200" dirty="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 x1=(-</a:t>
              </a:r>
              <a:r>
                <a:rPr lang="en-US" altLang="en-US" sz="3200" dirty="0" err="1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b+sqrt</a:t>
              </a:r>
              <a:r>
                <a:rPr lang="en-US" altLang="en-US" sz="3200" dirty="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(d))/2a</a:t>
              </a:r>
            </a:p>
            <a:p>
              <a:pPr algn="ctr"/>
              <a:r>
                <a:rPr lang="en-US" altLang="en-US" sz="3200" dirty="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 x2 =(-b-sqrt(d))/2a</a:t>
              </a:r>
            </a:p>
          </p:txBody>
        </p:sp>
        <p:sp>
          <p:nvSpPr>
            <p:cNvPr id="11" name="AutoShape 8">
              <a:extLst>
                <a:ext uri="{FF2B5EF4-FFF2-40B4-BE49-F238E27FC236}">
                  <a16:creationId xmlns:a16="http://schemas.microsoft.com/office/drawing/2014/main" id="{6F3E3E07-57DA-64B4-728C-B3DD2B210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5486400"/>
              <a:ext cx="1828800" cy="457200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Print: x1, x2</a:t>
              </a:r>
            </a:p>
          </p:txBody>
        </p:sp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7F15F673-EA28-1D54-1932-CB8EE0D8E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6248400"/>
              <a:ext cx="990600" cy="457200"/>
            </a:xfrm>
            <a:prstGeom prst="flowChartTerminator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altLang="en-US" sz="3200" dirty="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Stop</a:t>
              </a: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C97EB521-89F7-49DB-5BFF-ACFF6D215B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2057400"/>
              <a:ext cx="0" cy="2286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24B43109-F23C-B69D-17E2-723BD150A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2667000"/>
              <a:ext cx="0" cy="3048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3CEBE4FD-1E4B-A2A5-B059-05983CE49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352800"/>
              <a:ext cx="0" cy="2286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60490B66-CB7A-3AC3-9881-378F621A6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4038600"/>
              <a:ext cx="0" cy="4572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21101133-F77F-7D65-285B-33DDBA846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5181600"/>
              <a:ext cx="0" cy="3048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8DCE8FBF-F3E0-7E40-7754-5E9DB050A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5943600"/>
              <a:ext cx="0" cy="3048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EE4D2C13-F2E6-38EE-7D09-91594055E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400" y="3810000"/>
              <a:ext cx="1066800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28255D2E-BAC3-45F9-7BE4-D36847306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3810000"/>
              <a:ext cx="0" cy="6858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92EFD9EC-21D4-0454-77A1-DD01962B3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5181600"/>
              <a:ext cx="0" cy="91440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A043C86D-A2DA-9D31-EF5E-5EABA1A533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0400" y="6096000"/>
              <a:ext cx="1828800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320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F50A77B2-234B-2725-40B5-872054F10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3505200"/>
              <a:ext cx="304800" cy="370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Y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B31D3555-7FAE-A49F-4E1B-3A9B6884C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4038600"/>
              <a:ext cx="304800" cy="370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320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T</a:t>
              </a:r>
            </a:p>
          </p:txBody>
        </p:sp>
        <p:sp>
          <p:nvSpPr>
            <p:cNvPr id="25" name="AutoShape 23">
              <a:extLst>
                <a:ext uri="{FF2B5EF4-FFF2-40B4-BE49-F238E27FC236}">
                  <a16:creationId xmlns:a16="http://schemas.microsoft.com/office/drawing/2014/main" id="{F6903977-BCBA-DF55-5E1C-19920FB8A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2286000"/>
              <a:ext cx="2133600" cy="381000"/>
            </a:xfrm>
            <a:prstGeom prst="flowChartProcess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altLang="en-US" sz="3200">
                  <a:solidFill>
                    <a:schemeClr val="tx2">
                      <a:lumMod val="50000"/>
                    </a:schemeClr>
                  </a:solidFill>
                  <a:latin typeface="+mn-lt"/>
                  <a:cs typeface="Tahoma" pitchFamily="34" charset="0"/>
                </a:rPr>
                <a:t> Input a,b,c</a:t>
              </a:r>
            </a:p>
          </p:txBody>
        </p:sp>
      </p:grp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4D131E78-B17E-DA35-FF80-D438496DBB2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6858000"/>
            <a:ext cx="7494265" cy="5756923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3200" b="1" dirty="0">
                <a:latin typeface="+mn-lt"/>
              </a:rPr>
              <a:t>Algorithm to Solve a Quadratic Equation Using the Discriminant</a:t>
            </a:r>
            <a:endParaRPr lang="en-US" altLang="en-US" sz="3200" b="1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74723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A94BA-3280-BEDD-B790-6F1A50DF9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F20B-2E9B-521E-27F0-DCC178EC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Structure Theorem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831DE-D254-4B9D-B0B0-ED90EA89D5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41685-6544-218A-16C5-BC5676EA962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4038196" cy="9410700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Any computer program can be constructed using only three control structures:</a:t>
            </a:r>
          </a:p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Sequence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 sequence is a series of consecutive commands or statement. 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Most programming languages execute statements in order, from the top of the program to the bottom.</a:t>
            </a:r>
          </a:p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Selection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The selection structure allows a program to choose between different paths based on a condition.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If the condition is true, one block of code executes; otherwise, another (optional) block may run.</a:t>
            </a:r>
          </a:p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Repetition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(iteration) 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Repetition enables a block of statements to be executed multiple times.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The loop continues as long as a specified condition remains true.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8" name="Picture 7" descr="A diagram of a selection&#10;&#10;AI-generated content may be incorrect.">
            <a:extLst>
              <a:ext uri="{FF2B5EF4-FFF2-40B4-BE49-F238E27FC236}">
                <a16:creationId xmlns:a16="http://schemas.microsoft.com/office/drawing/2014/main" id="{FF101466-8DE8-5CAD-C6C6-5CD5452FB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0657" y="3069151"/>
            <a:ext cx="5601590" cy="9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7850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9ED02-810E-2998-EB37-D4B0B891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A9EAD-B916-CAB9-98C7-3977D261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Structure Theorem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2ECCB-05E7-20F5-3340-CFD019FCFE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Sequence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916D7-1D53-76C1-EC2C-EBF7ADD317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20622285" cy="1024432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41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Sequence is series of consecutive commands/statements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41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Commonly programming language has sequence of statements flowing from top of the program to its end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endParaRPr lang="en-US" altLang="en-US" sz="41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en-US" sz="41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: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en-US" sz="41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 “Number of students:”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en-US" sz="41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Set total to 49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en-US" sz="41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 “Add new student:”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en-US" sz="41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Read </a:t>
            </a:r>
            <a:r>
              <a:rPr lang="en-US" altLang="en-US" sz="41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newStudent</a:t>
            </a:r>
            <a:endParaRPr lang="en-US" altLang="en-US" sz="41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en-US" sz="41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total = total + </a:t>
            </a:r>
            <a:r>
              <a:rPr lang="en-US" altLang="en-US" sz="41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newStudent</a:t>
            </a:r>
            <a:endParaRPr lang="en-US" altLang="en-US" sz="41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en-US" sz="41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 “Number of students:”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en-US" sz="41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 total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endParaRPr lang="en-US" altLang="en-US" sz="41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en-US" sz="41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Description  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41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Sequence of command is from the 1st line to the end of code. 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en-US" sz="41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If </a:t>
            </a:r>
            <a:r>
              <a:rPr lang="en-US" altLang="en-US" sz="41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newStudent</a:t>
            </a:r>
            <a:r>
              <a:rPr lang="en-US" altLang="en-US" sz="41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input is 2 then total that later on printed out is 51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6" name="Picture 5" descr="A blue rectangles with black arrows&#10;&#10;AI-generated content may be incorrect.">
            <a:extLst>
              <a:ext uri="{FF2B5EF4-FFF2-40B4-BE49-F238E27FC236}">
                <a16:creationId xmlns:a16="http://schemas.microsoft.com/office/drawing/2014/main" id="{E1CC94B5-49BB-EDEA-525C-8290E48CE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2946" y="5279660"/>
            <a:ext cx="3297756" cy="73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965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11AEF-C50B-2A70-F61C-2BE4FBEF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9F3D-0642-070F-AF6E-DD949F33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Structure Theorem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678AC-3F6E-14F0-5380-D7381F6FF7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SELECTION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361E1-1288-ABD9-A98F-92C23194727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3"/>
            <a:ext cx="20340931" cy="8035609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Selection control structure is structure that allow us to choose from several options of statement/command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The first statement will be executed if the condition is satisfied, if not then the else statement will be executed (if the other exist)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IF Day=1 THEN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	Print “Monday”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ELSE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	Print “Obviously not Monday” 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Description 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6" name="Picture 5" descr="A diagram of a question mark&#10;&#10;AI-generated content may be incorrect.">
            <a:extLst>
              <a:ext uri="{FF2B5EF4-FFF2-40B4-BE49-F238E27FC236}">
                <a16:creationId xmlns:a16="http://schemas.microsoft.com/office/drawing/2014/main" id="{D8E72B7E-A48F-5A3B-7241-9E28C673F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5970" y="5482940"/>
            <a:ext cx="4642338" cy="63092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C29D85-752F-ACD6-C93A-7418A538A68C}"/>
              </a:ext>
            </a:extLst>
          </p:cNvPr>
          <p:cNvSpPr txBox="1"/>
          <p:nvPr/>
        </p:nvSpPr>
        <p:spPr>
          <a:xfrm>
            <a:off x="2167377" y="10714999"/>
            <a:ext cx="15253116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spcBef>
                <a:spcPts val="1200"/>
              </a:spcBef>
              <a:buNone/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The word “Monday” will be printed out if Day’s value equal to 1, else it will print out the sentence “Obviously not Monday”.</a:t>
            </a:r>
          </a:p>
        </p:txBody>
      </p:sp>
    </p:spTree>
    <p:extLst>
      <p:ext uri="{BB962C8B-B14F-4D97-AF65-F5344CB8AC3E}">
        <p14:creationId xmlns:p14="http://schemas.microsoft.com/office/powerpoint/2010/main" val="109875062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1907F-92D5-831F-479A-4C03A5561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0AFE-E1CE-0F4D-5E07-2BF8B75B0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Structure Theorem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E35D6-12BB-739B-05BA-88D7531C53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b="1" dirty="0">
                <a:latin typeface="Tahoma" pitchFamily="34" charset="0"/>
                <a:cs typeface="Tahoma" pitchFamily="34" charset="0"/>
              </a:rPr>
              <a:t>Repetition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32292-52A8-F8E0-BD53-112C5059393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260664"/>
            <a:ext cx="14715569" cy="9353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 number of statements/commands can be repeated several times using Repetition structure control</a:t>
            </a:r>
          </a:p>
          <a:p>
            <a:pPr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Statements/commands will be repeated while the looping condition is satisfied (may use DOWHILE – ENDDO)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Stars = 0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DOWHILE Stars &lt; 5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	Print Stars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	 Stars = Stars + 1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ENDDO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Description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At first Stars’ value equals to 0, after following the DOWHILE looping Stars’ value will be updated 5 times resulting: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0 1 2 3 4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7" name="Picture 6" descr="A blue rectangle with black arrows pointing to a rectangle&#10;&#10;AI-generated content may be incorrect.">
            <a:extLst>
              <a:ext uri="{FF2B5EF4-FFF2-40B4-BE49-F238E27FC236}">
                <a16:creationId xmlns:a16="http://schemas.microsoft.com/office/drawing/2014/main" id="{59188951-8ECC-0A32-150A-3E0D2468B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7260" y="4360984"/>
            <a:ext cx="3606281" cy="772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0990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DB86-E82C-601A-4E06-93224C583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DF95-3CD5-F8D5-6C69-94135DF5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4C35047-62D1-AF64-950A-68B41F6C9F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1. Using the Pseudo-code, create: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</a:p>
          <a:p>
            <a:pPr marL="1195388" lvl="1" indent="-571500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an algorithm to calculate a rectangle area!</a:t>
            </a:r>
          </a:p>
          <a:p>
            <a:pPr marL="1195388" lvl="1" indent="-571500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an algorithm to change second into hour and minute unit!</a:t>
            </a:r>
          </a:p>
          <a:p>
            <a:pPr marL="1195388" lvl="1" indent="-571500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an algorithm to decide whether an input number is an odd or even number!</a:t>
            </a:r>
          </a:p>
          <a:p>
            <a:pPr marL="1195388" lvl="1" indent="-571500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an algorithm to calculate a circle area!</a:t>
            </a:r>
          </a:p>
          <a:p>
            <a:pPr marL="1195388" lvl="1" indent="-571500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an algorithm to accept three numbers and find the max number!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4000" b="1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2. Repeat no. 1 using Flow Chart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00475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A709D-691A-7167-6BE3-F4447CB5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3BDB-4B10-BCC0-AE97-CBE6171F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37E88A3-E85A-EB39-4597-0880326318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Algorithm is a procedure for solving a problem in terms of the actions to be executed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Algorithm development steps consists of problem definition, model development, algorithm design, writing code, and documentation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We can use writing (Structure English and Pseudo-code) or drawing (Flow Chart) to represent algorithm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Basic Computer Operation: input, output, compute, store, compare (selection), and repetition (loop)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Structure theorem are sequence, selection, and repetition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87204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9BD8-6A35-C6F1-8612-C1D26B50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45B8-DA6B-8391-50C8-B64F103B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REFRENCES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C637192-B017-8920-94C9-2C0A55F44F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Paul Deitel &amp; Harvey Deitel. (2021). C how to program. 09. Pearson  Education. New York. ISBN: 9780137398393.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Jeri R. Hanly , Elliot B. Koffman. (2016). Problem Solving and Program Design in C. 08. ISBN: 9781292098814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Writing Your First C Program: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http://aelinik.free.fr/c/ch02.htm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Data Types and Names in C: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http://aelinik.free.fr/c/ch04.htm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Structure theorem: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4"/>
              </a:rPr>
              <a:t>https://www.researchgate.net/figure/Control-structures-sequence-selection-and-iteration_fig1_350413038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9093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5ed595dea67b8b322e39378c6251215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d378c5c85e55afa0691156e287dbbb41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437cf3-862c-4aa8-bd7e-caeecb8e11df">
      <Terms xmlns="http://schemas.microsoft.com/office/infopath/2007/PartnerControls"/>
    </lcf76f155ced4ddcb4097134ff3c332f>
    <TaxCatchAll xmlns="fc2d5289-3ec1-4d76-80c1-a1cd17baf85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AD1400-6DF6-458C-8F77-9B65B7E371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7F3FF9-F13A-40A2-9B2E-18948BA89300}">
  <ds:schemaRefs>
    <ds:schemaRef ds:uri="http://schemas.microsoft.com/office/2006/metadata/properties"/>
    <ds:schemaRef ds:uri="http://purl.org/dc/elements/1.1/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02437cf3-862c-4aa8-bd7e-caeecb8e11df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046E48C-65E5-487C-8758-3E35B91D3F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1. Algorithm &amp; Programming and Introduction to C Programming</Template>
  <TotalTime>2483</TotalTime>
  <Words>1561</Words>
  <Application>Microsoft Office PowerPoint</Application>
  <PresentationFormat>Custom</PresentationFormat>
  <Paragraphs>277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OCRB</vt:lpstr>
      <vt:lpstr>Open Sans ExtraBold</vt:lpstr>
      <vt:lpstr>Tahoma</vt:lpstr>
      <vt:lpstr>Courier New</vt:lpstr>
      <vt:lpstr>Open Sans Light</vt:lpstr>
      <vt:lpstr>Open Sans Semibold</vt:lpstr>
      <vt:lpstr>21_BasicWhite</vt:lpstr>
      <vt:lpstr>Introduction to algorithm</vt:lpstr>
      <vt:lpstr>Learning Objectives</vt:lpstr>
      <vt:lpstr>Subtopics</vt:lpstr>
      <vt:lpstr>Algorithm</vt:lpstr>
      <vt:lpstr>Algorithm</vt:lpstr>
      <vt:lpstr>Algorithm</vt:lpstr>
      <vt:lpstr>Algorithm DEVELOPMENT STEPS</vt:lpstr>
      <vt:lpstr>Algorithm DEVELOPMENT STEPS</vt:lpstr>
      <vt:lpstr>Algorithm DEVELOPMENT STEPS</vt:lpstr>
      <vt:lpstr>Algorithm DEVELOPMENT STEPS</vt:lpstr>
      <vt:lpstr>Algorithm DEVELOPMENT STEPS</vt:lpstr>
      <vt:lpstr>Algorithm DEVELOPMENT STEPS</vt:lpstr>
      <vt:lpstr>Algorithm DEVELOPMENT STEPS</vt:lpstr>
      <vt:lpstr>Algorithm DEVELOPMENT STEPS</vt:lpstr>
      <vt:lpstr>Algorithm DEVELOPMENT STEPS</vt:lpstr>
      <vt:lpstr>Algorithm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Pseudocode</vt:lpstr>
      <vt:lpstr>flowchart</vt:lpstr>
      <vt:lpstr>flowchart</vt:lpstr>
      <vt:lpstr>Structure Theorem </vt:lpstr>
      <vt:lpstr>Structure Theorem </vt:lpstr>
      <vt:lpstr>Structure Theorem </vt:lpstr>
      <vt:lpstr>Structure Theorem </vt:lpstr>
      <vt:lpstr>EXERCISE</vt:lpstr>
      <vt:lpstr>SUMMARY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SHANIA PRICCILIA</dc:creator>
  <cp:lastModifiedBy>Violitta Yesmaya</cp:lastModifiedBy>
  <cp:revision>20</cp:revision>
  <dcterms:created xsi:type="dcterms:W3CDTF">2025-05-12T11:13:33Z</dcterms:created>
  <dcterms:modified xsi:type="dcterms:W3CDTF">2025-07-29T15:59:15Z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MediaServiceImageTags">
    <vt:lpwstr/>
  </property>
</Properties>
</file>