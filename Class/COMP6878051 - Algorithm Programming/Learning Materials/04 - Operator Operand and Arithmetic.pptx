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43"/>
  </p:notesMasterIdLst>
  <p:sldIdLst>
    <p:sldId id="256" r:id="rId5"/>
    <p:sldId id="258" r:id="rId6"/>
    <p:sldId id="259" r:id="rId7"/>
    <p:sldId id="262" r:id="rId8"/>
    <p:sldId id="308" r:id="rId9"/>
    <p:sldId id="310" r:id="rId10"/>
    <p:sldId id="309" r:id="rId11"/>
    <p:sldId id="313" r:id="rId12"/>
    <p:sldId id="312" r:id="rId13"/>
    <p:sldId id="314" r:id="rId14"/>
    <p:sldId id="315" r:id="rId15"/>
    <p:sldId id="317" r:id="rId16"/>
    <p:sldId id="316" r:id="rId17"/>
    <p:sldId id="318" r:id="rId18"/>
    <p:sldId id="319" r:id="rId19"/>
    <p:sldId id="320" r:id="rId20"/>
    <p:sldId id="321" r:id="rId21"/>
    <p:sldId id="323" r:id="rId22"/>
    <p:sldId id="322" r:id="rId23"/>
    <p:sldId id="324" r:id="rId24"/>
    <p:sldId id="325" r:id="rId25"/>
    <p:sldId id="326" r:id="rId26"/>
    <p:sldId id="328" r:id="rId27"/>
    <p:sldId id="329" r:id="rId28"/>
    <p:sldId id="330" r:id="rId29"/>
    <p:sldId id="332" r:id="rId30"/>
    <p:sldId id="331" r:id="rId31"/>
    <p:sldId id="333" r:id="rId32"/>
    <p:sldId id="336" r:id="rId33"/>
    <p:sldId id="335" r:id="rId34"/>
    <p:sldId id="337" r:id="rId35"/>
    <p:sldId id="338" r:id="rId36"/>
    <p:sldId id="289" r:id="rId37"/>
    <p:sldId id="288" r:id="rId38"/>
    <p:sldId id="291" r:id="rId39"/>
    <p:sldId id="292" r:id="rId40"/>
    <p:sldId id="334" r:id="rId41"/>
    <p:sldId id="287" r:id="rId42"/>
  </p:sldIdLst>
  <p:sldSz cx="24384000" cy="13716000"/>
  <p:notesSz cx="6858000" cy="9144000"/>
  <p:embeddedFontLst>
    <p:embeddedFont>
      <p:font typeface="Cambria Math" panose="02040503050406030204" pitchFamily="18" charset="0"/>
      <p:regular r:id="rId44"/>
    </p:embeddedFont>
    <p:embeddedFont>
      <p:font typeface="OCRB" panose="020B0609020202020204" pitchFamily="49" charset="0"/>
      <p:regular r:id="rId45"/>
    </p:embeddedFont>
    <p:embeddedFont>
      <p:font typeface="Open Sans ExtraBold" panose="020B0906030804020204" pitchFamily="34" charset="0"/>
      <p:bold r:id="rId46"/>
      <p:italic r:id="rId47"/>
      <p:boldItalic r:id="rId48"/>
    </p:embeddedFont>
    <p:embeddedFont>
      <p:font typeface="Open Sans Light" panose="020B0306030504020204" pitchFamily="34" charset="0"/>
      <p:regular r:id="rId49"/>
      <p:italic r:id="rId50"/>
    </p:embeddedFont>
    <p:embeddedFont>
      <p:font typeface="Open Sans Semibold" panose="020B0706030804020204" pitchFamily="34" charset="0"/>
      <p:bold r:id="rId51"/>
      <p:boldItalic r:id="rId52"/>
    </p:embeddedFont>
    <p:embeddedFont>
      <p:font typeface="Tahoma" panose="020B0604030504040204" pitchFamily="34" charset="0"/>
      <p:regular r:id="rId53"/>
      <p:bold r:id="rId54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3A4FDF-CDA8-4948-817D-7DC149408889}" v="9" dt="2025-08-08T07:33:35.05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197"/>
  </p:normalViewPr>
  <p:slideViewPr>
    <p:cSldViewPr snapToGrid="0" snapToObjects="1">
      <p:cViewPr varScale="1">
        <p:scale>
          <a:sx n="33" d="100"/>
          <a:sy n="33" d="100"/>
        </p:scale>
        <p:origin x="774" y="6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8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3.fntdata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6.fntdata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a Priccilia" userId="S::shania.priccilia@binus.edu::c4dd4a50-8335-4e39-a119-dc5e413d78e9" providerId="AD" clId="Web-{4CDE53FB-B8C1-BD3A-0560-005C4530DB5D}"/>
    <pc:docChg chg="modSld">
      <pc:chgData name="Shania Priccilia" userId="S::shania.priccilia@binus.edu::c4dd4a50-8335-4e39-a119-dc5e413d78e9" providerId="AD" clId="Web-{4CDE53FB-B8C1-BD3A-0560-005C4530DB5D}" dt="2025-06-30T10:28:56.852" v="21"/>
      <pc:docMkLst>
        <pc:docMk/>
      </pc:docMkLst>
      <pc:sldChg chg="modSp">
        <pc:chgData name="Shania Priccilia" userId="S::shania.priccilia@binus.edu::c4dd4a50-8335-4e39-a119-dc5e413d78e9" providerId="AD" clId="Web-{4CDE53FB-B8C1-BD3A-0560-005C4530DB5D}" dt="2025-06-30T10:28:47.773" v="19" actId="20577"/>
        <pc:sldMkLst>
          <pc:docMk/>
          <pc:sldMk cId="3807564589" sldId="256"/>
        </pc:sldMkLst>
      </pc:sldChg>
      <pc:sldChg chg="addSp delSp modSp">
        <pc:chgData name="Shania Priccilia" userId="S::shania.priccilia@binus.edu::c4dd4a50-8335-4e39-a119-dc5e413d78e9" providerId="AD" clId="Web-{4CDE53FB-B8C1-BD3A-0560-005C4530DB5D}" dt="2025-06-30T10:28:54.227" v="20"/>
        <pc:sldMkLst>
          <pc:docMk/>
          <pc:sldMk cId="1968907909" sldId="258"/>
        </pc:sldMkLst>
      </pc:sldChg>
      <pc:sldChg chg="addSp delSp modSp">
        <pc:chgData name="Shania Priccilia" userId="S::shania.priccilia@binus.edu::c4dd4a50-8335-4e39-a119-dc5e413d78e9" providerId="AD" clId="Web-{4CDE53FB-B8C1-BD3A-0560-005C4530DB5D}" dt="2025-06-30T10:28:56.852" v="21"/>
        <pc:sldMkLst>
          <pc:docMk/>
          <pc:sldMk cId="4105662268" sldId="259"/>
        </pc:sldMkLst>
      </pc:sldChg>
    </pc:docChg>
  </pc:docChgLst>
  <pc:docChgLst>
    <pc:chgData name="Shania Priccilia" userId="S::shania.priccilia@binus.edu::c4dd4a50-8335-4e39-a119-dc5e413d78e9" providerId="AD" clId="Web-{E0B8F82B-FE7E-4B36-861E-8C523820687A}"/>
    <pc:docChg chg="modSld">
      <pc:chgData name="Shania Priccilia" userId="S::shania.priccilia@binus.edu::c4dd4a50-8335-4e39-a119-dc5e413d78e9" providerId="AD" clId="Web-{E0B8F82B-FE7E-4B36-861E-8C523820687A}" dt="2025-06-25T03:18:11.659" v="1" actId="20577"/>
      <pc:docMkLst>
        <pc:docMk/>
      </pc:docMkLst>
      <pc:sldChg chg="modSp">
        <pc:chgData name="Shania Priccilia" userId="S::shania.priccilia@binus.edu::c4dd4a50-8335-4e39-a119-dc5e413d78e9" providerId="AD" clId="Web-{E0B8F82B-FE7E-4B36-861E-8C523820687A}" dt="2025-06-25T03:18:11.659" v="1" actId="20577"/>
        <pc:sldMkLst>
          <pc:docMk/>
          <pc:sldMk cId="4105662268" sldId="259"/>
        </pc:sldMkLst>
      </pc:sldChg>
    </pc:docChg>
  </pc:docChgLst>
  <pc:docChgLst>
    <pc:chgData name="Violitta Yesmaya" userId="4132fe74-a9e3-4df6-a260-6f1dbd02419b" providerId="ADAL" clId="{CE3A4FDF-CDA8-4948-817D-7DC149408889}"/>
    <pc:docChg chg="undo custSel addSld modSld modMainMaster">
      <pc:chgData name="Violitta Yesmaya" userId="4132fe74-a9e3-4df6-a260-6f1dbd02419b" providerId="ADAL" clId="{CE3A4FDF-CDA8-4948-817D-7DC149408889}" dt="2025-08-08T07:33:38.925" v="16"/>
      <pc:docMkLst>
        <pc:docMk/>
      </pc:docMkLst>
      <pc:sldChg chg="delSp mod">
        <pc:chgData name="Violitta Yesmaya" userId="4132fe74-a9e3-4df6-a260-6f1dbd02419b" providerId="ADAL" clId="{CE3A4FDF-CDA8-4948-817D-7DC149408889}" dt="2025-07-29T15:48:23.857" v="5" actId="478"/>
        <pc:sldMkLst>
          <pc:docMk/>
          <pc:sldMk cId="3807564589" sldId="256"/>
        </pc:sldMkLst>
      </pc:sldChg>
      <pc:sldChg chg="modSp mod">
        <pc:chgData name="Violitta Yesmaya" userId="4132fe74-a9e3-4df6-a260-6f1dbd02419b" providerId="ADAL" clId="{CE3A4FDF-CDA8-4948-817D-7DC149408889}" dt="2025-07-29T16:00:07.076" v="6"/>
        <pc:sldMkLst>
          <pc:docMk/>
          <pc:sldMk cId="1968907909" sldId="258"/>
        </pc:sldMkLst>
        <pc:spChg chg="mod">
          <ac:chgData name="Violitta Yesmaya" userId="4132fe74-a9e3-4df6-a260-6f1dbd02419b" providerId="ADAL" clId="{CE3A4FDF-CDA8-4948-817D-7DC149408889}" dt="2025-07-29T16:00:07.076" v="6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Violitta Yesmaya" userId="4132fe74-a9e3-4df6-a260-6f1dbd02419b" providerId="ADAL" clId="{CE3A4FDF-CDA8-4948-817D-7DC149408889}" dt="2025-08-08T07:33:38.925" v="16"/>
        <pc:sldMkLst>
          <pc:docMk/>
          <pc:sldMk cId="3376909363" sldId="287"/>
        </pc:sldMkLst>
        <pc:spChg chg="mod">
          <ac:chgData name="Violitta Yesmaya" userId="4132fe74-a9e3-4df6-a260-6f1dbd02419b" providerId="ADAL" clId="{CE3A4FDF-CDA8-4948-817D-7DC149408889}" dt="2025-08-08T07:33:38.925" v="16"/>
          <ac:spMkLst>
            <pc:docMk/>
            <pc:sldMk cId="3376909363" sldId="287"/>
            <ac:spMk id="13" creationId="{FC637192-B017-8920-94C9-2C0A55F44F6B}"/>
          </ac:spMkLst>
        </pc:spChg>
      </pc:sldChg>
      <pc:sldChg chg="add">
        <pc:chgData name="Violitta Yesmaya" userId="4132fe74-a9e3-4df6-a260-6f1dbd02419b" providerId="ADAL" clId="{CE3A4FDF-CDA8-4948-817D-7DC149408889}" dt="2025-08-08T07:32:50.078" v="8"/>
        <pc:sldMkLst>
          <pc:docMk/>
          <pc:sldMk cId="2696268839" sldId="288"/>
        </pc:sldMkLst>
      </pc:sldChg>
      <pc:sldChg chg="add">
        <pc:chgData name="Violitta Yesmaya" userId="4132fe74-a9e3-4df6-a260-6f1dbd02419b" providerId="ADAL" clId="{CE3A4FDF-CDA8-4948-817D-7DC149408889}" dt="2025-08-08T07:32:39.280" v="7"/>
        <pc:sldMkLst>
          <pc:docMk/>
          <pc:sldMk cId="1465282404" sldId="289"/>
        </pc:sldMkLst>
      </pc:sldChg>
      <pc:sldChg chg="add">
        <pc:chgData name="Violitta Yesmaya" userId="4132fe74-a9e3-4df6-a260-6f1dbd02419b" providerId="ADAL" clId="{CE3A4FDF-CDA8-4948-817D-7DC149408889}" dt="2025-08-08T07:33:04.472" v="9"/>
        <pc:sldMkLst>
          <pc:docMk/>
          <pc:sldMk cId="766489317" sldId="291"/>
        </pc:sldMkLst>
      </pc:sldChg>
      <pc:sldChg chg="add">
        <pc:chgData name="Violitta Yesmaya" userId="4132fe74-a9e3-4df6-a260-6f1dbd02419b" providerId="ADAL" clId="{CE3A4FDF-CDA8-4948-817D-7DC149408889}" dt="2025-08-08T07:33:14.559" v="10"/>
        <pc:sldMkLst>
          <pc:docMk/>
          <pc:sldMk cId="2306383617" sldId="292"/>
        </pc:sldMkLst>
      </pc:sldChg>
      <pc:sldMasterChg chg="modSldLayout">
        <pc:chgData name="Violitta Yesmaya" userId="4132fe74-a9e3-4df6-a260-6f1dbd02419b" providerId="ADAL" clId="{CE3A4FDF-CDA8-4948-817D-7DC149408889}" dt="2025-07-29T15:48:19.280" v="4" actId="478"/>
        <pc:sldMasterMkLst>
          <pc:docMk/>
          <pc:sldMasterMk cId="0" sldId="2147483648"/>
        </pc:sldMasterMkLst>
        <pc:sldLayoutChg chg="addSp delSp modSp mod">
          <pc:chgData name="Violitta Yesmaya" userId="4132fe74-a9e3-4df6-a260-6f1dbd02419b" providerId="ADAL" clId="{CE3A4FDF-CDA8-4948-817D-7DC149408889}" dt="2025-07-29T15:48:19.280" v="4" actId="478"/>
          <pc:sldLayoutMkLst>
            <pc:docMk/>
            <pc:sldMasterMk cId="0" sldId="2147483648"/>
            <pc:sldLayoutMk cId="4094124863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aelinik.free.fr/c/ch06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Algorithm and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altLang="en-US" sz="9600" dirty="0"/>
              <a:t>Operator, Oper</a:t>
            </a:r>
            <a:r>
              <a:rPr lang="id-ID" altLang="en-US" sz="9600" dirty="0"/>
              <a:t>a</a:t>
            </a:r>
            <a:r>
              <a:rPr lang="en-AU" altLang="en-US" sz="9600" dirty="0" err="1"/>
              <a:t>nd</a:t>
            </a:r>
            <a:r>
              <a:rPr lang="en-AU" altLang="en-US" sz="9600" dirty="0"/>
              <a:t>, and Arithmetic 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A11B-2F9E-4E40-B94A-37951AF0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94E0-5EEE-7267-580E-42F911AC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9152-5297-4504-380C-94154A8D96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At the end of this session, student will be able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latin typeface="+mj-lt"/>
                <a:cs typeface="Tahoma" pitchFamily="34" charset="0"/>
              </a:rPr>
              <a:t>LO-1 : explain kind of algorithms in problem solving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>
                <a:latin typeface="+mj-lt"/>
                <a:cs typeface="Tahoma" pitchFamily="34" charset="0"/>
              </a:rPr>
              <a:t>LO-2 : apply syntax and functions in C language in problem solving</a:t>
            </a:r>
            <a:endParaRPr lang="en-US" altLang="en-US" sz="3600" dirty="0">
              <a:latin typeface="+mj-lt"/>
              <a:cs typeface="Tahoma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0850A5-C6BA-CE95-46D9-73AF6A7DE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079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9FFD-E58E-D8B4-ADED-E7895733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635E-1E02-2C02-4DC3-ACB1F722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B5071-5AEC-07E9-E361-22C4629DB3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78782" y="4058081"/>
            <a:ext cx="13714940" cy="8180811"/>
          </a:xfrm>
        </p:spPr>
        <p:txBody>
          <a:bodyPr lIns="50800" tIns="50800" rIns="50800" bIns="5080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Operator and Operand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Assignment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Arithmetic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Relational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Conditional Expressions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Logical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Bitwise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Pointer Operators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Precedence and Associative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Exercise 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70B6CCC-2ACB-D019-B8F0-FA2ADA2D41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622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9BEF-9542-7100-1D62-738DD1E8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Operator and Operand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71B89-20C8-3334-2B4D-61CE8AA817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8487A-CC6E-01E0-FD53-981205337E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568673" cy="818634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Operator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is a symbol to process values in result for a new value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Operand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is part which specifies what data is to be manipulated or operated on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 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 = A + B	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	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600" b="1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Based on its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operand number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, operator can be divided into three: 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Unary operator		(needs one operand)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Binary operator		(needs two operands)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Ternary operator		(needs three operands)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B9FA3-2171-C910-0B3C-4D32DC8BC0A3}"/>
              </a:ext>
            </a:extLst>
          </p:cNvPr>
          <p:cNvSpPr txBox="1"/>
          <p:nvPr/>
        </p:nvSpPr>
        <p:spPr>
          <a:xfrm>
            <a:off x="3777537" y="6548713"/>
            <a:ext cx="1149524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= and + sign are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operators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, A, B and C are </a:t>
            </a: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operands</a:t>
            </a:r>
          </a:p>
        </p:txBody>
      </p:sp>
    </p:spTree>
    <p:extLst>
      <p:ext uri="{BB962C8B-B14F-4D97-AF65-F5344CB8AC3E}">
        <p14:creationId xmlns:p14="http://schemas.microsoft.com/office/powerpoint/2010/main" val="8520088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4957-0E93-1CD9-E536-EB04FF69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E90C-7F33-3F6C-EC48-973EF4E0C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Operator and Operand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36374-F1B4-C133-58F2-3B0746713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3FE71-3A71-0A50-A550-DF4B23EBB03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568673" cy="818634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Based on its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operation type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, operator can be grouped as: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Assignment Operator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Logical Operator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Arithmetic Operator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Relational Operator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Bitwise Operator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Pointer Operator</a:t>
            </a:r>
          </a:p>
        </p:txBody>
      </p:sp>
    </p:spTree>
    <p:extLst>
      <p:ext uri="{BB962C8B-B14F-4D97-AF65-F5344CB8AC3E}">
        <p14:creationId xmlns:p14="http://schemas.microsoft.com/office/powerpoint/2010/main" val="157141134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BBD4D-C329-348E-BA20-0AA7EE55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275EC-C40E-39EC-1B45-956F7BA9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ASSIGNMENT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42654-FDA8-0412-3D04-01FD33228A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 &amp;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2AC68-EFC7-14CA-1E49-33FEC04109B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454373" cy="818634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 binary operator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Used in assigning value to an operand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Syntax: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Operand1 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=</a:t>
            </a: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Operand2;</a:t>
            </a:r>
          </a:p>
          <a:p>
            <a:pPr marL="1195388" lvl="1" indent="-571500" algn="just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Left hand side operand (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Operand1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) should have (L-Value) such as variable</a:t>
            </a:r>
          </a:p>
          <a:p>
            <a:pPr marL="1195388" lvl="1" indent="-5715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Right hand side operand (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Operand2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) can be constant, another variable, expression or function</a:t>
            </a:r>
          </a:p>
          <a:p>
            <a:pPr marL="623888" lvl="1" indent="0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Example:</a:t>
            </a:r>
          </a:p>
        </p:txBody>
      </p:sp>
      <p:pic>
        <p:nvPicPr>
          <p:cNvPr id="6" name="Picture 5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93429D44-DFB0-C1E4-816E-09F9AB90F4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291" y="7963542"/>
            <a:ext cx="15244706" cy="467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641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7643C-73B2-A60A-8DFE-386DAED9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269D-63CC-E7B2-DFCD-5032F540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6D2F3-3F17-DA30-57BC-A851281C2F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pic>
        <p:nvPicPr>
          <p:cNvPr id="9" name="table">
            <a:extLst>
              <a:ext uri="{FF2B5EF4-FFF2-40B4-BE49-F238E27FC236}">
                <a16:creationId xmlns:a16="http://schemas.microsoft.com/office/drawing/2014/main" id="{F6BF19D0-B4F3-C156-9720-9C24B1CBA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777" y="3666089"/>
            <a:ext cx="14458950" cy="86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7371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37EF0-7F01-501E-A336-575B6A80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F004-29FA-2886-8A3A-132DF544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D62665-5BE0-BB3F-F2C9-FF715D3948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 &amp; EXAMPLE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4367EBD-83D7-968F-2858-A626A8BAA3D4}"/>
              </a:ext>
            </a:extLst>
          </p:cNvPr>
          <p:cNvSpPr txBox="1">
            <a:spLocks/>
          </p:cNvSpPr>
          <p:nvPr/>
        </p:nvSpPr>
        <p:spPr>
          <a:xfrm>
            <a:off x="2167377" y="3223274"/>
            <a:ext cx="13529823" cy="8778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Modulo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Symbol : %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Binary operator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To find remainder of a division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N%2, can be used to find an odd or even number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N%2 = 0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 N is even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N%2 = 1 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 N is odd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Increment and Decrement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Symbol : ++(increment), --(decrement)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Unary operator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Increase (++) and decrease (--) the value of a variable by 1.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Its position can be in the front (pre) or after (post) a variable.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05327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1AE0C-6895-60B5-F184-CB004318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ABB1-99B9-7672-7827-F1A64F7C2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D585D-367E-F278-D7F3-233FD6082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INCREMENT &amp; DECREMENT EXAMPLE</a:t>
            </a:r>
          </a:p>
        </p:txBody>
      </p:sp>
      <p:pic>
        <p:nvPicPr>
          <p:cNvPr id="7" name="Picture 6" descr="A close-up of blue text&#10;&#10;AI-generated content may be incorrect.">
            <a:extLst>
              <a:ext uri="{FF2B5EF4-FFF2-40B4-BE49-F238E27FC236}">
                <a16:creationId xmlns:a16="http://schemas.microsoft.com/office/drawing/2014/main" id="{2926B33E-4A38-26E0-C9F6-D3CC51A55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365"/>
          <a:stretch/>
        </p:blipFill>
        <p:spPr>
          <a:xfrm>
            <a:off x="2167377" y="3505307"/>
            <a:ext cx="8729223" cy="27766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ADC757-7905-FEB9-007B-F56D4AB90DEF}"/>
              </a:ext>
            </a:extLst>
          </p:cNvPr>
          <p:cNvSpPr txBox="1"/>
          <p:nvPr/>
        </p:nvSpPr>
        <p:spPr>
          <a:xfrm>
            <a:off x="11197629" y="4022577"/>
            <a:ext cx="7547573" cy="1742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 eaLnBrk="1" hangingPunct="1">
              <a:lnSpc>
                <a:spcPct val="114000"/>
              </a:lnSpc>
            </a:pP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If a stand-alone statement: </a:t>
            </a:r>
          </a:p>
          <a:p>
            <a:pPr lvl="1" algn="l" hangingPunct="1">
              <a:lnSpc>
                <a:spcPct val="114000"/>
              </a:lnSpc>
            </a:pP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ea typeface="Tahoma" pitchFamily="34" charset="0"/>
                <a:cs typeface="Courier New" pitchFamily="49" charset="0"/>
              </a:rPr>
              <a:t>n++ </a:t>
            </a: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or </a:t>
            </a: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++n</a:t>
            </a: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 equal to </a:t>
            </a: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n=n+1;</a:t>
            </a:r>
          </a:p>
          <a:p>
            <a:pPr lvl="1" algn="l" hangingPunct="1">
              <a:lnSpc>
                <a:spcPct val="114000"/>
              </a:lnSpc>
            </a:pP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n-- </a:t>
            </a: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or </a:t>
            </a: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--n </a:t>
            </a:r>
            <a:r>
              <a:rPr lang="en-US" altLang="en-US" sz="32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equal to </a:t>
            </a:r>
            <a:r>
              <a:rPr lang="en-US" altLang="en-US" sz="32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n=n-1;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E11FCB-8B79-48FC-60EF-81555D361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376" y="6563960"/>
            <a:ext cx="9434073" cy="643179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957239-9EF3-4F4D-DD5B-3357A99F1680}"/>
              </a:ext>
            </a:extLst>
          </p:cNvPr>
          <p:cNvSpPr txBox="1"/>
          <p:nvPr/>
        </p:nvSpPr>
        <p:spPr>
          <a:xfrm>
            <a:off x="12192000" y="6772116"/>
            <a:ext cx="4933950" cy="2133918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45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45</a:t>
            </a:r>
          </a:p>
        </p:txBody>
      </p:sp>
    </p:spTree>
    <p:extLst>
      <p:ext uri="{BB962C8B-B14F-4D97-AF65-F5344CB8AC3E}">
        <p14:creationId xmlns:p14="http://schemas.microsoft.com/office/powerpoint/2010/main" val="405372703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646AF-AE53-18BB-1320-A8177F26C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ECDA-09A0-D2A8-724B-A3E21B67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A4774-29DE-9D5D-357A-88F566E419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INCREMENT &amp; DECREMENT EXAMPLE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1C3619-8FD4-8475-4B13-62546F6B4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42"/>
          <a:stretch/>
        </p:blipFill>
        <p:spPr>
          <a:xfrm>
            <a:off x="2198108" y="3747291"/>
            <a:ext cx="9365242" cy="6717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46112F-151F-59EE-565B-0A30675D2341}"/>
              </a:ext>
            </a:extLst>
          </p:cNvPr>
          <p:cNvSpPr txBox="1"/>
          <p:nvPr/>
        </p:nvSpPr>
        <p:spPr>
          <a:xfrm>
            <a:off x="11936252" y="3747291"/>
            <a:ext cx="11076148" cy="57378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 eaLnBrk="1" hangingPunct="1">
              <a:lnSpc>
                <a:spcPct val="114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If ++n and n++ or --n and n-- as a bounded statement (sub expression), they have a different meaning:</a:t>
            </a:r>
          </a:p>
          <a:p>
            <a:pPr lvl="1" indent="0" algn="l" hangingPunct="1">
              <a:lnSpc>
                <a:spcPct val="114000"/>
              </a:lnSpc>
            </a:pPr>
            <a:endParaRPr lang="en-US" altLang="en-US" sz="3600" b="1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  <a:p>
            <a:pPr lvl="1" indent="0" algn="l" hangingPunct="1">
              <a:lnSpc>
                <a:spcPct val="114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++n</a:t>
            </a:r>
          </a:p>
          <a:p>
            <a:pPr lvl="1" indent="0" algn="l" hangingPunct="1">
              <a:lnSpc>
                <a:spcPct val="114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 add by 1, then continue to process its expression</a:t>
            </a:r>
          </a:p>
          <a:p>
            <a:pPr algn="l" eaLnBrk="1" hangingPunct="1">
              <a:lnSpc>
                <a:spcPct val="114000"/>
              </a:lnSpc>
            </a:pPr>
            <a:endParaRPr lang="en-US" altLang="en-US" sz="3600" b="1" dirty="0">
              <a:solidFill>
                <a:schemeClr val="bg2">
                  <a:lumMod val="10000"/>
                </a:schemeClr>
              </a:solidFill>
              <a:latin typeface="+mj-lt"/>
              <a:cs typeface="Tahoma" pitchFamily="34" charset="0"/>
            </a:endParaRPr>
          </a:p>
          <a:p>
            <a:pPr algn="l" eaLnBrk="1" hangingPunct="1">
              <a:lnSpc>
                <a:spcPct val="114000"/>
              </a:lnSpc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n++</a:t>
            </a:r>
          </a:p>
          <a:p>
            <a:pPr algn="l" eaLnBrk="1" hangingPunct="1">
              <a:lnSpc>
                <a:spcPct val="114000"/>
              </a:lnSpc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</a:rPr>
              <a:t>process the expression initially, then add n by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B5B694-B63D-92F1-CFE1-14299CC8C052}"/>
              </a:ext>
            </a:extLst>
          </p:cNvPr>
          <p:cNvSpPr txBox="1"/>
          <p:nvPr/>
        </p:nvSpPr>
        <p:spPr>
          <a:xfrm>
            <a:off x="8011954" y="10229313"/>
            <a:ext cx="4933950" cy="2133918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 = 45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 = 44</a:t>
            </a:r>
          </a:p>
        </p:txBody>
      </p:sp>
    </p:spTree>
    <p:extLst>
      <p:ext uri="{BB962C8B-B14F-4D97-AF65-F5344CB8AC3E}">
        <p14:creationId xmlns:p14="http://schemas.microsoft.com/office/powerpoint/2010/main" val="246160080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2243-5186-DF03-7724-07F7A3A84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22E2-4CD9-8CD9-552B-0A325112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A4EE1-590A-20D2-088B-78B230F57A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COMBINED OPERATOR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D34F8-3989-2702-AC72-347B8A10CF0A}"/>
              </a:ext>
            </a:extLst>
          </p:cNvPr>
          <p:cNvSpPr txBox="1">
            <a:spLocks/>
          </p:cNvSpPr>
          <p:nvPr/>
        </p:nvSpPr>
        <p:spPr>
          <a:xfrm>
            <a:off x="2209065" y="3335732"/>
            <a:ext cx="19454373" cy="3922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Every expression using the following form: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&lt;Variable&gt; = &lt;Variable&gt; &lt;Operator&gt; &lt;Exp&gt;;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has similar meaning with: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&lt;Variable&gt; &lt;Operator&gt; = &lt;Exp&gt;;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or also known as: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Combined Operator</a:t>
            </a:r>
          </a:p>
          <a:p>
            <a:pPr marL="0" indent="0" algn="ctr">
              <a:spcBef>
                <a:spcPts val="1200"/>
              </a:spcBef>
              <a:buNone/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ctr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7" name="Group 4">
            <a:extLst>
              <a:ext uri="{FF2B5EF4-FFF2-40B4-BE49-F238E27FC236}">
                <a16:creationId xmlns:a16="http://schemas.microsoft.com/office/drawing/2014/main" id="{F8D73B8B-4BF7-3A9B-5B6B-724AD01F9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095784"/>
              </p:ext>
            </p:extLst>
          </p:nvPr>
        </p:nvGraphicFramePr>
        <p:xfrm>
          <a:off x="4640102" y="7827588"/>
          <a:ext cx="14592299" cy="4907196"/>
        </p:xfrm>
        <a:graphic>
          <a:graphicData uri="http://schemas.openxmlformats.org/drawingml/2006/table">
            <a:tbl>
              <a:tblPr/>
              <a:tblGrid>
                <a:gridCol w="693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8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794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Expression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Combined Operator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9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+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+=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–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-=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95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*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*=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3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/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/=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667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%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%=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08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= a ^ b 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^= b;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341390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73DE-FCD5-7616-2B96-854B062AB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252D-777F-FFD9-2E6A-6F03E502D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897C6-140E-AF60-479E-3F45546EC4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FF83EC0-E444-87F5-330B-DA12EB98D3D4}"/>
              </a:ext>
            </a:extLst>
          </p:cNvPr>
          <p:cNvSpPr txBox="1">
            <a:spLocks/>
          </p:cNvSpPr>
          <p:nvPr/>
        </p:nvSpPr>
        <p:spPr>
          <a:xfrm>
            <a:off x="2167377" y="3223274"/>
            <a:ext cx="13529823" cy="8778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*= y +1;  has similar </a:t>
            </a:r>
            <a:r>
              <a:rPr lang="es-ES" altLang="en-US" sz="40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meaning</a:t>
            </a: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ES" altLang="en-US" sz="40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with</a:t>
            </a: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endParaRPr lang="es-E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* (y + 1);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* y + 1;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+ 1 * y;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(x + 1) * y;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91650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A589-7F73-A395-E035-C9E4C558C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875C-3E38-FAE2-C960-C081C2D0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ARITHMETIC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1F3FB-9848-9A74-0576-18BC42B286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C7A8CA8-04F6-42D2-B62E-4DB079D741DD}"/>
              </a:ext>
            </a:extLst>
          </p:cNvPr>
          <p:cNvSpPr txBox="1">
            <a:spLocks/>
          </p:cNvSpPr>
          <p:nvPr/>
        </p:nvSpPr>
        <p:spPr>
          <a:xfrm>
            <a:off x="2167377" y="3223274"/>
            <a:ext cx="13529823" cy="8778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*= y +1;  has similar </a:t>
            </a:r>
            <a:r>
              <a:rPr lang="es-ES" altLang="en-US" sz="40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meaning</a:t>
            </a: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s-ES" altLang="en-US" sz="40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with</a:t>
            </a: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?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endParaRPr lang="es-ES" altLang="en-US" sz="40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* (y + 1);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* y + 1;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x + 1 * y;</a:t>
            </a:r>
          </a:p>
          <a:p>
            <a:pPr marL="514350" indent="-514350" algn="just">
              <a:spcBef>
                <a:spcPts val="1200"/>
              </a:spcBef>
              <a:buSzPct val="100000"/>
              <a:buFontTx/>
              <a:buAutoNum type="alphaLcParenR"/>
            </a:pPr>
            <a:r>
              <a:rPr lang="es-ES" altLang="en-US" sz="40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 = (x + 1) * y;</a:t>
            </a:r>
          </a:p>
          <a:p>
            <a:pPr marL="0" indent="0" algn="just">
              <a:spcBef>
                <a:spcPts val="1200"/>
              </a:spcBef>
              <a:buFontTx/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algn="just">
              <a:spcBef>
                <a:spcPts val="1200"/>
              </a:spcBef>
              <a:buFontTx/>
              <a:buNone/>
            </a:pPr>
            <a:r>
              <a:rPr lang="en-US" altLang="en-US" sz="40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Answer: a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85262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00426-CF80-42A7-0D19-ECAAA400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1F7B9-BED9-AB20-1B6F-3213C121A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Relational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5E310-EF83-6362-8319-6D2C2475EB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4F17B-0FD9-1AAE-FC8C-7806BBDADBAA}"/>
              </a:ext>
            </a:extLst>
          </p:cNvPr>
          <p:cNvSpPr txBox="1">
            <a:spLocks/>
          </p:cNvSpPr>
          <p:nvPr/>
        </p:nvSpPr>
        <p:spPr>
          <a:xfrm>
            <a:off x="2167377" y="3223274"/>
            <a:ext cx="19778223" cy="300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Used to compare values with TRUE or FALSE result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FALSE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in C language equals to the value of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0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TRUE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on the other hand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not equal to 0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TRUE</a:t>
            </a:r>
            <a:r>
              <a:rPr lang="en-US" altLang="en-US" sz="3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set by a C program at run time equal to the value of </a:t>
            </a:r>
            <a:r>
              <a:rPr lang="en-US" altLang="en-US" sz="32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1</a:t>
            </a:r>
          </a:p>
          <a:p>
            <a:pPr algn="just">
              <a:spcBef>
                <a:spcPts val="1200"/>
              </a:spcBef>
            </a:pPr>
            <a:endParaRPr lang="en-US" altLang="en-US" sz="3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5" name="Group 33">
            <a:extLst>
              <a:ext uri="{FF2B5EF4-FFF2-40B4-BE49-F238E27FC236}">
                <a16:creationId xmlns:a16="http://schemas.microsoft.com/office/drawing/2014/main" id="{2E3A313F-5FF7-F55C-06E7-8612805CB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305048"/>
              </p:ext>
            </p:extLst>
          </p:nvPr>
        </p:nvGraphicFramePr>
        <p:xfrm>
          <a:off x="5192552" y="6498785"/>
          <a:ext cx="13487400" cy="5120640"/>
        </p:xfrm>
        <a:graphic>
          <a:graphicData uri="http://schemas.openxmlformats.org/drawingml/2006/table">
            <a:tbl>
              <a:tblPr/>
              <a:tblGrid>
                <a:gridCol w="3261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5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Symbol</a:t>
                      </a:r>
                      <a:endParaRPr kumimoji="0" lang="en-US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Functionality</a:t>
                      </a:r>
                      <a:endParaRPr kumimoji="0" lang="en-US" sz="36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Tahoma" pitchFamily="34" charset="0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==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Equality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!=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Not equal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Less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&gt;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Greater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1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Less or equal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&gt;=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Greater or equal than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?: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Conditional assignment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17412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B990C-F501-5FE6-1D14-ED570BA0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55D39-A4D7-9A92-FC5E-F857BAE7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Relational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633A8-CABD-6BDD-B5AC-29B92B75B4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9" name="Picture 8" descr="A computer code with text&#10;&#10;AI-generated content may be incorrect.">
            <a:extLst>
              <a:ext uri="{FF2B5EF4-FFF2-40B4-BE49-F238E27FC236}">
                <a16:creationId xmlns:a16="http://schemas.microsoft.com/office/drawing/2014/main" id="{99E76DE8-FC9E-CF6B-8F3D-B18076F28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7198064"/>
            <a:ext cx="13796524" cy="60582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B0DD16-DAAD-7AC4-4494-98DCF7D8BB61}"/>
              </a:ext>
            </a:extLst>
          </p:cNvPr>
          <p:cNvSpPr txBox="1"/>
          <p:nvPr/>
        </p:nvSpPr>
        <p:spPr>
          <a:xfrm>
            <a:off x="15106650" y="7744538"/>
            <a:ext cx="7777046" cy="2564805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not equal 6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less than 6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less or equal than 6</a:t>
            </a:r>
          </a:p>
        </p:txBody>
      </p:sp>
      <p:pic>
        <p:nvPicPr>
          <p:cNvPr id="15" name="Picture 1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76259A9-266E-F240-F410-B59E8464F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3260663"/>
            <a:ext cx="7681474" cy="38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77010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E3BF2-D28A-E143-2BFD-B75BDBE7E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58485-E967-9298-5D64-E94ECBF71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Conditional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F0AD7-E2DD-6BE7-7507-7D5CD459A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BC059-48DB-B80A-E459-CD4CAB1EFA3A}"/>
              </a:ext>
            </a:extLst>
          </p:cNvPr>
          <p:cNvSpPr txBox="1">
            <a:spLocks/>
          </p:cNvSpPr>
          <p:nvPr/>
        </p:nvSpPr>
        <p:spPr>
          <a:xfrm>
            <a:off x="2167377" y="3676650"/>
            <a:ext cx="20254473" cy="8362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Given the following statement: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if(a &gt; b)  z = a;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else z = b;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The above statement can be reformed to a conditional expression using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ternary operator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Syntax : 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exp1 ? exp2 : exp3;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  (similar meaning with the above statement):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z = (a &gt; b) ? a : b;</a:t>
            </a: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43666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4283-7CB7-DE57-DD10-B7727318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30C79-D957-4125-B31B-8D482D0D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Conditional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3B740-71B8-0D94-5057-6B5F4A4C18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 descr="A white background with numbers and symbols&#10;&#10;AI-generated content may be incorrect.">
            <a:extLst>
              <a:ext uri="{FF2B5EF4-FFF2-40B4-BE49-F238E27FC236}">
                <a16:creationId xmlns:a16="http://schemas.microsoft.com/office/drawing/2014/main" id="{F3A84AE4-4D68-3972-BF5B-3FE3FC394F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5"/>
          <a:stretch/>
        </p:blipFill>
        <p:spPr>
          <a:xfrm>
            <a:off x="2167377" y="3468109"/>
            <a:ext cx="10538973" cy="4605674"/>
          </a:xfrm>
          <a:prstGeom prst="rect">
            <a:avLst/>
          </a:prstGeom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C2C1CB8-16ED-723F-DA13-FB6C6A5B4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73"/>
          <a:stretch/>
        </p:blipFill>
        <p:spPr>
          <a:xfrm>
            <a:off x="13354049" y="3468109"/>
            <a:ext cx="9548373" cy="92120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2754C4-2D68-CF4F-34A1-1FAF6C17468E}"/>
              </a:ext>
            </a:extLst>
          </p:cNvPr>
          <p:cNvSpPr txBox="1"/>
          <p:nvPr/>
        </p:nvSpPr>
        <p:spPr>
          <a:xfrm>
            <a:off x="19773899" y="11211890"/>
            <a:ext cx="3524251" cy="1949252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228955-178C-0505-EEC4-7B6E08F663BF}"/>
              </a:ext>
            </a:extLst>
          </p:cNvPr>
          <p:cNvSpPr txBox="1"/>
          <p:nvPr/>
        </p:nvSpPr>
        <p:spPr>
          <a:xfrm>
            <a:off x="2167377" y="8277263"/>
            <a:ext cx="6362701" cy="1333698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Item discount = 30</a:t>
            </a:r>
          </a:p>
        </p:txBody>
      </p:sp>
    </p:spTree>
    <p:extLst>
      <p:ext uri="{BB962C8B-B14F-4D97-AF65-F5344CB8AC3E}">
        <p14:creationId xmlns:p14="http://schemas.microsoft.com/office/powerpoint/2010/main" val="163736104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27F9-E7FD-8092-60B8-84F8F175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B90B-E5A3-35CC-EFC6-5A8B46171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Logical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B35B2-B7AC-7BD1-4517-4C60909D78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A7421-9CCF-1D47-57D6-3AB1F2B83940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254473" cy="853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Logical operator symbols:</a:t>
            </a: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Logical operator truth table:</a:t>
            </a:r>
          </a:p>
          <a:p>
            <a:pPr algn="just">
              <a:spcBef>
                <a:spcPts val="1200"/>
              </a:spcBef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16697336-0629-D45C-5BBB-C9D6D21206FF}"/>
              </a:ext>
            </a:extLst>
          </p:cNvPr>
          <p:cNvGraphicFramePr>
            <a:graphicFrameLocks noGrp="1"/>
          </p:cNvGraphicFramePr>
          <p:nvPr/>
        </p:nvGraphicFramePr>
        <p:xfrm>
          <a:off x="2519586" y="4504265"/>
          <a:ext cx="8415114" cy="2804248"/>
        </p:xfrm>
        <a:graphic>
          <a:graphicData uri="http://schemas.openxmlformats.org/drawingml/2006/table">
            <a:tbl>
              <a:tblPr/>
              <a:tblGrid>
                <a:gridCol w="4207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7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Symbol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Functionality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&amp;&amp;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AND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||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OR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60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!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NOT</a:t>
                      </a:r>
                    </a:p>
                  </a:txBody>
                  <a:tcPr marT="45731" marB="45731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Group 21">
            <a:extLst>
              <a:ext uri="{FF2B5EF4-FFF2-40B4-BE49-F238E27FC236}">
                <a16:creationId xmlns:a16="http://schemas.microsoft.com/office/drawing/2014/main" id="{79795CD1-2EFD-B588-713F-729E19EC5034}"/>
              </a:ext>
            </a:extLst>
          </p:cNvPr>
          <p:cNvGraphicFramePr>
            <a:graphicFrameLocks noGrp="1"/>
          </p:cNvGraphicFramePr>
          <p:nvPr/>
        </p:nvGraphicFramePr>
        <p:xfrm>
          <a:off x="2519586" y="8552970"/>
          <a:ext cx="11896394" cy="3505200"/>
        </p:xfrm>
        <a:graphic>
          <a:graphicData uri="http://schemas.openxmlformats.org/drawingml/2006/table">
            <a:tbl>
              <a:tblPr/>
              <a:tblGrid>
                <a:gridCol w="1876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B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!A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&amp;&amp; B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|| B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5450"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True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marR="0" indent="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1pPr>
                      <a:lvl2pPr marL="0" marR="0" indent="457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2pPr>
                      <a:lvl3pPr marL="0" marR="0" indent="914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3pPr>
                      <a:lvl4pPr marL="0" marR="0" indent="1371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4pPr>
                      <a:lvl5pPr marL="0" marR="0" indent="18288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5pPr>
                      <a:lvl6pPr marL="0" marR="0" indent="22860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6pPr>
                      <a:lvl7pPr marL="0" marR="0" indent="27432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7pPr>
                      <a:lvl8pPr marL="0" marR="0" indent="32004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8pPr>
                      <a:lvl9pPr marL="0" marR="0" indent="3657600" algn="ctr" defTabSz="584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 u="none" strike="noStrike" cap="none" spc="0" baseline="0">
                          <a:solidFill>
                            <a:schemeClr val="tx1"/>
                          </a:solidFill>
                          <a:uFillTx/>
                          <a:latin typeface="Calibri"/>
                          <a:sym typeface="Helvetica Neue"/>
                        </a:defRPr>
                      </a:lvl9pPr>
                    </a:lstStyle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False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69847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8C971-FB0C-5222-8608-D9B6A404E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3E4D-EDB1-960F-E19C-42B23020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Logical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8E81C-1EF2-38C9-DD6A-3D898FECF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DF5A6-4613-C2BF-F8DC-303258FE4D21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254473" cy="1562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Operand in Logical Operator is the operand with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TRUE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or </a:t>
            </a:r>
            <a:r>
              <a:rPr lang="en-US" altLang="en-US" sz="36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FALSE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value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Example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2" name="Picture 11" descr="A computer code with text&#10;&#10;AI-generated content may be incorrect.">
            <a:extLst>
              <a:ext uri="{FF2B5EF4-FFF2-40B4-BE49-F238E27FC236}">
                <a16:creationId xmlns:a16="http://schemas.microsoft.com/office/drawing/2014/main" id="{BB7E6E2C-9F1A-9502-BF20-85CF5715D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5050138"/>
            <a:ext cx="12303936" cy="53036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0D57CB-A8A1-CF66-5494-680E93FEB983}"/>
              </a:ext>
            </a:extLst>
          </p:cNvPr>
          <p:cNvSpPr txBox="1"/>
          <p:nvPr/>
        </p:nvSpPr>
        <p:spPr>
          <a:xfrm>
            <a:off x="2167377" y="10577425"/>
            <a:ext cx="6362701" cy="1949252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40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0059C81-2DD4-8320-7735-BB7F28A45C31}"/>
              </a:ext>
            </a:extLst>
          </p:cNvPr>
          <p:cNvSpPr txBox="1">
            <a:spLocks/>
          </p:cNvSpPr>
          <p:nvPr/>
        </p:nvSpPr>
        <p:spPr>
          <a:xfrm>
            <a:off x="14763750" y="5947474"/>
            <a:ext cx="7029450" cy="297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Explanation: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5 &gt; 0 		</a:t>
            </a: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 TRUE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0 &gt;=  0 		 TRUE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  <a:sym typeface="Wingdings" panose="05000000000000000000" pitchFamily="2" charset="2"/>
              </a:rPr>
              <a:t>TRUE  &amp;&amp;  TRUE 	 TRUE</a:t>
            </a: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85074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36F4C-9004-8779-E598-009643C7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0D17-E815-606D-8151-853C81D3C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BITWISE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846D9-B6FB-4A57-79CA-3FD1130CA7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00E92-A7E9-4958-C729-33498BCFD458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254473" cy="1733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Bitwise operator symbols are used for bit manipulation, which means they operate directly on the binary representations of integers.</a:t>
            </a:r>
          </a:p>
        </p:txBody>
      </p:sp>
      <p:graphicFrame>
        <p:nvGraphicFramePr>
          <p:cNvPr id="5" name="Group 37">
            <a:extLst>
              <a:ext uri="{FF2B5EF4-FFF2-40B4-BE49-F238E27FC236}">
                <a16:creationId xmlns:a16="http://schemas.microsoft.com/office/drawing/2014/main" id="{0EE89996-6130-7908-62DC-045C1ED47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310830"/>
              </p:ext>
            </p:extLst>
          </p:nvPr>
        </p:nvGraphicFramePr>
        <p:xfrm>
          <a:off x="5849802" y="5520676"/>
          <a:ext cx="12172900" cy="4907280"/>
        </p:xfrm>
        <a:graphic>
          <a:graphicData uri="http://schemas.openxmlformats.org/drawingml/2006/table">
            <a:tbl>
              <a:tblPr/>
              <a:tblGrid>
                <a:gridCol w="377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8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Symbol</a:t>
                      </a:r>
                      <a:endParaRPr kumimoji="0" lang="en-US" sz="4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Meaning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Example </a:t>
                      </a:r>
                      <a:endParaRPr kumimoji="0" lang="en-US" sz="4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+mj-lt"/>
                        <a:cs typeface="Tahoma" pitchFamily="34" charset="0"/>
                      </a:endParaRP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&amp;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AND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&amp; B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|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OR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| B;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^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XOR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^ B;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~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Complement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~A;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&gt;&gt;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Shift Right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A &gt;&gt; 3;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&lt;&lt;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Shift Left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+mj-lt"/>
                          <a:cs typeface="Tahoma" pitchFamily="34" charset="0"/>
                        </a:rPr>
                        <a:t>B &lt;&lt; 2;</a:t>
                      </a:r>
                    </a:p>
                  </a:txBody>
                  <a:tcPr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435175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F1249-3A6C-F116-5497-21583C67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A66AC-CC8C-6F62-6AFE-465F7337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BITWISE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4E7E1-768A-DC25-B045-1F1F78069B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AND, 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323590-251C-A23F-BD04-8A6E0AA83A8D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25447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A=24;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B=35; 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C;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 = A &amp; B;  	// value C = 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 = A | B;   	// value C = 59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AD32083-8A9B-71CB-7CB6-96181537D5D1}"/>
              </a:ext>
            </a:extLst>
          </p:cNvPr>
          <p:cNvSpPr txBox="1">
            <a:spLocks/>
          </p:cNvSpPr>
          <p:nvPr/>
        </p:nvSpPr>
        <p:spPr>
          <a:xfrm>
            <a:off x="2167376" y="7633892"/>
            <a:ext cx="2025447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Explanation: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 = 24 binary: 011000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 = 35 binary: 100011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Bit by bit AND operation resulting	: 000000, in decimal: 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Bit by bit OR operation resulting	: 111011, in decimal: 59</a:t>
            </a:r>
          </a:p>
        </p:txBody>
      </p:sp>
    </p:spTree>
    <p:extLst>
      <p:ext uri="{BB962C8B-B14F-4D97-AF65-F5344CB8AC3E}">
        <p14:creationId xmlns:p14="http://schemas.microsoft.com/office/powerpoint/2010/main" val="59753268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CA6EC-BC6C-F404-5006-1BB4B8208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27D71-0A04-627A-D296-F94CC40AE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BITWISE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509DA-1AE5-D354-E4C0-F666EA4A0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XOR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9517B-0C4C-D188-F66B-AC01E9EEE6D3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50212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XOR operation of two bits resulting </a:t>
            </a:r>
            <a:r>
              <a:rPr lang="en-US" altLang="en-US" sz="3600" b="1" dirty="0">
                <a:latin typeface="+mj-lt"/>
                <a:cs typeface="Tahoma" pitchFamily="34" charset="0"/>
              </a:rPr>
              <a:t>1</a:t>
            </a:r>
            <a:r>
              <a:rPr lang="en-US" altLang="en-US" sz="3600" dirty="0">
                <a:latin typeface="+mj-lt"/>
                <a:cs typeface="Tahoma" pitchFamily="34" charset="0"/>
              </a:rPr>
              <a:t> if both bit are different and will result </a:t>
            </a:r>
            <a:r>
              <a:rPr lang="en-US" altLang="en-US" sz="3600" b="1" dirty="0">
                <a:latin typeface="+mj-lt"/>
                <a:cs typeface="Tahoma" pitchFamily="34" charset="0"/>
              </a:rPr>
              <a:t>0</a:t>
            </a:r>
            <a:r>
              <a:rPr lang="en-US" altLang="en-US" sz="3600" dirty="0">
                <a:latin typeface="+mj-lt"/>
                <a:cs typeface="Tahoma" pitchFamily="34" charset="0"/>
              </a:rPr>
              <a:t> if both are same.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A = 45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B = 75;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C = B^A;   	// Result C=102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AB7F597-164E-24C0-E98C-5D27D9C431FE}"/>
              </a:ext>
            </a:extLst>
          </p:cNvPr>
          <p:cNvSpPr txBox="1">
            <a:spLocks/>
          </p:cNvSpPr>
          <p:nvPr/>
        </p:nvSpPr>
        <p:spPr>
          <a:xfrm>
            <a:off x="2167376" y="7633892"/>
            <a:ext cx="2025447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Explanation: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 = 45 binary: 0101101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 = 75 binary: 1001011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Bit by bit XOR operation resulting	: 1100110 or 102 in decimal</a:t>
            </a:r>
          </a:p>
        </p:txBody>
      </p:sp>
    </p:spTree>
    <p:extLst>
      <p:ext uri="{BB962C8B-B14F-4D97-AF65-F5344CB8AC3E}">
        <p14:creationId xmlns:p14="http://schemas.microsoft.com/office/powerpoint/2010/main" val="329522250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4E86E-CEFA-6599-25C2-F052D339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E248-0EC9-BA05-6E5E-46F239A3C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BITWISE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8C126-6F4F-ED21-1CB9-8FEF96CDB1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COMPLEMENT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87295-8CA1-132C-A304-D7EB577CE8A9}"/>
              </a:ext>
            </a:extLst>
          </p:cNvPr>
          <p:cNvSpPr txBox="1">
            <a:spLocks/>
          </p:cNvSpPr>
          <p:nvPr/>
        </p:nvSpPr>
        <p:spPr>
          <a:xfrm>
            <a:off x="2167377" y="3505200"/>
            <a:ext cx="2050212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To create a 1's complement (complement-1) of a value, every bit with a 0 is changed to 1, and every bit with a 1 is changed to 0.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A, B = 0xC3;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~B;   // A now holds the 1's complement of B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CB77B63-16BB-154F-2BBB-42BFACEFC50F}"/>
              </a:ext>
            </a:extLst>
          </p:cNvPr>
          <p:cNvSpPr txBox="1">
            <a:spLocks/>
          </p:cNvSpPr>
          <p:nvPr/>
        </p:nvSpPr>
        <p:spPr>
          <a:xfrm>
            <a:off x="2167376" y="7633892"/>
            <a:ext cx="20254473" cy="4210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Explanation: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0xC3 in binary: 1100 0011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1's complement: 0011 1100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In hexadecimal: 0x3C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*In C, writing a hexadecimal should start with 0x</a:t>
            </a:r>
          </a:p>
        </p:txBody>
      </p:sp>
    </p:spTree>
    <p:extLst>
      <p:ext uri="{BB962C8B-B14F-4D97-AF65-F5344CB8AC3E}">
        <p14:creationId xmlns:p14="http://schemas.microsoft.com/office/powerpoint/2010/main" val="76173079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EF3D-9AF3-C70F-DCEC-26A25819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10BF-5D4E-F837-B852-793935CC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BITWISE Expressions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9C259-AB94-D81B-C2C3-4B1ED5AFD5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SHIFT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64211F-6121-137E-8209-E88AADC4F5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67377" y="3257550"/>
                <a:ext cx="20502123" cy="729615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Autofit/>
              </a:bodyPr>
              <a:lstStyle>
                <a:lvl1pPr marL="266700" marR="0" indent="-266700" algn="l" defTabSz="2438338" rtl="0" eaLnBrk="1" latinLnBrk="0" hangingPunct="1">
                  <a:lnSpc>
                    <a:spcPct val="10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kumimoji="0" lang="en-US" sz="26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 Light"/>
                    <a:ea typeface="Open Sans Light"/>
                    <a:cs typeface="Open Sans Light"/>
                    <a:sym typeface="Helvetica Neue"/>
                  </a:defRPr>
                </a:lvl1pPr>
                <a:lvl2pPr marL="890588" marR="0" indent="-280988" algn="l" defTabSz="2438338" rtl="0" eaLnBrk="1" latinLnBrk="0" hangingPunct="1">
                  <a:lnSpc>
                    <a:spcPct val="10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kumimoji="0" lang="en-US" sz="26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 Light"/>
                    <a:ea typeface="Open Sans Light"/>
                    <a:cs typeface="Open Sans Light"/>
                    <a:sym typeface="Helvetica Neue"/>
                  </a:defRPr>
                </a:lvl2pPr>
                <a:lvl3pPr marL="1470025" marR="0" indent="-250825" algn="l" defTabSz="2438338" rtl="0" eaLnBrk="1" latinLnBrk="0" hangingPunct="1">
                  <a:lnSpc>
                    <a:spcPct val="10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kumimoji="0" lang="en-US" sz="26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 Light"/>
                    <a:ea typeface="Open Sans Light"/>
                    <a:cs typeface="Open Sans Light"/>
                    <a:sym typeface="Helvetica Neue"/>
                  </a:defRPr>
                </a:lvl3pPr>
                <a:lvl4pPr marL="2138363" marR="0" indent="-309563" algn="l" defTabSz="2438338" rtl="0" eaLnBrk="1" latinLnBrk="0" hangingPunct="1">
                  <a:lnSpc>
                    <a:spcPct val="10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kumimoji="0" lang="en-US" sz="26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 Light"/>
                    <a:ea typeface="Open Sans Light"/>
                    <a:cs typeface="Open Sans Light"/>
                    <a:sym typeface="Helvetica Neue"/>
                  </a:defRPr>
                </a:lvl4pPr>
                <a:lvl5pPr marL="2717800" marR="0" indent="-279400" algn="l" defTabSz="2438338" rtl="0" eaLnBrk="1" latinLnBrk="0" hangingPunct="1">
                  <a:lnSpc>
                    <a:spcPct val="10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kumimoji="0" lang="en-US" sz="26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 Light"/>
                    <a:ea typeface="Open Sans Light"/>
                    <a:cs typeface="Open Sans Light"/>
                    <a:sym typeface="Helvetica Neue"/>
                  </a:defRPr>
                </a:lvl5pPr>
                <a:lvl6pPr marL="36576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42672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48768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54864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0" indent="0">
                  <a:spcBef>
                    <a:spcPts val="1200"/>
                  </a:spcBef>
                  <a:buNone/>
                </a:pPr>
                <a:r>
                  <a:rPr lang="en-US" altLang="en-US" sz="3200" dirty="0">
                    <a:latin typeface="+mj-lt"/>
                    <a:cs typeface="Tahoma" pitchFamily="34" charset="0"/>
                  </a:rPr>
                  <a:t>Bitwise shift operators move the bits of a number left or right: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en-US" sz="3200" b="1" dirty="0">
                    <a:latin typeface="+mj-lt"/>
                    <a:cs typeface="Tahoma" pitchFamily="34" charset="0"/>
                  </a:rPr>
                  <a:t>&gt;&gt; (right shift)</a:t>
                </a:r>
                <a:r>
                  <a:rPr lang="en-US" altLang="en-US" sz="3200" dirty="0">
                    <a:latin typeface="+mj-lt"/>
                    <a:cs typeface="Tahoma" pitchFamily="34" charset="0"/>
                  </a:rPr>
                  <a:t>: shifts bits to the right, discarding the rightmost bits and filling in with 0s on the left.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en-US" sz="3200" b="1" dirty="0">
                    <a:latin typeface="+mj-lt"/>
                    <a:cs typeface="Tahoma" pitchFamily="34" charset="0"/>
                  </a:rPr>
                  <a:t>&lt;&lt; (left shift)</a:t>
                </a:r>
                <a:r>
                  <a:rPr lang="en-US" altLang="en-US" sz="3200" dirty="0">
                    <a:latin typeface="+mj-lt"/>
                    <a:cs typeface="Tahoma" pitchFamily="34" charset="0"/>
                  </a:rPr>
                  <a:t>: Shifts bits to the left, discarding the leftmost bits and filling in with 0s on the right.</a:t>
                </a:r>
              </a:p>
              <a:p>
                <a:pPr marL="0" indent="0" algn="just">
                  <a:spcBef>
                    <a:spcPts val="1200"/>
                  </a:spcBef>
                  <a:buNone/>
                </a:pPr>
                <a:endParaRPr lang="en-US" altLang="en-US" sz="3200" dirty="0">
                  <a:latin typeface="Courier New" panose="02070309020205020404" pitchFamily="49" charset="0"/>
                  <a:ea typeface="Open Sans Light" panose="020B0306030504020204" pitchFamily="34" charset="0"/>
                  <a:cs typeface="Courier New" panose="02070309020205020404" pitchFamily="49" charset="0"/>
                </a:endParaRPr>
              </a:p>
              <a:p>
                <a:pPr marL="0" indent="0" algn="just">
                  <a:spcBef>
                    <a:spcPts val="1200"/>
                  </a:spcBef>
                  <a:buNone/>
                </a:pPr>
                <a:r>
                  <a:rPr lang="en-US" altLang="en-US" sz="3200" dirty="0">
                    <a:latin typeface="+mj-lt"/>
                    <a:ea typeface="Open Sans Light" panose="020B0306030504020204" pitchFamily="34" charset="0"/>
                    <a:cs typeface="Courier New" panose="02070309020205020404" pitchFamily="49" charset="0"/>
                  </a:rPr>
                  <a:t>Shifting a number by n bits is equivalent to:</a:t>
                </a:r>
              </a:p>
              <a:p>
                <a:pPr algn="just">
                  <a:spcBef>
                    <a:spcPts val="1200"/>
                  </a:spcBef>
                </a:pPr>
                <a:r>
                  <a:rPr lang="en-US" altLang="en-US" sz="3200" dirty="0">
                    <a:latin typeface="+mj-lt"/>
                    <a:ea typeface="Open Sans Light" panose="020B0306030504020204" pitchFamily="34" charset="0"/>
                    <a:cs typeface="Courier New" panose="02070309020205020404" pitchFamily="49" charset="0"/>
                  </a:rPr>
                  <a:t>B &lt;&lt; n → multiplying B by</a:t>
                </a:r>
                <a:r>
                  <a:rPr lang="en-US" altLang="en-US" sz="3200" dirty="0">
                    <a:ea typeface="Open Sans Light" panose="020B0306030504020204" pitchFamily="34" charset="0"/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20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sz="3200" dirty="0">
                  <a:latin typeface="+mj-lt"/>
                  <a:ea typeface="Open Sans Light" panose="020B0306030504020204" pitchFamily="34" charset="0"/>
                  <a:cs typeface="Courier New" panose="02070309020205020404" pitchFamily="49" charset="0"/>
                </a:endParaRPr>
              </a:p>
              <a:p>
                <a:pPr algn="just">
                  <a:spcBef>
                    <a:spcPts val="1200"/>
                  </a:spcBef>
                </a:pPr>
                <a:r>
                  <a:rPr lang="en-US" altLang="en-US" sz="3200" dirty="0">
                    <a:latin typeface="+mj-lt"/>
                    <a:ea typeface="Open Sans Light" panose="020B0306030504020204" pitchFamily="34" charset="0"/>
                    <a:cs typeface="Courier New" panose="02070309020205020404" pitchFamily="49" charset="0"/>
                  </a:rPr>
                  <a:t>B &gt;&gt; n → dividing B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320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  <m:t>2</m:t>
                        </m:r>
                      </m:e>
                      <m:sup>
                        <m:r>
                          <a:rPr lang="en-US" altLang="en-US" sz="3200" b="0" i="1" smtClean="0">
                            <a:latin typeface="Cambria Math" panose="02040503050406030204" pitchFamily="18" charset="0"/>
                            <a:ea typeface="Open Sans Light" panose="020B0306030504020204" pitchFamily="34" charset="0"/>
                            <a:cs typeface="Courier New" panose="02070309020205020404" pitchFamily="49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sz="3200" dirty="0">
                  <a:latin typeface="+mj-lt"/>
                  <a:ea typeface="Open Sans Light" panose="020B0306030504020204" pitchFamily="34" charset="0"/>
                  <a:cs typeface="Courier New" panose="02070309020205020404" pitchFamily="49" charset="0"/>
                </a:endParaRPr>
              </a:p>
              <a:p>
                <a:pPr algn="just">
                  <a:spcBef>
                    <a:spcPts val="1200"/>
                  </a:spcBef>
                </a:pPr>
                <a:endParaRPr lang="en-US" altLang="en-US" sz="3200" dirty="0">
                  <a:latin typeface="+mj-lt"/>
                  <a:ea typeface="Open Sans Light" panose="020B0306030504020204" pitchFamily="34" charset="0"/>
                  <a:cs typeface="Courier New" panose="02070309020205020404" pitchFamily="49" charset="0"/>
                </a:endParaRPr>
              </a:p>
              <a:p>
                <a:pPr marL="0" indent="0" algn="just">
                  <a:spcBef>
                    <a:spcPts val="1200"/>
                  </a:spcBef>
                  <a:buNone/>
                </a:pPr>
                <a:r>
                  <a:rPr lang="en-US" altLang="en-US" sz="3200" b="1" dirty="0">
                    <a:latin typeface="+mj-lt"/>
                    <a:ea typeface="Open Sans Light" panose="020B0306030504020204" pitchFamily="34" charset="0"/>
                    <a:cs typeface="Courier New" panose="02070309020205020404" pitchFamily="49" charset="0"/>
                  </a:rPr>
                  <a:t>Example</a:t>
                </a:r>
              </a:p>
              <a:p>
                <a:pPr marL="0" indent="0" algn="just">
                  <a:spcBef>
                    <a:spcPts val="1200"/>
                  </a:spcBef>
                  <a:buNone/>
                </a:pPr>
                <a:r>
                  <a:rPr lang="en-US" altLang="en-US" sz="3600" dirty="0">
                    <a:latin typeface="Courier New" panose="02070309020205020404" pitchFamily="49" charset="0"/>
                    <a:ea typeface="Open Sans Light" panose="020B0306030504020204" pitchFamily="34" charset="0"/>
                    <a:cs typeface="Courier New" panose="02070309020205020404" pitchFamily="49" charset="0"/>
                  </a:rPr>
                  <a:t>int A, B = 78;</a:t>
                </a:r>
              </a:p>
              <a:p>
                <a:pPr marL="0" indent="0" algn="just">
                  <a:spcBef>
                    <a:spcPts val="1200"/>
                  </a:spcBef>
                  <a:buNone/>
                </a:pPr>
                <a:r>
                  <a:rPr lang="en-US" altLang="en-US" sz="3600" dirty="0">
                    <a:latin typeface="Courier New" panose="02070309020205020404" pitchFamily="49" charset="0"/>
                    <a:ea typeface="Open Sans Light" panose="020B0306030504020204" pitchFamily="34" charset="0"/>
                    <a:cs typeface="Courier New" panose="02070309020205020404" pitchFamily="49" charset="0"/>
                  </a:rPr>
                  <a:t>A = B &gt;&gt; 3;  // A=78/8=9</a:t>
                </a:r>
              </a:p>
              <a:p>
                <a:pPr marL="0" indent="0" algn="just">
                  <a:spcBef>
                    <a:spcPts val="1200"/>
                  </a:spcBef>
                  <a:buNone/>
                </a:pPr>
                <a:r>
                  <a:rPr lang="en-US" altLang="en-US" sz="3600" dirty="0">
                    <a:latin typeface="Courier New" panose="02070309020205020404" pitchFamily="49" charset="0"/>
                    <a:ea typeface="Open Sans Light" panose="020B0306030504020204" pitchFamily="34" charset="0"/>
                    <a:cs typeface="Courier New" panose="02070309020205020404" pitchFamily="49" charset="0"/>
                  </a:rPr>
                  <a:t>A = B &lt;&lt; 2;  // A=78*4=312</a:t>
                </a:r>
              </a:p>
              <a:p>
                <a:pPr marL="0" indent="0" algn="just">
                  <a:spcBef>
                    <a:spcPts val="1200"/>
                  </a:spcBef>
                  <a:buNone/>
                </a:pPr>
                <a:endParaRPr lang="en-US" altLang="en-US" sz="3200" dirty="0">
                  <a:latin typeface="Courier New" panose="02070309020205020404" pitchFamily="49" charset="0"/>
                  <a:ea typeface="Open Sans Light" panose="020B0306030504020204" pitchFamily="34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64211F-6121-137E-8209-E88AADC4F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377" y="3257550"/>
                <a:ext cx="20502123" cy="7296150"/>
              </a:xfrm>
              <a:prstGeom prst="rect">
                <a:avLst/>
              </a:prstGeom>
              <a:blipFill>
                <a:blip r:embed="rId2"/>
                <a:stretch>
                  <a:fillRect l="-1457" t="-1003" b="-1019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01C85E4-6842-0429-E4A8-75798ADEEB8A}"/>
              </a:ext>
            </a:extLst>
          </p:cNvPr>
          <p:cNvSpPr txBox="1">
            <a:spLocks/>
          </p:cNvSpPr>
          <p:nvPr/>
        </p:nvSpPr>
        <p:spPr>
          <a:xfrm>
            <a:off x="11534865" y="7687465"/>
            <a:ext cx="10696161" cy="5133185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Explanation: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 = 78 in binary: 0100 1110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 &gt;&gt; 3: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1</a:t>
            </a:r>
            <a:r>
              <a:rPr lang="en-US" altLang="en-US" sz="3200" baseline="30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st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shift right: 0010 0111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2</a:t>
            </a:r>
            <a:r>
              <a:rPr lang="en-US" altLang="en-US" sz="3200" baseline="30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nd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shift right: 0001 0011</a:t>
            </a:r>
          </a:p>
          <a:p>
            <a:pPr algn="just">
              <a:spcBef>
                <a:spcPts val="1200"/>
              </a:spcBef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3</a:t>
            </a:r>
            <a:r>
              <a:rPr lang="en-US" altLang="en-US" sz="3200" baseline="30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rd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shift right : 00001001 →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 decimal</a:t>
            </a: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9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 &lt;&lt; 2: Shift left by 2 bits → 1100 1000 → decimal 312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2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96430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99212-228E-1776-F0BE-94EBD4391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402D-9DA2-2D36-8F98-093CCCFE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Pointer Operator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DED4C-E81D-DDF9-28F8-3F4294A65B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E19F5-EC35-92EF-8685-C427203B1D7F}"/>
              </a:ext>
            </a:extLst>
          </p:cNvPr>
          <p:cNvSpPr txBox="1">
            <a:spLocks/>
          </p:cNvSpPr>
          <p:nvPr/>
        </p:nvSpPr>
        <p:spPr>
          <a:xfrm>
            <a:off x="2167377" y="4038600"/>
            <a:ext cx="20502123" cy="7048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altLang="en-US" sz="4000" b="1" dirty="0">
                <a:latin typeface="+mj-lt"/>
                <a:cs typeface="Tahoma" pitchFamily="34" charset="0"/>
              </a:rPr>
              <a:t>Pointer operators consist of: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4000" b="1" dirty="0">
              <a:latin typeface="+mj-lt"/>
              <a:cs typeface="Tahoma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4000" b="1" dirty="0">
                <a:latin typeface="+mj-lt"/>
                <a:cs typeface="Tahoma" pitchFamily="34" charset="0"/>
              </a:rPr>
              <a:t>&amp;</a:t>
            </a:r>
            <a:r>
              <a:rPr lang="en-US" altLang="en-US" sz="4000" dirty="0">
                <a:latin typeface="+mj-lt"/>
                <a:cs typeface="Tahoma" pitchFamily="34" charset="0"/>
              </a:rPr>
              <a:t> (address operator):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4000" dirty="0">
                <a:latin typeface="+mj-lt"/>
                <a:cs typeface="Tahoma" pitchFamily="34" charset="0"/>
              </a:rPr>
              <a:t>Returns the memory address of a variable.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Tahoma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*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(dereference operator)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Returns the value stored at the address the pointer is pointing </a:t>
            </a:r>
            <a:r>
              <a:rPr lang="en-US" altLang="en-US" sz="40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to.Example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: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7D0A7C7-6917-F8DB-04F4-D283A9E50585}"/>
              </a:ext>
            </a:extLst>
          </p:cNvPr>
          <p:cNvSpPr txBox="1">
            <a:spLocks/>
          </p:cNvSpPr>
          <p:nvPr/>
        </p:nvSpPr>
        <p:spPr>
          <a:xfrm>
            <a:off x="2371815" y="10030615"/>
            <a:ext cx="17363985" cy="1056485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ctr" eaLnBrk="1" hangingPunct="1">
              <a:spcBef>
                <a:spcPct val="50000"/>
              </a:spcBef>
              <a:buNone/>
            </a:pPr>
            <a:r>
              <a:rPr lang="en-US" altLang="en-US" sz="4400" b="1" dirty="0">
                <a:latin typeface="+mj-lt"/>
                <a:cs typeface="Tahoma" pitchFamily="34" charset="0"/>
              </a:rPr>
              <a:t>Will be discussed on session 13-14</a:t>
            </a:r>
          </a:p>
        </p:txBody>
      </p:sp>
    </p:spTree>
    <p:extLst>
      <p:ext uri="{BB962C8B-B14F-4D97-AF65-F5344CB8AC3E}">
        <p14:creationId xmlns:p14="http://schemas.microsoft.com/office/powerpoint/2010/main" val="254659074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64714-402F-D014-3ED6-D1C23B58B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6316-FF85-D7D5-B78A-855629E2B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Precedence and ASSOCIATIVE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70239-F0C5-0EE6-89D9-DE8564E247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B49861F-B8DE-82A6-B83D-C889CF38D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127" y="3362228"/>
            <a:ext cx="12005823" cy="87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FD907CA-21C7-714F-CEB3-3D586F573B75}"/>
              </a:ext>
            </a:extLst>
          </p:cNvPr>
          <p:cNvSpPr txBox="1">
            <a:spLocks/>
          </p:cNvSpPr>
          <p:nvPr/>
        </p:nvSpPr>
        <p:spPr>
          <a:xfrm>
            <a:off x="14516100" y="3505199"/>
            <a:ext cx="8401050" cy="8618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cs typeface="Tahoma" pitchFamily="34" charset="0"/>
              </a:rPr>
              <a:t>Every operator will have </a:t>
            </a:r>
            <a:r>
              <a:rPr lang="en-US" altLang="en-US" sz="3200" b="1" dirty="0">
                <a:latin typeface="+mj-lt"/>
                <a:cs typeface="Tahoma" pitchFamily="34" charset="0"/>
              </a:rPr>
              <a:t>precedence</a:t>
            </a:r>
            <a:r>
              <a:rPr lang="en-US" altLang="en-US" sz="3200" dirty="0">
                <a:latin typeface="+mj-lt"/>
                <a:cs typeface="Tahoma" pitchFamily="34" charset="0"/>
              </a:rPr>
              <a:t> and </a:t>
            </a:r>
            <a:r>
              <a:rPr lang="en-US" altLang="en-US" sz="3200" b="1" dirty="0">
                <a:latin typeface="+mj-lt"/>
                <a:cs typeface="Tahoma" pitchFamily="34" charset="0"/>
              </a:rPr>
              <a:t>associative</a:t>
            </a:r>
            <a:r>
              <a:rPr lang="en-US" altLang="en-US" sz="3200" dirty="0">
                <a:latin typeface="+mj-lt"/>
                <a:cs typeface="Tahoma" pitchFamily="34" charset="0"/>
              </a:rPr>
              <a:t>.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cs typeface="Tahoma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j-lt"/>
                <a:cs typeface="Tahoma" pitchFamily="34" charset="0"/>
              </a:rPr>
              <a:t>Precedence </a:t>
            </a:r>
            <a:r>
              <a:rPr lang="en-US" altLang="en-US" sz="3200" dirty="0">
                <a:latin typeface="+mj-lt"/>
                <a:cs typeface="Tahoma" pitchFamily="34" charset="0"/>
              </a:rPr>
              <a:t>determines the priority of operators in an expression. 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cs typeface="Tahoma" pitchFamily="34" charset="0"/>
              </a:rPr>
              <a:t>Operators with higher precedence are evaluated first.</a:t>
            </a:r>
          </a:p>
          <a:p>
            <a:pPr marL="0" indent="0">
              <a:spcBef>
                <a:spcPts val="1200"/>
              </a:spcBef>
              <a:buNone/>
            </a:pPr>
            <a:endParaRPr lang="en-US" altLang="en-US" sz="3200" dirty="0">
              <a:latin typeface="+mj-lt"/>
              <a:cs typeface="Tahoma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200" b="1" dirty="0">
                <a:latin typeface="+mj-lt"/>
                <a:cs typeface="Tahoma" pitchFamily="34" charset="0"/>
              </a:rPr>
              <a:t>Associativity </a:t>
            </a:r>
            <a:r>
              <a:rPr lang="en-US" altLang="en-US" sz="3200" dirty="0">
                <a:latin typeface="+mj-lt"/>
                <a:cs typeface="Tahoma" pitchFamily="34" charset="0"/>
              </a:rPr>
              <a:t>determines the order of evaluation when two or more operators have the same precedence level.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200" dirty="0">
                <a:latin typeface="+mj-lt"/>
                <a:ea typeface="Open Sans Light" panose="020B0306030504020204" pitchFamily="34" charset="0"/>
                <a:cs typeface="Tahoma" pitchFamily="34" charset="0"/>
              </a:rPr>
              <a:t>Associativity can be left to right (e.g., +, -, *, /) or right to left (e.g., assignment =, unary !, ~)</a:t>
            </a:r>
            <a:endParaRPr lang="en-US" altLang="en-US" sz="32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71022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888EE-AD7F-BFCF-EFB7-BE85C39D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5D76-7AF7-4A57-7235-080C6D7C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Precedence and ASSOCIATIVE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828CE-9E21-E037-D788-C629727D47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D4002B-88B3-6679-3336-C1037F4F3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565983"/>
            <a:ext cx="9768875" cy="7225179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30E893E-C9DC-5479-9CC5-C5EB489D6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7700" y="3565983"/>
            <a:ext cx="9643282" cy="7225179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15BB7FD-4A37-A2BF-6ED3-20EF668A7C27}"/>
              </a:ext>
            </a:extLst>
          </p:cNvPr>
          <p:cNvSpPr txBox="1">
            <a:spLocks/>
          </p:cNvSpPr>
          <p:nvPr/>
        </p:nvSpPr>
        <p:spPr>
          <a:xfrm>
            <a:off x="3456474" y="10382250"/>
            <a:ext cx="6735276" cy="22669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Output: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9.00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10.00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1FB5FE0-7E03-303A-491C-94E511323497}"/>
              </a:ext>
            </a:extLst>
          </p:cNvPr>
          <p:cNvSpPr txBox="1">
            <a:spLocks/>
          </p:cNvSpPr>
          <p:nvPr/>
        </p:nvSpPr>
        <p:spPr>
          <a:xfrm>
            <a:off x="15127154" y="10382250"/>
            <a:ext cx="6735276" cy="226695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Output: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20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94686414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6EA5-BCA1-3295-49C2-DB14D881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C1F7-855D-E3C0-782B-68B7432F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C4902-46C4-1E95-FE4D-EA683502FD99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526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If all variables are integer, then state the value of A if: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B=23; C=12; D=32; E=0;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&amp;&amp; E;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&amp; C;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C || D;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| D;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&gt; 2;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&gt;&gt; 2;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C &lt; 3;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C &lt;&lt; 3;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= C;</a:t>
            </a:r>
          </a:p>
          <a:p>
            <a:pPr marL="742950" indent="-742950" algn="just">
              <a:spcBef>
                <a:spcPts val="1200"/>
              </a:spcBef>
              <a:buFont typeface="+mj-lt"/>
              <a:buAutoNum type="alphaLcParenR"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B == C;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7480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2499-C4D5-A6E9-097D-095D18AC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BCC8-C36D-A7F7-8810-E721CB910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7CA82-CE30-A701-E2E8-D4D37D49275E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9438469" cy="8076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2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#include &lt;</a:t>
            </a:r>
            <a:r>
              <a:rPr lang="id-ID" sz="3600" dirty="0" err="1">
                <a:latin typeface="Courier New" pitchFamily="49" charset="0"/>
              </a:rPr>
              <a:t>stdio.h</a:t>
            </a:r>
            <a:r>
              <a:rPr lang="id-ID" sz="3600" dirty="0">
                <a:latin typeface="Courier New" pitchFamily="49" charset="0"/>
              </a:rPr>
              <a:t>&gt;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int main()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{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   int x=10, y=6;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   x *= 5 + y;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printf</a:t>
            </a:r>
            <a:r>
              <a:rPr lang="id-ID" sz="3600" dirty="0">
                <a:latin typeface="Courier New" pitchFamily="49" charset="0"/>
              </a:rPr>
              <a:t>("%d\</a:t>
            </a:r>
            <a:r>
              <a:rPr lang="id-ID" sz="3600" dirty="0" err="1">
                <a:latin typeface="Courier New" pitchFamily="49" charset="0"/>
              </a:rPr>
              <a:t>n",x</a:t>
            </a:r>
            <a:r>
              <a:rPr lang="id-ID" sz="3600" dirty="0">
                <a:latin typeface="Courier New" pitchFamily="49" charset="0"/>
              </a:rPr>
              <a:t>);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return</a:t>
            </a:r>
            <a:r>
              <a:rPr lang="id-ID" sz="3600" dirty="0">
                <a:latin typeface="Courier New" pitchFamily="49" charset="0"/>
              </a:rPr>
              <a:t>(0);</a:t>
            </a:r>
          </a:p>
          <a:p>
            <a:pPr marL="9525">
              <a:spcBef>
                <a:spcPts val="0"/>
              </a:spcBef>
              <a:buNone/>
            </a:pPr>
            <a:r>
              <a:rPr lang="id-ID" sz="3600" dirty="0">
                <a:latin typeface="Courier New" pitchFamily="49" charset="0"/>
              </a:rPr>
              <a:t>}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id-ID" sz="3600" dirty="0" err="1">
                <a:latin typeface="+mj-lt"/>
                <a:cs typeface="Tahoma" pitchFamily="34" charset="0"/>
              </a:rPr>
              <a:t>What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is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value</a:t>
            </a:r>
            <a:r>
              <a:rPr lang="en-US" sz="3600" dirty="0">
                <a:latin typeface="+mj-lt"/>
                <a:cs typeface="Tahoma" pitchFamily="34" charset="0"/>
              </a:rPr>
              <a:t> of </a:t>
            </a:r>
            <a:r>
              <a:rPr lang="en-US" sz="3600" b="1" dirty="0">
                <a:latin typeface="+mj-lt"/>
                <a:cs typeface="Tahoma" pitchFamily="34" charset="0"/>
              </a:rPr>
              <a:t>x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on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the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screen</a:t>
            </a:r>
            <a:r>
              <a:rPr lang="id-ID" sz="3600" dirty="0">
                <a:latin typeface="+mj-lt"/>
                <a:cs typeface="Tahoma" pitchFamily="34" charset="0"/>
              </a:rPr>
              <a:t> ?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C67477E-54BD-9240-B8BD-D75F51745D7E}"/>
              </a:ext>
            </a:extLst>
          </p:cNvPr>
          <p:cNvSpPr txBox="1">
            <a:spLocks/>
          </p:cNvSpPr>
          <p:nvPr/>
        </p:nvSpPr>
        <p:spPr>
          <a:xfrm>
            <a:off x="12163711" y="3257549"/>
            <a:ext cx="9438469" cy="9684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3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#include &lt;</a:t>
            </a:r>
            <a:r>
              <a:rPr lang="id-ID" sz="3600" dirty="0" err="1">
                <a:latin typeface="Courier New" pitchFamily="49" charset="0"/>
              </a:rPr>
              <a:t>stdio.h</a:t>
            </a:r>
            <a:r>
              <a:rPr lang="id-ID" sz="3600" dirty="0">
                <a:latin typeface="Courier New" pitchFamily="49" charset="0"/>
              </a:rPr>
              <a:t>&gt;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int main()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{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float</a:t>
            </a:r>
            <a:r>
              <a:rPr lang="id-ID" sz="3600" dirty="0">
                <a:latin typeface="Courier New" pitchFamily="49" charset="0"/>
              </a:rPr>
              <a:t> x;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x=7/2;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printf</a:t>
            </a:r>
            <a:r>
              <a:rPr lang="id-ID" sz="3600" dirty="0">
                <a:latin typeface="Courier New" pitchFamily="49" charset="0"/>
              </a:rPr>
              <a:t>("x = %f\n", x);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x=7.0/2;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printf</a:t>
            </a:r>
            <a:r>
              <a:rPr lang="id-ID" sz="3600" dirty="0">
                <a:latin typeface="Courier New" pitchFamily="49" charset="0"/>
              </a:rPr>
              <a:t>("x = %f\n", x);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x=7.0/2.0;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printf</a:t>
            </a:r>
            <a:r>
              <a:rPr lang="id-ID" sz="3600" dirty="0">
                <a:latin typeface="Courier New" pitchFamily="49" charset="0"/>
              </a:rPr>
              <a:t>("x = %f\n", x);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   </a:t>
            </a:r>
            <a:r>
              <a:rPr lang="id-ID" sz="3600" dirty="0" err="1">
                <a:latin typeface="Courier New" pitchFamily="49" charset="0"/>
              </a:rPr>
              <a:t>return</a:t>
            </a:r>
            <a:r>
              <a:rPr lang="id-ID" sz="3600" dirty="0">
                <a:latin typeface="Courier New" pitchFamily="49" charset="0"/>
              </a:rPr>
              <a:t>(0);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>
                <a:latin typeface="Courier New" pitchFamily="49" charset="0"/>
              </a:rPr>
              <a:t>}</a:t>
            </a:r>
            <a:endParaRPr lang="en-US" sz="3600" dirty="0">
              <a:latin typeface="Courier New" pitchFamily="49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id-ID" sz="3600" dirty="0" err="1">
                <a:latin typeface="+mj-lt"/>
                <a:cs typeface="Tahoma" pitchFamily="34" charset="0"/>
              </a:rPr>
              <a:t>What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is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value</a:t>
            </a:r>
            <a:r>
              <a:rPr lang="en-US" sz="3600" dirty="0">
                <a:latin typeface="+mj-lt"/>
                <a:cs typeface="Tahoma" pitchFamily="34" charset="0"/>
              </a:rPr>
              <a:t> of </a:t>
            </a:r>
            <a:r>
              <a:rPr lang="en-US" sz="3600" b="1" dirty="0">
                <a:latin typeface="+mj-lt"/>
                <a:cs typeface="Tahoma" pitchFamily="34" charset="0"/>
              </a:rPr>
              <a:t>x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on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the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screen</a:t>
            </a:r>
            <a:r>
              <a:rPr lang="id-ID" sz="3600" dirty="0">
                <a:latin typeface="+mj-lt"/>
                <a:cs typeface="Tahoma" pitchFamily="34" charset="0"/>
              </a:rPr>
              <a:t> ?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017942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9B13D-49B4-E7FE-952B-0643CB76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8A740-CAF8-47CB-117D-BE8C1BFE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C7709-D139-D859-FDFF-00CEDC41B470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762961" cy="996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4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#include &lt;</a:t>
            </a:r>
            <a:r>
              <a:rPr lang="es-ES" sz="3600" dirty="0" err="1">
                <a:latin typeface="Courier New" pitchFamily="49" charset="0"/>
              </a:rPr>
              <a:t>stdio.h</a:t>
            </a:r>
            <a:r>
              <a:rPr lang="es-ES" sz="3600" dirty="0">
                <a:latin typeface="Courier New" pitchFamily="49" charset="0"/>
              </a:rPr>
              <a:t>&gt;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endParaRPr lang="es-ES" sz="3600" dirty="0">
              <a:latin typeface="Courier New" pitchFamily="49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 err="1">
                <a:latin typeface="Courier New" pitchFamily="49" charset="0"/>
              </a:rPr>
              <a:t>int</a:t>
            </a:r>
            <a:r>
              <a:rPr lang="es-ES" sz="3600" dirty="0">
                <a:latin typeface="Courier New" pitchFamily="49" charset="0"/>
              </a:rPr>
              <a:t> </a:t>
            </a:r>
            <a:r>
              <a:rPr lang="es-ES" sz="3600" dirty="0" err="1">
                <a:latin typeface="Courier New" pitchFamily="49" charset="0"/>
              </a:rPr>
              <a:t>main</a:t>
            </a:r>
            <a:r>
              <a:rPr lang="es-ES" sz="3600" dirty="0">
                <a:latin typeface="Courier New" pitchFamily="49" charset="0"/>
              </a:rPr>
              <a:t>(){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</a:t>
            </a:r>
            <a:r>
              <a:rPr lang="es-ES" sz="3600" dirty="0" err="1">
                <a:latin typeface="Courier New" pitchFamily="49" charset="0"/>
              </a:rPr>
              <a:t>int</a:t>
            </a:r>
            <a:r>
              <a:rPr lang="es-ES" sz="3600" dirty="0">
                <a:latin typeface="Courier New" pitchFamily="49" charset="0"/>
              </a:rPr>
              <a:t> y=33, x=45;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y = y &amp;&amp; x; </a:t>
            </a:r>
            <a:r>
              <a:rPr lang="es-ES" sz="3600" dirty="0" err="1">
                <a:latin typeface="Courier New" pitchFamily="49" charset="0"/>
              </a:rPr>
              <a:t>printf</a:t>
            </a:r>
            <a:r>
              <a:rPr lang="es-ES" sz="3600" dirty="0">
                <a:latin typeface="Courier New" pitchFamily="49" charset="0"/>
              </a:rPr>
              <a:t>("%d\n", y);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y = y &amp; x; </a:t>
            </a:r>
            <a:r>
              <a:rPr lang="es-ES" sz="3600" dirty="0" err="1">
                <a:latin typeface="Courier New" pitchFamily="49" charset="0"/>
              </a:rPr>
              <a:t>printf</a:t>
            </a:r>
            <a:r>
              <a:rPr lang="es-ES" sz="3600" dirty="0">
                <a:latin typeface="Courier New" pitchFamily="49" charset="0"/>
              </a:rPr>
              <a:t>("%d\n", y);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 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	y=33; x=45;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y = y &amp; x; </a:t>
            </a:r>
            <a:r>
              <a:rPr lang="es-ES" sz="3600" dirty="0" err="1">
                <a:latin typeface="Courier New" pitchFamily="49" charset="0"/>
              </a:rPr>
              <a:t>printf</a:t>
            </a:r>
            <a:r>
              <a:rPr lang="es-ES" sz="3600" dirty="0">
                <a:latin typeface="Courier New" pitchFamily="49" charset="0"/>
              </a:rPr>
              <a:t>("%d\n", y);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y = y &amp;&amp; x; </a:t>
            </a:r>
            <a:r>
              <a:rPr lang="es-ES" sz="3600" dirty="0" err="1">
                <a:latin typeface="Courier New" pitchFamily="49" charset="0"/>
              </a:rPr>
              <a:t>printf</a:t>
            </a:r>
            <a:r>
              <a:rPr lang="es-ES" sz="3600" dirty="0">
                <a:latin typeface="Courier New" pitchFamily="49" charset="0"/>
              </a:rPr>
              <a:t>("%d\n", y);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 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  </a:t>
            </a:r>
            <a:r>
              <a:rPr lang="es-ES" sz="3600" dirty="0" err="1">
                <a:latin typeface="Courier New" pitchFamily="49" charset="0"/>
              </a:rPr>
              <a:t>return</a:t>
            </a:r>
            <a:r>
              <a:rPr lang="es-ES" sz="3600" dirty="0">
                <a:latin typeface="Courier New" pitchFamily="49" charset="0"/>
              </a:rPr>
              <a:t>(0);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s-ES" sz="3600" dirty="0">
                <a:latin typeface="Courier New" pitchFamily="49" charset="0"/>
              </a:rPr>
              <a:t>}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id-ID" sz="3600" dirty="0" err="1">
                <a:latin typeface="+mj-lt"/>
                <a:cs typeface="Tahoma" pitchFamily="34" charset="0"/>
              </a:rPr>
              <a:t>What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is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value</a:t>
            </a:r>
            <a:r>
              <a:rPr lang="en-US" sz="3600" dirty="0">
                <a:latin typeface="+mj-lt"/>
                <a:cs typeface="Tahoma" pitchFamily="34" charset="0"/>
              </a:rPr>
              <a:t> of </a:t>
            </a:r>
            <a:r>
              <a:rPr lang="en-US" sz="3600" b="1" dirty="0">
                <a:latin typeface="+mj-lt"/>
                <a:cs typeface="Tahoma" pitchFamily="34" charset="0"/>
              </a:rPr>
              <a:t>y </a:t>
            </a:r>
            <a:r>
              <a:rPr lang="id-ID" sz="3600" dirty="0" err="1">
                <a:latin typeface="+mj-lt"/>
                <a:cs typeface="Tahoma" pitchFamily="34" charset="0"/>
              </a:rPr>
              <a:t>on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the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screen</a:t>
            </a:r>
            <a:r>
              <a:rPr lang="id-ID" sz="3600" dirty="0">
                <a:latin typeface="+mj-lt"/>
                <a:cs typeface="Tahoma" pitchFamily="34" charset="0"/>
              </a:rPr>
              <a:t> ?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1839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DCD8-5D3E-A7B9-FE92-7AE3E562C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AA3A-CE40-255A-F21B-57BEF192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B660C-DBC1-7EA7-DC81-5EB56B8D293A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762961" cy="996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5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#include &lt;stdio.h&gt;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endParaRPr lang="pt-BR" sz="3600" dirty="0">
              <a:latin typeface="Courier New" pitchFamily="49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int main(){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int n = 10;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printf("%d\n", ++n);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printf("%d\n", n++);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n++;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printf("%d\n", n);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++n;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	printf("%d\n", n);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 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  return(0);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3600" dirty="0">
                <a:latin typeface="Courier New" pitchFamily="49" charset="0"/>
              </a:rPr>
              <a:t>}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endParaRPr lang="pt-BR" sz="3600" dirty="0">
              <a:latin typeface="Courier New" pitchFamily="49" charset="0"/>
              <a:cs typeface="Tahoma" pitchFamily="34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id-ID" sz="3600" dirty="0" err="1">
                <a:latin typeface="+mj-lt"/>
                <a:cs typeface="Tahoma" pitchFamily="34" charset="0"/>
              </a:rPr>
              <a:t>What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is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value</a:t>
            </a:r>
            <a:r>
              <a:rPr lang="en-US" sz="3600" dirty="0">
                <a:latin typeface="+mj-lt"/>
                <a:cs typeface="Tahoma" pitchFamily="34" charset="0"/>
              </a:rPr>
              <a:t> of </a:t>
            </a:r>
            <a:r>
              <a:rPr lang="en-US" sz="3600" b="1" dirty="0">
                <a:latin typeface="+mj-lt"/>
                <a:cs typeface="Tahoma" pitchFamily="34" charset="0"/>
              </a:rPr>
              <a:t>n </a:t>
            </a:r>
            <a:r>
              <a:rPr lang="id-ID" sz="3600" dirty="0" err="1">
                <a:latin typeface="+mj-lt"/>
                <a:cs typeface="Tahoma" pitchFamily="34" charset="0"/>
              </a:rPr>
              <a:t>on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the</a:t>
            </a:r>
            <a:r>
              <a:rPr lang="id-ID" sz="3600" dirty="0">
                <a:latin typeface="+mj-lt"/>
                <a:cs typeface="Tahoma" pitchFamily="34" charset="0"/>
              </a:rPr>
              <a:t> </a:t>
            </a:r>
            <a:r>
              <a:rPr lang="id-ID" sz="3600" dirty="0" err="1">
                <a:latin typeface="+mj-lt"/>
                <a:cs typeface="Tahoma" pitchFamily="34" charset="0"/>
              </a:rPr>
              <a:t>screen</a:t>
            </a:r>
            <a:r>
              <a:rPr lang="id-ID" sz="3600" dirty="0">
                <a:latin typeface="+mj-lt"/>
                <a:cs typeface="Tahoma" pitchFamily="34" charset="0"/>
              </a:rPr>
              <a:t> ?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12848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FC573-F289-3784-BAAB-C36A0D716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258D-5299-E1CB-D790-DC5B17FA1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D7A21-7903-9D29-62AF-D01BB4606819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762961" cy="4374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6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pt-BR" sz="4400" dirty="0">
                <a:latin typeface="Courier New" pitchFamily="49" charset="0"/>
              </a:rPr>
              <a:t>z = (n &gt; 0) ? f : b;</a:t>
            </a:r>
          </a:p>
          <a:p>
            <a:pPr marL="457200" indent="-457200">
              <a:spcBef>
                <a:spcPts val="0"/>
              </a:spcBef>
              <a:buFontTx/>
              <a:buNone/>
            </a:pPr>
            <a:endParaRPr lang="pt-BR" sz="4000" dirty="0">
              <a:latin typeface="Courier New" pitchFamily="49" charset="0"/>
              <a:cs typeface="Tahoma" pitchFamily="34" charset="0"/>
            </a:endParaRPr>
          </a:p>
          <a:p>
            <a:pPr marL="457200" indent="-457200">
              <a:spcBef>
                <a:spcPts val="0"/>
              </a:spcBef>
              <a:buFontTx/>
              <a:buNone/>
            </a:pPr>
            <a:r>
              <a:rPr lang="en-US" sz="4000" dirty="0">
                <a:latin typeface="+mj-lt"/>
                <a:cs typeface="Tahoma" pitchFamily="34" charset="0"/>
              </a:rPr>
              <a:t>From the given conditional expression above, do </a:t>
            </a:r>
            <a:r>
              <a:rPr lang="en-US" sz="4000" b="1" dirty="0">
                <a:latin typeface="+mj-lt"/>
                <a:cs typeface="Tahoma" pitchFamily="34" charset="0"/>
              </a:rPr>
              <a:t>f </a:t>
            </a:r>
            <a:r>
              <a:rPr lang="en-US" sz="4000" dirty="0">
                <a:latin typeface="+mj-lt"/>
                <a:cs typeface="Tahoma" pitchFamily="34" charset="0"/>
              </a:rPr>
              <a:t>and </a:t>
            </a:r>
            <a:r>
              <a:rPr lang="en-US" sz="4000" b="1" dirty="0">
                <a:latin typeface="+mj-lt"/>
                <a:cs typeface="Tahoma" pitchFamily="34" charset="0"/>
              </a:rPr>
              <a:t>b </a:t>
            </a:r>
            <a:r>
              <a:rPr lang="en-US" sz="4000" dirty="0">
                <a:latin typeface="+mj-lt"/>
                <a:cs typeface="Tahoma" pitchFamily="34" charset="0"/>
              </a:rPr>
              <a:t>have a different data type?</a:t>
            </a:r>
          </a:p>
        </p:txBody>
      </p:sp>
    </p:spTree>
    <p:extLst>
      <p:ext uri="{BB962C8B-B14F-4D97-AF65-F5344CB8AC3E}">
        <p14:creationId xmlns:p14="http://schemas.microsoft.com/office/powerpoint/2010/main" val="1870752500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ACAD-5FDE-A022-9A92-A168625A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DAE5B-44F4-95F8-F361-B8314A304FF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2468909"/>
            <a:ext cx="20215545" cy="10736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Create a program that:</a:t>
            </a:r>
          </a:p>
          <a:p>
            <a:pPr marL="0" indent="0">
              <a:buNone/>
            </a:pPr>
            <a:r>
              <a:rPr lang="en-US" sz="4400" dirty="0"/>
              <a:t>1. Takes 2 inputs</a:t>
            </a:r>
          </a:p>
          <a:p>
            <a:pPr marL="0" indent="0">
              <a:buNone/>
            </a:pPr>
            <a:r>
              <a:rPr lang="en-US" sz="4400" dirty="0"/>
              <a:t>2. Displays sum, product, quotient</a:t>
            </a:r>
          </a:p>
          <a:p>
            <a:pPr marL="0" indent="0">
              <a:buNone/>
            </a:pPr>
            <a:r>
              <a:rPr lang="en-US" sz="4400" dirty="0"/>
              <a:t>3. Uses ternary to find max</a:t>
            </a:r>
          </a:p>
          <a:p>
            <a:endParaRPr lang="en-US" sz="4400" dirty="0"/>
          </a:p>
          <a:p>
            <a:pPr marL="0" indent="0">
              <a:buNone/>
            </a:pPr>
            <a:r>
              <a:rPr lang="en-US" sz="4400" dirty="0"/>
              <a:t>Then:</a:t>
            </a:r>
          </a:p>
          <a:p>
            <a:pPr marL="0" indent="0">
              <a:buNone/>
            </a:pPr>
            <a:r>
              <a:rPr lang="en-US" sz="4400" dirty="0"/>
              <a:t>- Ask ChatGPT to explain your logic</a:t>
            </a:r>
          </a:p>
          <a:p>
            <a:pPr marL="0" indent="0">
              <a:buNone/>
            </a:pPr>
            <a:r>
              <a:rPr lang="en-US" sz="4400" dirty="0"/>
              <a:t>- Get 3 variations using different operators</a:t>
            </a: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6528240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4757-F181-7A5E-5A20-D36B7569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Best Practices with AI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7E854-3A69-59E9-16A1-0B5CA34423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382339"/>
            <a:ext cx="20613110" cy="9858989"/>
          </a:xfrm>
        </p:spPr>
        <p:txBody>
          <a:bodyPr>
            <a:normAutofit/>
          </a:bodyPr>
          <a:lstStyle/>
          <a:p>
            <a:r>
              <a:rPr lang="en-US" sz="5400" dirty="0"/>
              <a:t>Always understand the code AI gives</a:t>
            </a:r>
          </a:p>
          <a:p>
            <a:r>
              <a:rPr lang="en-US" sz="5400" dirty="0"/>
              <a:t>Experiment and learn, don’t just copy</a:t>
            </a:r>
          </a:p>
          <a:p>
            <a:r>
              <a:rPr lang="en-US" sz="5400" dirty="0"/>
              <a:t>Use AI explanations to verify logic</a:t>
            </a:r>
          </a:p>
          <a:p>
            <a:r>
              <a:rPr lang="en-US" sz="5400" dirty="0"/>
              <a:t>Combine traditional learning with AI guidance</a:t>
            </a:r>
          </a:p>
        </p:txBody>
      </p:sp>
    </p:spTree>
    <p:extLst>
      <p:ext uri="{BB962C8B-B14F-4D97-AF65-F5344CB8AC3E}">
        <p14:creationId xmlns:p14="http://schemas.microsoft.com/office/powerpoint/2010/main" val="269626883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01E14-5579-F3E4-6D60-7D3C0E67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A9D3-CE9D-9553-1B48-489A387D2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Use and Reasoning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C0452-98B6-C605-E159-4921F92541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382339"/>
            <a:ext cx="20613110" cy="98589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dirty="0"/>
              <a:t>Sample Prompts to AI:</a:t>
            </a:r>
          </a:p>
          <a:p>
            <a:r>
              <a:rPr lang="en-US" sz="5400" dirty="0"/>
              <a:t>1. "What does x %= 3 mean in C?"</a:t>
            </a:r>
          </a:p>
          <a:p>
            <a:r>
              <a:rPr lang="en-US" sz="5400" dirty="0"/>
              <a:t>2. "Write a C program using arithmetic and ternary operators."</a:t>
            </a:r>
          </a:p>
          <a:p>
            <a:r>
              <a:rPr lang="en-US" sz="5400" dirty="0"/>
              <a:t>3. "Explain difference between logical &amp;&amp; and bitwise &amp;"</a:t>
            </a:r>
          </a:p>
          <a:p>
            <a:endParaRPr lang="en-US" sz="5400" dirty="0"/>
          </a:p>
          <a:p>
            <a:pPr marL="0" indent="0">
              <a:buNone/>
            </a:pPr>
            <a:r>
              <a:rPr lang="en-US" sz="5400" dirty="0"/>
              <a:t>Reasoning:</a:t>
            </a:r>
          </a:p>
          <a:p>
            <a:r>
              <a:rPr lang="en-US" sz="5400" dirty="0"/>
              <a:t> Choose ternary instead of if-else after reviewing AI suggestions.</a:t>
            </a:r>
          </a:p>
          <a:p>
            <a:r>
              <a:rPr lang="en-US" sz="5400" dirty="0"/>
              <a:t> Clarify operator precedence via AI examples.</a:t>
            </a:r>
          </a:p>
        </p:txBody>
      </p:sp>
    </p:spTree>
    <p:extLst>
      <p:ext uri="{BB962C8B-B14F-4D97-AF65-F5344CB8AC3E}">
        <p14:creationId xmlns:p14="http://schemas.microsoft.com/office/powerpoint/2010/main" val="766489317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B09E-E601-91E5-04CF-EAC74485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95EA-248D-082C-739B-12358135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48FAD-8B9D-3DD8-35E8-E735D922DDE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2382339"/>
            <a:ext cx="20613110" cy="9858989"/>
          </a:xfrm>
        </p:spPr>
        <p:txBody>
          <a:bodyPr>
            <a:normAutofit/>
          </a:bodyPr>
          <a:lstStyle/>
          <a:p>
            <a:r>
              <a:rPr lang="en-US" sz="5400" dirty="0"/>
              <a:t> Are arithmetic and logical operators used correctly?</a:t>
            </a:r>
          </a:p>
          <a:p>
            <a:r>
              <a:rPr lang="en-US" sz="5400" dirty="0"/>
              <a:t> Is the expression logic correct?</a:t>
            </a:r>
          </a:p>
          <a:p>
            <a:r>
              <a:rPr lang="en-US" sz="5400" dirty="0"/>
              <a:t> Are code explanations or AI reflections provided?</a:t>
            </a:r>
          </a:p>
          <a:p>
            <a:endParaRPr lang="en-US" sz="5400" dirty="0"/>
          </a:p>
          <a:p>
            <a:pPr marL="0" indent="0">
              <a:buNone/>
            </a:pPr>
            <a:r>
              <a:rPr lang="en-US" sz="5400" dirty="0"/>
              <a:t>Self-reflection:</a:t>
            </a:r>
          </a:p>
          <a:p>
            <a:r>
              <a:rPr lang="en-US" sz="5400" dirty="0"/>
              <a:t> Did the AI help simplify or improve your code?</a:t>
            </a:r>
          </a:p>
          <a:p>
            <a:r>
              <a:rPr lang="en-US" sz="5400" dirty="0"/>
              <a:t> What did you learn by comparing your logic with the AI?</a:t>
            </a:r>
          </a:p>
        </p:txBody>
      </p:sp>
    </p:spTree>
    <p:extLst>
      <p:ext uri="{BB962C8B-B14F-4D97-AF65-F5344CB8AC3E}">
        <p14:creationId xmlns:p14="http://schemas.microsoft.com/office/powerpoint/2010/main" val="2306383617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AEC84-2357-EC84-E93D-06E20F1B4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C3AB-3F75-60D6-52D9-E2A457FA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SUMMARY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36D15-9274-ADDB-5382-8548DD6E1BDF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7296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Operator is a symbol to process values in result for a new value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Operand is part which specifies what data is to be manipulated or operated on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Every operator will have precedence and associative</a:t>
            </a:r>
          </a:p>
          <a:p>
            <a:pPr algn="just">
              <a:spcBef>
                <a:spcPts val="1200"/>
              </a:spcBef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6059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9BD8-6A35-C6F1-8612-C1D26B50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45B8-DA6B-8391-50C8-B64F103B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REFRENCES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C637192-B017-8920-94C9-2C0A55F44F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Paul Deitel &amp; Harvey Deitel. (2021). C how to program. 09. Pearson  Education. New York. ISBN: 9780137398393. </a:t>
            </a:r>
          </a:p>
          <a:p>
            <a:pPr>
              <a:spcBef>
                <a:spcPts val="1200"/>
              </a:spcBef>
            </a:pPr>
            <a:r>
              <a:rPr lang="id-ID" altLang="en-US" sz="3600" dirty="0">
                <a:latin typeface="+mj-lt"/>
                <a:cs typeface="Tahoma" pitchFamily="34" charset="0"/>
              </a:rPr>
              <a:t>Manipulating Data with Operators: </a:t>
            </a:r>
            <a:r>
              <a:rPr lang="id-ID" altLang="en-US" sz="3600" dirty="0">
                <a:latin typeface="+mj-lt"/>
                <a:cs typeface="Tahoma" pitchFamily="34" charset="0"/>
                <a:hlinkClick r:id="rId2"/>
              </a:rPr>
              <a:t>http://aelinik.free.fr/c/ch06.htm</a:t>
            </a:r>
            <a:endParaRPr lang="en-US" altLang="en-US" sz="3600" dirty="0">
              <a:latin typeface="+mj-lt"/>
              <a:cs typeface="Tahoma" pitchFamily="34" charset="0"/>
            </a:endParaRPr>
          </a:p>
          <a:p>
            <a:pPr>
              <a:spcBef>
                <a:spcPts val="1200"/>
              </a:spcBef>
            </a:pPr>
            <a:r>
              <a:rPr lang="id-ID" altLang="en-US" sz="3600">
                <a:latin typeface="+mj-lt"/>
                <a:cs typeface="Tahoma" pitchFamily="34" charset="0"/>
              </a:rPr>
              <a:t>https://www.tutorialspoint.com/cprogramming/c_arrays.htm</a:t>
            </a:r>
          </a:p>
          <a:p>
            <a:pPr>
              <a:spcBef>
                <a:spcPts val="1200"/>
              </a:spcBef>
            </a:pPr>
            <a:r>
              <a:rPr lang="id-ID" altLang="en-US" sz="3600">
                <a:latin typeface="+mj-lt"/>
                <a:cs typeface="Tahoma" pitchFamily="34" charset="0"/>
              </a:rPr>
              <a:t>https://replit.com/@templates/C-array</a:t>
            </a:r>
          </a:p>
          <a:p>
            <a:pPr>
              <a:spcBef>
                <a:spcPts val="1200"/>
              </a:spcBef>
            </a:pPr>
            <a:r>
              <a:rPr lang="id-ID" altLang="en-US" sz="3600">
                <a:latin typeface="+mj-lt"/>
                <a:cs typeface="Tahoma" pitchFamily="34" charset="0"/>
              </a:rPr>
              <a:t>https://www.codeium.com</a:t>
            </a:r>
          </a:p>
          <a:p>
            <a:pPr>
              <a:spcBef>
                <a:spcPts val="1200"/>
              </a:spcBef>
            </a:pPr>
            <a:endParaRPr lang="id-ID" altLang="en-US" sz="3600" dirty="0">
              <a:latin typeface="+mj-lt"/>
              <a:cs typeface="Tahoma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9093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437cf3-862c-4aa8-bd7e-caeecb8e11df">
      <Terms xmlns="http://schemas.microsoft.com/office/infopath/2007/PartnerControls"/>
    </lcf76f155ced4ddcb4097134ff3c332f>
    <TaxCatchAll xmlns="fc2d5289-3ec1-4d76-80c1-a1cd17baf85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5ed595dea67b8b322e39378c6251215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d378c5c85e55afa0691156e287dbbb41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9F462D-E120-44DF-886C-1CC739D159AA}">
  <ds:schemaRefs>
    <ds:schemaRef ds:uri="http://schemas.microsoft.com/office/2006/metadata/properties"/>
    <ds:schemaRef ds:uri="http://schemas.microsoft.com/office/infopath/2007/PartnerControls"/>
    <ds:schemaRef ds:uri="02437cf3-862c-4aa8-bd7e-caeecb8e11df"/>
    <ds:schemaRef ds:uri="fc2d5289-3ec1-4d76-80c1-a1cd17baf85c"/>
  </ds:schemaRefs>
</ds:datastoreItem>
</file>

<file path=customXml/itemProps2.xml><?xml version="1.0" encoding="utf-8"?>
<ds:datastoreItem xmlns:ds="http://schemas.openxmlformats.org/officeDocument/2006/customXml" ds:itemID="{CA3B7761-416C-4D89-97E8-0DF40EE740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0A933F-F557-4C6E-9087-D1C9CEB93D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1. Algorithm &amp; Programming and Introduction to C Programming</Template>
  <TotalTime>2708</TotalTime>
  <Words>2280</Words>
  <Application>Microsoft Office PowerPoint</Application>
  <PresentationFormat>Custom</PresentationFormat>
  <Paragraphs>453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Tahoma</vt:lpstr>
      <vt:lpstr>OCRB</vt:lpstr>
      <vt:lpstr>Open Sans ExtraBold</vt:lpstr>
      <vt:lpstr>Courier New</vt:lpstr>
      <vt:lpstr>Open Sans Light</vt:lpstr>
      <vt:lpstr>Open Sans Semibold</vt:lpstr>
      <vt:lpstr>Arial</vt:lpstr>
      <vt:lpstr>Wingdings</vt:lpstr>
      <vt:lpstr>Cambria Math</vt:lpstr>
      <vt:lpstr>21_BasicWhite</vt:lpstr>
      <vt:lpstr>Operator, Operand, and Arithmetic </vt:lpstr>
      <vt:lpstr>Learning Objectives</vt:lpstr>
      <vt:lpstr>Subtopics</vt:lpstr>
      <vt:lpstr>Operator and Operand </vt:lpstr>
      <vt:lpstr>Operator and Operand </vt:lpstr>
      <vt:lpstr>ASSIGNMENT OPERATOR</vt:lpstr>
      <vt:lpstr>ARITHMETIC OPERATOR</vt:lpstr>
      <vt:lpstr>ARITHMETIC OPERATOR</vt:lpstr>
      <vt:lpstr>ARITHMETIC OPERATOR</vt:lpstr>
      <vt:lpstr>ARITHMETIC OPERATOR</vt:lpstr>
      <vt:lpstr>ARITHMETIC OPERATOR</vt:lpstr>
      <vt:lpstr>ARITHMETIC OPERATOR</vt:lpstr>
      <vt:lpstr>ARITHMETIC OPERATOR</vt:lpstr>
      <vt:lpstr>Relational OPERATOR</vt:lpstr>
      <vt:lpstr>Relational OPERATOR</vt:lpstr>
      <vt:lpstr>Conditional Expressions</vt:lpstr>
      <vt:lpstr>Conditional Expressions</vt:lpstr>
      <vt:lpstr>Logical OPERATOR</vt:lpstr>
      <vt:lpstr>Logical OPERATOR</vt:lpstr>
      <vt:lpstr>BITWISE OPERATOR</vt:lpstr>
      <vt:lpstr>BITWISE OPERATOR</vt:lpstr>
      <vt:lpstr>BITWISE OPERATOR</vt:lpstr>
      <vt:lpstr>BITWISE Expressions</vt:lpstr>
      <vt:lpstr>BITWISE Expressions</vt:lpstr>
      <vt:lpstr>Pointer Operator</vt:lpstr>
      <vt:lpstr>Precedence and ASSOCIATIVE</vt:lpstr>
      <vt:lpstr>Precedence and ASSOCIATIVE</vt:lpstr>
      <vt:lpstr>exercise</vt:lpstr>
      <vt:lpstr>exercise</vt:lpstr>
      <vt:lpstr>exercise</vt:lpstr>
      <vt:lpstr>exercise</vt:lpstr>
      <vt:lpstr>exercise</vt:lpstr>
      <vt:lpstr>Exercise</vt:lpstr>
      <vt:lpstr>Best Practices with AI Tools</vt:lpstr>
      <vt:lpstr>AI Use and Reasoning</vt:lpstr>
      <vt:lpstr>Evaluation</vt:lpstr>
      <vt:lpstr>SUMMARY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SHANIA PRICCILIA</dc:creator>
  <cp:lastModifiedBy>Violitta Yesmaya</cp:lastModifiedBy>
  <cp:revision>38</cp:revision>
  <dcterms:created xsi:type="dcterms:W3CDTF">2025-05-12T11:13:33Z</dcterms:created>
  <dcterms:modified xsi:type="dcterms:W3CDTF">2025-08-08T07:33:39Z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MediaServiceImageTags">
    <vt:lpwstr/>
  </property>
</Properties>
</file>