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9"/>
  </p:notesMasterIdLst>
  <p:sldIdLst>
    <p:sldId id="287" r:id="rId3"/>
    <p:sldId id="288" r:id="rId4"/>
    <p:sldId id="264" r:id="rId5"/>
    <p:sldId id="282" r:id="rId6"/>
    <p:sldId id="284" r:id="rId7"/>
    <p:sldId id="286" r:id="rId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7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95943-8E16-48CD-B2A1-C9A627014B3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9480-9AFE-41DE-A998-43838B135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23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1" y="379104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4353154" y="4840194"/>
            <a:ext cx="3247556" cy="225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41076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800" dirty="0"/>
              <a:t>UNIVERSITAS</a:t>
            </a:r>
            <a:r>
              <a:rPr sz="1800"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53154" y="4840194"/>
            <a:ext cx="3247556" cy="225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41076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800" dirty="0"/>
              <a:t>UNIVERSITAS</a:t>
            </a:r>
            <a:r>
              <a:rPr sz="18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377424"/>
            <a:ext cx="10985501" cy="952501"/>
          </a:xfrm>
          <a:prstGeom prst="rect">
            <a:avLst/>
          </a:prstGeom>
        </p:spPr>
        <p:txBody>
          <a:bodyPr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kumimoji="0" sz="25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195891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6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9096" y="5769292"/>
            <a:ext cx="2106346" cy="37294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5029096" y="5550412"/>
            <a:ext cx="2036455" cy="175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41076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400" dirty="0"/>
              <a:t>SUBJECT MATTER EXPERT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423885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19048" y="1150714"/>
            <a:ext cx="12192000" cy="571808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76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50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0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89" y="759677"/>
            <a:ext cx="7357785" cy="431493"/>
          </a:xfrm>
        </p:spPr>
        <p:txBody>
          <a:bodyPr>
            <a:noAutofit/>
          </a:bodyPr>
          <a:lstStyle>
            <a:lvl1pPr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83689" y="1830157"/>
            <a:ext cx="6857470" cy="3113317"/>
          </a:xfrm>
        </p:spPr>
        <p:txBody>
          <a:bodyPr>
            <a:noAutofit/>
          </a:bodyPr>
          <a:lstStyle>
            <a:lvl1pPr marL="133350" indent="-133350">
              <a:lnSpc>
                <a:spcPct val="100000"/>
              </a:lnSpc>
              <a:tabLst/>
              <a:defRPr kumimoji="0" lang="en-US" sz="32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+mj-lt"/>
                <a:ea typeface="Open Sans Light"/>
                <a:cs typeface="Open Sans Light"/>
                <a:sym typeface="Helvetica Neue"/>
              </a:defRPr>
            </a:lvl1pPr>
            <a:lvl2pPr marL="445294" indent="-140494">
              <a:lnSpc>
                <a:spcPct val="100000"/>
              </a:lnSpc>
              <a:tabLst/>
              <a:defRPr kumimoji="0" lang="en-US" sz="32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+mj-lt"/>
                <a:ea typeface="Open Sans Light"/>
                <a:cs typeface="Open Sans Light"/>
                <a:sym typeface="Helvetica Neue"/>
              </a:defRPr>
            </a:lvl2pPr>
            <a:lvl3pPr marL="735013" indent="-125413">
              <a:lnSpc>
                <a:spcPct val="100000"/>
              </a:lnSpc>
              <a:tabLst/>
              <a:defRPr kumimoji="0" lang="en-US" sz="32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+mj-lt"/>
                <a:ea typeface="Open Sans Light"/>
                <a:cs typeface="Open Sans Light"/>
                <a:sym typeface="Helvetica Neue"/>
              </a:defRPr>
            </a:lvl3pPr>
            <a:lvl4pPr marL="1069182" indent="-154782">
              <a:lnSpc>
                <a:spcPct val="100000"/>
              </a:lnSpc>
              <a:tabLst/>
              <a:defRPr kumimoji="0" lang="en-US" sz="32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+mj-lt"/>
                <a:ea typeface="Open Sans Light"/>
                <a:cs typeface="Open Sans Light"/>
                <a:sym typeface="Helvetica Neue"/>
              </a:defRPr>
            </a:lvl4pPr>
            <a:lvl5pPr marL="1358900" indent="-139700">
              <a:lnSpc>
                <a:spcPct val="100000"/>
              </a:lnSpc>
              <a:tabLst/>
              <a:defRPr kumimoji="0" lang="en-US" sz="32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+mj-l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431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964A-5281-40AE-9321-A40C4EB20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84F48-3664-4224-A859-9DFA1C305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43DDC-2B51-423E-AAD0-F6DF55CD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D9DC9-4CD3-4982-A30C-D41F3B75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6BE24-F9A7-4544-A719-6FD3945C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0034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2AF3-E5D0-4EB0-B27E-5C3012F5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DC100-9F0E-40D6-9AE6-01ADCE4D3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D7A42-B680-4B0A-B515-02DED3BC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38C54-5F1C-41A5-B7AE-63730899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F0B0A-2D6A-45DD-A9E8-786CDF2E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983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14C6-794A-4784-A05B-4BF6DA9F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5F17F-15A5-419F-802E-6BBBF93CB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7996-5023-455C-8DB3-78AB2DF1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F5389-A214-4245-B7E8-FD5BCD94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8B0C5-45B0-43C6-9E54-4CCD9958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720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9449-7B80-4CEA-A8D8-448205D2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F2A7-72B6-4E58-82F7-41F8680EA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05951-2E1F-4042-A524-8CB2EA01A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EAAE1-8A09-4B9C-B122-AD715A93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7C02B-B34D-4A33-BDE2-3E6C7D9F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CEED1-10E2-40B5-9926-1B595A39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0804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3FC7-CD06-48E8-849F-5A6A405C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9AAD6-9841-4E4B-AF11-3512F4A0C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78329-5D8B-488D-942F-416D98905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3D558-04CB-4878-9F87-867D71BD6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C163E-4382-44A1-9AEC-15B9A4560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88F3A-6348-4090-BC36-79EC699F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74F04-D558-4D7C-8A5A-84E9B182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E5D73-837D-4F8C-8330-FC5D99F01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6687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F5C2-F638-4329-BD44-A96A039A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027A86-098F-4E95-AF7D-2C522134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D06BB-1C2C-4F11-9C8A-4DEDB957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534D7-39A3-41D0-95EC-5B9FCDDE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0971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9D53C-A3AC-4499-A421-6638B7F2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C00115-89B1-439D-910B-D8ABF0B3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2026-5D6B-4B1D-BC7B-695E856E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0970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43DC-8A35-4637-B52F-AF8B6B2E1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010A9-3D0D-4CE4-AE60-750FF27BB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A3031-249A-4366-9978-73FD0E506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A20C6-DBA0-4E5A-A401-607A3071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9805D-E5A2-493D-83EC-ACB4D1A8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EB5D1-CC26-4235-80FC-5D1E81EA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135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E5D5-0872-4C03-B009-CE0D0269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D78D3-878E-49BC-B739-1BB61652F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C9E3F-E8FE-4576-AC8B-B396715DA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FB5A8-F377-43AA-915C-06DB99F6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1A741-F11A-4552-BE93-91542AF9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86A88-001B-4608-95CD-2EC42A88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8135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20C7-843F-48FF-B5ED-587C64F0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6A88C-95EB-4053-8458-AB8F1D7B5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37718-69DB-45DA-84C2-2BA67BFD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0102C-3712-4AF1-8A44-F088F20D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A420D-8649-44D7-899E-9175385F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6576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15B6A1-4CEA-46C7-A8C8-443C908F3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A0674-5E3F-4CC8-BFEE-46B786CAD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49E87-8E6E-4D91-BC50-FFA1EA01D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01499-3952-407E-8A59-38F804B0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F23B-9C86-4D6D-99A2-EF6EDA6F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5785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Background 02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14288"/>
            <a:ext cx="12192000" cy="6464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 userDrawn="1"/>
        </p:nvSpPr>
        <p:spPr>
          <a:xfrm>
            <a:off x="0" y="5157788"/>
            <a:ext cx="12192000" cy="17002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467" y="2060848"/>
            <a:ext cx="9116152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548467" y="3429001"/>
            <a:ext cx="9116152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543606" y="2852936"/>
            <a:ext cx="9121013" cy="504056"/>
          </a:xfrm>
        </p:spPr>
        <p:txBody>
          <a:bodyPr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AC363-BC10-4455-AA4B-F57E4FB9C36D}" type="datetimeFigureOut">
              <a:rPr lang="id-ID" altLang="en-US"/>
              <a:pPr>
                <a:defRPr/>
              </a:pPr>
              <a:t>08/06/2026</a:t>
            </a:fld>
            <a:endParaRPr lang="id-ID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FDB16-DEC1-4E93-AE92-9DE725229CD7}" type="slidenum">
              <a:rPr lang="id-ID" altLang="en-US"/>
              <a:pPr>
                <a:defRPr/>
              </a:pPr>
              <a:t>‹#›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1875448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Background 02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14288"/>
            <a:ext cx="12192000" cy="6464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 userDrawn="1"/>
        </p:nvSpPr>
        <p:spPr>
          <a:xfrm>
            <a:off x="0" y="5157788"/>
            <a:ext cx="12192000" cy="17002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467" y="2060848"/>
            <a:ext cx="9116152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548467" y="3429001"/>
            <a:ext cx="9116152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543606" y="2852936"/>
            <a:ext cx="9121013" cy="504056"/>
          </a:xfrm>
        </p:spPr>
        <p:txBody>
          <a:bodyPr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AC363-BC10-4455-AA4B-F57E4FB9C36D}" type="datetimeFigureOut">
              <a:rPr lang="id-ID" altLang="en-US"/>
              <a:pPr>
                <a:defRPr/>
              </a:pPr>
              <a:t>08/06/2026</a:t>
            </a:fld>
            <a:endParaRPr lang="id-ID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FDB16-DEC1-4E93-AE92-9DE725229CD7}" type="slidenum">
              <a:rPr lang="id-ID" altLang="en-US"/>
              <a:pPr>
                <a:defRPr/>
              </a:pPr>
              <a:t>‹#›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3049152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C8222-BADD-807D-E858-6839AA5BB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4B744-EBA3-C17B-54B4-A9C29B45F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8C37C-8F35-6994-34F6-E51E8DDB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0C39B-20E2-209D-09A6-D1071BBE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B4D13-AA83-EF65-51A3-0BA6318F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8795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1E6A-6DAB-7FEA-0C3C-632B9EED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633F-CBF1-266A-2176-DE91C9F71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8983-EFF7-FC0D-82F5-1E9E6815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1927E-356B-F594-A1A8-FAE9FC4C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54496-4473-DA37-D4F4-8AAE6504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6686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04F9A-F908-D882-CF34-EB9345D7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1E75D-5DB7-B02F-A171-4D4F1017A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E64CA-36D2-C3DE-4921-350A8E537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B008-8472-DB06-FB59-AB3E1C9B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3CC83-AB27-BCA2-F031-43DC9626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2046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81BE1-E408-08E2-F452-320F09FA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F18A0-FC83-AD6B-28DA-DE586CE8B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72115-105E-D9D9-B9EA-5147648F4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AA3D5-23A3-BFC2-5EF7-9E4E481EF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F8969-6EF9-AB09-546C-9F866C13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F04FC-73E2-A379-DD8F-34B7E695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3316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7AF1-6E1E-798F-E455-B7C84050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4D355-C587-AB98-0926-85E1F2CEC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057F3-B00E-9C1D-61D7-26BD47088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559D3-1177-EFCB-E490-3ECAE763D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BE406-9A02-45F0-D174-EFDE4C751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83FD2-AC15-46C7-E8CD-D875DDA2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BEA7C-1F88-1AAC-947D-E076F0E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BE0BE-F4A1-52F1-561A-5C12A380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736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EF33-8993-8289-B73C-0CCA7F08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F0C75E-C0A6-1A48-491D-909B2423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862E5-12A7-B5F2-0F5E-24554DE9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B73C1-A4B6-D829-0020-DD503126F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72341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87978-2C1D-5D1B-C36F-5F667215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BB66A-3181-721C-297C-1217DFA4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DD9FC-9734-35B3-E97D-B7F915EB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47919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E4DB-F408-69EE-B063-5F9C4B9D0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B82EC-C7F6-C3E7-5DB1-D58C01D14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65174-24F2-8BD9-4067-1C9C9F0EF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62A34-FB37-9522-7F83-2AAB2C16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A1A71-7598-BD8B-F33A-3E4A2F8B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E40EB-F561-56BE-7899-1BF37056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62951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50CF-F8E6-3CF1-8F37-BF7346A4C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EEDBD-C4A1-D62C-1FD6-31BD8D363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9CC95-F7A4-AAB5-C7F1-3AEA5046F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EB17E-683E-8E8C-2F34-96E421BB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ECCD3-75FA-3099-E02B-A12A49E0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56339-86E7-7059-9A09-B1351BE2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48659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E851F-8D2B-C3E9-32FC-8106E1A2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364E5-D0FA-FD72-6999-F24BB83F9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1110E-4F0A-6553-D555-5F2837E4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867C8-5AE9-68A4-B70F-0E80A42B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7B66C-0E77-D592-4C73-2C2BC7D5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2250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2C8A02-4628-759F-E8C5-9CFC6BF61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907B5-5943-5AB2-8E50-A8AAD3303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D2F89-422C-3071-E1AC-D0F60034E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53977-29B5-2D19-EC75-7E643D79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60ACC-58A1-E162-CCB0-EC771E18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76278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3ECE-779C-3BB8-462E-4229F9B66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C6D983-948E-6B98-B79B-AAD17D18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34DA7-DCBA-9B53-0478-080FE690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3F61B-5E7D-11A1-616B-DC85C40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06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09130-0EC0-47D5-BFFF-3F27EDAD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FA3D9-480A-439D-81B8-BF696D10B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B9DCE-B707-4508-BDD8-0FCC70C54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333F7-AD7A-4A5E-B1B0-1C889837F4AB}" type="datetimeFigureOut">
              <a:rPr lang="id-ID" smtClean="0"/>
              <a:t>08/06/2026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E2825-BD1E-4165-B9A1-44C66CFA7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0A7B2-6C67-4F10-A31E-0B12BC602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8D9F6-2694-4EC6-BE5C-60CD7D94A6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69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4FED3-ACDD-759D-F6D0-08B5E810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9886B-08EB-E410-34C5-5249C7006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BD774-6286-9E32-3715-62CC5733A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3086C-09E7-4CB8-A13A-6535A48EC375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85CC4-FEBC-9FC1-7474-346BCBC15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D6D15-6991-2608-9664-905F72B31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DA7A4-FFBA-41F5-B0B4-1A28805853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739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onmyown88.deviantart.com/art/Garuda-Pancasila-155155866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774BAF-21B0-4DC2-7A88-ACD1D44C80D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AA8309-2BE7-0A7C-664B-2D8F05D3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48" y="1287496"/>
            <a:ext cx="10985502" cy="1613359"/>
          </a:xfrm>
        </p:spPr>
        <p:txBody>
          <a:bodyPr>
            <a:normAutofit/>
          </a:bodyPr>
          <a:lstStyle/>
          <a:p>
            <a:r>
              <a:rPr lang="en-US" sz="4000" dirty="0"/>
              <a:t>Introduction: Pancasila as a Source of National Character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41DFB-82F9-89BD-A3E8-4D6E9C669F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8379" y="5758782"/>
            <a:ext cx="2727538" cy="55793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100" b="1" dirty="0"/>
              <a:t>Yustinus Suhardi Ruman</a:t>
            </a:r>
          </a:p>
          <a:p>
            <a:pPr>
              <a:spcBef>
                <a:spcPts val="0"/>
              </a:spcBef>
            </a:pPr>
            <a:r>
              <a:rPr lang="en-US" sz="1100" b="1" dirty="0"/>
              <a:t>Nikodemus Thomas Martoredjo</a:t>
            </a:r>
          </a:p>
        </p:txBody>
      </p:sp>
    </p:spTree>
    <p:extLst>
      <p:ext uri="{BB962C8B-B14F-4D97-AF65-F5344CB8AC3E}">
        <p14:creationId xmlns:p14="http://schemas.microsoft.com/office/powerpoint/2010/main" val="2202916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1BFE8-9ACE-45CD-098C-58F6FFA7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95" y="423346"/>
            <a:ext cx="8753994" cy="431493"/>
          </a:xfrm>
        </p:spPr>
        <p:txBody>
          <a:bodyPr/>
          <a:lstStyle/>
          <a:p>
            <a:pPr algn="ctr"/>
            <a:r>
              <a:rPr lang="en-US" sz="2800" cap="none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91D6A-4662-2E71-03D4-CB81617FB8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83689" y="1830157"/>
            <a:ext cx="9626352" cy="31133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dk1"/>
                </a:solidFill>
              </a:rPr>
              <a:t>Describe the Pancasila as the major basis for character education, worldview of Nation and the ideological foundation of Indonesian state</a:t>
            </a:r>
            <a:endParaRPr lang="en-ID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617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615788" y="504536"/>
            <a:ext cx="8960424" cy="431493"/>
          </a:xfrm>
        </p:spPr>
        <p:txBody>
          <a:bodyPr>
            <a:normAutofit fontScale="90000"/>
          </a:bodyPr>
          <a:lstStyle/>
          <a:p>
            <a:pPr algn="ctr"/>
            <a:r>
              <a:rPr lang="en-US" cap="none" dirty="0">
                <a:latin typeface="Posterama" panose="020B0504020200020000" pitchFamily="34" charset="0"/>
                <a:cs typeface="Posterama" panose="020B0504020200020000" pitchFamily="34" charset="0"/>
              </a:rPr>
              <a:t>The Importance of Character Education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sz="quarter" idx="11"/>
          </p:nvPr>
        </p:nvSpPr>
        <p:spPr>
          <a:xfrm>
            <a:off x="1235339" y="1524001"/>
            <a:ext cx="8465873" cy="4397970"/>
          </a:xfrm>
        </p:spPr>
        <p:txBody>
          <a:bodyPr>
            <a:noAutofit/>
          </a:bodyPr>
          <a:lstStyle/>
          <a:p>
            <a:r>
              <a:rPr lang="en-US" altLang="en-US" sz="2400" dirty="0">
                <a:latin typeface="+mj-lt"/>
              </a:rPr>
              <a:t>In the college, character education emphasizes the using of freedom aspect.</a:t>
            </a:r>
            <a:endParaRPr lang="id-ID" altLang="en-US" sz="2400" dirty="0">
              <a:latin typeface="+mj-lt"/>
            </a:endParaRPr>
          </a:p>
          <a:p>
            <a:r>
              <a:rPr lang="en-US" altLang="en-US" sz="2400" dirty="0">
                <a:latin typeface="+mj-lt"/>
              </a:rPr>
              <a:t>It is important to help students gain an adequate understanding and being able to use their freedom of choice in a morally justified action.</a:t>
            </a:r>
          </a:p>
          <a:p>
            <a:r>
              <a:rPr lang="en-US" altLang="en-US" sz="2400" dirty="0">
                <a:latin typeface="+mj-lt"/>
              </a:rPr>
              <a:t>The form of character education in college that is doing the study, critical reflection and systematic (a discussion of the cases related to the issue of character).</a:t>
            </a:r>
          </a:p>
          <a:p>
            <a:r>
              <a:rPr lang="en-US" altLang="en-US" sz="2400" dirty="0">
                <a:latin typeface="+mj-lt"/>
              </a:rPr>
              <a:t> Perform activities related to the appreciation of the values that increasingly influence the attitudes and actions.</a:t>
            </a:r>
          </a:p>
          <a:p>
            <a:endParaRPr lang="en-US" alt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8BEF-9C41-4CFD-A014-88FBF34C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588" y="226368"/>
            <a:ext cx="7146925" cy="786193"/>
          </a:xfrm>
        </p:spPr>
        <p:txBody>
          <a:bodyPr>
            <a:normAutofit fontScale="90000"/>
          </a:bodyPr>
          <a:lstStyle/>
          <a:p>
            <a:r>
              <a:rPr lang="en-US" dirty="0"/>
              <a:t>Pancasila as a Source of Character Education</a:t>
            </a:r>
            <a:endParaRPr lang="en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908034-8EAD-4277-AA28-D168D1356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83188" y="1243393"/>
            <a:ext cx="6172200" cy="436168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CAEDD-8E80-417D-89EF-3934DCBED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85900"/>
            <a:ext cx="3932237" cy="44719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Pancasila is the main source of education and development of civic character.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Pancasila consists of five basic values, namely divinity, humanity, unity, democracy (consultation), social justice.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five basic values are the nation's view of life</a:t>
            </a:r>
            <a:endParaRPr lang="en-ID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25065D-1219-4603-95D6-0DC482E1093C}"/>
              </a:ext>
            </a:extLst>
          </p:cNvPr>
          <p:cNvSpPr txBox="1"/>
          <p:nvPr/>
        </p:nvSpPr>
        <p:spPr>
          <a:xfrm>
            <a:off x="5183188" y="5605081"/>
            <a:ext cx="6172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900">
                <a:hlinkClick r:id="rId3" tooltip="http://onmyown88.deviantart.com/art/Garuda-Pancasila-155155866"/>
              </a:rPr>
              <a:t>This Photo</a:t>
            </a:r>
            <a:r>
              <a:rPr lang="en-ID" sz="900"/>
              <a:t> by Unknown Author is licensed under </a:t>
            </a:r>
            <a:r>
              <a:rPr lang="en-ID" sz="900">
                <a:hlinkClick r:id="rId4" tooltip="https://creativecommons.org/licenses/by-nc-nd/3.0/"/>
              </a:rPr>
              <a:t>CC BY-NC-ND</a:t>
            </a:r>
            <a:endParaRPr lang="en-ID" sz="900"/>
          </a:p>
        </p:txBody>
      </p:sp>
    </p:spTree>
    <p:extLst>
      <p:ext uri="{BB962C8B-B14F-4D97-AF65-F5344CB8AC3E}">
        <p14:creationId xmlns:p14="http://schemas.microsoft.com/office/powerpoint/2010/main" val="180012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FEDC-D6F9-473A-9757-71449692E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661" y="-95537"/>
            <a:ext cx="9144000" cy="518615"/>
          </a:xfrm>
        </p:spPr>
        <p:txBody>
          <a:bodyPr>
            <a:normAutofit/>
          </a:bodyPr>
          <a:lstStyle/>
          <a:p>
            <a:r>
              <a:rPr lang="en-US" sz="2800" b="1" dirty="0"/>
              <a:t>Learning Topics and Outcomes</a:t>
            </a:r>
            <a:endParaRPr lang="en-ID" sz="2800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1E01C8D-AEB4-43D4-BA76-F7D8DDDF8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644707"/>
              </p:ext>
            </p:extLst>
          </p:nvPr>
        </p:nvGraphicFramePr>
        <p:xfrm>
          <a:off x="56866" y="660400"/>
          <a:ext cx="12078268" cy="619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028">
                  <a:extLst>
                    <a:ext uri="{9D8B030D-6E8A-4147-A177-3AD203B41FA5}">
                      <a16:colId xmlns:a16="http://schemas.microsoft.com/office/drawing/2014/main" val="3042261166"/>
                    </a:ext>
                  </a:extLst>
                </a:gridCol>
                <a:gridCol w="3478925">
                  <a:extLst>
                    <a:ext uri="{9D8B030D-6E8A-4147-A177-3AD203B41FA5}">
                      <a16:colId xmlns:a16="http://schemas.microsoft.com/office/drawing/2014/main" val="3393090365"/>
                    </a:ext>
                  </a:extLst>
                </a:gridCol>
                <a:gridCol w="7652315">
                  <a:extLst>
                    <a:ext uri="{9D8B030D-6E8A-4147-A177-3AD203B41FA5}">
                      <a16:colId xmlns:a16="http://schemas.microsoft.com/office/drawing/2014/main" val="1525976348"/>
                    </a:ext>
                  </a:extLst>
                </a:gridCol>
              </a:tblGrid>
              <a:tr h="327547">
                <a:tc>
                  <a:txBody>
                    <a:bodyPr/>
                    <a:lstStyle/>
                    <a:p>
                      <a:r>
                        <a:rPr lang="en-US" sz="1600" dirty="0"/>
                        <a:t>Session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Topics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Learning Outcomes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44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Introduction: Pancasila as a Source of National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Pancasila as the major basis for character education, worldview of Nation and the ideological foundation of Indonesian state</a:t>
                      </a:r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88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History of Pancasila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Pancasila as the major basis for character education, worldview of Nation and the ideological foundation of Indonesian state</a:t>
                      </a:r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8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Pancasila as 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Worldview of the 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Pancasila as the major basis for character education, worldview of Nation and the ideological foundation of Indonesian state</a:t>
                      </a:r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849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Belief in the Supreme Divinity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Solve the social issues related to Values of Pancasila </a:t>
                      </a:r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42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Justice and Civilized Humanity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Solve the social issues related to Values of Pancasila </a:t>
                      </a:r>
                      <a:endParaRPr kumimoji="0" lang="en-ID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75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Unity of 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Solve the social issues related to Values of Pancasila </a:t>
                      </a:r>
                      <a:endParaRPr kumimoji="0" lang="en-ID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948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Culture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Solve the social issues related to Values of Pancasila </a:t>
                      </a:r>
                      <a:endParaRPr kumimoji="0" lang="en-ID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03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Pancasila Democracy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Solve the social issues related to Values of Pancasila </a:t>
                      </a:r>
                      <a:endParaRPr kumimoji="0" lang="en-ID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296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buFont typeface="+mj-lt"/>
                        <a:buNone/>
                      </a:pPr>
                      <a:r>
                        <a:rPr lang="en-ID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Pancasila Leadership</a:t>
                      </a:r>
                      <a:endParaRPr lang="en-US" sz="1600" dirty="0"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Solve the social issues related to Values of Pancasila </a:t>
                      </a:r>
                      <a:endParaRPr kumimoji="0" lang="en-ID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89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Social Justice</a:t>
                      </a:r>
                      <a:endParaRPr lang="en-US" sz="1600" dirty="0"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Solve the social issues related to Values of Pancasila </a:t>
                      </a:r>
                      <a:endParaRPr kumimoji="0" lang="en-ID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420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Pancasila as Basic Ethics for Science and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Compose reflections on developing science and technology with Pancasila as the ethical basis and the implementation of Pancasila</a:t>
                      </a:r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96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Pancasila and Anti-Corruption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Compose reflections on developing science and technology with Pancasila as the ethical basis and the implementation of Pancasila</a:t>
                      </a:r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46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Implementation of Pancasila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 a project related to Pancasila Values</a:t>
                      </a:r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547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03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F10B-C55A-5EF5-E699-B657128E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107" y="625670"/>
            <a:ext cx="7357785" cy="431493"/>
          </a:xfrm>
        </p:spPr>
        <p:txBody>
          <a:bodyPr/>
          <a:lstStyle/>
          <a:p>
            <a:pPr algn="ctr"/>
            <a:r>
              <a:rPr lang="en-ID" sz="2400" dirty="0"/>
              <a:t>Closing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CE7EE-2C5D-229B-0D5E-3ECE58124E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17422" y="1732936"/>
            <a:ext cx="6857470" cy="3113317"/>
          </a:xfrm>
        </p:spPr>
        <p:txBody>
          <a:bodyPr/>
          <a:lstStyle/>
          <a:p>
            <a:pPr marL="0" indent="0" algn="ctr">
              <a:buNone/>
            </a:pPr>
            <a:r>
              <a:rPr lang="id-ID" dirty="0"/>
              <a:t>Q &amp; A</a:t>
            </a:r>
          </a:p>
          <a:p>
            <a:pPr marL="0" indent="0" algn="ctr">
              <a:buNone/>
            </a:pPr>
            <a:endParaRPr lang="id-ID" dirty="0"/>
          </a:p>
          <a:p>
            <a:pPr marL="0" indent="0" algn="ctr">
              <a:buNone/>
            </a:pPr>
            <a:r>
              <a:rPr lang="id-ID" dirty="0"/>
              <a:t>Thank you.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477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446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Open Sans</vt:lpstr>
      <vt:lpstr>Open Sans ExtraBold</vt:lpstr>
      <vt:lpstr>Open Sans Light</vt:lpstr>
      <vt:lpstr>Open Sans Semibold</vt:lpstr>
      <vt:lpstr>Posterama</vt:lpstr>
      <vt:lpstr>Office Theme</vt:lpstr>
      <vt:lpstr>Custom Design</vt:lpstr>
      <vt:lpstr>Introduction: Pancasila as a Source of National Character</vt:lpstr>
      <vt:lpstr>Learning Outcomes</vt:lpstr>
      <vt:lpstr>The Importance of Character Education</vt:lpstr>
      <vt:lpstr>Pancasila as a Source of Character Education</vt:lpstr>
      <vt:lpstr>Learning Topics and Outcomes</vt:lpstr>
      <vt:lpstr>Closing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Kezia Elkharissa</dc:creator>
  <cp:lastModifiedBy>Yustinus Suhardi Ruman</cp:lastModifiedBy>
  <cp:revision>23</cp:revision>
  <dcterms:created xsi:type="dcterms:W3CDTF">2020-06-23T04:58:20Z</dcterms:created>
  <dcterms:modified xsi:type="dcterms:W3CDTF">2026-06-08T06:00:18Z</dcterms:modified>
</cp:coreProperties>
</file>