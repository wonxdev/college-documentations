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301" r:id="rId3"/>
    <p:sldId id="321" r:id="rId4"/>
    <p:sldId id="310" r:id="rId5"/>
    <p:sldId id="302" r:id="rId6"/>
    <p:sldId id="312" r:id="rId7"/>
    <p:sldId id="313" r:id="rId8"/>
    <p:sldId id="317" r:id="rId9"/>
    <p:sldId id="318" r:id="rId10"/>
    <p:sldId id="316" r:id="rId11"/>
    <p:sldId id="319" r:id="rId12"/>
    <p:sldId id="320" r:id="rId13"/>
  </p:sldIdLst>
  <p:sldSz cx="24384000" cy="13716000"/>
  <p:notesSz cx="6858000" cy="9144000"/>
  <p:embeddedFontLst>
    <p:embeddedFont>
      <p:font typeface="OCRB" panose="020B0609020202020204" pitchFamily="49" charset="0"/>
      <p:regular r:id="rId15"/>
    </p:embeddedFont>
    <p:embeddedFont>
      <p:font typeface="Open Sans ExtraBold" panose="020B0906030804020204" pitchFamily="34" charset="0"/>
      <p:bold r:id="rId16"/>
      <p:italic r:id="rId17"/>
      <p:boldItalic r:id="rId18"/>
    </p:embeddedFont>
    <p:embeddedFont>
      <p:font typeface="Open Sans Light" panose="020B0306030504020204" pitchFamily="34" charset="0"/>
      <p:regular r:id="rId19"/>
      <p:italic r:id="rId20"/>
    </p:embeddedFont>
    <p:embeddedFont>
      <p:font typeface="Open Sans Semibold" panose="020B0706030804020204" pitchFamily="34" charset="0"/>
      <p:regular r:id="rId21"/>
      <p:bold r:id="rId22"/>
      <p:italic r:id="rId23"/>
      <p:boldItalic r:id="rId24"/>
    </p:embeddedFont>
    <p:embeddedFont>
      <p:font typeface="Posterama" panose="020B0504020200020000" pitchFamily="34" charset="0"/>
      <p:regular r:id="rId25"/>
      <p:bold r:id="rId26"/>
      <p:italic r:id="rId27"/>
      <p:boldItalic r:id="rId2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6197"/>
  </p:normalViewPr>
  <p:slideViewPr>
    <p:cSldViewPr snapToGrid="0" snapToObjects="1">
      <p:cViewPr varScale="1">
        <p:scale>
          <a:sx n="31" d="100"/>
          <a:sy n="31" d="100"/>
        </p:scale>
        <p:origin x="712" y="4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6" y="2574992"/>
            <a:ext cx="21971004" cy="3056882"/>
          </a:xfrm>
        </p:spPr>
        <p:txBody>
          <a:bodyPr>
            <a:normAutofit/>
          </a:bodyPr>
          <a:lstStyle/>
          <a:p>
            <a:r>
              <a:rPr lang="en-US" dirty="0"/>
              <a:t>The history of PANCASILA </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434737" y="11538583"/>
            <a:ext cx="6380226" cy="1013636"/>
          </a:xfrm>
        </p:spPr>
        <p:txBody>
          <a:bodyPr/>
          <a:lstStyle/>
          <a:p>
            <a:pPr>
              <a:spcBef>
                <a:spcPts val="0"/>
              </a:spcBef>
            </a:pPr>
            <a:r>
              <a:rPr lang="en-US" sz="2400" dirty="0"/>
              <a:t>Yustinus Suhardi Ruman</a:t>
            </a:r>
          </a:p>
          <a:p>
            <a:pPr>
              <a:spcBef>
                <a:spcPts val="0"/>
              </a:spcBef>
            </a:pPr>
            <a:r>
              <a:rPr lang="en-US" sz="2400" dirty="0"/>
              <a:t>Nikodemus Thomas Martoredjo</a:t>
            </a:r>
          </a:p>
          <a:p>
            <a:endParaRPr lang="en-US" dirty="0"/>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3BAFD-6942-4DC8-C15B-007DD1683E7F}"/>
              </a:ext>
            </a:extLst>
          </p:cNvPr>
          <p:cNvSpPr>
            <a:spLocks noGrp="1"/>
          </p:cNvSpPr>
          <p:nvPr>
            <p:ph type="title"/>
          </p:nvPr>
        </p:nvSpPr>
        <p:spPr>
          <a:xfrm>
            <a:off x="4726112" y="1128267"/>
            <a:ext cx="14247688" cy="846006"/>
          </a:xfrm>
        </p:spPr>
        <p:txBody>
          <a:bodyPr>
            <a:normAutofit/>
          </a:bodyPr>
          <a:lstStyle/>
          <a:p>
            <a:pPr algn="ctr"/>
            <a:r>
              <a:rPr lang="en-US" sz="4000" cap="none" dirty="0">
                <a:latin typeface="Posterama" panose="020B0504020200020000" pitchFamily="34" charset="0"/>
                <a:cs typeface="Posterama" panose="020B0504020200020000" pitchFamily="34" charset="0"/>
              </a:rPr>
              <a:t>Learning Outcome</a:t>
            </a:r>
          </a:p>
        </p:txBody>
      </p:sp>
      <p:sp>
        <p:nvSpPr>
          <p:cNvPr id="4" name="Content Placeholder 3">
            <a:extLst>
              <a:ext uri="{FF2B5EF4-FFF2-40B4-BE49-F238E27FC236}">
                <a16:creationId xmlns:a16="http://schemas.microsoft.com/office/drawing/2014/main" id="{4CC2525D-A851-634E-A96F-3EB26CD06024}"/>
              </a:ext>
            </a:extLst>
          </p:cNvPr>
          <p:cNvSpPr>
            <a:spLocks noGrp="1"/>
          </p:cNvSpPr>
          <p:nvPr>
            <p:ph sz="quarter" idx="11"/>
          </p:nvPr>
        </p:nvSpPr>
        <p:spPr>
          <a:xfrm>
            <a:off x="3982530" y="4281055"/>
            <a:ext cx="14991270" cy="6899564"/>
          </a:xfrm>
        </p:spPr>
        <p:txBody>
          <a:bodyPr>
            <a:noAutofit/>
          </a:bodyPr>
          <a:lstStyle/>
          <a:p>
            <a:pPr marL="0" indent="0">
              <a:buNone/>
            </a:pPr>
            <a:r>
              <a:rPr lang="en-US" sz="4000" dirty="0">
                <a:latin typeface="Posterama" panose="020B0504020200020000" pitchFamily="34" charset="0"/>
                <a:cs typeface="Posterama" panose="020B0504020200020000" pitchFamily="34" charset="0"/>
              </a:rPr>
              <a:t>Describe the Pancasila as the major basis for character education, worldview of Nation and the ideological foundation of Indonesian state</a:t>
            </a:r>
            <a:endParaRPr lang="en-US" sz="4000" dirty="0">
              <a:solidFill>
                <a:srgbClr val="00B050"/>
              </a:solidFill>
              <a:latin typeface="Posterama" panose="020B0504020200020000" pitchFamily="34" charset="0"/>
              <a:cs typeface="Posterama" panose="020B0504020200020000" pitchFamily="34" charset="0"/>
            </a:endParaRPr>
          </a:p>
          <a:p>
            <a:endParaRPr lang="en-US" sz="4000" dirty="0">
              <a:solidFill>
                <a:srgbClr val="00B0F0"/>
              </a:solidFill>
              <a:latin typeface="Posterama" panose="020B0504020200020000" pitchFamily="34" charset="0"/>
              <a:cs typeface="Posterama" panose="020B0504020200020000" pitchFamily="34" charset="0"/>
            </a:endParaRPr>
          </a:p>
          <a:p>
            <a:endParaRPr lang="en-US" sz="4000" dirty="0">
              <a:solidFill>
                <a:srgbClr val="00B0F0"/>
              </a:solidFill>
              <a:latin typeface="Posterama" panose="020B0504020200020000" pitchFamily="34" charset="0"/>
              <a:cs typeface="Posterama" panose="020B0504020200020000" pitchFamily="34" charset="0"/>
            </a:endParaRPr>
          </a:p>
          <a:p>
            <a:endParaRPr lang="en-US" sz="4000" dirty="0">
              <a:solidFill>
                <a:srgbClr val="00B0F0"/>
              </a:solidFill>
              <a:latin typeface="Posterama" panose="020B0504020200020000" pitchFamily="34" charset="0"/>
              <a:cs typeface="Posterama" panose="020B0504020200020000" pitchFamily="34" charset="0"/>
            </a:endParaRPr>
          </a:p>
          <a:p>
            <a:endParaRPr lang="en-US" sz="4000" dirty="0">
              <a:solidFill>
                <a:srgbClr val="0070C0"/>
              </a:solidFill>
              <a:latin typeface="Posterama" panose="020B0504020200020000" pitchFamily="34" charset="0"/>
              <a:cs typeface="Posterama" panose="020B0504020200020000" pitchFamily="34" charset="0"/>
            </a:endParaRPr>
          </a:p>
          <a:p>
            <a:endParaRPr lang="en-US" sz="4000" b="1" dirty="0">
              <a:latin typeface="Posterama" panose="020B0504020200020000" pitchFamily="34" charset="0"/>
              <a:cs typeface="Posterama" panose="020B0504020200020000" pitchFamily="34" charset="0"/>
            </a:endParaRPr>
          </a:p>
          <a:p>
            <a:endParaRPr lang="en-US" sz="4000" b="1" dirty="0">
              <a:latin typeface="Posterama" panose="020B0504020200020000" pitchFamily="34" charset="0"/>
              <a:cs typeface="Posterama" panose="020B0504020200020000" pitchFamily="34" charset="0"/>
            </a:endParaRPr>
          </a:p>
          <a:p>
            <a:endParaRPr lang="en-US" sz="4000" b="1" dirty="0">
              <a:latin typeface="Posterama" panose="020B0504020200020000" pitchFamily="34" charset="0"/>
              <a:cs typeface="Posterama" panose="020B0504020200020000" pitchFamily="34" charset="0"/>
            </a:endParaRPr>
          </a:p>
          <a:p>
            <a:pPr marL="0" indent="0">
              <a:buNone/>
            </a:pPr>
            <a:endParaRPr lang="en-US" sz="4000" b="1"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1592408349"/>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EF2C2-B048-D3A3-FF41-B3BB1328A3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3482D-4493-0304-A13A-D24EB0F514F2}"/>
              </a:ext>
            </a:extLst>
          </p:cNvPr>
          <p:cNvSpPr>
            <a:spLocks noGrp="1"/>
          </p:cNvSpPr>
          <p:nvPr>
            <p:ph type="title"/>
          </p:nvPr>
        </p:nvSpPr>
        <p:spPr>
          <a:xfrm>
            <a:off x="4726112" y="1128267"/>
            <a:ext cx="14247688" cy="846006"/>
          </a:xfrm>
        </p:spPr>
        <p:txBody>
          <a:bodyPr>
            <a:normAutofit/>
          </a:bodyPr>
          <a:lstStyle/>
          <a:p>
            <a:pPr algn="ctr"/>
            <a:r>
              <a:rPr lang="en-US" sz="4000" cap="none" dirty="0">
                <a:latin typeface="Posterama" panose="020B0504020200020000" pitchFamily="34" charset="0"/>
                <a:cs typeface="Posterama" panose="020B0504020200020000" pitchFamily="34" charset="0"/>
              </a:rPr>
              <a:t>Agenda</a:t>
            </a:r>
          </a:p>
        </p:txBody>
      </p:sp>
      <p:sp>
        <p:nvSpPr>
          <p:cNvPr id="4" name="Content Placeholder 3">
            <a:extLst>
              <a:ext uri="{FF2B5EF4-FFF2-40B4-BE49-F238E27FC236}">
                <a16:creationId xmlns:a16="http://schemas.microsoft.com/office/drawing/2014/main" id="{823CD064-9532-5050-574A-0409820972C5}"/>
              </a:ext>
            </a:extLst>
          </p:cNvPr>
          <p:cNvSpPr>
            <a:spLocks noGrp="1"/>
          </p:cNvSpPr>
          <p:nvPr>
            <p:ph sz="quarter" idx="11"/>
          </p:nvPr>
        </p:nvSpPr>
        <p:spPr>
          <a:xfrm>
            <a:off x="3982530" y="4281055"/>
            <a:ext cx="14991270" cy="6899564"/>
          </a:xfrm>
        </p:spPr>
        <p:txBody>
          <a:bodyPr>
            <a:noAutofit/>
          </a:bodyPr>
          <a:lstStyle/>
          <a:p>
            <a:pPr>
              <a:spcBef>
                <a:spcPts val="0"/>
              </a:spcBef>
            </a:pPr>
            <a:r>
              <a:rPr lang="en-US" sz="4400" dirty="0">
                <a:solidFill>
                  <a:srgbClr val="00B0F0"/>
                </a:solidFill>
                <a:latin typeface="Posterama" panose="020B0504020200020000" pitchFamily="34" charset="0"/>
                <a:cs typeface="Posterama" panose="020B0504020200020000" pitchFamily="34" charset="0"/>
              </a:rPr>
              <a:t>Introduction</a:t>
            </a:r>
          </a:p>
          <a:p>
            <a:pPr>
              <a:spcBef>
                <a:spcPts val="0"/>
              </a:spcBef>
            </a:pPr>
            <a:r>
              <a:rPr lang="en-US" sz="4400" dirty="0">
                <a:solidFill>
                  <a:srgbClr val="00B0F0"/>
                </a:solidFill>
                <a:latin typeface="Posterama" panose="020B0504020200020000" pitchFamily="34" charset="0"/>
                <a:cs typeface="Posterama" panose="020B0504020200020000" pitchFamily="34" charset="0"/>
              </a:rPr>
              <a:t>The Framers Of The Indonesian State Basis</a:t>
            </a:r>
          </a:p>
          <a:p>
            <a:pPr>
              <a:spcBef>
                <a:spcPts val="0"/>
              </a:spcBef>
            </a:pPr>
            <a:r>
              <a:rPr lang="en-US" sz="4400" dirty="0">
                <a:solidFill>
                  <a:srgbClr val="00B0F0"/>
                </a:solidFill>
                <a:latin typeface="Posterama" panose="020B0504020200020000" pitchFamily="34" charset="0"/>
                <a:cs typeface="Posterama" panose="020B0504020200020000" pitchFamily="34" charset="0"/>
              </a:rPr>
              <a:t>The BPUPKI Sessions</a:t>
            </a:r>
          </a:p>
          <a:p>
            <a:pPr>
              <a:spcBef>
                <a:spcPts val="0"/>
              </a:spcBef>
            </a:pPr>
            <a:r>
              <a:rPr lang="en-US" sz="4400" dirty="0">
                <a:solidFill>
                  <a:srgbClr val="00B0F0"/>
                </a:solidFill>
                <a:latin typeface="Posterama" panose="020B0504020200020000" pitchFamily="34" charset="0"/>
                <a:cs typeface="Posterama" panose="020B0504020200020000" pitchFamily="34" charset="0"/>
              </a:rPr>
              <a:t>Core Points Of Soekarno’s Speech</a:t>
            </a:r>
          </a:p>
          <a:p>
            <a:pPr>
              <a:spcBef>
                <a:spcPts val="0"/>
              </a:spcBef>
            </a:pPr>
            <a:r>
              <a:rPr lang="en-US" sz="4400" dirty="0">
                <a:solidFill>
                  <a:srgbClr val="00B0F0"/>
                </a:solidFill>
                <a:latin typeface="Posterama" panose="020B0504020200020000" pitchFamily="34" charset="0"/>
                <a:cs typeface="Posterama" panose="020B0504020200020000" pitchFamily="34" charset="0"/>
              </a:rPr>
              <a:t>Subcommittees</a:t>
            </a:r>
          </a:p>
          <a:p>
            <a:pPr>
              <a:spcBef>
                <a:spcPts val="0"/>
              </a:spcBef>
            </a:pPr>
            <a:r>
              <a:rPr lang="en-US" sz="4400" dirty="0">
                <a:solidFill>
                  <a:srgbClr val="00B0F0"/>
                </a:solidFill>
                <a:latin typeface="Posterama" panose="020B0504020200020000" pitchFamily="34" charset="0"/>
                <a:cs typeface="Posterama" panose="020B0504020200020000" pitchFamily="34" charset="0"/>
              </a:rPr>
              <a:t>Preparatory Committee For Indonesian Independence</a:t>
            </a:r>
          </a:p>
          <a:p>
            <a:pPr>
              <a:spcBef>
                <a:spcPts val="0"/>
              </a:spcBef>
            </a:pPr>
            <a:r>
              <a:rPr lang="en-US" sz="4400" dirty="0">
                <a:solidFill>
                  <a:srgbClr val="00B0F0"/>
                </a:solidFill>
                <a:latin typeface="Posterama" panose="020B0504020200020000" pitchFamily="34" charset="0"/>
                <a:cs typeface="Posterama" panose="020B0504020200020000" pitchFamily="34" charset="0"/>
              </a:rPr>
              <a:t>Lessons Learned from the History of Pancasila</a:t>
            </a:r>
          </a:p>
          <a:p>
            <a:pPr>
              <a:spcBef>
                <a:spcPts val="0"/>
              </a:spcBef>
            </a:pPr>
            <a:r>
              <a:rPr lang="en-US" sz="4400" dirty="0">
                <a:solidFill>
                  <a:srgbClr val="00B0F0"/>
                </a:solidFill>
                <a:latin typeface="Posterama" panose="020B0504020200020000" pitchFamily="34" charset="0"/>
                <a:cs typeface="Posterama" panose="020B0504020200020000" pitchFamily="34" charset="0"/>
              </a:rPr>
              <a:t>SPIRIT: Respect and Integrity</a:t>
            </a:r>
          </a:p>
          <a:p>
            <a:pPr>
              <a:spcBef>
                <a:spcPts val="0"/>
              </a:spcBef>
            </a:pPr>
            <a:r>
              <a:rPr lang="en-US" sz="4400" dirty="0">
                <a:solidFill>
                  <a:srgbClr val="00B0F0"/>
                </a:solidFill>
                <a:latin typeface="Posterama" panose="020B0504020200020000" pitchFamily="34" charset="0"/>
                <a:cs typeface="Posterama" panose="020B0504020200020000" pitchFamily="34" charset="0"/>
              </a:rPr>
              <a:t>Conclusion</a:t>
            </a:r>
          </a:p>
          <a:p>
            <a:endParaRPr lang="en-US" sz="4400" dirty="0">
              <a:solidFill>
                <a:srgbClr val="00B050"/>
              </a:solidFill>
              <a:latin typeface="Posterama" panose="020B0504020200020000" pitchFamily="34" charset="0"/>
              <a:cs typeface="Posterama" panose="020B0504020200020000" pitchFamily="34" charset="0"/>
            </a:endParaRPr>
          </a:p>
          <a:p>
            <a:endParaRPr lang="en-US" sz="4400" dirty="0">
              <a:solidFill>
                <a:srgbClr val="00B0F0"/>
              </a:solidFill>
              <a:latin typeface="Posterama" panose="020B0504020200020000" pitchFamily="34" charset="0"/>
              <a:cs typeface="Posterama" panose="020B0504020200020000" pitchFamily="34" charset="0"/>
            </a:endParaRPr>
          </a:p>
          <a:p>
            <a:endParaRPr lang="en-US" sz="4400" dirty="0">
              <a:solidFill>
                <a:srgbClr val="00B0F0"/>
              </a:solidFill>
              <a:latin typeface="Posterama" panose="020B0504020200020000" pitchFamily="34" charset="0"/>
              <a:cs typeface="Posterama" panose="020B0504020200020000" pitchFamily="34" charset="0"/>
            </a:endParaRPr>
          </a:p>
          <a:p>
            <a:endParaRPr lang="en-US" sz="4400" dirty="0">
              <a:solidFill>
                <a:srgbClr val="00B0F0"/>
              </a:solidFill>
              <a:latin typeface="Posterama" panose="020B0504020200020000" pitchFamily="34" charset="0"/>
              <a:cs typeface="Posterama" panose="020B0504020200020000" pitchFamily="34" charset="0"/>
            </a:endParaRPr>
          </a:p>
          <a:p>
            <a:endParaRPr lang="en-US" sz="4400" dirty="0">
              <a:solidFill>
                <a:srgbClr val="0070C0"/>
              </a:solidFill>
              <a:latin typeface="Posterama" panose="020B0504020200020000" pitchFamily="34" charset="0"/>
              <a:cs typeface="Posterama" panose="020B0504020200020000" pitchFamily="34" charset="0"/>
            </a:endParaRPr>
          </a:p>
          <a:p>
            <a:endParaRPr lang="en-US" sz="4400" b="1" dirty="0"/>
          </a:p>
          <a:p>
            <a:endParaRPr lang="en-US" sz="4400" b="1" dirty="0"/>
          </a:p>
          <a:p>
            <a:endParaRPr lang="en-US" sz="4400" b="1" dirty="0"/>
          </a:p>
          <a:p>
            <a:pPr marL="0" indent="0">
              <a:buNone/>
            </a:pPr>
            <a:endParaRPr lang="en-US" sz="4400" b="1" dirty="0"/>
          </a:p>
        </p:txBody>
      </p:sp>
    </p:spTree>
    <p:extLst>
      <p:ext uri="{BB962C8B-B14F-4D97-AF65-F5344CB8AC3E}">
        <p14:creationId xmlns:p14="http://schemas.microsoft.com/office/powerpoint/2010/main" val="1108574545"/>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CFF86-A7D8-A2A3-B704-3F6548DE6AF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3D26AB7-5448-8D76-7E54-211C26BE0139}"/>
              </a:ext>
            </a:extLst>
          </p:cNvPr>
          <p:cNvSpPr>
            <a:spLocks noGrp="1"/>
          </p:cNvSpPr>
          <p:nvPr>
            <p:ph type="body" sz="quarter" idx="10"/>
          </p:nvPr>
        </p:nvSpPr>
        <p:spPr>
          <a:xfrm>
            <a:off x="6807786" y="1193600"/>
            <a:ext cx="9768875" cy="803546"/>
          </a:xfrm>
        </p:spPr>
        <p:txBody>
          <a:bodyPr>
            <a:normAutofit/>
          </a:bodyPr>
          <a:lstStyle/>
          <a:p>
            <a:pPr algn="ctr"/>
            <a:r>
              <a:rPr lang="en-US" sz="4400" cap="none" dirty="0">
                <a:solidFill>
                  <a:srgbClr val="00B0F0"/>
                </a:solidFill>
                <a:latin typeface="Posterama" panose="020B0504020200020000" pitchFamily="34" charset="0"/>
                <a:cs typeface="Posterama" panose="020B0504020200020000" pitchFamily="34" charset="0"/>
              </a:rPr>
              <a:t>Introduction</a:t>
            </a:r>
          </a:p>
        </p:txBody>
      </p:sp>
      <p:sp>
        <p:nvSpPr>
          <p:cNvPr id="4" name="Content Placeholder 3">
            <a:extLst>
              <a:ext uri="{FF2B5EF4-FFF2-40B4-BE49-F238E27FC236}">
                <a16:creationId xmlns:a16="http://schemas.microsoft.com/office/drawing/2014/main" id="{2CA9B7CB-E49E-C8F3-370C-5BF1F5A29199}"/>
              </a:ext>
            </a:extLst>
          </p:cNvPr>
          <p:cNvSpPr>
            <a:spLocks noGrp="1"/>
          </p:cNvSpPr>
          <p:nvPr>
            <p:ph sz="quarter" idx="11"/>
          </p:nvPr>
        </p:nvSpPr>
        <p:spPr>
          <a:xfrm>
            <a:off x="2240823" y="2847108"/>
            <a:ext cx="20802600" cy="9831893"/>
          </a:xfrm>
        </p:spPr>
        <p:txBody>
          <a:bodyPr>
            <a:noAutofit/>
          </a:bodyPr>
          <a:lstStyle/>
          <a:p>
            <a:r>
              <a:rPr lang="en-US" sz="4400" dirty="0">
                <a:latin typeface="Posterama" panose="020B0504020200020000" pitchFamily="34" charset="0"/>
                <a:cs typeface="Posterama" panose="020B0504020200020000" pitchFamily="34" charset="0"/>
              </a:rPr>
              <a:t>The formulation of Pancasila was conducted by the </a:t>
            </a:r>
            <a:r>
              <a:rPr lang="en-US" sz="4400" b="1" dirty="0">
                <a:latin typeface="Posterama" panose="020B0504020200020000" pitchFamily="34" charset="0"/>
                <a:cs typeface="Posterama" panose="020B0504020200020000" pitchFamily="34" charset="0"/>
              </a:rPr>
              <a:t>Investigating Committee for Preparatory Work for Independence (BPUPKI)</a:t>
            </a:r>
            <a:r>
              <a:rPr lang="en-US" sz="4400" dirty="0">
                <a:latin typeface="Posterama" panose="020B0504020200020000" pitchFamily="34" charset="0"/>
                <a:cs typeface="Posterama" panose="020B0504020200020000" pitchFamily="34" charset="0"/>
              </a:rPr>
              <a:t> between May 29 and June 1, 1945. </a:t>
            </a:r>
          </a:p>
          <a:p>
            <a:r>
              <a:rPr lang="en-US" sz="4400" dirty="0">
                <a:latin typeface="Posterama" panose="020B0504020200020000" pitchFamily="34" charset="0"/>
                <a:cs typeface="Posterama" panose="020B0504020200020000" pitchFamily="34" charset="0"/>
              </a:rPr>
              <a:t>Following the establishment of BPUPKI, Japan also formed the </a:t>
            </a:r>
            <a:r>
              <a:rPr lang="en-US" sz="4400" b="1" dirty="0">
                <a:latin typeface="Posterama" panose="020B0504020200020000" pitchFamily="34" charset="0"/>
                <a:cs typeface="Posterama" panose="020B0504020200020000" pitchFamily="34" charset="0"/>
              </a:rPr>
              <a:t>Preparatory Committee for Indonesian Independence (PPKI)</a:t>
            </a:r>
            <a:r>
              <a:rPr lang="en-US" sz="4400" dirty="0">
                <a:latin typeface="Posterama" panose="020B0504020200020000" pitchFamily="34" charset="0"/>
                <a:cs typeface="Posterama" panose="020B0504020200020000" pitchFamily="34" charset="0"/>
              </a:rPr>
              <a:t>, which was tasked with drafting and enacting the 1945 Constitution.</a:t>
            </a:r>
          </a:p>
          <a:p>
            <a:r>
              <a:rPr lang="en-US" sz="4400" dirty="0">
                <a:latin typeface="Posterama" panose="020B0504020200020000" pitchFamily="34" charset="0"/>
                <a:cs typeface="Posterama" panose="020B0504020200020000" pitchFamily="34" charset="0"/>
              </a:rPr>
              <a:t>During the first session, the Chairman of BPUPKI, Dr. </a:t>
            </a:r>
            <a:r>
              <a:rPr lang="en-US" sz="4400" dirty="0" err="1">
                <a:latin typeface="Posterama" panose="020B0504020200020000" pitchFamily="34" charset="0"/>
                <a:cs typeface="Posterama" panose="020B0504020200020000" pitchFamily="34" charset="0"/>
              </a:rPr>
              <a:t>Radjiman</a:t>
            </a:r>
            <a:r>
              <a:rPr lang="en-US" sz="4400" dirty="0">
                <a:latin typeface="Posterama" panose="020B0504020200020000" pitchFamily="34" charset="0"/>
                <a:cs typeface="Posterama" panose="020B0504020200020000" pitchFamily="34" charset="0"/>
              </a:rPr>
              <a:t> </a:t>
            </a:r>
            <a:r>
              <a:rPr lang="en-US" sz="4400" dirty="0" err="1">
                <a:latin typeface="Posterama" panose="020B0504020200020000" pitchFamily="34" charset="0"/>
                <a:cs typeface="Posterama" panose="020B0504020200020000" pitchFamily="34" charset="0"/>
              </a:rPr>
              <a:t>Wedyodiningrat</a:t>
            </a:r>
            <a:r>
              <a:rPr lang="en-US" sz="4400" dirty="0">
                <a:latin typeface="Posterama" panose="020B0504020200020000" pitchFamily="34" charset="0"/>
                <a:cs typeface="Posterama" panose="020B0504020200020000" pitchFamily="34" charset="0"/>
              </a:rPr>
              <a:t>, asked the participants to define the foundational basis of an independent Indonesia. </a:t>
            </a:r>
          </a:p>
          <a:p>
            <a:r>
              <a:rPr lang="en-US" sz="4400" dirty="0">
                <a:latin typeface="Posterama" panose="020B0504020200020000" pitchFamily="34" charset="0"/>
                <a:cs typeface="Posterama" panose="020B0504020200020000" pitchFamily="34" charset="0"/>
              </a:rPr>
              <a:t>In response, several members—including Soekarno, Hatta, </a:t>
            </a:r>
            <a:r>
              <a:rPr lang="en-US" sz="4400" dirty="0" err="1">
                <a:latin typeface="Posterama" panose="020B0504020200020000" pitchFamily="34" charset="0"/>
                <a:cs typeface="Posterama" panose="020B0504020200020000" pitchFamily="34" charset="0"/>
              </a:rPr>
              <a:t>Soepomo</a:t>
            </a:r>
            <a:r>
              <a:rPr lang="en-US" sz="4400" dirty="0">
                <a:latin typeface="Posterama" panose="020B0504020200020000" pitchFamily="34" charset="0"/>
                <a:cs typeface="Posterama" panose="020B0504020200020000" pitchFamily="34" charset="0"/>
              </a:rPr>
              <a:t>, Ki </a:t>
            </a:r>
            <a:r>
              <a:rPr lang="en-US" sz="4400" dirty="0" err="1">
                <a:latin typeface="Posterama" panose="020B0504020200020000" pitchFamily="34" charset="0"/>
                <a:cs typeface="Posterama" panose="020B0504020200020000" pitchFamily="34" charset="0"/>
              </a:rPr>
              <a:t>Bagoes</a:t>
            </a:r>
            <a:r>
              <a:rPr lang="en-US" sz="4400" dirty="0">
                <a:latin typeface="Posterama" panose="020B0504020200020000" pitchFamily="34" charset="0"/>
                <a:cs typeface="Posterama" panose="020B0504020200020000" pitchFamily="34" charset="0"/>
              </a:rPr>
              <a:t> </a:t>
            </a:r>
            <a:r>
              <a:rPr lang="en-US" sz="4400" dirty="0" err="1">
                <a:latin typeface="Posterama" panose="020B0504020200020000" pitchFamily="34" charset="0"/>
                <a:cs typeface="Posterama" panose="020B0504020200020000" pitchFamily="34" charset="0"/>
              </a:rPr>
              <a:t>Hadikoesoema</a:t>
            </a:r>
            <a:r>
              <a:rPr lang="en-US" sz="4400" dirty="0">
                <a:latin typeface="Posterama" panose="020B0504020200020000" pitchFamily="34" charset="0"/>
                <a:cs typeface="Posterama" panose="020B0504020200020000" pitchFamily="34" charset="0"/>
              </a:rPr>
              <a:t>, and Mohammad Yamin—presented their proposals for the nation's philosophical foundation. </a:t>
            </a:r>
          </a:p>
        </p:txBody>
      </p:sp>
    </p:spTree>
    <p:extLst>
      <p:ext uri="{BB962C8B-B14F-4D97-AF65-F5344CB8AC3E}">
        <p14:creationId xmlns:p14="http://schemas.microsoft.com/office/powerpoint/2010/main" val="30751200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2975C7C-6CFC-F0EA-487C-DD070D48D481}"/>
              </a:ext>
            </a:extLst>
          </p:cNvPr>
          <p:cNvSpPr>
            <a:spLocks noGrp="1"/>
          </p:cNvSpPr>
          <p:nvPr>
            <p:ph type="body" sz="quarter" idx="10"/>
          </p:nvPr>
        </p:nvSpPr>
        <p:spPr>
          <a:xfrm>
            <a:off x="3491346" y="1297510"/>
            <a:ext cx="18163309" cy="988490"/>
          </a:xfrm>
        </p:spPr>
        <p:txBody>
          <a:bodyPr>
            <a:noAutofit/>
          </a:bodyPr>
          <a:lstStyle/>
          <a:p>
            <a:pPr algn="ctr"/>
            <a:r>
              <a:rPr lang="en-US" sz="4400" cap="none" dirty="0">
                <a:solidFill>
                  <a:srgbClr val="0070C0"/>
                </a:solidFill>
                <a:latin typeface="Posterama" panose="020B0504020200020000" pitchFamily="34" charset="0"/>
                <a:cs typeface="Posterama" panose="020B0504020200020000" pitchFamily="34" charset="0"/>
              </a:rPr>
              <a:t>The Framers Of The Indonesian State Basis</a:t>
            </a:r>
          </a:p>
        </p:txBody>
      </p:sp>
      <p:sp>
        <p:nvSpPr>
          <p:cNvPr id="4" name="Content Placeholder 3">
            <a:extLst>
              <a:ext uri="{FF2B5EF4-FFF2-40B4-BE49-F238E27FC236}">
                <a16:creationId xmlns:a16="http://schemas.microsoft.com/office/drawing/2014/main" id="{2A841494-79E0-6ED8-B36E-97C5A1712D51}"/>
              </a:ext>
            </a:extLst>
          </p:cNvPr>
          <p:cNvSpPr>
            <a:spLocks noGrp="1"/>
          </p:cNvSpPr>
          <p:nvPr>
            <p:ph sz="quarter" idx="11"/>
          </p:nvPr>
        </p:nvSpPr>
        <p:spPr>
          <a:xfrm>
            <a:off x="1790700" y="3160928"/>
            <a:ext cx="20802600" cy="8375073"/>
          </a:xfrm>
        </p:spPr>
        <p:txBody>
          <a:bodyPr>
            <a:noAutofit/>
          </a:bodyPr>
          <a:lstStyle/>
          <a:p>
            <a:r>
              <a:rPr lang="en-US" sz="4000" b="1" dirty="0">
                <a:latin typeface="Posterama" panose="020B0504020200020000" pitchFamily="34" charset="0"/>
                <a:cs typeface="Posterama" panose="020B0504020200020000" pitchFamily="34" charset="0"/>
              </a:rPr>
              <a:t>BPUPKI membership</a:t>
            </a:r>
            <a:r>
              <a:rPr lang="en-US" sz="4000" dirty="0">
                <a:latin typeface="Posterama" panose="020B0504020200020000" pitchFamily="34" charset="0"/>
                <a:cs typeface="Posterama" panose="020B0504020200020000" pitchFamily="34" charset="0"/>
              </a:rPr>
              <a:t> was drawn from diverse groups, including the </a:t>
            </a:r>
            <a:r>
              <a:rPr lang="en-US" sz="4000" b="1" dirty="0">
                <a:latin typeface="Posterama" panose="020B0504020200020000" pitchFamily="34" charset="0"/>
                <a:cs typeface="Posterama" panose="020B0504020200020000" pitchFamily="34" charset="0"/>
              </a:rPr>
              <a:t>nationalist movement</a:t>
            </a:r>
            <a:r>
              <a:rPr lang="en-US" sz="4000" dirty="0">
                <a:latin typeface="Posterama" panose="020B0504020200020000" pitchFamily="34" charset="0"/>
                <a:cs typeface="Posterama" panose="020B0504020200020000" pitchFamily="34" charset="0"/>
              </a:rPr>
              <a:t> (comprising various ethnic and religious backgrounds), </a:t>
            </a:r>
            <a:r>
              <a:rPr lang="en-US" sz="4000" b="1" dirty="0">
                <a:latin typeface="Posterama" panose="020B0504020200020000" pitchFamily="34" charset="0"/>
                <a:cs typeface="Posterama" panose="020B0504020200020000" pitchFamily="34" charset="0"/>
              </a:rPr>
              <a:t>Islamic groups</a:t>
            </a:r>
            <a:r>
              <a:rPr lang="en-US" sz="4000" dirty="0">
                <a:latin typeface="Posterama" panose="020B0504020200020000" pitchFamily="34" charset="0"/>
                <a:cs typeface="Posterama" panose="020B0504020200020000" pitchFamily="34" charset="0"/>
              </a:rPr>
              <a:t>, and the </a:t>
            </a:r>
            <a:r>
              <a:rPr lang="en-US" sz="4000" b="1" dirty="0">
                <a:latin typeface="Posterama" panose="020B0504020200020000" pitchFamily="34" charset="0"/>
                <a:cs typeface="Posterama" panose="020B0504020200020000" pitchFamily="34" charset="0"/>
              </a:rPr>
              <a:t>bureaucratic class</a:t>
            </a:r>
            <a:r>
              <a:rPr lang="en-US" sz="4000" dirty="0">
                <a:latin typeface="Posterama" panose="020B0504020200020000" pitchFamily="34" charset="0"/>
                <a:cs typeface="Posterama" panose="020B0504020200020000" pitchFamily="34" charset="0"/>
              </a:rPr>
              <a:t>. The latter included heads of government services, royal representatives, and the </a:t>
            </a:r>
            <a:r>
              <a:rPr lang="en-US" sz="4000" b="1" dirty="0" err="1">
                <a:latin typeface="Posterama" panose="020B0504020200020000" pitchFamily="34" charset="0"/>
                <a:cs typeface="Posterama" panose="020B0504020200020000" pitchFamily="34" charset="0"/>
              </a:rPr>
              <a:t>Pangreh</a:t>
            </a:r>
            <a:r>
              <a:rPr lang="en-US" sz="4000" b="1" dirty="0">
                <a:latin typeface="Posterama" panose="020B0504020200020000" pitchFamily="34" charset="0"/>
                <a:cs typeface="Posterama" panose="020B0504020200020000" pitchFamily="34" charset="0"/>
              </a:rPr>
              <a:t> </a:t>
            </a:r>
            <a:r>
              <a:rPr lang="en-US" sz="4000" b="1" dirty="0" err="1">
                <a:latin typeface="Posterama" panose="020B0504020200020000" pitchFamily="34" charset="0"/>
                <a:cs typeface="Posterama" panose="020B0504020200020000" pitchFamily="34" charset="0"/>
              </a:rPr>
              <a:t>Praja</a:t>
            </a:r>
            <a:r>
              <a:rPr lang="en-US" sz="4000" dirty="0">
                <a:latin typeface="Posterama" panose="020B0504020200020000" pitchFamily="34" charset="0"/>
                <a:cs typeface="Posterama" panose="020B0504020200020000" pitchFamily="34" charset="0"/>
              </a:rPr>
              <a:t> (consisting of residents, deputy residents, regents, and mayors).</a:t>
            </a:r>
          </a:p>
          <a:p>
            <a:r>
              <a:rPr lang="en-US" sz="4000" dirty="0">
                <a:latin typeface="Posterama" panose="020B0504020200020000" pitchFamily="34" charset="0"/>
                <a:cs typeface="Posterama" panose="020B0504020200020000" pitchFamily="34" charset="0"/>
              </a:rPr>
              <a:t>Additionally, the membership included </a:t>
            </a:r>
            <a:r>
              <a:rPr lang="en-US" sz="4000" b="1" dirty="0">
                <a:latin typeface="Posterama" panose="020B0504020200020000" pitchFamily="34" charset="0"/>
                <a:cs typeface="Posterama" panose="020B0504020200020000" pitchFamily="34" charset="0"/>
              </a:rPr>
              <a:t>Peranakan (descendant) groups</a:t>
            </a:r>
            <a:r>
              <a:rPr lang="en-US" sz="4000" dirty="0">
                <a:latin typeface="Posterama" panose="020B0504020200020000" pitchFamily="34" charset="0"/>
                <a:cs typeface="Posterama" panose="020B0504020200020000" pitchFamily="34" charset="0"/>
              </a:rPr>
              <a:t>, which were divided into three categories: </a:t>
            </a:r>
            <a:r>
              <a:rPr lang="en-US" sz="4000" b="1" dirty="0">
                <a:latin typeface="Posterama" panose="020B0504020200020000" pitchFamily="34" charset="0"/>
                <a:cs typeface="Posterama" panose="020B0504020200020000" pitchFamily="34" charset="0"/>
              </a:rPr>
              <a:t>Chinese Peranakan</a:t>
            </a:r>
            <a:r>
              <a:rPr lang="en-US" sz="4000" dirty="0">
                <a:latin typeface="Posterama" panose="020B0504020200020000" pitchFamily="34" charset="0"/>
                <a:cs typeface="Posterama" panose="020B0504020200020000" pitchFamily="34" charset="0"/>
              </a:rPr>
              <a:t> (4 members), </a:t>
            </a:r>
            <a:r>
              <a:rPr lang="en-US" sz="4000" b="1" dirty="0">
                <a:latin typeface="Posterama" panose="020B0504020200020000" pitchFamily="34" charset="0"/>
                <a:cs typeface="Posterama" panose="020B0504020200020000" pitchFamily="34" charset="0"/>
              </a:rPr>
              <a:t>Arab Peranakan</a:t>
            </a:r>
            <a:r>
              <a:rPr lang="en-US" sz="4000" dirty="0">
                <a:latin typeface="Posterama" panose="020B0504020200020000" pitchFamily="34" charset="0"/>
                <a:cs typeface="Posterama" panose="020B0504020200020000" pitchFamily="34" charset="0"/>
              </a:rPr>
              <a:t> (1 member), and </a:t>
            </a:r>
            <a:r>
              <a:rPr lang="en-US" sz="4000" b="1" dirty="0">
                <a:latin typeface="Posterama" panose="020B0504020200020000" pitchFamily="34" charset="0"/>
                <a:cs typeface="Posterama" panose="020B0504020200020000" pitchFamily="34" charset="0"/>
              </a:rPr>
              <a:t>Dutch Peranakan</a:t>
            </a:r>
            <a:r>
              <a:rPr lang="en-US" sz="4000" dirty="0">
                <a:latin typeface="Posterama" panose="020B0504020200020000" pitchFamily="34" charset="0"/>
                <a:cs typeface="Posterama" panose="020B0504020200020000" pitchFamily="34" charset="0"/>
              </a:rPr>
              <a:t> (1 member).</a:t>
            </a:r>
          </a:p>
          <a:p>
            <a:r>
              <a:rPr lang="en-US" sz="4000" dirty="0">
                <a:latin typeface="Posterama" panose="020B0504020200020000" pitchFamily="34" charset="0"/>
                <a:cs typeface="Posterama" panose="020B0504020200020000" pitchFamily="34" charset="0"/>
              </a:rPr>
              <a:t>Furthermore, a Japanese representative, </a:t>
            </a:r>
            <a:r>
              <a:rPr lang="en-US" sz="4000" b="1" dirty="0" err="1">
                <a:latin typeface="Posterama" panose="020B0504020200020000" pitchFamily="34" charset="0"/>
                <a:cs typeface="Posterama" panose="020B0504020200020000" pitchFamily="34" charset="0"/>
              </a:rPr>
              <a:t>Ichibangase</a:t>
            </a:r>
            <a:r>
              <a:rPr lang="en-US" sz="4000" b="1" dirty="0">
                <a:latin typeface="Posterama" panose="020B0504020200020000" pitchFamily="34" charset="0"/>
                <a:cs typeface="Posterama" panose="020B0504020200020000" pitchFamily="34" charset="0"/>
              </a:rPr>
              <a:t> </a:t>
            </a:r>
            <a:r>
              <a:rPr lang="en-US" sz="4000" b="1" dirty="0" err="1">
                <a:latin typeface="Posterama" panose="020B0504020200020000" pitchFamily="34" charset="0"/>
                <a:cs typeface="Posterama" panose="020B0504020200020000" pitchFamily="34" charset="0"/>
              </a:rPr>
              <a:t>Yosio</a:t>
            </a:r>
            <a:r>
              <a:rPr lang="en-US" sz="4000" dirty="0">
                <a:latin typeface="Posterama" panose="020B0504020200020000" pitchFamily="34" charset="0"/>
                <a:cs typeface="Posterama" panose="020B0504020200020000" pitchFamily="34" charset="0"/>
              </a:rPr>
              <a:t>, served as the Deputy Chairman. Notably, BPUPKI also reflected an early commitment to </a:t>
            </a:r>
            <a:r>
              <a:rPr lang="en-US" sz="4000" b="1" dirty="0">
                <a:latin typeface="Posterama" panose="020B0504020200020000" pitchFamily="34" charset="0"/>
                <a:cs typeface="Posterama" panose="020B0504020200020000" pitchFamily="34" charset="0"/>
              </a:rPr>
              <a:t>gender equality</a:t>
            </a:r>
            <a:r>
              <a:rPr lang="en-US" sz="4000" dirty="0">
                <a:latin typeface="Posterama" panose="020B0504020200020000" pitchFamily="34" charset="0"/>
                <a:cs typeface="Posterama" panose="020B0504020200020000" pitchFamily="34" charset="0"/>
              </a:rPr>
              <a:t>, with two female members: </a:t>
            </a:r>
            <a:r>
              <a:rPr lang="en-US" sz="4000" b="1" dirty="0">
                <a:latin typeface="Posterama" panose="020B0504020200020000" pitchFamily="34" charset="0"/>
                <a:cs typeface="Posterama" panose="020B0504020200020000" pitchFamily="34" charset="0"/>
              </a:rPr>
              <a:t>Maria </a:t>
            </a:r>
            <a:r>
              <a:rPr lang="en-US" sz="4000" b="1" dirty="0" err="1">
                <a:latin typeface="Posterama" panose="020B0504020200020000" pitchFamily="34" charset="0"/>
                <a:cs typeface="Posterama" panose="020B0504020200020000" pitchFamily="34" charset="0"/>
              </a:rPr>
              <a:t>Ullfah</a:t>
            </a:r>
            <a:r>
              <a:rPr lang="en-US" sz="4000" b="1" dirty="0">
                <a:latin typeface="Posterama" panose="020B0504020200020000" pitchFamily="34" charset="0"/>
                <a:cs typeface="Posterama" panose="020B0504020200020000" pitchFamily="34" charset="0"/>
              </a:rPr>
              <a:t> Santoso</a:t>
            </a:r>
            <a:r>
              <a:rPr lang="en-US" sz="4000" dirty="0">
                <a:latin typeface="Posterama" panose="020B0504020200020000" pitchFamily="34" charset="0"/>
                <a:cs typeface="Posterama" panose="020B0504020200020000" pitchFamily="34" charset="0"/>
              </a:rPr>
              <a:t> and </a:t>
            </a:r>
            <a:r>
              <a:rPr lang="en-US" sz="4000" b="1" dirty="0">
                <a:latin typeface="Posterama" panose="020B0504020200020000" pitchFamily="34" charset="0"/>
                <a:cs typeface="Posterama" panose="020B0504020200020000" pitchFamily="34" charset="0"/>
              </a:rPr>
              <a:t>RSS </a:t>
            </a:r>
            <a:r>
              <a:rPr lang="en-US" sz="4000" b="1" dirty="0" err="1">
                <a:latin typeface="Posterama" panose="020B0504020200020000" pitchFamily="34" charset="0"/>
                <a:cs typeface="Posterama" panose="020B0504020200020000" pitchFamily="34" charset="0"/>
              </a:rPr>
              <a:t>Soenarjo</a:t>
            </a:r>
            <a:r>
              <a:rPr lang="en-US" sz="4000" b="1" dirty="0">
                <a:latin typeface="Posterama" panose="020B0504020200020000" pitchFamily="34" charset="0"/>
                <a:cs typeface="Posterama" panose="020B0504020200020000" pitchFamily="34" charset="0"/>
              </a:rPr>
              <a:t> </a:t>
            </a:r>
            <a:r>
              <a:rPr lang="en-US" sz="4000" b="1" dirty="0" err="1">
                <a:latin typeface="Posterama" panose="020B0504020200020000" pitchFamily="34" charset="0"/>
                <a:cs typeface="Posterama" panose="020B0504020200020000" pitchFamily="34" charset="0"/>
              </a:rPr>
              <a:t>Mangoenpoespito</a:t>
            </a:r>
            <a:endParaRPr lang="en-US" sz="4000" dirty="0">
              <a:latin typeface="Posterama" panose="020B0504020200020000" pitchFamily="34" charset="0"/>
              <a:cs typeface="Posterama" panose="020B0504020200020000" pitchFamily="34" charset="0"/>
            </a:endParaRPr>
          </a:p>
          <a:p>
            <a:endParaRPr lang="en-US" sz="40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1733230991"/>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03E5C-6F98-E8DC-48D8-09E811655B6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D1D5E56-C530-284C-49D7-4E1552FFDF68}"/>
              </a:ext>
            </a:extLst>
          </p:cNvPr>
          <p:cNvSpPr>
            <a:spLocks noGrp="1"/>
          </p:cNvSpPr>
          <p:nvPr>
            <p:ph type="body" sz="quarter" idx="10"/>
          </p:nvPr>
        </p:nvSpPr>
        <p:spPr>
          <a:xfrm>
            <a:off x="4488874" y="946953"/>
            <a:ext cx="15052964" cy="1193574"/>
          </a:xfrm>
        </p:spPr>
        <p:txBody>
          <a:bodyPr>
            <a:noAutofit/>
          </a:bodyPr>
          <a:lstStyle/>
          <a:p>
            <a:pPr algn="ctr"/>
            <a:r>
              <a:rPr lang="en-US" sz="4000" b="0" cap="none" dirty="0">
                <a:solidFill>
                  <a:srgbClr val="00B0F0"/>
                </a:solidFill>
              </a:rPr>
              <a:t>The BPUPKI Sessions</a:t>
            </a:r>
            <a:endParaRPr lang="en-US" sz="4000" b="0" cap="none" dirty="0">
              <a:solidFill>
                <a:srgbClr val="00B0F0"/>
              </a:solidFill>
              <a:latin typeface="Posterama" panose="020B0504020200020000" pitchFamily="34" charset="0"/>
              <a:cs typeface="Posterama" panose="020B0504020200020000" pitchFamily="34" charset="0"/>
            </a:endParaRPr>
          </a:p>
        </p:txBody>
      </p:sp>
      <p:sp>
        <p:nvSpPr>
          <p:cNvPr id="4" name="Content Placeholder 3">
            <a:extLst>
              <a:ext uri="{FF2B5EF4-FFF2-40B4-BE49-F238E27FC236}">
                <a16:creationId xmlns:a16="http://schemas.microsoft.com/office/drawing/2014/main" id="{9A595B42-200B-80B1-7A7E-49768FA500E0}"/>
              </a:ext>
            </a:extLst>
          </p:cNvPr>
          <p:cNvSpPr>
            <a:spLocks noGrp="1"/>
          </p:cNvSpPr>
          <p:nvPr>
            <p:ph sz="quarter" idx="11"/>
          </p:nvPr>
        </p:nvSpPr>
        <p:spPr>
          <a:xfrm>
            <a:off x="2078183" y="4094018"/>
            <a:ext cx="19347872" cy="8416637"/>
          </a:xfrm>
        </p:spPr>
        <p:txBody>
          <a:bodyPr>
            <a:noAutofit/>
          </a:bodyPr>
          <a:lstStyle/>
          <a:p>
            <a:r>
              <a:rPr lang="en-US" sz="4800" b="1" dirty="0">
                <a:latin typeface="Posterama" panose="020B0504020200020000" pitchFamily="34" charset="0"/>
                <a:cs typeface="Posterama" panose="020B0504020200020000" pitchFamily="34" charset="0"/>
              </a:rPr>
              <a:t>The First Session of BPUPKI (May 29 – June 1, 1945)</a:t>
            </a:r>
            <a:r>
              <a:rPr lang="en-US" sz="4800" dirty="0">
                <a:latin typeface="Posterama" panose="020B0504020200020000" pitchFamily="34" charset="0"/>
                <a:cs typeface="Posterama" panose="020B0504020200020000" pitchFamily="34" charset="0"/>
              </a:rPr>
              <a:t> focused on discussing the </a:t>
            </a:r>
            <a:r>
              <a:rPr lang="en-US" sz="4800" b="1" dirty="0">
                <a:latin typeface="Posterama" panose="020B0504020200020000" pitchFamily="34" charset="0"/>
                <a:cs typeface="Posterama" panose="020B0504020200020000" pitchFamily="34" charset="0"/>
              </a:rPr>
              <a:t>philosophical foundation</a:t>
            </a:r>
            <a:r>
              <a:rPr lang="en-US" sz="4800" dirty="0">
                <a:latin typeface="Posterama" panose="020B0504020200020000" pitchFamily="34" charset="0"/>
                <a:cs typeface="Posterama" panose="020B0504020200020000" pitchFamily="34" charset="0"/>
              </a:rPr>
              <a:t> of an independent Indonesia.</a:t>
            </a:r>
          </a:p>
          <a:p>
            <a:r>
              <a:rPr lang="en-US" sz="4800" dirty="0">
                <a:latin typeface="Posterama" panose="020B0504020200020000" pitchFamily="34" charset="0"/>
                <a:cs typeface="Posterama" panose="020B0504020200020000" pitchFamily="34" charset="0"/>
              </a:rPr>
              <a:t>During this session, the assembly provided the opportunity for three members to present their proposals:</a:t>
            </a:r>
          </a:p>
          <a:p>
            <a:pPr marL="0" indent="0">
              <a:buNone/>
            </a:pPr>
            <a:endParaRPr lang="en-US" sz="4800" dirty="0">
              <a:latin typeface="Posterama" panose="020B0504020200020000" pitchFamily="34" charset="0"/>
              <a:cs typeface="Posterama" panose="020B0504020200020000" pitchFamily="34" charset="0"/>
            </a:endParaRPr>
          </a:p>
          <a:p>
            <a:pPr marL="2133600" lvl="2" indent="-914400">
              <a:spcBef>
                <a:spcPts val="0"/>
              </a:spcBef>
              <a:buFont typeface="+mj-lt"/>
              <a:buAutoNum type="arabicPeriod"/>
            </a:pPr>
            <a:r>
              <a:rPr lang="en-US" sz="4800" b="1" dirty="0">
                <a:solidFill>
                  <a:srgbClr val="00B050"/>
                </a:solidFill>
                <a:latin typeface="Posterama" panose="020B0504020200020000" pitchFamily="34" charset="0"/>
                <a:cs typeface="Posterama" panose="020B0504020200020000" pitchFamily="34" charset="0"/>
              </a:rPr>
              <a:t>Mohammad Yamin</a:t>
            </a:r>
            <a:endParaRPr lang="en-US" sz="4800" dirty="0">
              <a:solidFill>
                <a:srgbClr val="00B050"/>
              </a:solidFill>
              <a:latin typeface="Posterama" panose="020B0504020200020000" pitchFamily="34" charset="0"/>
              <a:cs typeface="Posterama" panose="020B0504020200020000" pitchFamily="34" charset="0"/>
            </a:endParaRPr>
          </a:p>
          <a:p>
            <a:pPr marL="2133600" lvl="2" indent="-914400">
              <a:spcBef>
                <a:spcPts val="0"/>
              </a:spcBef>
              <a:buFont typeface="+mj-lt"/>
              <a:buAutoNum type="arabicPeriod"/>
            </a:pPr>
            <a:r>
              <a:rPr lang="en-US" sz="4800" b="1" dirty="0">
                <a:solidFill>
                  <a:srgbClr val="00B050"/>
                </a:solidFill>
                <a:latin typeface="Posterama" panose="020B0504020200020000" pitchFamily="34" charset="0"/>
                <a:cs typeface="Posterama" panose="020B0504020200020000" pitchFamily="34" charset="0"/>
              </a:rPr>
              <a:t>Prof. </a:t>
            </a:r>
            <a:r>
              <a:rPr lang="en-US" sz="4800" b="1" dirty="0" err="1">
                <a:solidFill>
                  <a:srgbClr val="00B050"/>
                </a:solidFill>
                <a:latin typeface="Posterama" panose="020B0504020200020000" pitchFamily="34" charset="0"/>
                <a:cs typeface="Posterama" panose="020B0504020200020000" pitchFamily="34" charset="0"/>
              </a:rPr>
              <a:t>Soepomo</a:t>
            </a:r>
            <a:endParaRPr lang="en-US" sz="4800" dirty="0">
              <a:solidFill>
                <a:srgbClr val="00B050"/>
              </a:solidFill>
              <a:latin typeface="Posterama" panose="020B0504020200020000" pitchFamily="34" charset="0"/>
              <a:cs typeface="Posterama" panose="020B0504020200020000" pitchFamily="34" charset="0"/>
            </a:endParaRPr>
          </a:p>
          <a:p>
            <a:pPr marL="2133600" lvl="2" indent="-914400">
              <a:spcBef>
                <a:spcPts val="0"/>
              </a:spcBef>
              <a:buFont typeface="+mj-lt"/>
              <a:buAutoNum type="arabicPeriod"/>
            </a:pPr>
            <a:r>
              <a:rPr lang="en-US" sz="4800" b="1" dirty="0">
                <a:solidFill>
                  <a:srgbClr val="00B050"/>
                </a:solidFill>
                <a:latin typeface="Posterama" panose="020B0504020200020000" pitchFamily="34" charset="0"/>
                <a:cs typeface="Posterama" panose="020B0504020200020000" pitchFamily="34" charset="0"/>
              </a:rPr>
              <a:t>Soekarno</a:t>
            </a:r>
            <a:endParaRPr lang="en-US" sz="4800" dirty="0">
              <a:solidFill>
                <a:srgbClr val="00B050"/>
              </a:solidFill>
              <a:latin typeface="Posterama" panose="020B0504020200020000" pitchFamily="34" charset="0"/>
              <a:cs typeface="Posterama" panose="020B0504020200020000" pitchFamily="34" charset="0"/>
            </a:endParaRPr>
          </a:p>
          <a:p>
            <a:endParaRPr lang="en-US" sz="48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179550702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65E29-57CE-5517-11B0-AACB3A9BB92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E583004-A12F-D587-8001-DD91D47C999A}"/>
              </a:ext>
            </a:extLst>
          </p:cNvPr>
          <p:cNvSpPr>
            <a:spLocks noGrp="1"/>
          </p:cNvSpPr>
          <p:nvPr>
            <p:ph type="body" sz="quarter" idx="10"/>
          </p:nvPr>
        </p:nvSpPr>
        <p:spPr>
          <a:xfrm>
            <a:off x="4488874" y="946953"/>
            <a:ext cx="15052964" cy="1193574"/>
          </a:xfrm>
        </p:spPr>
        <p:txBody>
          <a:bodyPr>
            <a:noAutofit/>
          </a:bodyPr>
          <a:lstStyle/>
          <a:p>
            <a:pPr algn="ctr"/>
            <a:r>
              <a:rPr lang="en-US" sz="4800" cap="none" dirty="0">
                <a:solidFill>
                  <a:srgbClr val="00B0F0"/>
                </a:solidFill>
              </a:rPr>
              <a:t>Core Points Of Soekarno’s Speech</a:t>
            </a:r>
            <a:endParaRPr lang="en-US" sz="4800" cap="none" dirty="0">
              <a:solidFill>
                <a:srgbClr val="00B0F0"/>
              </a:solidFill>
              <a:latin typeface="Posterama" panose="020B0504020200020000" pitchFamily="34" charset="0"/>
              <a:cs typeface="Posterama" panose="020B0504020200020000" pitchFamily="34" charset="0"/>
            </a:endParaRPr>
          </a:p>
        </p:txBody>
      </p:sp>
      <p:sp>
        <p:nvSpPr>
          <p:cNvPr id="4" name="Content Placeholder 3">
            <a:extLst>
              <a:ext uri="{FF2B5EF4-FFF2-40B4-BE49-F238E27FC236}">
                <a16:creationId xmlns:a16="http://schemas.microsoft.com/office/drawing/2014/main" id="{6A474FA1-0AB5-C237-B5BB-6B6BC40F2946}"/>
              </a:ext>
            </a:extLst>
          </p:cNvPr>
          <p:cNvSpPr>
            <a:spLocks noGrp="1"/>
          </p:cNvSpPr>
          <p:nvPr>
            <p:ph sz="quarter" idx="11"/>
          </p:nvPr>
        </p:nvSpPr>
        <p:spPr>
          <a:xfrm>
            <a:off x="2078183" y="3096492"/>
            <a:ext cx="19347872" cy="9933708"/>
          </a:xfrm>
        </p:spPr>
        <p:txBody>
          <a:bodyPr>
            <a:noAutofit/>
          </a:bodyPr>
          <a:lstStyle/>
          <a:p>
            <a:r>
              <a:rPr lang="en-US" sz="4800" dirty="0">
                <a:latin typeface="Posterama" panose="020B0504020200020000" pitchFamily="34" charset="0"/>
                <a:cs typeface="Posterama" panose="020B0504020200020000" pitchFamily="34" charset="0"/>
              </a:rPr>
              <a:t>We seek the unity of the </a:t>
            </a:r>
            <a:r>
              <a:rPr lang="en-US" sz="4800" i="1" dirty="0" err="1">
                <a:latin typeface="Posterama" panose="020B0504020200020000" pitchFamily="34" charset="0"/>
                <a:cs typeface="Posterama" panose="020B0504020200020000" pitchFamily="34" charset="0"/>
              </a:rPr>
              <a:t>Philosophische</a:t>
            </a:r>
            <a:r>
              <a:rPr lang="en-US" sz="4800" i="1" dirty="0">
                <a:latin typeface="Posterama" panose="020B0504020200020000" pitchFamily="34" charset="0"/>
                <a:cs typeface="Posterama" panose="020B0504020200020000" pitchFamily="34" charset="0"/>
              </a:rPr>
              <a:t> </a:t>
            </a:r>
            <a:r>
              <a:rPr lang="en-US" sz="4800" i="1" dirty="0" err="1">
                <a:latin typeface="Posterama" panose="020B0504020200020000" pitchFamily="34" charset="0"/>
                <a:cs typeface="Posterama" panose="020B0504020200020000" pitchFamily="34" charset="0"/>
              </a:rPr>
              <a:t>Grondslag</a:t>
            </a:r>
            <a:r>
              <a:rPr lang="en-US" sz="4800" dirty="0">
                <a:latin typeface="Posterama" panose="020B0504020200020000" pitchFamily="34" charset="0"/>
                <a:cs typeface="Posterama" panose="020B0504020200020000" pitchFamily="34" charset="0"/>
              </a:rPr>
              <a:t>; we seek a single </a:t>
            </a:r>
            <a:r>
              <a:rPr lang="en-US" sz="4800" i="1" dirty="0">
                <a:latin typeface="Posterama" panose="020B0504020200020000" pitchFamily="34" charset="0"/>
                <a:cs typeface="Posterama" panose="020B0504020200020000" pitchFamily="34" charset="0"/>
              </a:rPr>
              <a:t>Weltanschauung</a:t>
            </a:r>
            <a:r>
              <a:rPr lang="en-US" sz="4800" dirty="0">
                <a:latin typeface="Posterama" panose="020B0504020200020000" pitchFamily="34" charset="0"/>
                <a:cs typeface="Posterama" panose="020B0504020200020000" pitchFamily="34" charset="0"/>
              </a:rPr>
              <a:t> upon which we all can agree."</a:t>
            </a:r>
          </a:p>
          <a:p>
            <a:r>
              <a:rPr lang="en-US" sz="4800" dirty="0">
                <a:latin typeface="Posterama" panose="020B0504020200020000" pitchFamily="34" charset="0"/>
                <a:cs typeface="Posterama" panose="020B0504020200020000" pitchFamily="34" charset="0"/>
              </a:rPr>
              <a:t>In this historic speech, Soekarno elaborated on five fundamental principles for the future of the nation:</a:t>
            </a:r>
          </a:p>
          <a:p>
            <a:pPr marL="2743200" lvl="3" indent="-914400">
              <a:spcBef>
                <a:spcPts val="0"/>
              </a:spcBef>
              <a:buFont typeface="+mj-lt"/>
              <a:buAutoNum type="arabicPeriod"/>
            </a:pPr>
            <a:r>
              <a:rPr lang="en-US" sz="4800" dirty="0">
                <a:solidFill>
                  <a:srgbClr val="00B050"/>
                </a:solidFill>
                <a:latin typeface="Posterama" panose="020B0504020200020000" pitchFamily="34" charset="0"/>
                <a:cs typeface="Posterama" panose="020B0504020200020000" pitchFamily="34" charset="0"/>
              </a:rPr>
              <a:t>Indonesian Nationality </a:t>
            </a:r>
            <a:r>
              <a:rPr lang="en-US" sz="4800" dirty="0">
                <a:latin typeface="Posterama" panose="020B0504020200020000" pitchFamily="34" charset="0"/>
                <a:cs typeface="Posterama" panose="020B0504020200020000" pitchFamily="34" charset="0"/>
              </a:rPr>
              <a:t>(</a:t>
            </a:r>
            <a:r>
              <a:rPr lang="en-US" sz="4800" i="1" dirty="0" err="1">
                <a:latin typeface="Posterama" panose="020B0504020200020000" pitchFamily="34" charset="0"/>
                <a:cs typeface="Posterama" panose="020B0504020200020000" pitchFamily="34" charset="0"/>
              </a:rPr>
              <a:t>Kebangsaan</a:t>
            </a:r>
            <a:r>
              <a:rPr lang="en-US" sz="4800" i="1" dirty="0">
                <a:latin typeface="Posterama" panose="020B0504020200020000" pitchFamily="34" charset="0"/>
                <a:cs typeface="Posterama" panose="020B0504020200020000" pitchFamily="34" charset="0"/>
              </a:rPr>
              <a:t> Indonesia</a:t>
            </a:r>
            <a:r>
              <a:rPr lang="en-US" sz="4800" dirty="0">
                <a:latin typeface="Posterama" panose="020B0504020200020000" pitchFamily="34" charset="0"/>
                <a:cs typeface="Posterama" panose="020B0504020200020000" pitchFamily="34" charset="0"/>
              </a:rPr>
              <a:t>)</a:t>
            </a:r>
          </a:p>
          <a:p>
            <a:pPr marL="2743200" lvl="3" indent="-914400">
              <a:spcBef>
                <a:spcPts val="0"/>
              </a:spcBef>
              <a:buFont typeface="+mj-lt"/>
              <a:buAutoNum type="arabicPeriod"/>
            </a:pPr>
            <a:r>
              <a:rPr lang="en-US" sz="4800" dirty="0">
                <a:solidFill>
                  <a:srgbClr val="00B050"/>
                </a:solidFill>
                <a:latin typeface="Posterama" panose="020B0504020200020000" pitchFamily="34" charset="0"/>
                <a:cs typeface="Posterama" panose="020B0504020200020000" pitchFamily="34" charset="0"/>
              </a:rPr>
              <a:t>Internationalism or Humanism </a:t>
            </a:r>
            <a:r>
              <a:rPr lang="en-US" sz="4800" dirty="0">
                <a:latin typeface="Posterama" panose="020B0504020200020000" pitchFamily="34" charset="0"/>
                <a:cs typeface="Posterama" panose="020B0504020200020000" pitchFamily="34" charset="0"/>
              </a:rPr>
              <a:t>(</a:t>
            </a:r>
            <a:r>
              <a:rPr lang="en-US" sz="4800" i="1" dirty="0" err="1">
                <a:latin typeface="Posterama" panose="020B0504020200020000" pitchFamily="34" charset="0"/>
                <a:cs typeface="Posterama" panose="020B0504020200020000" pitchFamily="34" charset="0"/>
              </a:rPr>
              <a:t>Internasionalisme</a:t>
            </a:r>
            <a:r>
              <a:rPr lang="en-US" sz="4800" i="1" dirty="0">
                <a:latin typeface="Posterama" panose="020B0504020200020000" pitchFamily="34" charset="0"/>
                <a:cs typeface="Posterama" panose="020B0504020200020000" pitchFamily="34" charset="0"/>
              </a:rPr>
              <a:t> atau Peri-</a:t>
            </a:r>
            <a:r>
              <a:rPr lang="en-US" sz="4800" i="1" dirty="0" err="1">
                <a:latin typeface="Posterama" panose="020B0504020200020000" pitchFamily="34" charset="0"/>
                <a:cs typeface="Posterama" panose="020B0504020200020000" pitchFamily="34" charset="0"/>
              </a:rPr>
              <a:t>Kemanusiaan</a:t>
            </a:r>
            <a:r>
              <a:rPr lang="en-US" sz="4800" dirty="0">
                <a:latin typeface="Posterama" panose="020B0504020200020000" pitchFamily="34" charset="0"/>
                <a:cs typeface="Posterama" panose="020B0504020200020000" pitchFamily="34" charset="0"/>
              </a:rPr>
              <a:t>)</a:t>
            </a:r>
          </a:p>
          <a:p>
            <a:pPr marL="2743200" lvl="3" indent="-914400">
              <a:spcBef>
                <a:spcPts val="0"/>
              </a:spcBef>
              <a:buFont typeface="+mj-lt"/>
              <a:buAutoNum type="arabicPeriod"/>
            </a:pPr>
            <a:r>
              <a:rPr lang="en-US" sz="4800" dirty="0">
                <a:solidFill>
                  <a:srgbClr val="00B050"/>
                </a:solidFill>
                <a:latin typeface="Posterama" panose="020B0504020200020000" pitchFamily="34" charset="0"/>
                <a:cs typeface="Posterama" panose="020B0504020200020000" pitchFamily="34" charset="0"/>
              </a:rPr>
              <a:t>Deliberative Democracy </a:t>
            </a:r>
            <a:r>
              <a:rPr lang="en-US" sz="4800" dirty="0">
                <a:latin typeface="Posterama" panose="020B0504020200020000" pitchFamily="34" charset="0"/>
                <a:cs typeface="Posterama" panose="020B0504020200020000" pitchFamily="34" charset="0"/>
              </a:rPr>
              <a:t>(</a:t>
            </a:r>
            <a:r>
              <a:rPr lang="en-US" sz="4800" i="1" dirty="0" err="1">
                <a:latin typeface="Posterama" panose="020B0504020200020000" pitchFamily="34" charset="0"/>
                <a:cs typeface="Posterama" panose="020B0504020200020000" pitchFamily="34" charset="0"/>
              </a:rPr>
              <a:t>Mufakat</a:t>
            </a:r>
            <a:r>
              <a:rPr lang="en-US" sz="4800" i="1" dirty="0">
                <a:latin typeface="Posterama" panose="020B0504020200020000" pitchFamily="34" charset="0"/>
                <a:cs typeface="Posterama" panose="020B0504020200020000" pitchFamily="34" charset="0"/>
              </a:rPr>
              <a:t> atau </a:t>
            </a:r>
            <a:r>
              <a:rPr lang="en-US" sz="4800" i="1" dirty="0" err="1">
                <a:latin typeface="Posterama" panose="020B0504020200020000" pitchFamily="34" charset="0"/>
                <a:cs typeface="Posterama" panose="020B0504020200020000" pitchFamily="34" charset="0"/>
              </a:rPr>
              <a:t>Demokrasi</a:t>
            </a:r>
            <a:r>
              <a:rPr lang="en-US" sz="4800" dirty="0">
                <a:latin typeface="Posterama" panose="020B0504020200020000" pitchFamily="34" charset="0"/>
                <a:cs typeface="Posterama" panose="020B0504020200020000" pitchFamily="34" charset="0"/>
              </a:rPr>
              <a:t>)</a:t>
            </a:r>
          </a:p>
          <a:p>
            <a:pPr marL="2743200" lvl="3" indent="-914400">
              <a:spcBef>
                <a:spcPts val="0"/>
              </a:spcBef>
              <a:buFont typeface="+mj-lt"/>
              <a:buAutoNum type="arabicPeriod"/>
            </a:pPr>
            <a:r>
              <a:rPr lang="en-US" sz="4800" dirty="0">
                <a:solidFill>
                  <a:srgbClr val="00B050"/>
                </a:solidFill>
                <a:latin typeface="Posterama" panose="020B0504020200020000" pitchFamily="34" charset="0"/>
                <a:cs typeface="Posterama" panose="020B0504020200020000" pitchFamily="34" charset="0"/>
              </a:rPr>
              <a:t>Social Prosperity </a:t>
            </a:r>
            <a:r>
              <a:rPr lang="en-US" sz="4800" dirty="0">
                <a:latin typeface="Posterama" panose="020B0504020200020000" pitchFamily="34" charset="0"/>
                <a:cs typeface="Posterama" panose="020B0504020200020000" pitchFamily="34" charset="0"/>
              </a:rPr>
              <a:t>(</a:t>
            </a:r>
            <a:r>
              <a:rPr lang="en-US" sz="4800" i="1" dirty="0" err="1">
                <a:latin typeface="Posterama" panose="020B0504020200020000" pitchFamily="34" charset="0"/>
                <a:cs typeface="Posterama" panose="020B0504020200020000" pitchFamily="34" charset="0"/>
              </a:rPr>
              <a:t>Kesejahteraan</a:t>
            </a:r>
            <a:r>
              <a:rPr lang="en-US" sz="4800" i="1" dirty="0">
                <a:latin typeface="Posterama" panose="020B0504020200020000" pitchFamily="34" charset="0"/>
                <a:cs typeface="Posterama" panose="020B0504020200020000" pitchFamily="34" charset="0"/>
              </a:rPr>
              <a:t> Sosial</a:t>
            </a:r>
            <a:r>
              <a:rPr lang="en-US" sz="4800" dirty="0">
                <a:latin typeface="Posterama" panose="020B0504020200020000" pitchFamily="34" charset="0"/>
                <a:cs typeface="Posterama" panose="020B0504020200020000" pitchFamily="34" charset="0"/>
              </a:rPr>
              <a:t>)</a:t>
            </a:r>
          </a:p>
          <a:p>
            <a:pPr marL="2743200" lvl="3" indent="-914400">
              <a:spcBef>
                <a:spcPts val="0"/>
              </a:spcBef>
              <a:buFont typeface="+mj-lt"/>
              <a:buAutoNum type="arabicPeriod"/>
            </a:pPr>
            <a:r>
              <a:rPr lang="en-US" sz="4800" dirty="0">
                <a:solidFill>
                  <a:srgbClr val="00B050"/>
                </a:solidFill>
                <a:latin typeface="Posterama" panose="020B0504020200020000" pitchFamily="34" charset="0"/>
                <a:cs typeface="Posterama" panose="020B0504020200020000" pitchFamily="34" charset="0"/>
              </a:rPr>
              <a:t>Belief in God with Cultural Respect </a:t>
            </a:r>
            <a:r>
              <a:rPr lang="en-US" sz="4800" dirty="0">
                <a:latin typeface="Posterama" panose="020B0504020200020000" pitchFamily="34" charset="0"/>
                <a:cs typeface="Posterama" panose="020B0504020200020000" pitchFamily="34" charset="0"/>
              </a:rPr>
              <a:t>(</a:t>
            </a:r>
            <a:r>
              <a:rPr lang="en-US" sz="4800" i="1" dirty="0" err="1">
                <a:latin typeface="Posterama" panose="020B0504020200020000" pitchFamily="34" charset="0"/>
                <a:cs typeface="Posterama" panose="020B0504020200020000" pitchFamily="34" charset="0"/>
              </a:rPr>
              <a:t>Ketuhanan</a:t>
            </a:r>
            <a:r>
              <a:rPr lang="en-US" sz="4800" i="1" dirty="0">
                <a:latin typeface="Posterama" panose="020B0504020200020000" pitchFamily="34" charset="0"/>
                <a:cs typeface="Posterama" panose="020B0504020200020000" pitchFamily="34" charset="0"/>
              </a:rPr>
              <a:t> yang </a:t>
            </a:r>
            <a:r>
              <a:rPr lang="en-US" sz="4800" i="1" dirty="0" err="1">
                <a:latin typeface="Posterama" panose="020B0504020200020000" pitchFamily="34" charset="0"/>
                <a:cs typeface="Posterama" panose="020B0504020200020000" pitchFamily="34" charset="0"/>
              </a:rPr>
              <a:t>Berkebudayaan</a:t>
            </a:r>
            <a:r>
              <a:rPr lang="en-US" sz="4800" dirty="0">
                <a:latin typeface="Posterama" panose="020B0504020200020000" pitchFamily="34" charset="0"/>
                <a:cs typeface="Posterama" panose="020B0504020200020000" pitchFamily="34" charset="0"/>
              </a:rPr>
              <a:t>)</a:t>
            </a:r>
          </a:p>
          <a:p>
            <a:endParaRPr lang="en-US" sz="48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229630146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DE13E-8765-6FDE-972E-6F15BB74D3D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B483271-622E-53BF-357C-63C9B86B0178}"/>
              </a:ext>
            </a:extLst>
          </p:cNvPr>
          <p:cNvSpPr>
            <a:spLocks noGrp="1"/>
          </p:cNvSpPr>
          <p:nvPr>
            <p:ph type="body" sz="quarter" idx="10"/>
          </p:nvPr>
        </p:nvSpPr>
        <p:spPr>
          <a:xfrm>
            <a:off x="4488874" y="946953"/>
            <a:ext cx="15052964" cy="1193574"/>
          </a:xfrm>
        </p:spPr>
        <p:txBody>
          <a:bodyPr>
            <a:noAutofit/>
          </a:bodyPr>
          <a:lstStyle/>
          <a:p>
            <a:pPr algn="ctr"/>
            <a:r>
              <a:rPr lang="en-US" sz="4800" cap="none" dirty="0">
                <a:solidFill>
                  <a:srgbClr val="00B0F0"/>
                </a:solidFill>
              </a:rPr>
              <a:t>Subcommittees</a:t>
            </a:r>
            <a:endParaRPr lang="en-US" sz="4800" cap="none" dirty="0">
              <a:solidFill>
                <a:srgbClr val="00B0F0"/>
              </a:solidFill>
              <a:latin typeface="Posterama" panose="020B0504020200020000" pitchFamily="34" charset="0"/>
              <a:cs typeface="Posterama" panose="020B0504020200020000" pitchFamily="34" charset="0"/>
            </a:endParaRPr>
          </a:p>
        </p:txBody>
      </p:sp>
      <p:sp>
        <p:nvSpPr>
          <p:cNvPr id="4" name="Content Placeholder 3">
            <a:extLst>
              <a:ext uri="{FF2B5EF4-FFF2-40B4-BE49-F238E27FC236}">
                <a16:creationId xmlns:a16="http://schemas.microsoft.com/office/drawing/2014/main" id="{70D25138-D1EC-9FAC-A549-84C4C0C126BE}"/>
              </a:ext>
            </a:extLst>
          </p:cNvPr>
          <p:cNvSpPr>
            <a:spLocks noGrp="1"/>
          </p:cNvSpPr>
          <p:nvPr>
            <p:ph sz="quarter" idx="11"/>
          </p:nvPr>
        </p:nvSpPr>
        <p:spPr>
          <a:xfrm>
            <a:off x="955964" y="3096492"/>
            <a:ext cx="23005472" cy="9933708"/>
          </a:xfrm>
        </p:spPr>
        <p:txBody>
          <a:bodyPr>
            <a:noAutofit/>
          </a:bodyPr>
          <a:lstStyle/>
          <a:p>
            <a:r>
              <a:rPr lang="en-US" sz="3200" dirty="0">
                <a:latin typeface="Posterama" panose="020B0504020200020000" pitchFamily="34" charset="0"/>
                <a:cs typeface="Posterama" panose="020B0504020200020000" pitchFamily="34" charset="0"/>
              </a:rPr>
              <a:t>Following the first session of BPUPKI, a </a:t>
            </a:r>
            <a:r>
              <a:rPr lang="en-US" sz="3200" b="1" dirty="0">
                <a:latin typeface="Posterama" panose="020B0504020200020000" pitchFamily="34" charset="0"/>
                <a:cs typeface="Posterama" panose="020B0504020200020000" pitchFamily="34" charset="0"/>
              </a:rPr>
              <a:t>Subcommittee</a:t>
            </a:r>
            <a:r>
              <a:rPr lang="en-US" sz="3200" dirty="0">
                <a:latin typeface="Posterama" panose="020B0504020200020000" pitchFamily="34" charset="0"/>
                <a:cs typeface="Posterama" panose="020B0504020200020000" pitchFamily="34" charset="0"/>
              </a:rPr>
              <a:t> was established. This included the </a:t>
            </a:r>
            <a:r>
              <a:rPr lang="en-US" sz="3200" b="1" dirty="0">
                <a:latin typeface="Posterama" panose="020B0504020200020000" pitchFamily="34" charset="0"/>
                <a:cs typeface="Posterama" panose="020B0504020200020000" pitchFamily="34" charset="0"/>
              </a:rPr>
              <a:t>Committee of Eight</a:t>
            </a:r>
            <a:r>
              <a:rPr lang="en-US" sz="3200" dirty="0">
                <a:latin typeface="Posterama" panose="020B0504020200020000" pitchFamily="34" charset="0"/>
                <a:cs typeface="Posterama" panose="020B0504020200020000" pitchFamily="34" charset="0"/>
              </a:rPr>
              <a:t>, which was tasked with documenting and categorizing the key proposals submitted during the session. </a:t>
            </a:r>
          </a:p>
          <a:p>
            <a:r>
              <a:rPr lang="en-US" sz="3200" dirty="0">
                <a:latin typeface="Posterama" panose="020B0504020200020000" pitchFamily="34" charset="0"/>
                <a:cs typeface="Posterama" panose="020B0504020200020000" pitchFamily="34" charset="0"/>
              </a:rPr>
              <a:t>Subsequently, the </a:t>
            </a:r>
            <a:r>
              <a:rPr lang="en-US" sz="3200" b="1" dirty="0">
                <a:latin typeface="Posterama" panose="020B0504020200020000" pitchFamily="34" charset="0"/>
                <a:cs typeface="Posterama" panose="020B0504020200020000" pitchFamily="34" charset="0"/>
              </a:rPr>
              <a:t>Committee of Nine</a:t>
            </a:r>
            <a:r>
              <a:rPr lang="en-US" sz="3200" dirty="0">
                <a:latin typeface="Posterama" panose="020B0504020200020000" pitchFamily="34" charset="0"/>
                <a:cs typeface="Posterama" panose="020B0504020200020000" pitchFamily="34" charset="0"/>
              </a:rPr>
              <a:t> was formed to draft a formal preamble for the future constitution. This subcommittee was carefully balanced, consisting of representatives from both the </a:t>
            </a:r>
            <a:r>
              <a:rPr lang="en-US" sz="3200" b="1" dirty="0">
                <a:latin typeface="Posterama" panose="020B0504020200020000" pitchFamily="34" charset="0"/>
                <a:cs typeface="Posterama" panose="020B0504020200020000" pitchFamily="34" charset="0"/>
              </a:rPr>
              <a:t>Nationalist</a:t>
            </a:r>
            <a:r>
              <a:rPr lang="en-US" sz="3200" dirty="0">
                <a:latin typeface="Posterama" panose="020B0504020200020000" pitchFamily="34" charset="0"/>
                <a:cs typeface="Posterama" panose="020B0504020200020000" pitchFamily="34" charset="0"/>
              </a:rPr>
              <a:t> and </a:t>
            </a:r>
            <a:r>
              <a:rPr lang="en-US" sz="3200" b="1" dirty="0">
                <a:latin typeface="Posterama" panose="020B0504020200020000" pitchFamily="34" charset="0"/>
                <a:cs typeface="Posterama" panose="020B0504020200020000" pitchFamily="34" charset="0"/>
              </a:rPr>
              <a:t>Religious</a:t>
            </a:r>
            <a:r>
              <a:rPr lang="en-US" sz="3200" dirty="0">
                <a:latin typeface="Posterama" panose="020B0504020200020000" pitchFamily="34" charset="0"/>
                <a:cs typeface="Posterama" panose="020B0504020200020000" pitchFamily="34" charset="0"/>
              </a:rPr>
              <a:t> groups.</a:t>
            </a:r>
          </a:p>
          <a:p>
            <a:r>
              <a:rPr lang="en-US" sz="3200" dirty="0">
                <a:latin typeface="Posterama" panose="020B0504020200020000" pitchFamily="34" charset="0"/>
                <a:cs typeface="Posterama" panose="020B0504020200020000" pitchFamily="34" charset="0"/>
              </a:rPr>
              <a:t>Intense ideological debates emerged within this subcommittee. The </a:t>
            </a:r>
            <a:r>
              <a:rPr lang="en-US" sz="3200" b="1" dirty="0">
                <a:latin typeface="Posterama" panose="020B0504020200020000" pitchFamily="34" charset="0"/>
                <a:cs typeface="Posterama" panose="020B0504020200020000" pitchFamily="34" charset="0"/>
              </a:rPr>
              <a:t>religious group</a:t>
            </a:r>
            <a:r>
              <a:rPr lang="en-US" sz="3200" dirty="0">
                <a:latin typeface="Posterama" panose="020B0504020200020000" pitchFamily="34" charset="0"/>
                <a:cs typeface="Posterama" panose="020B0504020200020000" pitchFamily="34" charset="0"/>
              </a:rPr>
              <a:t> argued that Indonesia should be founded on Islamic principles, citing that most of the population was Muslim. Conversely, the </a:t>
            </a:r>
            <a:r>
              <a:rPr lang="en-US" sz="3200" b="1" dirty="0">
                <a:latin typeface="Posterama" panose="020B0504020200020000" pitchFamily="34" charset="0"/>
                <a:cs typeface="Posterama" panose="020B0504020200020000" pitchFamily="34" charset="0"/>
              </a:rPr>
              <a:t>nationalist group</a:t>
            </a:r>
            <a:r>
              <a:rPr lang="en-US" sz="3200" dirty="0">
                <a:latin typeface="Posterama" panose="020B0504020200020000" pitchFamily="34" charset="0"/>
                <a:cs typeface="Posterama" panose="020B0504020200020000" pitchFamily="34" charset="0"/>
              </a:rPr>
              <a:t> maintained that Islam could not serve as the sole foundation of the state, as many regions in Indonesia were not predominantly Muslim.</a:t>
            </a:r>
          </a:p>
          <a:p>
            <a:r>
              <a:rPr lang="en-US" sz="3200" dirty="0">
                <a:latin typeface="Posterama" panose="020B0504020200020000" pitchFamily="34" charset="0"/>
                <a:cs typeface="Posterama" panose="020B0504020200020000" pitchFamily="34" charset="0"/>
              </a:rPr>
              <a:t>The final product of this rigorous debate was the birth of a consensus known as the </a:t>
            </a:r>
            <a:r>
              <a:rPr lang="en-US" sz="3200" b="1" dirty="0">
                <a:latin typeface="Posterama" panose="020B0504020200020000" pitchFamily="34" charset="0"/>
                <a:cs typeface="Posterama" panose="020B0504020200020000" pitchFamily="34" charset="0"/>
              </a:rPr>
              <a:t>Jakarta Charter  (</a:t>
            </a:r>
            <a:r>
              <a:rPr lang="en-US" sz="3200" b="1" dirty="0" err="1">
                <a:latin typeface="Posterama" panose="020B0504020200020000" pitchFamily="34" charset="0"/>
                <a:cs typeface="Posterama" panose="020B0504020200020000" pitchFamily="34" charset="0"/>
              </a:rPr>
              <a:t>Piagam</a:t>
            </a:r>
            <a:r>
              <a:rPr lang="en-US" sz="3200" b="1" dirty="0">
                <a:latin typeface="Posterama" panose="020B0504020200020000" pitchFamily="34" charset="0"/>
                <a:cs typeface="Posterama" panose="020B0504020200020000" pitchFamily="34" charset="0"/>
              </a:rPr>
              <a:t> Jakarta)</a:t>
            </a:r>
            <a:r>
              <a:rPr lang="en-US" sz="3200" dirty="0">
                <a:latin typeface="Posterama" panose="020B0504020200020000" pitchFamily="34" charset="0"/>
                <a:cs typeface="Posterama" panose="020B0504020200020000" pitchFamily="34" charset="0"/>
              </a:rPr>
              <a:t>, which formulated the principles as follows:</a:t>
            </a:r>
          </a:p>
          <a:p>
            <a:pPr marL="2314575" lvl="3" indent="-45720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Belief in God, with the obligation for adherents of Islam to practice Islamic law.</a:t>
            </a:r>
            <a:endParaRPr lang="en-US" sz="3200" dirty="0">
              <a:solidFill>
                <a:srgbClr val="00B050"/>
              </a:solidFill>
              <a:latin typeface="Posterama" panose="020B0504020200020000" pitchFamily="34" charset="0"/>
              <a:cs typeface="Posterama" panose="020B0504020200020000" pitchFamily="34" charset="0"/>
            </a:endParaRPr>
          </a:p>
          <a:p>
            <a:pPr marL="2314575" lvl="3" indent="-45720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Just and civilized humanity.</a:t>
            </a:r>
            <a:endParaRPr lang="en-US" sz="3200" dirty="0">
              <a:solidFill>
                <a:srgbClr val="00B050"/>
              </a:solidFill>
              <a:latin typeface="Posterama" panose="020B0504020200020000" pitchFamily="34" charset="0"/>
              <a:cs typeface="Posterama" panose="020B0504020200020000" pitchFamily="34" charset="0"/>
            </a:endParaRPr>
          </a:p>
          <a:p>
            <a:pPr marL="2314575" lvl="3" indent="-45720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The unity of Indonesia.</a:t>
            </a:r>
            <a:endParaRPr lang="en-US" sz="3200" dirty="0">
              <a:solidFill>
                <a:srgbClr val="00B050"/>
              </a:solidFill>
              <a:latin typeface="Posterama" panose="020B0504020200020000" pitchFamily="34" charset="0"/>
              <a:cs typeface="Posterama" panose="020B0504020200020000" pitchFamily="34" charset="0"/>
            </a:endParaRPr>
          </a:p>
          <a:p>
            <a:pPr marL="2314575" lvl="3" indent="-45720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Democracy guided by the inner wisdom in the unanimity arising out of deliberations amongst representatives.</a:t>
            </a:r>
            <a:endParaRPr lang="en-US" sz="3200" dirty="0">
              <a:solidFill>
                <a:srgbClr val="00B050"/>
              </a:solidFill>
              <a:latin typeface="Posterama" panose="020B0504020200020000" pitchFamily="34" charset="0"/>
              <a:cs typeface="Posterama" panose="020B0504020200020000" pitchFamily="34" charset="0"/>
            </a:endParaRPr>
          </a:p>
          <a:p>
            <a:pPr marL="2314575" lvl="3" indent="-45720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Social justice for all the people of Indonesia</a:t>
            </a:r>
            <a:endParaRPr lang="en-US" sz="3200" dirty="0">
              <a:solidFill>
                <a:srgbClr val="00B050"/>
              </a:solidFill>
              <a:latin typeface="Posterama" panose="020B0504020200020000" pitchFamily="34" charset="0"/>
              <a:cs typeface="Posterama" panose="020B0504020200020000" pitchFamily="34" charset="0"/>
            </a:endParaRPr>
          </a:p>
          <a:p>
            <a:pPr marL="0" indent="0">
              <a:buNone/>
            </a:pPr>
            <a:endParaRPr lang="en-US" sz="32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104972441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A67-E186-60FD-460A-4D22BC7EE7A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3C3279-DA95-E04B-639F-EEA01F1B69A3}"/>
              </a:ext>
            </a:extLst>
          </p:cNvPr>
          <p:cNvSpPr>
            <a:spLocks noGrp="1"/>
          </p:cNvSpPr>
          <p:nvPr>
            <p:ph type="body" sz="quarter" idx="10"/>
          </p:nvPr>
        </p:nvSpPr>
        <p:spPr>
          <a:xfrm>
            <a:off x="4488874" y="946953"/>
            <a:ext cx="15052964" cy="1193574"/>
          </a:xfrm>
        </p:spPr>
        <p:txBody>
          <a:bodyPr>
            <a:noAutofit/>
          </a:bodyPr>
          <a:lstStyle/>
          <a:p>
            <a:pPr algn="ctr"/>
            <a:r>
              <a:rPr lang="en-US" sz="4400" cap="none" dirty="0">
                <a:solidFill>
                  <a:srgbClr val="00B050"/>
                </a:solidFill>
              </a:rPr>
              <a:t>Preparatory Committee For Indonesian Independence</a:t>
            </a:r>
            <a:endParaRPr lang="en-US" sz="4400" cap="none" dirty="0">
              <a:solidFill>
                <a:srgbClr val="00B050"/>
              </a:solidFill>
              <a:latin typeface="Posterama" panose="020B0504020200020000" pitchFamily="34" charset="0"/>
              <a:cs typeface="Posterama" panose="020B0504020200020000" pitchFamily="34" charset="0"/>
            </a:endParaRPr>
          </a:p>
        </p:txBody>
      </p:sp>
      <p:sp>
        <p:nvSpPr>
          <p:cNvPr id="4" name="Content Placeholder 3">
            <a:extLst>
              <a:ext uri="{FF2B5EF4-FFF2-40B4-BE49-F238E27FC236}">
                <a16:creationId xmlns:a16="http://schemas.microsoft.com/office/drawing/2014/main" id="{9E827402-6774-AE68-DCD8-00CD11700753}"/>
              </a:ext>
            </a:extLst>
          </p:cNvPr>
          <p:cNvSpPr>
            <a:spLocks noGrp="1"/>
          </p:cNvSpPr>
          <p:nvPr>
            <p:ph sz="quarter" idx="11"/>
          </p:nvPr>
        </p:nvSpPr>
        <p:spPr>
          <a:xfrm>
            <a:off x="955964" y="2410691"/>
            <a:ext cx="23005472" cy="11305309"/>
          </a:xfrm>
        </p:spPr>
        <p:txBody>
          <a:bodyPr>
            <a:noAutofit/>
          </a:bodyPr>
          <a:lstStyle/>
          <a:p>
            <a:r>
              <a:rPr lang="en-US" sz="3200" dirty="0">
                <a:latin typeface="Posterama" panose="020B0504020200020000" pitchFamily="34" charset="0"/>
                <a:cs typeface="Posterama" panose="020B0504020200020000" pitchFamily="34" charset="0"/>
              </a:rPr>
              <a:t>The committee was established on August 7, 1945 (formally inaugurated on August 12).</a:t>
            </a:r>
          </a:p>
          <a:p>
            <a:r>
              <a:rPr lang="en-US" sz="3200" dirty="0">
                <a:latin typeface="Posterama" panose="020B0504020200020000" pitchFamily="34" charset="0"/>
                <a:cs typeface="Posterama" panose="020B0504020200020000" pitchFamily="34" charset="0"/>
              </a:rPr>
              <a:t>The PPKI membership comprised 21 members: 12 from the </a:t>
            </a:r>
            <a:r>
              <a:rPr lang="en-US" sz="3200" b="1" dirty="0">
                <a:latin typeface="Posterama" panose="020B0504020200020000" pitchFamily="34" charset="0"/>
                <a:cs typeface="Posterama" panose="020B0504020200020000" pitchFamily="34" charset="0"/>
              </a:rPr>
              <a:t>Nationalist Group</a:t>
            </a:r>
            <a:r>
              <a:rPr lang="en-US" sz="3200" dirty="0">
                <a:latin typeface="Posterama" panose="020B0504020200020000" pitchFamily="34" charset="0"/>
                <a:cs typeface="Posterama" panose="020B0504020200020000" pitchFamily="34" charset="0"/>
              </a:rPr>
              <a:t>, 2 from the </a:t>
            </a:r>
            <a:r>
              <a:rPr lang="en-US" sz="3200" b="1" dirty="0">
                <a:latin typeface="Posterama" panose="020B0504020200020000" pitchFamily="34" charset="0"/>
                <a:cs typeface="Posterama" panose="020B0504020200020000" pitchFamily="34" charset="0"/>
              </a:rPr>
              <a:t>Religious Group</a:t>
            </a:r>
            <a:r>
              <a:rPr lang="en-US" sz="3200" dirty="0">
                <a:latin typeface="Posterama" panose="020B0504020200020000" pitchFamily="34" charset="0"/>
                <a:cs typeface="Posterama" panose="020B0504020200020000" pitchFamily="34" charset="0"/>
              </a:rPr>
              <a:t>, 2 representing the </a:t>
            </a:r>
            <a:r>
              <a:rPr lang="en-US" sz="3200" b="1" dirty="0" err="1">
                <a:latin typeface="Posterama" panose="020B0504020200020000" pitchFamily="34" charset="0"/>
                <a:cs typeface="Posterama" panose="020B0504020200020000" pitchFamily="34" charset="0"/>
              </a:rPr>
              <a:t>Pangreh</a:t>
            </a:r>
            <a:r>
              <a:rPr lang="en-US" sz="3200" b="1" dirty="0">
                <a:latin typeface="Posterama" panose="020B0504020200020000" pitchFamily="34" charset="0"/>
                <a:cs typeface="Posterama" panose="020B0504020200020000" pitchFamily="34" charset="0"/>
              </a:rPr>
              <a:t> </a:t>
            </a:r>
            <a:r>
              <a:rPr lang="en-US" sz="3200" b="1" dirty="0" err="1">
                <a:latin typeface="Posterama" panose="020B0504020200020000" pitchFamily="34" charset="0"/>
                <a:cs typeface="Posterama" panose="020B0504020200020000" pitchFamily="34" charset="0"/>
              </a:rPr>
              <a:t>Praja</a:t>
            </a:r>
            <a:r>
              <a:rPr lang="en-US" sz="3200" dirty="0">
                <a:latin typeface="Posterama" panose="020B0504020200020000" pitchFamily="34" charset="0"/>
                <a:cs typeface="Posterama" panose="020B0504020200020000" pitchFamily="34" charset="0"/>
              </a:rPr>
              <a:t> (civil service), 3 from the </a:t>
            </a:r>
            <a:r>
              <a:rPr lang="en-US" sz="3200" b="1" dirty="0">
                <a:latin typeface="Posterama" panose="020B0504020200020000" pitchFamily="34" charset="0"/>
                <a:cs typeface="Posterama" panose="020B0504020200020000" pitchFamily="34" charset="0"/>
              </a:rPr>
              <a:t>Sultanates</a:t>
            </a:r>
            <a:r>
              <a:rPr lang="en-US" sz="3200" dirty="0">
                <a:latin typeface="Posterama" panose="020B0504020200020000" pitchFamily="34" charset="0"/>
                <a:cs typeface="Posterama" panose="020B0504020200020000" pitchFamily="34" charset="0"/>
              </a:rPr>
              <a:t> (Yogyakarta, Surakarta, and Bone/Bugis), 1 from the </a:t>
            </a:r>
            <a:r>
              <a:rPr lang="en-US" sz="3200" b="1" dirty="0">
                <a:latin typeface="Posterama" panose="020B0504020200020000" pitchFamily="34" charset="0"/>
                <a:cs typeface="Posterama" panose="020B0504020200020000" pitchFamily="34" charset="0"/>
              </a:rPr>
              <a:t>PETA Army</a:t>
            </a:r>
            <a:r>
              <a:rPr lang="en-US" sz="3200" dirty="0">
                <a:latin typeface="Posterama" panose="020B0504020200020000" pitchFamily="34" charset="0"/>
                <a:cs typeface="Posterama" panose="020B0504020200020000" pitchFamily="34" charset="0"/>
              </a:rPr>
              <a:t>, and 1 of </a:t>
            </a:r>
            <a:r>
              <a:rPr lang="en-US" sz="3200" b="1" dirty="0">
                <a:latin typeface="Posterama" panose="020B0504020200020000" pitchFamily="34" charset="0"/>
                <a:cs typeface="Posterama" panose="020B0504020200020000" pitchFamily="34" charset="0"/>
              </a:rPr>
              <a:t>Chinese descent</a:t>
            </a:r>
            <a:r>
              <a:rPr lang="en-US" sz="3200" dirty="0">
                <a:latin typeface="Posterama" panose="020B0504020200020000" pitchFamily="34" charset="0"/>
                <a:cs typeface="Posterama" panose="020B0504020200020000" pitchFamily="34" charset="0"/>
              </a:rPr>
              <a:t>.</a:t>
            </a:r>
          </a:p>
          <a:p>
            <a:r>
              <a:rPr lang="en-US" sz="3200" dirty="0">
                <a:latin typeface="Posterama" panose="020B0504020200020000" pitchFamily="34" charset="0"/>
                <a:cs typeface="Posterama" panose="020B0504020200020000" pitchFamily="34" charset="0"/>
              </a:rPr>
              <a:t>The primary task of PPKI was to establish a sovereign Indonesian government and finalize the constitution. Following the </a:t>
            </a:r>
            <a:r>
              <a:rPr lang="en-US" sz="3200" b="1" dirty="0">
                <a:latin typeface="Posterama" panose="020B0504020200020000" pitchFamily="34" charset="0"/>
                <a:cs typeface="Posterama" panose="020B0504020200020000" pitchFamily="34" charset="0"/>
              </a:rPr>
              <a:t>Proclamation of Independence on August 17, 1945</a:t>
            </a:r>
            <a:r>
              <a:rPr lang="en-US" sz="3200" dirty="0">
                <a:latin typeface="Posterama" panose="020B0504020200020000" pitchFamily="34" charset="0"/>
                <a:cs typeface="Posterama" panose="020B0504020200020000" pitchFamily="34" charset="0"/>
              </a:rPr>
              <a:t>, the committee convened on August 18. During this session, </a:t>
            </a:r>
            <a:r>
              <a:rPr lang="en-US" sz="3200" b="1" dirty="0">
                <a:latin typeface="Posterama" panose="020B0504020200020000" pitchFamily="34" charset="0"/>
                <a:cs typeface="Posterama" panose="020B0504020200020000" pitchFamily="34" charset="0"/>
              </a:rPr>
              <a:t>Soekarno</a:t>
            </a:r>
            <a:r>
              <a:rPr lang="en-US" sz="3200" dirty="0">
                <a:latin typeface="Posterama" panose="020B0504020200020000" pitchFamily="34" charset="0"/>
                <a:cs typeface="Posterama" panose="020B0504020200020000" pitchFamily="34" charset="0"/>
              </a:rPr>
              <a:t> and </a:t>
            </a:r>
            <a:r>
              <a:rPr lang="en-US" sz="3200" b="1" dirty="0">
                <a:latin typeface="Posterama" panose="020B0504020200020000" pitchFamily="34" charset="0"/>
                <a:cs typeface="Posterama" panose="020B0504020200020000" pitchFamily="34" charset="0"/>
              </a:rPr>
              <a:t>Mohammad Hatta</a:t>
            </a:r>
            <a:r>
              <a:rPr lang="en-US" sz="3200" dirty="0">
                <a:latin typeface="Posterama" panose="020B0504020200020000" pitchFamily="34" charset="0"/>
                <a:cs typeface="Posterama" panose="020B0504020200020000" pitchFamily="34" charset="0"/>
              </a:rPr>
              <a:t> were elected as the President and Vice President of Indonesia, respectively. The committee also formally adopted the </a:t>
            </a:r>
            <a:r>
              <a:rPr lang="en-US" sz="3200" b="1" dirty="0">
                <a:latin typeface="Posterama" panose="020B0504020200020000" pitchFamily="34" charset="0"/>
                <a:cs typeface="Posterama" panose="020B0504020200020000" pitchFamily="34" charset="0"/>
              </a:rPr>
              <a:t>Preamble</a:t>
            </a:r>
            <a:r>
              <a:rPr lang="en-US" sz="3200" dirty="0">
                <a:latin typeface="Posterama" panose="020B0504020200020000" pitchFamily="34" charset="0"/>
                <a:cs typeface="Posterama" panose="020B0504020200020000" pitchFamily="34" charset="0"/>
              </a:rPr>
              <a:t> and the </a:t>
            </a:r>
            <a:r>
              <a:rPr lang="en-US" sz="3200" b="1" dirty="0">
                <a:latin typeface="Posterama" panose="020B0504020200020000" pitchFamily="34" charset="0"/>
                <a:cs typeface="Posterama" panose="020B0504020200020000" pitchFamily="34" charset="0"/>
              </a:rPr>
              <a:t>Body of the 1945 Constitution.</a:t>
            </a:r>
          </a:p>
          <a:p>
            <a:r>
              <a:rPr lang="en-US" sz="3200" dirty="0">
                <a:latin typeface="Posterama" panose="020B0504020200020000" pitchFamily="34" charset="0"/>
                <a:cs typeface="Posterama" panose="020B0504020200020000" pitchFamily="34" charset="0"/>
              </a:rPr>
              <a:t>Furthermore, the PPKI reached a crucial consensus regarding the formulation of Pancasila by </a:t>
            </a:r>
            <a:r>
              <a:rPr lang="en-US" sz="3200" b="1" dirty="0">
                <a:latin typeface="Posterama" panose="020B0504020200020000" pitchFamily="34" charset="0"/>
                <a:cs typeface="Posterama" panose="020B0504020200020000" pitchFamily="34" charset="0"/>
              </a:rPr>
              <a:t>removing the seven words</a:t>
            </a:r>
            <a:r>
              <a:rPr lang="en-US" sz="3200" dirty="0">
                <a:latin typeface="Posterama" panose="020B0504020200020000" pitchFamily="34" charset="0"/>
                <a:cs typeface="Posterama" panose="020B0504020200020000" pitchFamily="34" charset="0"/>
              </a:rPr>
              <a:t> previously agreed upon in the Jakarta Charter. Consequently, the definitive formulation of Pancasila was established as follows:</a:t>
            </a:r>
          </a:p>
          <a:p>
            <a:pPr marL="1717675" lvl="2" indent="0">
              <a:spcBef>
                <a:spcPts val="0"/>
              </a:spcBef>
              <a:buFont typeface="+mj-lt"/>
              <a:buAutoNum type="arabicPeriod"/>
            </a:pPr>
            <a:r>
              <a:rPr lang="en-US" sz="3200" b="1" dirty="0">
                <a:solidFill>
                  <a:srgbClr val="00B050"/>
                </a:solidFill>
                <a:latin typeface="Posterama" panose="020B0504020200020000" pitchFamily="34" charset="0"/>
                <a:cs typeface="Posterama" panose="020B0504020200020000" pitchFamily="34" charset="0"/>
              </a:rPr>
              <a:t>  </a:t>
            </a:r>
            <a:r>
              <a:rPr lang="en-US" sz="3200" dirty="0">
                <a:solidFill>
                  <a:srgbClr val="00B050"/>
                </a:solidFill>
                <a:latin typeface="Posterama" panose="020B0504020200020000" pitchFamily="34" charset="0"/>
                <a:cs typeface="Posterama" panose="020B0504020200020000" pitchFamily="34" charset="0"/>
              </a:rPr>
              <a:t>Belief in the Supreme Divinity (</a:t>
            </a:r>
            <a:r>
              <a:rPr lang="en-US" sz="3200" dirty="0" err="1">
                <a:solidFill>
                  <a:srgbClr val="00B050"/>
                </a:solidFill>
                <a:latin typeface="Posterama" panose="020B0504020200020000" pitchFamily="34" charset="0"/>
                <a:cs typeface="Posterama" panose="020B0504020200020000" pitchFamily="34" charset="0"/>
              </a:rPr>
              <a:t>Ketuhanan</a:t>
            </a:r>
            <a:r>
              <a:rPr lang="en-US" sz="3200" dirty="0">
                <a:solidFill>
                  <a:srgbClr val="00B050"/>
                </a:solidFill>
                <a:latin typeface="Posterama" panose="020B0504020200020000" pitchFamily="34" charset="0"/>
                <a:cs typeface="Posterama" panose="020B0504020200020000" pitchFamily="34" charset="0"/>
              </a:rPr>
              <a:t> yang Maha Kuasa)</a:t>
            </a:r>
          </a:p>
          <a:p>
            <a:pPr marL="1717675" lvl="2" indent="0">
              <a:spcBef>
                <a:spcPts val="0"/>
              </a:spcBef>
              <a:buFont typeface="+mj-lt"/>
              <a:buAutoNum type="arabicPeriod"/>
            </a:pPr>
            <a:r>
              <a:rPr lang="en-US" sz="3200" dirty="0">
                <a:solidFill>
                  <a:srgbClr val="00B050"/>
                </a:solidFill>
                <a:latin typeface="Posterama" panose="020B0504020200020000" pitchFamily="34" charset="0"/>
                <a:cs typeface="Posterama" panose="020B0504020200020000" pitchFamily="34" charset="0"/>
              </a:rPr>
              <a:t> Just and Civilized Humanity (</a:t>
            </a:r>
            <a:r>
              <a:rPr lang="en-US" sz="3200" dirty="0" err="1">
                <a:solidFill>
                  <a:srgbClr val="00B050"/>
                </a:solidFill>
                <a:latin typeface="Posterama" panose="020B0504020200020000" pitchFamily="34" charset="0"/>
                <a:cs typeface="Posterama" panose="020B0504020200020000" pitchFamily="34" charset="0"/>
              </a:rPr>
              <a:t>Kemanusiaan</a:t>
            </a:r>
            <a:r>
              <a:rPr lang="en-US" sz="3200" dirty="0">
                <a:solidFill>
                  <a:srgbClr val="00B050"/>
                </a:solidFill>
                <a:latin typeface="Posterama" panose="020B0504020200020000" pitchFamily="34" charset="0"/>
                <a:cs typeface="Posterama" panose="020B0504020200020000" pitchFamily="34" charset="0"/>
              </a:rPr>
              <a:t> yang Adil dan </a:t>
            </a:r>
            <a:r>
              <a:rPr lang="en-US" sz="3200" dirty="0" err="1">
                <a:solidFill>
                  <a:srgbClr val="00B050"/>
                </a:solidFill>
                <a:latin typeface="Posterama" panose="020B0504020200020000" pitchFamily="34" charset="0"/>
                <a:cs typeface="Posterama" panose="020B0504020200020000" pitchFamily="34" charset="0"/>
              </a:rPr>
              <a:t>Beradab</a:t>
            </a:r>
            <a:r>
              <a:rPr lang="en-US" sz="3200" dirty="0">
                <a:solidFill>
                  <a:srgbClr val="00B050"/>
                </a:solidFill>
                <a:latin typeface="Posterama" panose="020B0504020200020000" pitchFamily="34" charset="0"/>
                <a:cs typeface="Posterama" panose="020B0504020200020000" pitchFamily="34" charset="0"/>
              </a:rPr>
              <a:t>)</a:t>
            </a:r>
          </a:p>
          <a:p>
            <a:pPr marL="1733550" lvl="2" indent="0">
              <a:spcBef>
                <a:spcPts val="0"/>
              </a:spcBef>
              <a:buFont typeface="+mj-lt"/>
              <a:buAutoNum type="arabicPeriod"/>
            </a:pPr>
            <a:r>
              <a:rPr lang="en-US" sz="3200" dirty="0">
                <a:solidFill>
                  <a:srgbClr val="00B050"/>
                </a:solidFill>
                <a:latin typeface="Posterama" panose="020B0504020200020000" pitchFamily="34" charset="0"/>
                <a:cs typeface="Posterama" panose="020B0504020200020000" pitchFamily="34" charset="0"/>
              </a:rPr>
              <a:t> The Unity of Indonesia (Persatuan Indonesia)</a:t>
            </a:r>
          </a:p>
          <a:p>
            <a:pPr marL="2347913" lvl="2" indent="-614363">
              <a:spcBef>
                <a:spcPts val="0"/>
              </a:spcBef>
              <a:buFont typeface="+mj-lt"/>
              <a:buAutoNum type="arabicPeriod"/>
            </a:pPr>
            <a:r>
              <a:rPr lang="en-US" sz="3200" dirty="0">
                <a:solidFill>
                  <a:srgbClr val="00B050"/>
                </a:solidFill>
                <a:latin typeface="Posterama" panose="020B0504020200020000" pitchFamily="34" charset="0"/>
                <a:cs typeface="Posterama" panose="020B0504020200020000" pitchFamily="34" charset="0"/>
              </a:rPr>
              <a:t>Democracy Led by the Wisdom of Deliberations Among Representatives (</a:t>
            </a:r>
            <a:r>
              <a:rPr lang="en-US" sz="3200" dirty="0" err="1">
                <a:solidFill>
                  <a:srgbClr val="00B050"/>
                </a:solidFill>
                <a:latin typeface="Posterama" panose="020B0504020200020000" pitchFamily="34" charset="0"/>
                <a:cs typeface="Posterama" panose="020B0504020200020000" pitchFamily="34" charset="0"/>
              </a:rPr>
              <a:t>Kerakyatan</a:t>
            </a:r>
            <a:r>
              <a:rPr lang="en-US" sz="3200" dirty="0">
                <a:solidFill>
                  <a:srgbClr val="00B050"/>
                </a:solidFill>
                <a:latin typeface="Posterama" panose="020B0504020200020000" pitchFamily="34" charset="0"/>
                <a:cs typeface="Posterama" panose="020B0504020200020000" pitchFamily="34" charset="0"/>
              </a:rPr>
              <a:t> yang Dipimpin oleh Hikmat </a:t>
            </a:r>
            <a:r>
              <a:rPr lang="en-US" sz="3200" dirty="0" err="1">
                <a:solidFill>
                  <a:srgbClr val="00B050"/>
                </a:solidFill>
                <a:latin typeface="Posterama" panose="020B0504020200020000" pitchFamily="34" charset="0"/>
                <a:cs typeface="Posterama" panose="020B0504020200020000" pitchFamily="34" charset="0"/>
              </a:rPr>
              <a:t>Kebijaksanaan</a:t>
            </a:r>
            <a:r>
              <a:rPr lang="en-US" sz="3200" dirty="0">
                <a:solidFill>
                  <a:srgbClr val="00B050"/>
                </a:solidFill>
                <a:latin typeface="Posterama" panose="020B0504020200020000" pitchFamily="34" charset="0"/>
                <a:cs typeface="Posterama" panose="020B0504020200020000" pitchFamily="34" charset="0"/>
              </a:rPr>
              <a:t> dalam Permusyawaratan </a:t>
            </a:r>
            <a:r>
              <a:rPr lang="en-US" sz="3200" dirty="0" err="1">
                <a:solidFill>
                  <a:srgbClr val="00B050"/>
                </a:solidFill>
                <a:latin typeface="Posterama" panose="020B0504020200020000" pitchFamily="34" charset="0"/>
                <a:cs typeface="Posterama" panose="020B0504020200020000" pitchFamily="34" charset="0"/>
              </a:rPr>
              <a:t>Perwakilan</a:t>
            </a:r>
            <a:r>
              <a:rPr lang="en-US" sz="3200" dirty="0">
                <a:solidFill>
                  <a:srgbClr val="00B050"/>
                </a:solidFill>
                <a:latin typeface="Posterama" panose="020B0504020200020000" pitchFamily="34" charset="0"/>
                <a:cs typeface="Posterama" panose="020B0504020200020000" pitchFamily="34" charset="0"/>
              </a:rPr>
              <a:t>/</a:t>
            </a:r>
            <a:r>
              <a:rPr lang="en-US" sz="3200" dirty="0" err="1">
                <a:solidFill>
                  <a:srgbClr val="00B050"/>
                </a:solidFill>
                <a:latin typeface="Posterama" panose="020B0504020200020000" pitchFamily="34" charset="0"/>
                <a:cs typeface="Posterama" panose="020B0504020200020000" pitchFamily="34" charset="0"/>
              </a:rPr>
              <a:t>Perwakilan</a:t>
            </a:r>
            <a:endParaRPr lang="en-US" sz="3200" dirty="0">
              <a:solidFill>
                <a:srgbClr val="00B050"/>
              </a:solidFill>
              <a:latin typeface="Posterama" panose="020B0504020200020000" pitchFamily="34" charset="0"/>
              <a:cs typeface="Posterama" panose="020B0504020200020000" pitchFamily="34" charset="0"/>
            </a:endParaRPr>
          </a:p>
          <a:p>
            <a:pPr marL="2347913" lvl="2" indent="-614363">
              <a:spcBef>
                <a:spcPts val="0"/>
              </a:spcBef>
              <a:buFont typeface="+mj-lt"/>
              <a:buAutoNum type="arabicPeriod"/>
            </a:pPr>
            <a:r>
              <a:rPr lang="en-US" sz="3200" dirty="0">
                <a:solidFill>
                  <a:srgbClr val="00B050"/>
                </a:solidFill>
                <a:latin typeface="Posterama" panose="020B0504020200020000" pitchFamily="34" charset="0"/>
                <a:cs typeface="Posterama" panose="020B0504020200020000" pitchFamily="34" charset="0"/>
              </a:rPr>
              <a:t>Social Justice for All the People of Indonesia</a:t>
            </a:r>
          </a:p>
          <a:p>
            <a:r>
              <a:rPr lang="en-US" sz="3200" dirty="0">
                <a:latin typeface="Posterama" panose="020B0504020200020000" pitchFamily="34" charset="0"/>
                <a:cs typeface="Posterama" panose="020B0504020200020000" pitchFamily="34" charset="0"/>
              </a:rPr>
              <a:t>This remains the final and definitive formulation of Pancasila, which is recognized and valid to this day</a:t>
            </a:r>
          </a:p>
          <a:p>
            <a:endParaRPr lang="en-US" sz="3200" dirty="0">
              <a:latin typeface="Posterama" panose="020B0504020200020000" pitchFamily="34" charset="0"/>
              <a:cs typeface="Posterama" panose="020B0504020200020000" pitchFamily="34" charset="0"/>
            </a:endParaRPr>
          </a:p>
          <a:p>
            <a:pPr marL="0" indent="0">
              <a:buNone/>
            </a:pPr>
            <a:endParaRPr lang="en-US" sz="32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5427373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692B-98FE-FF4D-AFBA-5B3EB43251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5C3CEFF-C399-F2F7-5738-224442DA7FA3}"/>
              </a:ext>
            </a:extLst>
          </p:cNvPr>
          <p:cNvSpPr>
            <a:spLocks noGrp="1"/>
          </p:cNvSpPr>
          <p:nvPr>
            <p:ph type="body" sz="quarter" idx="10"/>
          </p:nvPr>
        </p:nvSpPr>
        <p:spPr>
          <a:xfrm>
            <a:off x="4488874" y="946953"/>
            <a:ext cx="15052964" cy="1193574"/>
          </a:xfrm>
        </p:spPr>
        <p:txBody>
          <a:bodyPr>
            <a:noAutofit/>
          </a:bodyPr>
          <a:lstStyle/>
          <a:p>
            <a:pPr algn="ctr"/>
            <a:r>
              <a:rPr lang="en-US" sz="4800" cap="none" dirty="0">
                <a:solidFill>
                  <a:srgbClr val="00B0F0"/>
                </a:solidFill>
                <a:latin typeface="Posterama" panose="020B0504020200020000" pitchFamily="34" charset="0"/>
                <a:cs typeface="Posterama" panose="020B0504020200020000" pitchFamily="34" charset="0"/>
              </a:rPr>
              <a:t>Lessons Learned from the History of Pancasila</a:t>
            </a:r>
          </a:p>
        </p:txBody>
      </p:sp>
      <p:sp>
        <p:nvSpPr>
          <p:cNvPr id="4" name="Content Placeholder 3">
            <a:extLst>
              <a:ext uri="{FF2B5EF4-FFF2-40B4-BE49-F238E27FC236}">
                <a16:creationId xmlns:a16="http://schemas.microsoft.com/office/drawing/2014/main" id="{569672A7-5D1C-E190-ADB1-35BC12223A35}"/>
              </a:ext>
            </a:extLst>
          </p:cNvPr>
          <p:cNvSpPr>
            <a:spLocks noGrp="1"/>
          </p:cNvSpPr>
          <p:nvPr>
            <p:ph sz="quarter" idx="11"/>
          </p:nvPr>
        </p:nvSpPr>
        <p:spPr>
          <a:xfrm>
            <a:off x="1371599" y="3096492"/>
            <a:ext cx="22340455" cy="9933708"/>
          </a:xfrm>
        </p:spPr>
        <p:txBody>
          <a:bodyPr>
            <a:noAutofit/>
          </a:bodyPr>
          <a:lstStyle/>
          <a:p>
            <a:pPr marL="0" indent="0" algn="just">
              <a:buNone/>
            </a:pPr>
            <a:r>
              <a:rPr lang="en-US" sz="4000" dirty="0">
                <a:latin typeface="Posterama" panose="020B0504020200020000" pitchFamily="34" charset="0"/>
                <a:cs typeface="Posterama" panose="020B0504020200020000" pitchFamily="34" charset="0"/>
              </a:rPr>
              <a:t>There are several </a:t>
            </a:r>
            <a:r>
              <a:rPr lang="en-US" sz="4000" b="1" dirty="0">
                <a:solidFill>
                  <a:srgbClr val="00B050"/>
                </a:solidFill>
                <a:latin typeface="Posterama" panose="020B0504020200020000" pitchFamily="34" charset="0"/>
                <a:cs typeface="Posterama" panose="020B0504020200020000" pitchFamily="34" charset="0"/>
              </a:rPr>
              <a:t>lessons learned from the history of Pancasila</a:t>
            </a:r>
            <a:r>
              <a:rPr lang="en-US" sz="4000" dirty="0">
                <a:solidFill>
                  <a:srgbClr val="00B050"/>
                </a:solidFill>
                <a:latin typeface="Posterama" panose="020B0504020200020000" pitchFamily="34" charset="0"/>
                <a:cs typeface="Posterama" panose="020B0504020200020000" pitchFamily="34" charset="0"/>
              </a:rPr>
              <a:t> </a:t>
            </a:r>
            <a:r>
              <a:rPr lang="en-US" sz="4000" dirty="0">
                <a:latin typeface="Posterama" panose="020B0504020200020000" pitchFamily="34" charset="0"/>
                <a:cs typeface="Posterama" panose="020B0504020200020000" pitchFamily="34" charset="0"/>
              </a:rPr>
              <a:t>that remain relevant today:</a:t>
            </a:r>
          </a:p>
          <a:p>
            <a:pPr marL="742950" indent="-742950">
              <a:buFont typeface="+mj-lt"/>
              <a:buAutoNum type="arabicPeriod"/>
            </a:pPr>
            <a:r>
              <a:rPr lang="en-US" sz="4000" dirty="0">
                <a:latin typeface="Posterama" panose="020B0504020200020000" pitchFamily="34" charset="0"/>
                <a:cs typeface="Posterama" panose="020B0504020200020000" pitchFamily="34" charset="0"/>
              </a:rPr>
              <a:t>Pancasila, as the foundational philosophy of Indonesian independence, was embraced by all elements of the nation—including religious groups, nationalists, diverse genders, bureaucrats, local aristocrats, and ethnic descendants. </a:t>
            </a:r>
          </a:p>
          <a:p>
            <a:pPr marL="742950" indent="-742950">
              <a:buFont typeface="+mj-lt"/>
              <a:buAutoNum type="arabicPeriod"/>
            </a:pPr>
            <a:r>
              <a:rPr lang="en-US" sz="4000" dirty="0">
                <a:latin typeface="Posterama" panose="020B0504020200020000" pitchFamily="34" charset="0"/>
                <a:cs typeface="Posterama" panose="020B0504020200020000" pitchFamily="34" charset="0"/>
              </a:rPr>
              <a:t>It was not built upon existing philosophical templates such as materialism, communism, capitalism, or liberalism; instead, it is the authentic product of the original thought of the founding fathers. Established through a process of deliberation and dialogue, Pancasila was forged in the spirit of rigorous debate and the freedom to express diverse perspectives.</a:t>
            </a:r>
          </a:p>
          <a:p>
            <a:pPr marL="742950" indent="-742950">
              <a:buFont typeface="+mj-lt"/>
              <a:buAutoNum type="arabicPeriod"/>
            </a:pPr>
            <a:r>
              <a:rPr lang="en-US" sz="4000" dirty="0">
                <a:latin typeface="Posterama" panose="020B0504020200020000" pitchFamily="34" charset="0"/>
                <a:cs typeface="Posterama" panose="020B0504020200020000" pitchFamily="34" charset="0"/>
              </a:rPr>
              <a:t>Consequently, the ethical imperative of Pancasila’s birth is the preservation of civil liberties—specifically the freedom to express thoughts, ideas, concepts, and opinions. This implies that any policy which diminishes or hinders these liberties fundamentally contradicts the historical values of Pancasila’s establishment as the philosophical foundation of the Indonesian nation</a:t>
            </a:r>
          </a:p>
          <a:p>
            <a:pPr marL="0" indent="0">
              <a:buNone/>
            </a:pPr>
            <a:endParaRPr lang="en-US" sz="4000" dirty="0"/>
          </a:p>
        </p:txBody>
      </p:sp>
    </p:spTree>
    <p:extLst>
      <p:ext uri="{BB962C8B-B14F-4D97-AF65-F5344CB8AC3E}">
        <p14:creationId xmlns:p14="http://schemas.microsoft.com/office/powerpoint/2010/main" val="224359634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8FC26-CB51-22A5-1A2A-0018FC2FBB6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40A4C09-065D-770B-3E0F-7D979FAC2A72}"/>
              </a:ext>
            </a:extLst>
          </p:cNvPr>
          <p:cNvSpPr>
            <a:spLocks noGrp="1"/>
          </p:cNvSpPr>
          <p:nvPr>
            <p:ph type="body" sz="quarter" idx="10"/>
          </p:nvPr>
        </p:nvSpPr>
        <p:spPr>
          <a:xfrm>
            <a:off x="4488874" y="946953"/>
            <a:ext cx="15052964" cy="1193574"/>
          </a:xfrm>
        </p:spPr>
        <p:txBody>
          <a:bodyPr>
            <a:noAutofit/>
          </a:bodyPr>
          <a:lstStyle/>
          <a:p>
            <a:pPr algn="ctr"/>
            <a:r>
              <a:rPr lang="en-US" sz="4800" cap="none" dirty="0">
                <a:solidFill>
                  <a:srgbClr val="00B0F0"/>
                </a:solidFill>
                <a:latin typeface="Posterama" panose="020B0504020200020000" pitchFamily="34" charset="0"/>
                <a:cs typeface="Posterama" panose="020B0504020200020000" pitchFamily="34" charset="0"/>
              </a:rPr>
              <a:t>SPI</a:t>
            </a:r>
            <a:r>
              <a:rPr lang="en-US" sz="4800" cap="none" dirty="0">
                <a:solidFill>
                  <a:srgbClr val="C00000"/>
                </a:solidFill>
                <a:latin typeface="Posterama" panose="020B0504020200020000" pitchFamily="34" charset="0"/>
                <a:cs typeface="Posterama" panose="020B0504020200020000" pitchFamily="34" charset="0"/>
              </a:rPr>
              <a:t>RI</a:t>
            </a:r>
            <a:r>
              <a:rPr lang="en-US" sz="4800" cap="none" dirty="0">
                <a:solidFill>
                  <a:srgbClr val="00B0F0"/>
                </a:solidFill>
                <a:latin typeface="Posterama" panose="020B0504020200020000" pitchFamily="34" charset="0"/>
                <a:cs typeface="Posterama" panose="020B0504020200020000" pitchFamily="34" charset="0"/>
              </a:rPr>
              <a:t>T: </a:t>
            </a:r>
            <a:r>
              <a:rPr lang="en-US" sz="4800" cap="none" dirty="0">
                <a:solidFill>
                  <a:srgbClr val="C00000"/>
                </a:solidFill>
                <a:latin typeface="Posterama" panose="020B0504020200020000" pitchFamily="34" charset="0"/>
                <a:cs typeface="Posterama" panose="020B0504020200020000" pitchFamily="34" charset="0"/>
              </a:rPr>
              <a:t>Respect and Integrity</a:t>
            </a:r>
          </a:p>
        </p:txBody>
      </p:sp>
      <p:sp>
        <p:nvSpPr>
          <p:cNvPr id="4" name="Content Placeholder 3">
            <a:extLst>
              <a:ext uri="{FF2B5EF4-FFF2-40B4-BE49-F238E27FC236}">
                <a16:creationId xmlns:a16="http://schemas.microsoft.com/office/drawing/2014/main" id="{31D5A0C9-B232-E608-E8EA-08C94E45C5CF}"/>
              </a:ext>
            </a:extLst>
          </p:cNvPr>
          <p:cNvSpPr>
            <a:spLocks noGrp="1"/>
          </p:cNvSpPr>
          <p:nvPr>
            <p:ph sz="quarter" idx="11"/>
          </p:nvPr>
        </p:nvSpPr>
        <p:spPr>
          <a:xfrm>
            <a:off x="1475507" y="4290066"/>
            <a:ext cx="22340455" cy="7585363"/>
          </a:xfrm>
        </p:spPr>
        <p:txBody>
          <a:bodyPr>
            <a:noAutofit/>
          </a:bodyPr>
          <a:lstStyle/>
          <a:p>
            <a:r>
              <a:rPr lang="en-US" sz="4000" dirty="0">
                <a:latin typeface="Posterama" panose="020B0504020200020000" pitchFamily="34" charset="0"/>
                <a:cs typeface="Posterama" panose="020B0504020200020000" pitchFamily="34" charset="0"/>
              </a:rPr>
              <a:t>Mutual </a:t>
            </a:r>
            <a:r>
              <a:rPr lang="en-US" sz="4000" dirty="0">
                <a:solidFill>
                  <a:srgbClr val="C00000"/>
                </a:solidFill>
                <a:latin typeface="Posterama" panose="020B0504020200020000" pitchFamily="34" charset="0"/>
                <a:cs typeface="Posterama" panose="020B0504020200020000" pitchFamily="34" charset="0"/>
              </a:rPr>
              <a:t>respect </a:t>
            </a:r>
            <a:r>
              <a:rPr lang="en-US" sz="4000" dirty="0">
                <a:latin typeface="Posterama" panose="020B0504020200020000" pitchFamily="34" charset="0"/>
                <a:cs typeface="Posterama" panose="020B0504020200020000" pitchFamily="34" charset="0"/>
              </a:rPr>
              <a:t>was the fundamental value that enabled a consensus among all groups involved in formulating Pancasila, despite their diverse and deeply held convictions. This </a:t>
            </a:r>
            <a:r>
              <a:rPr lang="en-US" sz="4000" dirty="0">
                <a:solidFill>
                  <a:srgbClr val="C00000"/>
                </a:solidFill>
                <a:latin typeface="Posterama" panose="020B0504020200020000" pitchFamily="34" charset="0"/>
                <a:cs typeface="Posterama" panose="020B0504020200020000" pitchFamily="34" charset="0"/>
              </a:rPr>
              <a:t>respect</a:t>
            </a:r>
            <a:r>
              <a:rPr lang="en-US" sz="4000" dirty="0">
                <a:latin typeface="Posterama" panose="020B0504020200020000" pitchFamily="34" charset="0"/>
                <a:cs typeface="Posterama" panose="020B0504020200020000" pitchFamily="34" charset="0"/>
              </a:rPr>
              <a:t> allowed for a shared foundation to emerge from a landscape of differing perspectives.</a:t>
            </a:r>
          </a:p>
          <a:p>
            <a:r>
              <a:rPr lang="en-US" sz="4000" dirty="0">
                <a:latin typeface="Posterama" panose="020B0504020200020000" pitchFamily="34" charset="0"/>
                <a:cs typeface="Posterama" panose="020B0504020200020000" pitchFamily="34" charset="0"/>
              </a:rPr>
              <a:t>Furthermore, the nation’s founders demonstrated remarkable </a:t>
            </a:r>
            <a:r>
              <a:rPr lang="en-US" sz="4000" dirty="0">
                <a:solidFill>
                  <a:srgbClr val="C00000"/>
                </a:solidFill>
                <a:latin typeface="Posterama" panose="020B0504020200020000" pitchFamily="34" charset="0"/>
                <a:cs typeface="Posterama" panose="020B0504020200020000" pitchFamily="34" charset="0"/>
              </a:rPr>
              <a:t>integrity</a:t>
            </a:r>
            <a:r>
              <a:rPr lang="en-US" sz="4000" dirty="0">
                <a:latin typeface="Posterama" panose="020B0504020200020000" pitchFamily="34" charset="0"/>
                <a:cs typeface="Posterama" panose="020B0504020200020000" pitchFamily="34" charset="0"/>
              </a:rPr>
              <a:t>. This </a:t>
            </a:r>
            <a:r>
              <a:rPr lang="en-US" sz="4000" dirty="0">
                <a:solidFill>
                  <a:srgbClr val="C00000"/>
                </a:solidFill>
                <a:latin typeface="Posterama" panose="020B0504020200020000" pitchFamily="34" charset="0"/>
                <a:cs typeface="Posterama" panose="020B0504020200020000" pitchFamily="34" charset="0"/>
              </a:rPr>
              <a:t>integrity </a:t>
            </a:r>
            <a:r>
              <a:rPr lang="en-US" sz="4000" dirty="0">
                <a:latin typeface="Posterama" panose="020B0504020200020000" pitchFamily="34" charset="0"/>
                <a:cs typeface="Posterama" panose="020B0504020200020000" pitchFamily="34" charset="0"/>
              </a:rPr>
              <a:t>empowered them to remain steadfast in their pursuit of the common goal—Indonesian independence—without compromising their respective social identities. By prioritizing this shared vision, they successfully reached an agreement on the formulation of Pancasila, leaving a legacy that we uphold to this day. </a:t>
            </a:r>
          </a:p>
          <a:p>
            <a:pPr marL="0" indent="0">
              <a:buNone/>
            </a:pPr>
            <a:endParaRPr lang="en-US" sz="40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3054829114"/>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38C0E-7DB9-594A-F1A4-5575C7AF8E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3E522DF-B071-CC72-04CD-3A5EC329AA5D}"/>
              </a:ext>
            </a:extLst>
          </p:cNvPr>
          <p:cNvSpPr>
            <a:spLocks noGrp="1"/>
          </p:cNvSpPr>
          <p:nvPr>
            <p:ph type="body" sz="quarter" idx="10"/>
          </p:nvPr>
        </p:nvSpPr>
        <p:spPr>
          <a:xfrm>
            <a:off x="4488874" y="946953"/>
            <a:ext cx="15052964" cy="1193574"/>
          </a:xfrm>
        </p:spPr>
        <p:txBody>
          <a:bodyPr>
            <a:noAutofit/>
          </a:bodyPr>
          <a:lstStyle/>
          <a:p>
            <a:pPr algn="ctr"/>
            <a:r>
              <a:rPr lang="en-US" sz="4800" cap="none" dirty="0">
                <a:solidFill>
                  <a:srgbClr val="00B0F0"/>
                </a:solidFill>
                <a:latin typeface="Posterama" panose="020B0504020200020000" pitchFamily="34" charset="0"/>
                <a:cs typeface="Posterama" panose="020B0504020200020000" pitchFamily="34" charset="0"/>
              </a:rPr>
              <a:t>Conclusion</a:t>
            </a:r>
            <a:endParaRPr lang="en-US" sz="4800" cap="none" dirty="0">
              <a:solidFill>
                <a:srgbClr val="C00000"/>
              </a:solidFill>
              <a:latin typeface="Posterama" panose="020B0504020200020000" pitchFamily="34" charset="0"/>
              <a:cs typeface="Posterama" panose="020B0504020200020000" pitchFamily="34" charset="0"/>
            </a:endParaRPr>
          </a:p>
        </p:txBody>
      </p:sp>
      <p:sp>
        <p:nvSpPr>
          <p:cNvPr id="4" name="Content Placeholder 3">
            <a:extLst>
              <a:ext uri="{FF2B5EF4-FFF2-40B4-BE49-F238E27FC236}">
                <a16:creationId xmlns:a16="http://schemas.microsoft.com/office/drawing/2014/main" id="{30E84251-F577-9489-08D4-F5B14A12C54C}"/>
              </a:ext>
            </a:extLst>
          </p:cNvPr>
          <p:cNvSpPr>
            <a:spLocks noGrp="1"/>
          </p:cNvSpPr>
          <p:nvPr>
            <p:ph sz="quarter" idx="11"/>
          </p:nvPr>
        </p:nvSpPr>
        <p:spPr>
          <a:xfrm>
            <a:off x="1558632" y="3812084"/>
            <a:ext cx="22340455" cy="9405152"/>
          </a:xfrm>
        </p:spPr>
        <p:txBody>
          <a:bodyPr>
            <a:noAutofit/>
          </a:bodyPr>
          <a:lstStyle/>
          <a:p>
            <a:r>
              <a:rPr lang="en-US" sz="4000" dirty="0">
                <a:latin typeface="Posterama" panose="020B0504020200020000" pitchFamily="34" charset="0"/>
                <a:cs typeface="Posterama" panose="020B0504020200020000" pitchFamily="34" charset="0"/>
              </a:rPr>
              <a:t>The formulation of Pancasila was a profoundly deliberative process. Participants in the sessions of the BPUPKI (Investigating Committee for Preparatory Work for Independence), the Subcommittees, and the PPKI (Preparatory Committee for Indonesian Independence) prioritized discussion, debate, and dialogue to eventually reach a consensus on the formulation of Pancasila.</a:t>
            </a:r>
          </a:p>
          <a:p>
            <a:r>
              <a:rPr lang="en-US" sz="4000" dirty="0">
                <a:latin typeface="Posterama" panose="020B0504020200020000" pitchFamily="34" charset="0"/>
                <a:cs typeface="Posterama" panose="020B0504020200020000" pitchFamily="34" charset="0"/>
              </a:rPr>
              <a:t>This demonstrates that Pancasila is the authentic product of freedom of thought, expression, and opinion. Guided by mutual respect and unwavering integrity, and focused on their shared vision, the members were able to agree upon the final formulation of Pancasila as the fundamental philosophy of the Indonesian nation and state.</a:t>
            </a:r>
          </a:p>
          <a:p>
            <a:r>
              <a:rPr lang="en-US" sz="4000" dirty="0">
                <a:latin typeface="Posterama" panose="020B0504020200020000" pitchFamily="34" charset="0"/>
                <a:cs typeface="Posterama" panose="020B0504020200020000" pitchFamily="34" charset="0"/>
              </a:rPr>
              <a:t>As citizens living in an era of openness—driven by the rapid advancements in communication technology—let us uphold the tradition of thinking and expressing our opinions with respect and integrity to achieve our common goals as a nation</a:t>
            </a:r>
          </a:p>
          <a:p>
            <a:pPr marL="0" indent="0">
              <a:buNone/>
            </a:pPr>
            <a:endParaRPr lang="en-US" sz="4000" dirty="0">
              <a:latin typeface="Posterama" panose="020B0504020200020000" pitchFamily="34" charset="0"/>
              <a:cs typeface="Posterama" panose="020B0504020200020000" pitchFamily="34" charset="0"/>
            </a:endParaRPr>
          </a:p>
        </p:txBody>
      </p:sp>
    </p:spTree>
    <p:extLst>
      <p:ext uri="{BB962C8B-B14F-4D97-AF65-F5344CB8AC3E}">
        <p14:creationId xmlns:p14="http://schemas.microsoft.com/office/powerpoint/2010/main" val="3380151387"/>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05. NEW TEMPLATE - ONLINE RESOURCES (OR-BHE)  -  Read-Only" id="{DDD63924-B9CE-4CFC-A715-FFEA425F6EA6}" vid="{795ECDEA-52C1-4408-B553-E3C34C5B2A97}"/>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NEW TEMPLATE - ONLINE RESOURCES (OR-BHE)</Template>
  <TotalTime>1189</TotalTime>
  <Words>1369</Words>
  <Application>Microsoft Office PowerPoint</Application>
  <PresentationFormat>Custom</PresentationFormat>
  <Paragraphs>86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OCRB</vt:lpstr>
      <vt:lpstr>Posterama</vt:lpstr>
      <vt:lpstr>Arial</vt:lpstr>
      <vt:lpstr>Open Sans Light</vt:lpstr>
      <vt:lpstr>Open Sans Semibold</vt:lpstr>
      <vt:lpstr>Open Sans ExtraBold</vt:lpstr>
      <vt:lpstr>21_BasicWhite</vt:lpstr>
      <vt:lpstr>The history of PANCASILA </vt:lpstr>
      <vt:lpstr>Learning Outcome</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Yustinus Suhardi Ruman</dc:creator>
  <cp:lastModifiedBy>Yustinus Suhardi Ruman</cp:lastModifiedBy>
  <cp:revision>20</cp:revision>
  <dcterms:created xsi:type="dcterms:W3CDTF">2026-04-09T08:21:10Z</dcterms:created>
  <dcterms:modified xsi:type="dcterms:W3CDTF">2026-07-18T04:49:51Z</dcterms:modified>
</cp:coreProperties>
</file>