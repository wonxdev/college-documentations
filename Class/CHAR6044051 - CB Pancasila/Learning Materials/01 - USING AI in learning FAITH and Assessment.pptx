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sldIdLst>
    <p:sldId id="256" r:id="rId2"/>
    <p:sldId id="259" r:id="rId3"/>
    <p:sldId id="268" r:id="rId4"/>
    <p:sldId id="258" r:id="rId5"/>
    <p:sldId id="269" r:id="rId6"/>
  </p:sldIdLst>
  <p:sldSz cx="24384000" cy="13716000"/>
  <p:notesSz cx="6858000" cy="9144000"/>
  <p:embeddedFontLst>
    <p:embeddedFont>
      <p:font typeface="Aptos Narrow" panose="020B0004020202020204" pitchFamily="34" charset="0"/>
      <p:regular r:id="rId8"/>
      <p:bold r:id="rId9"/>
      <p:italic r:id="rId10"/>
      <p:boldItalic r:id="rId11"/>
    </p:embeddedFont>
    <p:embeddedFont>
      <p:font typeface="OCRB" panose="020B0609020202020204" pitchFamily="49" charset="0"/>
      <p:regular r:id="rId12"/>
    </p:embeddedFont>
    <p:embeddedFont>
      <p:font typeface="Open Sans" panose="020B0606030504020204" pitchFamily="34" charset="0"/>
      <p:regular r:id="rId13"/>
      <p:bold r:id="rId14"/>
      <p:italic r:id="rId15"/>
      <p:boldItalic r:id="rId16"/>
    </p:embeddedFont>
    <p:embeddedFont>
      <p:font typeface="Open Sans ExtraBold" panose="020B0906030804020204" pitchFamily="34" charset="0"/>
      <p:bold r:id="rId17"/>
      <p:italic r:id="rId18"/>
      <p:boldItalic r:id="rId19"/>
    </p:embeddedFont>
    <p:embeddedFont>
      <p:font typeface="Open Sans Light" panose="020B0306030504020204" pitchFamily="34" charset="0"/>
      <p:regular r:id="rId20"/>
      <p:italic r:id="rId21"/>
    </p:embeddedFont>
    <p:embeddedFont>
      <p:font typeface="Open Sans Semibold" panose="020B0706030804020204" pitchFamily="34" charset="0"/>
      <p:regular r:id="rId22"/>
      <p:bold r:id="rId23"/>
      <p:italic r:id="rId24"/>
      <p:boldItalic r:id="rId25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25D9418-E36F-453C-92DC-ED4A22439D6B}" v="3" dt="2026-09-03T06:08:51.544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82968" autoAdjust="0"/>
  </p:normalViewPr>
  <p:slideViewPr>
    <p:cSldViewPr snapToGrid="0" snapToObjects="1">
      <p:cViewPr varScale="1">
        <p:scale>
          <a:sx n="44" d="100"/>
          <a:sy n="44" d="100"/>
        </p:scale>
        <p:origin x="1278" y="84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4.fntdata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openxmlformats.org/officeDocument/2006/relationships/font" Target="fonts/font18.fntdata"/><Relationship Id="rId2" Type="http://schemas.openxmlformats.org/officeDocument/2006/relationships/slide" Target="slides/slide1.xml"/><Relationship Id="rId16" Type="http://schemas.openxmlformats.org/officeDocument/2006/relationships/font" Target="fonts/font9.fntdata"/><Relationship Id="rId20" Type="http://schemas.openxmlformats.org/officeDocument/2006/relationships/font" Target="fonts/font1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24" Type="http://schemas.openxmlformats.org/officeDocument/2006/relationships/font" Target="fonts/font17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23" Type="http://schemas.openxmlformats.org/officeDocument/2006/relationships/font" Target="fonts/font16.fntdata"/><Relationship Id="rId28" Type="http://schemas.openxmlformats.org/officeDocument/2006/relationships/theme" Target="theme/theme1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font" Target="fonts/font15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tum Syarifah Adiningrum" userId="832ca216-80eb-489f-b9e4-97b80c130891" providerId="ADAL" clId="{EE0600A7-4315-4E18-98DA-6702D4147A3C}"/>
    <pc:docChg chg="addSld modSld sldOrd">
      <pc:chgData name="Tatum Syarifah Adiningrum" userId="832ca216-80eb-489f-b9e4-97b80c130891" providerId="ADAL" clId="{EE0600A7-4315-4E18-98DA-6702D4147A3C}" dt="2026-09-03T06:08:51.544" v="5"/>
      <pc:docMkLst>
        <pc:docMk/>
      </pc:docMkLst>
      <pc:sldChg chg="addSp modSp ord">
        <pc:chgData name="Tatum Syarifah Adiningrum" userId="832ca216-80eb-489f-b9e4-97b80c130891" providerId="ADAL" clId="{EE0600A7-4315-4E18-98DA-6702D4147A3C}" dt="2026-09-03T06:08:51.544" v="5"/>
        <pc:sldMkLst>
          <pc:docMk/>
          <pc:sldMk cId="3878598847" sldId="258"/>
        </pc:sldMkLst>
        <pc:graphicFrameChg chg="add mod">
          <ac:chgData name="Tatum Syarifah Adiningrum" userId="832ca216-80eb-489f-b9e4-97b80c130891" providerId="ADAL" clId="{EE0600A7-4315-4E18-98DA-6702D4147A3C}" dt="2026-09-03T06:08:51.544" v="5"/>
          <ac:graphicFrameMkLst>
            <pc:docMk/>
            <pc:sldMk cId="3878598847" sldId="258"/>
            <ac:graphicFrameMk id="5" creationId="{072FB0D1-DDE7-9162-FA4D-E5C3DF1CD16C}"/>
          </ac:graphicFrameMkLst>
        </pc:graphicFrameChg>
      </pc:sldChg>
      <pc:sldChg chg="addSp delSp add setBg modNotes">
        <pc:chgData name="Tatum Syarifah Adiningrum" userId="832ca216-80eb-489f-b9e4-97b80c130891" providerId="ADAL" clId="{EE0600A7-4315-4E18-98DA-6702D4147A3C}" dt="2026-09-03T05:56:20.986" v="1"/>
        <pc:sldMkLst>
          <pc:docMk/>
          <pc:sldMk cId="4243235337" sldId="259"/>
        </pc:sldMkLst>
        <pc:spChg chg="del">
          <ac:chgData name="Tatum Syarifah Adiningrum" userId="832ca216-80eb-489f-b9e4-97b80c130891" providerId="ADAL" clId="{EE0600A7-4315-4E18-98DA-6702D4147A3C}" dt="2026-09-03T05:54:38.396" v="0"/>
          <ac:spMkLst>
            <pc:docMk/>
            <pc:sldMk cId="4243235337" sldId="259"/>
            <ac:spMk id="9" creationId="{53F29798-D584-4792-9B62-3F5F5C36D619}"/>
          </ac:spMkLst>
        </pc:spChg>
        <pc:picChg chg="add">
          <ac:chgData name="Tatum Syarifah Adiningrum" userId="832ca216-80eb-489f-b9e4-97b80c130891" providerId="ADAL" clId="{EE0600A7-4315-4E18-98DA-6702D4147A3C}" dt="2026-09-03T05:56:20.986" v="1"/>
          <ac:picMkLst>
            <pc:docMk/>
            <pc:sldMk cId="4243235337" sldId="259"/>
            <ac:picMk id="5" creationId="{DF4CE595-6F5C-8B8A-D15C-1FC38AB4BE73}"/>
          </ac:picMkLst>
        </pc:picChg>
      </pc:sldChg>
      <pc:sldChg chg="add">
        <pc:chgData name="Tatum Syarifah Adiningrum" userId="832ca216-80eb-489f-b9e4-97b80c130891" providerId="ADAL" clId="{EE0600A7-4315-4E18-98DA-6702D4147A3C}" dt="2026-09-03T06:02:15.088" v="3"/>
        <pc:sldMkLst>
          <pc:docMk/>
          <pc:sldMk cId="3360983047" sldId="2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process of AI use and decision-making must be clear and traceable.</a:t>
            </a:r>
            <a:endParaRPr lang="en-ID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8538454-AB41-4275-82A7-1462E96638C6}" type="slidenum">
              <a:rPr lang="en-ID" smtClean="0"/>
              <a:t>2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606023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1755-3AF3-444C-8BB4-87C668C8B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3032F6-B3C7-DFE4-9405-A7B0323B52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D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1E1234-BB77-B556-3A50-A0E3D54BF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22B36-39DF-4BCE-8D21-3125B4C210ED}" type="datetimeFigureOut">
              <a:rPr lang="en-ID" smtClean="0"/>
              <a:t>03/09/2026</a:t>
            </a:fld>
            <a:endParaRPr lang="en-ID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661BA-3995-4279-AD77-B79825E2B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0AC88A-26ED-BFCD-DA69-AD593DF694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00605" y="13076008"/>
            <a:ext cx="370294" cy="379591"/>
          </a:xfrm>
        </p:spPr>
        <p:txBody>
          <a:bodyPr/>
          <a:lstStyle/>
          <a:p>
            <a:fld id="{D624F8F4-B4A9-467B-B1BD-C01F1FC2E5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8362004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48BD0-DD29-4C70-9502-5B49B81EB8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3DDCC5D-6824-8FE2-5789-5C9639486A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22B36-39DF-4BCE-8D21-3125B4C210ED}" type="datetimeFigureOut">
              <a:rPr lang="en-ID" smtClean="0"/>
              <a:t>03/09/2026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AD5C3B-0C73-5014-DEB0-8798346ECB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4CD5D2-730A-DBB3-209C-14548CD5B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2000605" y="13076008"/>
            <a:ext cx="370294" cy="379591"/>
          </a:xfrm>
        </p:spPr>
        <p:txBody>
          <a:bodyPr/>
          <a:lstStyle/>
          <a:p>
            <a:fld id="{D624F8F4-B4A9-467B-B1BD-C01F1FC2E5CD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020139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  <p:sldLayoutId id="2147483689" r:id="rId24"/>
    <p:sldLayoutId id="2147483690" r:id="rId25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upport.binus.ac.id/315-97445" TargetMode="External"/><Relationship Id="rId2" Type="http://schemas.openxmlformats.org/officeDocument/2006/relationships/hyperlink" Target="https://support.binus.ac.id/646-167410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upport.binus.ac.id/950-147474" TargetMode="External"/><Relationship Id="rId4" Type="http://schemas.openxmlformats.org/officeDocument/2006/relationships/hyperlink" Target="https://support.binus.ac.id/521-86224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USING AI in learning: FAITH and Assessment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 1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Dr. Tatum Syarifah Adiningrum</a:t>
            </a: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C5370-30D2-EC31-4C99-E6CD1A6D9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9611"/>
            <a:ext cx="21031200" cy="3011766"/>
          </a:xfrm>
        </p:spPr>
        <p:txBody>
          <a:bodyPr vert="horz" lIns="182880" tIns="91440" rIns="182880" bIns="91440" rtlCol="0" anchor="ctr">
            <a:normAutofit/>
          </a:bodyPr>
          <a:lstStyle/>
          <a:p>
            <a:r>
              <a:rPr lang="en-US" sz="10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FAITH Principle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BB2BC4-4D26-2A02-6BE0-5655C92265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1161021"/>
              </p:ext>
            </p:extLst>
          </p:nvPr>
        </p:nvGraphicFramePr>
        <p:xfrm>
          <a:off x="1959685" y="3381377"/>
          <a:ext cx="14700237" cy="9680821"/>
        </p:xfrm>
        <a:graphic>
          <a:graphicData uri="http://schemas.openxmlformats.org/drawingml/2006/table">
            <a:tbl>
              <a:tblPr firstRow="1" firstCol="1" bandRow="1">
                <a:noFill/>
                <a:tableStyleId>{5C22544A-7EE6-4342-B048-85BDC9FD1C3A}</a:tableStyleId>
              </a:tblPr>
              <a:tblGrid>
                <a:gridCol w="826365">
                  <a:extLst>
                    <a:ext uri="{9D8B030D-6E8A-4147-A177-3AD203B41FA5}">
                      <a16:colId xmlns:a16="http://schemas.microsoft.com/office/drawing/2014/main" val="2092867578"/>
                    </a:ext>
                  </a:extLst>
                </a:gridCol>
                <a:gridCol w="5195203">
                  <a:extLst>
                    <a:ext uri="{9D8B030D-6E8A-4147-A177-3AD203B41FA5}">
                      <a16:colId xmlns:a16="http://schemas.microsoft.com/office/drawing/2014/main" val="327690896"/>
                    </a:ext>
                  </a:extLst>
                </a:gridCol>
                <a:gridCol w="8678669">
                  <a:extLst>
                    <a:ext uri="{9D8B030D-6E8A-4147-A177-3AD203B41FA5}">
                      <a16:colId xmlns:a16="http://schemas.microsoft.com/office/drawing/2014/main" val="1551604348"/>
                    </a:ext>
                  </a:extLst>
                </a:gridCol>
              </a:tblGrid>
              <a:tr h="81829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endParaRPr lang="en-ID" sz="3600" b="0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b="0" kern="100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Principles</a:t>
                      </a:r>
                      <a:endParaRPr lang="en-ID" sz="3600" b="0" kern="100" cap="none" spc="0" dirty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b="0" kern="100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Meaning</a:t>
                      </a:r>
                      <a:endParaRPr lang="en-ID" sz="3600" b="0" kern="100" cap="none" spc="0" dirty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</a:lnL>
                    <a:lnR w="12700" cmpd="sng"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3833424"/>
                  </a:ext>
                </a:extLst>
              </a:tr>
              <a:tr h="13254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b="1" kern="100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</a:t>
                      </a:r>
                      <a:endParaRPr lang="en-ID" sz="3600" b="1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kern="100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Fairness</a:t>
                      </a:r>
                      <a:endParaRPr lang="en-ID" sz="3600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dirty="0"/>
                        <a:t>AI must be designed and used fairly for all parties, without systemic bias.</a:t>
                      </a:r>
                      <a:endParaRPr lang="en-ID" sz="3600" kern="100" cap="none" spc="0" dirty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49783671"/>
                  </a:ext>
                </a:extLst>
              </a:tr>
              <a:tr h="131795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b="1" kern="100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</a:t>
                      </a:r>
                      <a:endParaRPr lang="en-ID" sz="3600" b="1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kern="100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Accountability and Accuracy</a:t>
                      </a:r>
                      <a:endParaRPr lang="en-ID" sz="3600" kern="100" cap="none" spc="0" dirty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dirty="0"/>
                        <a:t>AI users and creators are responsible for AI results and must ensure data accuracy.</a:t>
                      </a:r>
                      <a:endParaRPr lang="en-ID" sz="3600" kern="100" cap="none" spc="0" dirty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4218189"/>
                  </a:ext>
                </a:extLst>
              </a:tr>
              <a:tr h="132541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b="1" kern="100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</a:t>
                      </a:r>
                      <a:endParaRPr lang="en-ID" sz="3600" b="1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kern="100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Integrity and Inclusiveness</a:t>
                      </a:r>
                      <a:endParaRPr lang="en-ID" sz="3600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dirty="0"/>
                        <a:t>AI must support academic honesty and be accessible to all groups.</a:t>
                      </a:r>
                      <a:endParaRPr lang="en-ID" sz="3600" kern="100" cap="none" spc="0" dirty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5637919"/>
                  </a:ext>
                </a:extLst>
              </a:tr>
              <a:tr h="121025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b="1" kern="100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</a:t>
                      </a:r>
                      <a:endParaRPr lang="en-ID" sz="3600" b="1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kern="100" cap="none" spc="0" dirty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Transparency</a:t>
                      </a:r>
                      <a:endParaRPr lang="en-ID" sz="3600" kern="100" cap="none" spc="0" dirty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3600" dirty="0"/>
                        <a:t>The process of AI use and decision-making must be clear and traceable.</a:t>
                      </a:r>
                      <a:endParaRPr lang="en-ID" sz="3600" dirty="0"/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8934876"/>
                  </a:ext>
                </a:extLst>
              </a:tr>
              <a:tr h="18617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b="1" kern="100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</a:t>
                      </a:r>
                      <a:endParaRPr lang="en-ID" sz="3600" b="1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28575" cap="flat" cmpd="sng" algn="ctr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600" kern="100" cap="none" spc="0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Human-Centered</a:t>
                      </a:r>
                      <a:endParaRPr lang="en-ID" sz="3600" kern="100" cap="none" spc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600" dirty="0"/>
                        <a:t>AI must strengthen the role of humans, not replace them, and uphold human values.</a:t>
                      </a:r>
                      <a:endParaRPr lang="en-ID" sz="3600" kern="100" cap="none" spc="0" dirty="0">
                        <a:solidFill>
                          <a:schemeClr val="tx1"/>
                        </a:solidFill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164464" marR="164464" marT="153500" marB="153500">
                    <a:lnL w="12700" cmpd="sng">
                      <a:noFill/>
                      <a:prstDash val="solid"/>
                    </a:lnL>
                    <a:lnR w="28575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28575" cap="flat" cmpd="sng" algn="ctr">
                      <a:noFill/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9085012"/>
                  </a:ext>
                </a:extLst>
              </a:tr>
            </a:tbl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DF4CE595-6F5C-8B8A-D15C-1FC38AB4BE7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97814" y="160780"/>
            <a:ext cx="6056901" cy="281659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902954-8B69-F38C-1DE8-E87A888887EA}"/>
              </a:ext>
            </a:extLst>
          </p:cNvPr>
          <p:cNvSpPr/>
          <p:nvPr/>
        </p:nvSpPr>
        <p:spPr>
          <a:xfrm>
            <a:off x="17998068" y="4781612"/>
            <a:ext cx="5464098" cy="6873677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FAITH is BINUS’ Principles in using AI for teaching, learning and assessment. </a:t>
            </a: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lang="en-US" sz="4000" dirty="0">
              <a:solidFill>
                <a:srgbClr val="FFFFFF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FAITH is our commitment that AI is used correctly, ethically, and in a human-centric way in our institution. </a:t>
            </a:r>
            <a:endParaRPr kumimoji="0" lang="en-ID" sz="40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4243235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3C603-1999-A51C-2877-5F15ABB0F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4448" y="531388"/>
            <a:ext cx="21031200" cy="1498134"/>
          </a:xfrm>
        </p:spPr>
        <p:txBody>
          <a:bodyPr/>
          <a:lstStyle/>
          <a:p>
            <a:r>
              <a:rPr lang="en-US" dirty="0"/>
              <a:t>Types of Assessment Based on AI Use</a:t>
            </a:r>
            <a:endParaRPr lang="en-ID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F87AF7F-4BBC-A768-346A-CB66A18E7A3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544584"/>
              </p:ext>
            </p:extLst>
          </p:nvPr>
        </p:nvGraphicFramePr>
        <p:xfrm>
          <a:off x="1057275" y="2009934"/>
          <a:ext cx="22621874" cy="11565636"/>
        </p:xfrm>
        <a:graphic>
          <a:graphicData uri="http://schemas.openxmlformats.org/drawingml/2006/table">
            <a:tbl>
              <a:tblPr firstRow="1" firstCol="1" bandRow="1"/>
              <a:tblGrid>
                <a:gridCol w="3068676">
                  <a:extLst>
                    <a:ext uri="{9D8B030D-6E8A-4147-A177-3AD203B41FA5}">
                      <a16:colId xmlns:a16="http://schemas.microsoft.com/office/drawing/2014/main" val="422100928"/>
                    </a:ext>
                  </a:extLst>
                </a:gridCol>
                <a:gridCol w="14676628">
                  <a:extLst>
                    <a:ext uri="{9D8B030D-6E8A-4147-A177-3AD203B41FA5}">
                      <a16:colId xmlns:a16="http://schemas.microsoft.com/office/drawing/2014/main" val="729877076"/>
                    </a:ext>
                  </a:extLst>
                </a:gridCol>
                <a:gridCol w="4876570">
                  <a:extLst>
                    <a:ext uri="{9D8B030D-6E8A-4147-A177-3AD203B41FA5}">
                      <a16:colId xmlns:a16="http://schemas.microsoft.com/office/drawing/2014/main" val="2110552247"/>
                    </a:ext>
                  </a:extLst>
                </a:gridCol>
              </a:tblGrid>
              <a:tr h="46021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b="1" kern="100" dirty="0"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T</a:t>
                      </a:r>
                      <a:r>
                        <a:rPr lang="en-ID" sz="3200" b="1" kern="100" dirty="0" err="1"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ypes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200" b="1" kern="100" dirty="0"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Descriptions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  <a:tabLst>
                          <a:tab pos="704850" algn="l"/>
                        </a:tabLst>
                      </a:pPr>
                      <a:r>
                        <a:rPr lang="en-US" sz="3200" b="1" kern="100" dirty="0"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Sample Use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8042202"/>
                  </a:ext>
                </a:extLst>
              </a:tr>
              <a:tr h="2424744">
                <a:tc>
                  <a:txBody>
                    <a:bodyPr/>
                    <a:lstStyle/>
                    <a:p>
                      <a:pPr marL="0" marR="457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2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1 – Integrated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A72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858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b="1" dirty="0">
                          <a:latin typeface="+mj-lt"/>
                        </a:rPr>
                        <a:t>AI use is part of the grading rubric and must be used according to the lecturer’s instructions.</a:t>
                      </a:r>
                      <a:r>
                        <a:rPr lang="en-US" sz="3200" dirty="0">
                          <a:latin typeface="+mj-lt"/>
                        </a:rPr>
                        <a:t> The type of AI, usage stages, and assessed aspects must be explicitly stated in the task description. Students may not use AI applications other than those required and must submit a declaration form.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10541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latin typeface="+mj-lt"/>
                        </a:rPr>
                        <a:t>AI-based final project, e.g., creating prompts, AI ethics evaluation, recommendation systems.</a:t>
                      </a:r>
                      <a:r>
                        <a:rPr lang="en-ID" sz="3200" kern="100" dirty="0"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 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932720"/>
                  </a:ext>
                </a:extLst>
              </a:tr>
              <a:tr h="2424744">
                <a:tc>
                  <a:txBody>
                    <a:bodyPr/>
                    <a:lstStyle/>
                    <a:p>
                      <a:pPr marL="0" marR="457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2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2 – Partial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858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latin typeface="+mj-lt"/>
                        </a:rPr>
                        <a:t>Students </a:t>
                      </a:r>
                      <a:r>
                        <a:rPr lang="en-US" sz="3200" b="1" dirty="0">
                          <a:latin typeface="+mj-lt"/>
                        </a:rPr>
                        <a:t>may use AI for up to 50% of the work process</a:t>
                      </a:r>
                      <a:r>
                        <a:rPr lang="en-US" sz="3200" dirty="0">
                          <a:latin typeface="+mj-lt"/>
                        </a:rPr>
                        <a:t>, including structure, idea development, or visualization. Usage must follow the course guidelines. Students must submit an AI use declaration form.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10541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latin typeface="+mj-lt"/>
                        </a:rPr>
                        <a:t>Video production, reflective vlog, exploratory essay, design work, final project.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58233199"/>
                  </a:ext>
                </a:extLst>
              </a:tr>
              <a:tr h="1442479">
                <a:tc>
                  <a:txBody>
                    <a:bodyPr/>
                    <a:lstStyle/>
                    <a:p>
                      <a:pPr marL="0" marR="457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2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3 - Flexible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858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latin typeface="+mj-lt"/>
                        </a:rPr>
                        <a:t>AI use in task creation </a:t>
                      </a:r>
                      <a:r>
                        <a:rPr lang="en-US" sz="3200" b="1" dirty="0">
                          <a:latin typeface="+mj-lt"/>
                        </a:rPr>
                        <a:t>is not regulated</a:t>
                      </a:r>
                      <a:r>
                        <a:rPr lang="en-US" sz="3200" dirty="0">
                          <a:latin typeface="+mj-lt"/>
                        </a:rPr>
                        <a:t> because it does not affect the assessed aspects of the task. If AI is used, students must submit a declaration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10541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latin typeface="+mj-lt"/>
                        </a:rPr>
                        <a:t>Oral exams, venture pitching, class discussions, debates.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16671215"/>
                  </a:ext>
                </a:extLst>
              </a:tr>
              <a:tr h="2061746">
                <a:tc>
                  <a:txBody>
                    <a:bodyPr/>
                    <a:lstStyle/>
                    <a:p>
                      <a:pPr marL="0" marR="457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2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4 – Limited 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858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b="1" dirty="0">
                          <a:latin typeface="+mj-lt"/>
                        </a:rPr>
                        <a:t>AI may only be used in the early stages (e.g., brainstorming or outlining) but not in final content writing or conclusions.</a:t>
                      </a:r>
                      <a:r>
                        <a:rPr lang="en-US" sz="3200" dirty="0">
                          <a:latin typeface="+mj-lt"/>
                        </a:rPr>
                        <a:t> Example: brainstorming topic ideas but not writing the final version. Students must submit an AI use declaration form.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10541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200" dirty="0">
                          <a:latin typeface="+mj-lt"/>
                        </a:rPr>
                        <a:t>Proposal writing, prototype-generating projects.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3474683"/>
                  </a:ext>
                </a:extLst>
              </a:tr>
              <a:tr h="1442479">
                <a:tc>
                  <a:txBody>
                    <a:bodyPr/>
                    <a:lstStyle/>
                    <a:p>
                      <a:pPr marL="0" marR="4572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200" kern="100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Aptos" panose="020B0004020202020204" pitchFamily="34" charset="0"/>
                          <a:cs typeface="Calibri" panose="020F0502020204030204" pitchFamily="34" charset="0"/>
                        </a:rPr>
                        <a:t>5 - Independent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108585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3200" dirty="0">
                          <a:latin typeface="+mj-lt"/>
                        </a:rPr>
                        <a:t>Students must complete the task </a:t>
                      </a:r>
                      <a:r>
                        <a:rPr lang="en-US" sz="3200" b="1" dirty="0">
                          <a:latin typeface="+mj-lt"/>
                        </a:rPr>
                        <a:t>without any AI assistance</a:t>
                      </a:r>
                      <a:r>
                        <a:rPr lang="en-US" sz="3200" dirty="0">
                          <a:latin typeface="+mj-lt"/>
                        </a:rPr>
                        <a:t>. All work must be entirely original. No declaration is required because AI use is strictly prohibited. Violations will be treated as academic integrity breaches.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10541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D" sz="3200" dirty="0">
                          <a:latin typeface="+mj-lt"/>
                        </a:rPr>
                        <a:t>Written exams.</a:t>
                      </a:r>
                      <a:endParaRPr lang="en-ID" sz="3600" kern="100" dirty="0">
                        <a:effectLst/>
                        <a:latin typeface="+mj-lt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88818" marR="88818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0973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983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A2427B-3980-06C6-9361-271F680614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AI Used in CB and Bahasa Indonesia Assessment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D416D1-B4FC-3D45-5585-D11DA7448C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72FB0D1-DDE7-9162-FA4D-E5C3DF1CD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28076643"/>
              </p:ext>
            </p:extLst>
          </p:nvPr>
        </p:nvGraphicFramePr>
        <p:xfrm>
          <a:off x="2167377" y="4401828"/>
          <a:ext cx="21540116" cy="3191869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99995">
                  <a:extLst>
                    <a:ext uri="{9D8B030D-6E8A-4147-A177-3AD203B41FA5}">
                      <a16:colId xmlns:a16="http://schemas.microsoft.com/office/drawing/2014/main" val="3038893167"/>
                    </a:ext>
                  </a:extLst>
                </a:gridCol>
                <a:gridCol w="1474399">
                  <a:extLst>
                    <a:ext uri="{9D8B030D-6E8A-4147-A177-3AD203B41FA5}">
                      <a16:colId xmlns:a16="http://schemas.microsoft.com/office/drawing/2014/main" val="2105046083"/>
                    </a:ext>
                  </a:extLst>
                </a:gridCol>
                <a:gridCol w="4201886">
                  <a:extLst>
                    <a:ext uri="{9D8B030D-6E8A-4147-A177-3AD203B41FA5}">
                      <a16:colId xmlns:a16="http://schemas.microsoft.com/office/drawing/2014/main" val="211804133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512231556"/>
                    </a:ext>
                  </a:extLst>
                </a:gridCol>
                <a:gridCol w="3539646">
                  <a:extLst>
                    <a:ext uri="{9D8B030D-6E8A-4147-A177-3AD203B41FA5}">
                      <a16:colId xmlns:a16="http://schemas.microsoft.com/office/drawing/2014/main" val="3923381868"/>
                    </a:ext>
                  </a:extLst>
                </a:gridCol>
                <a:gridCol w="1573423">
                  <a:extLst>
                    <a:ext uri="{9D8B030D-6E8A-4147-A177-3AD203B41FA5}">
                      <a16:colId xmlns:a16="http://schemas.microsoft.com/office/drawing/2014/main" val="2471542635"/>
                    </a:ext>
                  </a:extLst>
                </a:gridCol>
                <a:gridCol w="3417278">
                  <a:extLst>
                    <a:ext uri="{9D8B030D-6E8A-4147-A177-3AD203B41FA5}">
                      <a16:colId xmlns:a16="http://schemas.microsoft.com/office/drawing/2014/main" val="1959011813"/>
                    </a:ext>
                  </a:extLst>
                </a:gridCol>
                <a:gridCol w="2114289">
                  <a:extLst>
                    <a:ext uri="{9D8B030D-6E8A-4147-A177-3AD203B41FA5}">
                      <a16:colId xmlns:a16="http://schemas.microsoft.com/office/drawing/2014/main" val="1065544883"/>
                    </a:ext>
                  </a:extLst>
                </a:gridCol>
              </a:tblGrid>
              <a:tr h="550899"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CB: Pancasila</a:t>
                      </a:r>
                      <a:endParaRPr lang="en-ID" sz="24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CB: Kewarganegaraan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CB: Agama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Bahasa Indonesia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 hMerge="1">
                  <a:txBody>
                    <a:bodyPr/>
                    <a:lstStyle/>
                    <a:p>
                      <a:endParaRPr lang="en-ID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7115354"/>
                  </a:ext>
                </a:extLst>
              </a:tr>
              <a:tr h="801302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Assessment Items</a:t>
                      </a:r>
                      <a:endParaRPr lang="en-ID" sz="24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Type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Assessment Items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Type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 dirty="0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Assessment Items</a:t>
                      </a:r>
                      <a:endParaRPr lang="en-ID" sz="2400" b="1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Type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Assessment Items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en-ID" sz="2400" b="1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Type</a:t>
                      </a:r>
                      <a:endParaRPr lang="en-ID" sz="2400" b="1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784929915"/>
                  </a:ext>
                </a:extLst>
              </a:tr>
              <a:tr h="550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ASSIGNMENT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ASSIGNMENT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ASSIGNMENT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ASSIGNMENT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166994633"/>
                  </a:ext>
                </a:extLst>
              </a:tr>
              <a:tr h="550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MID EXAM</a:t>
                      </a:r>
                      <a:endParaRPr lang="en-ID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MID EXAM</a:t>
                      </a:r>
                      <a:endParaRPr lang="en-ID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MID EXAM</a:t>
                      </a:r>
                      <a:endParaRPr lang="en-ID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MID EXAM</a:t>
                      </a:r>
                      <a:endParaRPr lang="en-ID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 dirty="0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837805171"/>
                  </a:ext>
                </a:extLst>
              </a:tr>
              <a:tr h="55089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FINAL PROJECT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FINAL PROJECT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FINAL PROJECT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ID" sz="2400" u="none" strike="noStrike">
                          <a:solidFill>
                            <a:schemeClr val="tx1">
                              <a:lumMod val="50000"/>
                            </a:schemeClr>
                          </a:solidFill>
                          <a:effectLst/>
                        </a:rPr>
                        <a:t>THEORY: FINAL PROJECT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kumimoji="0" lang="en-ID" sz="2400" b="0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5E5E5E">
                              <a:lumMod val="50000"/>
                            </a:srgbClr>
                          </a:solidFill>
                          <a:effectLst/>
                          <a:uLnTx/>
                          <a:uFillTx/>
                          <a:latin typeface="Open Sans"/>
                          <a:ea typeface="+mn-ea"/>
                          <a:cs typeface="+mn-cs"/>
                          <a:sym typeface="Helvetica Neue"/>
                        </a:rPr>
                        <a:t>Partial</a:t>
                      </a:r>
                      <a:endParaRPr lang="en-ID" sz="2400" b="0" i="0" u="none" strike="noStrike">
                        <a:solidFill>
                          <a:schemeClr val="tx1">
                            <a:lumMod val="50000"/>
                          </a:schemeClr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508464431"/>
                  </a:ext>
                </a:extLst>
              </a:tr>
            </a:tbl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A8959C2F-869C-6ED6-39EC-CE6314578D72}"/>
              </a:ext>
            </a:extLst>
          </p:cNvPr>
          <p:cNvSpPr/>
          <p:nvPr/>
        </p:nvSpPr>
        <p:spPr>
          <a:xfrm>
            <a:off x="2167377" y="11018004"/>
            <a:ext cx="21540117" cy="595035"/>
          </a:xfrm>
          <a:prstGeom prst="rect">
            <a:avLst/>
          </a:prstGeom>
          <a:solidFill>
            <a:srgbClr val="000000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Submit your assignment with AI-Use Declaration Form</a:t>
            </a:r>
            <a:endParaRPr kumimoji="0" lang="en-ID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87859884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8B7A0-8E96-C4E9-2F9A-D0D10F8D8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1C360-C90B-A462-FE1F-5FEF5138C0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Take the quiz of FAITH and AI-Use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F9CD2-561F-4E99-884B-6A4D35068FD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1D0E2E-CE20-0A64-68F6-106B465C02D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4049487"/>
            <a:ext cx="21138672" cy="9035142"/>
          </a:xfrm>
        </p:spPr>
        <p:txBody>
          <a:bodyPr>
            <a:normAutofit/>
          </a:bodyPr>
          <a:lstStyle/>
          <a:p>
            <a:r>
              <a:rPr lang="en-US" dirty="0"/>
              <a:t>Schedule:</a:t>
            </a:r>
          </a:p>
          <a:p>
            <a:pPr lvl="1"/>
            <a:r>
              <a:rPr lang="en-US" dirty="0"/>
              <a:t>Week 2 for Bahasa Indonesia starting 14 September 2026</a:t>
            </a:r>
          </a:p>
          <a:p>
            <a:pPr lvl="1"/>
            <a:r>
              <a:rPr lang="en-US" dirty="0"/>
              <a:t>Week 3 for CB courses starting 21 September 2026</a:t>
            </a:r>
          </a:p>
          <a:p>
            <a:pPr lvl="1"/>
            <a:r>
              <a:rPr lang="en-US" dirty="0"/>
              <a:t>Quiz is closed 1 October 2026</a:t>
            </a:r>
          </a:p>
          <a:p>
            <a:r>
              <a:rPr lang="en-ID" dirty="0"/>
              <a:t>How to </a:t>
            </a:r>
            <a:r>
              <a:rPr lang="en-ID"/>
              <a:t>access:</a:t>
            </a:r>
          </a:p>
          <a:p>
            <a:pPr lvl="1"/>
            <a:r>
              <a:rPr lang="sv-SE"/>
              <a:t>Melihat Daftar Tugas pada Binusmaya Web LMS: </a:t>
            </a:r>
            <a:r>
              <a:rPr lang="sv-SE">
                <a:hlinkClick r:id="rId2"/>
              </a:rPr>
              <a:t>https://support.binus.ac.id/646-167410</a:t>
            </a:r>
            <a:endParaRPr lang="en-ID"/>
          </a:p>
          <a:p>
            <a:pPr lvl="1"/>
            <a:r>
              <a:rPr lang="en-ID"/>
              <a:t>Melihat Daftar Tugas pada Binusmaya Mobile LMS: </a:t>
            </a:r>
            <a:r>
              <a:rPr lang="en-ID">
                <a:hlinkClick r:id="rId3"/>
              </a:rPr>
              <a:t>https://support.binus.ac.id/315-97445</a:t>
            </a:r>
            <a:endParaRPr lang="en-ID"/>
          </a:p>
          <a:p>
            <a:pPr lvl="1"/>
            <a:r>
              <a:rPr lang="en-ID"/>
              <a:t>Mengerjakan Assessment pada Web Binusmaya LMS: </a:t>
            </a:r>
            <a:r>
              <a:rPr lang="en-ID">
                <a:hlinkClick r:id="rId4"/>
              </a:rPr>
              <a:t>https://support.binus.ac.id/521-86224</a:t>
            </a:r>
            <a:endParaRPr lang="en-ID"/>
          </a:p>
          <a:p>
            <a:pPr lvl="1"/>
            <a:r>
              <a:rPr lang="en-ID"/>
              <a:t>Mengerjakan Assessment pada Binusmaya Mobile LMS: </a:t>
            </a:r>
            <a:r>
              <a:rPr lang="en-ID">
                <a:hlinkClick r:id="rId5"/>
              </a:rPr>
              <a:t>https://support.binus.ac.id/950-147474</a:t>
            </a:r>
            <a:endParaRPr lang="en-ID"/>
          </a:p>
          <a:p>
            <a:pPr lvl="1"/>
            <a:endParaRPr lang="en-ID"/>
          </a:p>
          <a:p>
            <a:pPr lvl="1"/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2813198710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Metadata/LabelInfo.xml><?xml version="1.0" encoding="utf-8"?>
<clbl:labelList xmlns:clbl="http://schemas.microsoft.com/office/2020/mipLabelMetadata">
  <clbl:label id="{3485b963-82ba-4a6f-810f-b5cc226ff898}" enabled="0" method="" siteId="{3485b963-82ba-4a6f-810f-b5cc226ff898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Template Online Resources 2023_Binus University_BHE Logo</Template>
  <TotalTime>463</TotalTime>
  <Words>650</Words>
  <Application>Microsoft Office PowerPoint</Application>
  <PresentationFormat>Custom</PresentationFormat>
  <Paragraphs>93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4" baseType="lpstr">
      <vt:lpstr>Open Sans</vt:lpstr>
      <vt:lpstr>Aptos Narrow</vt:lpstr>
      <vt:lpstr>Helvetica Neue Medium</vt:lpstr>
      <vt:lpstr>Arial</vt:lpstr>
      <vt:lpstr>Open Sans Semibold</vt:lpstr>
      <vt:lpstr>Open Sans Light</vt:lpstr>
      <vt:lpstr>Open Sans ExtraBold</vt:lpstr>
      <vt:lpstr>OCRB</vt:lpstr>
      <vt:lpstr>21_BasicWhite</vt:lpstr>
      <vt:lpstr>Session 1</vt:lpstr>
      <vt:lpstr>The FAITH Principle</vt:lpstr>
      <vt:lpstr>Types of Assessment Based on AI Use</vt:lpstr>
      <vt:lpstr>AI Used in CB and Bahasa Indonesia Assessment</vt:lpstr>
      <vt:lpstr>Take the quiz of FAITH and AI-Use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Tatum Syarifah Adiningrum</dc:creator>
  <cp:lastModifiedBy>Melki Sadekh</cp:lastModifiedBy>
  <cp:revision>4</cp:revision>
  <dcterms:created xsi:type="dcterms:W3CDTF">2025-07-20T16:11:00Z</dcterms:created>
  <dcterms:modified xsi:type="dcterms:W3CDTF">2026-09-03T06:51:00Z</dcterms:modified>
</cp:coreProperties>
</file>