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370" r:id="rId3"/>
    <p:sldId id="371" r:id="rId4"/>
    <p:sldId id="384" r:id="rId5"/>
    <p:sldId id="305" r:id="rId6"/>
    <p:sldId id="281" r:id="rId7"/>
    <p:sldId id="282" r:id="rId8"/>
    <p:sldId id="283" r:id="rId9"/>
    <p:sldId id="284" r:id="rId10"/>
    <p:sldId id="306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330" r:id="rId21"/>
    <p:sldId id="331" r:id="rId22"/>
    <p:sldId id="334" r:id="rId23"/>
    <p:sldId id="332" r:id="rId24"/>
    <p:sldId id="307" r:id="rId25"/>
    <p:sldId id="294" r:id="rId26"/>
    <p:sldId id="295" r:id="rId27"/>
    <p:sldId id="296" r:id="rId28"/>
    <p:sldId id="297" r:id="rId29"/>
    <p:sldId id="298" r:id="rId30"/>
    <p:sldId id="299" r:id="rId31"/>
    <p:sldId id="333" r:id="rId32"/>
    <p:sldId id="336" r:id="rId33"/>
    <p:sldId id="308" r:id="rId34"/>
    <p:sldId id="300" r:id="rId35"/>
    <p:sldId id="337" r:id="rId36"/>
    <p:sldId id="338" r:id="rId37"/>
    <p:sldId id="301" r:id="rId38"/>
    <p:sldId id="302" r:id="rId39"/>
    <p:sldId id="303" r:id="rId40"/>
    <p:sldId id="304" r:id="rId41"/>
    <p:sldId id="391" r:id="rId42"/>
    <p:sldId id="392" r:id="rId43"/>
    <p:sldId id="393" r:id="rId44"/>
    <p:sldId id="394" r:id="rId45"/>
    <p:sldId id="396" r:id="rId46"/>
    <p:sldId id="409" r:id="rId47"/>
    <p:sldId id="398" r:id="rId48"/>
    <p:sldId id="399" r:id="rId49"/>
    <p:sldId id="410" r:id="rId50"/>
    <p:sldId id="411" r:id="rId51"/>
    <p:sldId id="412" r:id="rId52"/>
    <p:sldId id="413" r:id="rId53"/>
    <p:sldId id="414" r:id="rId54"/>
    <p:sldId id="385" r:id="rId55"/>
    <p:sldId id="386" r:id="rId56"/>
    <p:sldId id="415" r:id="rId57"/>
    <p:sldId id="381" r:id="rId58"/>
    <p:sldId id="363" r:id="rId59"/>
    <p:sldId id="416" r:id="rId60"/>
    <p:sldId id="364" r:id="rId61"/>
    <p:sldId id="408" r:id="rId62"/>
    <p:sldId id="400" r:id="rId63"/>
    <p:sldId id="401" r:id="rId64"/>
    <p:sldId id="407" r:id="rId65"/>
    <p:sldId id="417" r:id="rId66"/>
    <p:sldId id="351" r:id="rId67"/>
    <p:sldId id="418" r:id="rId68"/>
    <p:sldId id="344" r:id="rId69"/>
    <p:sldId id="387" r:id="rId70"/>
    <p:sldId id="388" r:id="rId71"/>
    <p:sldId id="389" r:id="rId72"/>
    <p:sldId id="390" r:id="rId73"/>
    <p:sldId id="356" r:id="rId74"/>
    <p:sldId id="366" r:id="rId75"/>
    <p:sldId id="359" r:id="rId76"/>
    <p:sldId id="360" r:id="rId77"/>
    <p:sldId id="361" r:id="rId78"/>
    <p:sldId id="270" r:id="rId79"/>
    <p:sldId id="383" r:id="rId8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6"/>
            <p14:sldId id="370"/>
            <p14:sldId id="371"/>
            <p14:sldId id="384"/>
          </p14:sldIdLst>
        </p14:section>
        <p14:section name="COURSE CONTENT" id="{F4927CBE-FA17-46D1-BAAE-887D0AF2CCBF}">
          <p14:sldIdLst>
            <p14:sldId id="305"/>
            <p14:sldId id="281"/>
            <p14:sldId id="282"/>
            <p14:sldId id="283"/>
            <p14:sldId id="284"/>
            <p14:sldId id="306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30"/>
            <p14:sldId id="331"/>
            <p14:sldId id="334"/>
            <p14:sldId id="332"/>
            <p14:sldId id="307"/>
            <p14:sldId id="294"/>
            <p14:sldId id="295"/>
            <p14:sldId id="296"/>
            <p14:sldId id="297"/>
            <p14:sldId id="298"/>
            <p14:sldId id="299"/>
            <p14:sldId id="333"/>
            <p14:sldId id="336"/>
            <p14:sldId id="308"/>
            <p14:sldId id="300"/>
            <p14:sldId id="337"/>
            <p14:sldId id="338"/>
            <p14:sldId id="301"/>
            <p14:sldId id="302"/>
            <p14:sldId id="303"/>
            <p14:sldId id="304"/>
            <p14:sldId id="391"/>
            <p14:sldId id="392"/>
            <p14:sldId id="393"/>
            <p14:sldId id="394"/>
            <p14:sldId id="396"/>
            <p14:sldId id="409"/>
            <p14:sldId id="398"/>
            <p14:sldId id="399"/>
            <p14:sldId id="410"/>
            <p14:sldId id="411"/>
            <p14:sldId id="412"/>
            <p14:sldId id="413"/>
            <p14:sldId id="414"/>
            <p14:sldId id="385"/>
            <p14:sldId id="386"/>
            <p14:sldId id="415"/>
            <p14:sldId id="381"/>
            <p14:sldId id="363"/>
            <p14:sldId id="416"/>
            <p14:sldId id="364"/>
            <p14:sldId id="408"/>
            <p14:sldId id="400"/>
            <p14:sldId id="401"/>
            <p14:sldId id="407"/>
            <p14:sldId id="417"/>
            <p14:sldId id="351"/>
            <p14:sldId id="418"/>
            <p14:sldId id="344"/>
            <p14:sldId id="387"/>
            <p14:sldId id="388"/>
            <p14:sldId id="389"/>
            <p14:sldId id="390"/>
            <p14:sldId id="356"/>
            <p14:sldId id="366"/>
            <p14:sldId id="359"/>
            <p14:sldId id="360"/>
            <p14:sldId id="361"/>
            <p14:sldId id="270"/>
            <p14:sldId id="383"/>
          </p14:sldIdLst>
        </p14:section>
        <p14:section name="REFERENCE" id="{82098E28-DACF-4424-86A1-E861B2DCC6F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008FD5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286DA-954D-4390-85E6-5A434C6B4D62}" type="datetimeFigureOut">
              <a:rPr lang="id-ID" smtClean="0"/>
              <a:t>10/01/2024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EAA61-87FC-45D8-A0E3-CA718706A90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640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Mika Seppälä: Taylor Series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4BAA7-5AB0-4D48-892D-3003E09BDA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3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7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6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766887" y="1676400"/>
            <a:ext cx="76819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Course		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	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: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MATH6030001 - 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Linear Algebra</a:t>
            </a:r>
            <a:endParaRPr lang="en-US" sz="2400" dirty="0">
              <a:solidFill>
                <a:schemeClr val="bg1"/>
              </a:solidFill>
              <a:latin typeface="Open Sans"/>
            </a:endParaRPr>
          </a:p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Effective Period	: 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February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 2024</a:t>
            </a: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76400" y="3352800"/>
            <a:ext cx="7467600" cy="23844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id-ID" sz="3600" dirty="0">
                <a:solidFill>
                  <a:schemeClr val="bg1"/>
                </a:solidFill>
              </a:rPr>
              <a:t>Matrix</a:t>
            </a:r>
            <a:br>
              <a:rPr lang="en-AU" dirty="0">
                <a:solidFill>
                  <a:schemeClr val="bg1"/>
                </a:solidFill>
              </a:rPr>
            </a:br>
            <a:br>
              <a:rPr lang="en-AU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Session  </a:t>
            </a:r>
            <a:r>
              <a:rPr lang="id-ID" sz="2800" dirty="0">
                <a:solidFill>
                  <a:schemeClr val="bg1"/>
                </a:solidFill>
              </a:rPr>
              <a:t>03-0</a:t>
            </a:r>
            <a:r>
              <a:rPr lang="en-US" sz="2800">
                <a:solidFill>
                  <a:schemeClr val="bg1"/>
                </a:solidFill>
              </a:rPr>
              <a:t>6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907704" y="1628800"/>
            <a:ext cx="6768752" cy="802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000" b="1" i="0" u="none" strike="noStrike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Acknowledgement</a:t>
            </a:r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75684CD7-0044-BF4E-AC43-DA5CC2D455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9"/>
          <a:stretch/>
        </p:blipFill>
        <p:spPr>
          <a:xfrm>
            <a:off x="1997116" y="2564904"/>
            <a:ext cx="2989529" cy="3672408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E22705F-47F2-445C-9B47-9C31073AC10B}"/>
              </a:ext>
            </a:extLst>
          </p:cNvPr>
          <p:cNvSpPr txBox="1">
            <a:spLocks/>
          </p:cNvSpPr>
          <p:nvPr/>
        </p:nvSpPr>
        <p:spPr>
          <a:xfrm>
            <a:off x="5220072" y="2564904"/>
            <a:ext cx="3430017" cy="3672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These slides have been adapted from: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Howard Anton and Anton Kaul. </a:t>
            </a:r>
            <a:r>
              <a:rPr lang="en-US" sz="2000" i="1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Elementary linear algebra: Applications version (12</a:t>
            </a:r>
            <a:r>
              <a:rPr lang="en-US" sz="2000" i="1" kern="1200" baseline="300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th</a:t>
            </a:r>
            <a:r>
              <a:rPr lang="en-US" sz="2000" i="1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 Edition)</a:t>
            </a:r>
            <a:r>
              <a:rPr lang="en-US" sz="2000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. John Wiley &amp; Sons, 2019.</a:t>
            </a:r>
          </a:p>
          <a:p>
            <a:pPr>
              <a:spcBef>
                <a:spcPct val="20000"/>
              </a:spcBef>
              <a:defRPr/>
            </a:pPr>
            <a:endParaRPr lang="en-US" sz="2000" kern="1200" dirty="0">
              <a:solidFill>
                <a:schemeClr val="tx1"/>
              </a:solidFill>
              <a:latin typeface="Open Sans"/>
              <a:ea typeface="+mn-ea"/>
              <a:cs typeface="+mn-cs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Section 1.3-1.7</a:t>
            </a:r>
            <a:r>
              <a:rPr lang="en-US" sz="2000" kern="120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, Chapter 2</a:t>
            </a:r>
            <a:endParaRPr lang="en-US" sz="2000" kern="1200" dirty="0">
              <a:solidFill>
                <a:schemeClr val="tx1"/>
              </a:solidFill>
              <a:latin typeface="Open Sans"/>
              <a:ea typeface="+mn-ea"/>
              <a:cs typeface="+mn-cs"/>
            </a:endParaRPr>
          </a:p>
          <a:p>
            <a:pPr>
              <a:spcBef>
                <a:spcPct val="20000"/>
              </a:spcBef>
              <a:defRPr/>
            </a:pPr>
            <a:endParaRPr lang="en-US" sz="2000" kern="1200" dirty="0">
              <a:solidFill>
                <a:schemeClr val="tx1"/>
              </a:solidFill>
              <a:latin typeface="Open Sans"/>
              <a:ea typeface="+mn-ea"/>
              <a:cs typeface="+mn-cs"/>
            </a:endParaRPr>
          </a:p>
          <a:p>
            <a:pPr marR="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05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E9CE98AA-8C07-3B4E-A6C6-FC779301E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24453"/>
            <a:ext cx="8153400" cy="45659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464" y="2051273"/>
            <a:ext cx="6004136" cy="387127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LO 2: Evaluate determinant and inverse of matrix and their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1275124"/>
            <a:ext cx="4363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Learning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A6B15-D218-5331-7ADE-2E858B9F2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7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3"/>
          <p:cNvSpPr txBox="1">
            <a:spLocks/>
          </p:cNvSpPr>
          <p:nvPr/>
        </p:nvSpPr>
        <p:spPr>
          <a:xfrm>
            <a:off x="1111696" y="1196752"/>
            <a:ext cx="7128792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Contents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C305F1E-7AFA-4EDC-A6B2-51907645B5C3}"/>
              </a:ext>
            </a:extLst>
          </p:cNvPr>
          <p:cNvGrpSpPr/>
          <p:nvPr/>
        </p:nvGrpSpPr>
        <p:grpSpPr>
          <a:xfrm>
            <a:off x="3296084" y="5396824"/>
            <a:ext cx="2551831" cy="761503"/>
            <a:chOff x="2833739" y="5301208"/>
            <a:chExt cx="3357511" cy="841262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77FA1AC-A7A7-4C79-AFDC-9B5FB93826C4}"/>
                </a:ext>
              </a:extLst>
            </p:cNvPr>
            <p:cNvSpPr/>
            <p:nvPr/>
          </p:nvSpPr>
          <p:spPr>
            <a:xfrm>
              <a:off x="2833739" y="5301208"/>
              <a:ext cx="3357511" cy="841262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9A1B682-D52C-4266-9871-3480D10B6929}"/>
                </a:ext>
              </a:extLst>
            </p:cNvPr>
            <p:cNvSpPr/>
            <p:nvPr/>
          </p:nvSpPr>
          <p:spPr>
            <a:xfrm>
              <a:off x="3481626" y="5487505"/>
              <a:ext cx="1728921" cy="433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51B4D25A-AD17-48D1-8559-FA0A740B3488}"/>
              </a:ext>
            </a:extLst>
          </p:cNvPr>
          <p:cNvSpPr/>
          <p:nvPr/>
        </p:nvSpPr>
        <p:spPr>
          <a:xfrm>
            <a:off x="5576883" y="2368553"/>
            <a:ext cx="328372" cy="39108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5B8A45-0FD3-45EA-BE10-9A0B4BF492D1}"/>
              </a:ext>
            </a:extLst>
          </p:cNvPr>
          <p:cNvSpPr txBox="1"/>
          <p:nvPr/>
        </p:nvSpPr>
        <p:spPr>
          <a:xfrm>
            <a:off x="5975316" y="2572831"/>
            <a:ext cx="3061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/>
            <a:r>
              <a:rPr lang="en-US" altLang="zh-CN" dirty="0"/>
              <a:t>M</a:t>
            </a:r>
            <a:r>
              <a:rPr lang="id-ID" altLang="zh-CN" dirty="0" err="1"/>
              <a:t>atrices</a:t>
            </a:r>
            <a:r>
              <a:rPr lang="id-ID" altLang="zh-CN" dirty="0"/>
              <a:t> </a:t>
            </a:r>
            <a:r>
              <a:rPr lang="id-ID" altLang="zh-CN" dirty="0" err="1"/>
              <a:t>and</a:t>
            </a:r>
            <a:r>
              <a:rPr lang="id-ID" altLang="zh-CN" dirty="0"/>
              <a:t> Matrix </a:t>
            </a:r>
            <a:r>
              <a:rPr lang="id-ID" altLang="zh-CN" dirty="0" err="1"/>
              <a:t>Operations</a:t>
            </a:r>
            <a:endParaRPr lang="id-ID" altLang="zh-CN" dirty="0"/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6662A2-111D-49C4-8CF7-8279FD58856F}"/>
              </a:ext>
            </a:extLst>
          </p:cNvPr>
          <p:cNvSpPr txBox="1"/>
          <p:nvPr/>
        </p:nvSpPr>
        <p:spPr>
          <a:xfrm>
            <a:off x="5902151" y="2231558"/>
            <a:ext cx="2571964" cy="35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2C743B-64C3-4307-A82D-8CF6338213CF}"/>
              </a:ext>
            </a:extLst>
          </p:cNvPr>
          <p:cNvCxnSpPr/>
          <p:nvPr/>
        </p:nvCxnSpPr>
        <p:spPr>
          <a:xfrm>
            <a:off x="5877140" y="2564096"/>
            <a:ext cx="2736132" cy="4259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0EEBC0E1-53D5-43F0-A9E5-91653A22F287}"/>
              </a:ext>
            </a:extLst>
          </p:cNvPr>
          <p:cNvSpPr/>
          <p:nvPr/>
        </p:nvSpPr>
        <p:spPr>
          <a:xfrm>
            <a:off x="3754037" y="3079889"/>
            <a:ext cx="328372" cy="39108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1397BD-5E54-4B20-AFFA-4323166BE2CF}"/>
              </a:ext>
            </a:extLst>
          </p:cNvPr>
          <p:cNvSpPr txBox="1"/>
          <p:nvPr/>
        </p:nvSpPr>
        <p:spPr>
          <a:xfrm>
            <a:off x="1137966" y="2950389"/>
            <a:ext cx="2571964" cy="35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CD18C1B-0E93-42F5-83F0-31D920639E39}"/>
              </a:ext>
            </a:extLst>
          </p:cNvPr>
          <p:cNvCxnSpPr>
            <a:cxnSpLocks/>
          </p:cNvCxnSpPr>
          <p:nvPr/>
        </p:nvCxnSpPr>
        <p:spPr>
          <a:xfrm>
            <a:off x="1029177" y="3277351"/>
            <a:ext cx="2736132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97121D1-D62E-4760-905B-A2D483E89C44}"/>
              </a:ext>
            </a:extLst>
          </p:cNvPr>
          <p:cNvSpPr/>
          <p:nvPr/>
        </p:nvSpPr>
        <p:spPr>
          <a:xfrm>
            <a:off x="5576883" y="3786095"/>
            <a:ext cx="328372" cy="3910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FCB3513-79A2-4263-8DC2-2704E57B632E}"/>
              </a:ext>
            </a:extLst>
          </p:cNvPr>
          <p:cNvCxnSpPr>
            <a:stCxn id="78" idx="6"/>
          </p:cNvCxnSpPr>
          <p:nvPr/>
        </p:nvCxnSpPr>
        <p:spPr>
          <a:xfrm>
            <a:off x="5905255" y="3981638"/>
            <a:ext cx="2736132" cy="4259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8B04BC26-C5E4-4FE9-B082-854809CF3045}"/>
              </a:ext>
            </a:extLst>
          </p:cNvPr>
          <p:cNvSpPr/>
          <p:nvPr/>
        </p:nvSpPr>
        <p:spPr>
          <a:xfrm>
            <a:off x="3754037" y="4400123"/>
            <a:ext cx="328372" cy="391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3120022-CFCE-4F4F-953A-00E8DF7355E3}"/>
              </a:ext>
            </a:extLst>
          </p:cNvPr>
          <p:cNvCxnSpPr>
            <a:cxnSpLocks/>
          </p:cNvCxnSpPr>
          <p:nvPr/>
        </p:nvCxnSpPr>
        <p:spPr>
          <a:xfrm>
            <a:off x="1029177" y="4597584"/>
            <a:ext cx="2736132" cy="0"/>
          </a:xfrm>
          <a:prstGeom prst="line">
            <a:avLst/>
          </a:prstGeom>
          <a:ln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367A53C-4EB3-421D-A516-555B9B527322}"/>
              </a:ext>
            </a:extLst>
          </p:cNvPr>
          <p:cNvGrpSpPr/>
          <p:nvPr/>
        </p:nvGrpSpPr>
        <p:grpSpPr>
          <a:xfrm>
            <a:off x="4257023" y="2196862"/>
            <a:ext cx="1066136" cy="3401830"/>
            <a:chOff x="2411760" y="1109886"/>
            <a:chExt cx="1752575" cy="469537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8CCE011-731C-4503-933C-80BF63669E85}"/>
                </a:ext>
              </a:extLst>
            </p:cNvPr>
            <p:cNvSpPr/>
            <p:nvPr/>
          </p:nvSpPr>
          <p:spPr>
            <a:xfrm>
              <a:off x="2411760" y="1109886"/>
              <a:ext cx="936104" cy="9361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527050" prstMaterial="matte">
              <a:extrusionClr>
                <a:schemeClr val="accent5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1</a:t>
              </a:r>
              <a:endParaRPr lang="ko-KR" altLang="en-US" sz="27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8CC91C6-39DE-4E7D-9C13-0CCE01AF1508}"/>
                </a:ext>
              </a:extLst>
            </p:cNvPr>
            <p:cNvSpPr/>
            <p:nvPr/>
          </p:nvSpPr>
          <p:spPr>
            <a:xfrm>
              <a:off x="3228231" y="2036465"/>
              <a:ext cx="936104" cy="9361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457200" prstMaterial="matte">
              <a:extrusionClr>
                <a:schemeClr val="accent4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2</a:t>
              </a:r>
              <a:endParaRPr lang="ko-KR" altLang="en-US" sz="27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724D92-1DCB-44AC-A372-1A7087DA6198}"/>
                </a:ext>
              </a:extLst>
            </p:cNvPr>
            <p:cNvSpPr/>
            <p:nvPr/>
          </p:nvSpPr>
          <p:spPr>
            <a:xfrm>
              <a:off x="2411760" y="2977902"/>
              <a:ext cx="936104" cy="9361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scene3d>
              <a:camera prst="obliqueBottomRight"/>
              <a:lightRig rig="balanced" dir="t"/>
            </a:scene3d>
            <a:sp3d extrusionH="508000" prstMaterial="matte">
              <a:extrusionClr>
                <a:schemeClr val="accent3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altLang="ko-KR" sz="2700" dirty="0"/>
                <a:t>3</a:t>
              </a:r>
              <a:endParaRPr lang="ko-KR" altLang="en-US" sz="27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F338425-1F4A-4149-964B-5A3D503317E9}"/>
                </a:ext>
              </a:extLst>
            </p:cNvPr>
            <p:cNvSpPr/>
            <p:nvPr/>
          </p:nvSpPr>
          <p:spPr>
            <a:xfrm>
              <a:off x="2411760" y="4869160"/>
              <a:ext cx="936104" cy="936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E1C5FD7-C7FB-4EDD-A540-FA133BC36DDA}"/>
                </a:ext>
              </a:extLst>
            </p:cNvPr>
            <p:cNvSpPr/>
            <p:nvPr/>
          </p:nvSpPr>
          <p:spPr>
            <a:xfrm>
              <a:off x="3228231" y="3933056"/>
              <a:ext cx="936104" cy="9361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Left"/>
              <a:lightRig rig="balanced" dir="t"/>
            </a:scene3d>
            <a:sp3d extrusionH="508000" prstMaterial="matte">
              <a:extrusionClr>
                <a:schemeClr val="accent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4</a:t>
              </a:r>
              <a:endParaRPr lang="ko-KR" altLang="en-US" sz="2700" dirty="0"/>
            </a:p>
          </p:txBody>
        </p:sp>
      </p:grpSp>
      <p:sp>
        <p:nvSpPr>
          <p:cNvPr id="87" name="Rectangle 16">
            <a:extLst>
              <a:ext uri="{FF2B5EF4-FFF2-40B4-BE49-F238E27FC236}">
                <a16:creationId xmlns:a16="http://schemas.microsoft.com/office/drawing/2014/main" id="{33E4BB26-8865-4A4E-857F-CD62D223B26C}"/>
              </a:ext>
            </a:extLst>
          </p:cNvPr>
          <p:cNvSpPr/>
          <p:nvPr/>
        </p:nvSpPr>
        <p:spPr>
          <a:xfrm rot="2700000">
            <a:off x="3845547" y="3162989"/>
            <a:ext cx="151246" cy="22767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7C7E4364-9EF1-47A4-B8B8-38D72002D13E}"/>
              </a:ext>
            </a:extLst>
          </p:cNvPr>
          <p:cNvSpPr/>
          <p:nvPr/>
        </p:nvSpPr>
        <p:spPr>
          <a:xfrm>
            <a:off x="5666082" y="2464116"/>
            <a:ext cx="157338" cy="17541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9" name="Rectangle 36">
            <a:extLst>
              <a:ext uri="{FF2B5EF4-FFF2-40B4-BE49-F238E27FC236}">
                <a16:creationId xmlns:a16="http://schemas.microsoft.com/office/drawing/2014/main" id="{2A6E0E88-FE1B-4C14-8300-2467F34DF79B}"/>
              </a:ext>
            </a:extLst>
          </p:cNvPr>
          <p:cNvSpPr/>
          <p:nvPr/>
        </p:nvSpPr>
        <p:spPr>
          <a:xfrm>
            <a:off x="5642850" y="3886649"/>
            <a:ext cx="185948" cy="18512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0" name="Round Same Side Corner Rectangle 36">
            <a:extLst>
              <a:ext uri="{FF2B5EF4-FFF2-40B4-BE49-F238E27FC236}">
                <a16:creationId xmlns:a16="http://schemas.microsoft.com/office/drawing/2014/main" id="{56179B03-730D-44E7-8D38-1BDB17A6241F}"/>
              </a:ext>
            </a:extLst>
          </p:cNvPr>
          <p:cNvSpPr>
            <a:spLocks noChangeAspect="1"/>
          </p:cNvSpPr>
          <p:nvPr/>
        </p:nvSpPr>
        <p:spPr>
          <a:xfrm>
            <a:off x="5648080" y="5153390"/>
            <a:ext cx="189114" cy="178072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1" name="Oval 21">
            <a:extLst>
              <a:ext uri="{FF2B5EF4-FFF2-40B4-BE49-F238E27FC236}">
                <a16:creationId xmlns:a16="http://schemas.microsoft.com/office/drawing/2014/main" id="{C7CC1680-52FE-4162-A842-989A29468654}"/>
              </a:ext>
            </a:extLst>
          </p:cNvPr>
          <p:cNvSpPr>
            <a:spLocks noChangeAspect="1"/>
          </p:cNvSpPr>
          <p:nvPr/>
        </p:nvSpPr>
        <p:spPr>
          <a:xfrm>
            <a:off x="3835001" y="4501595"/>
            <a:ext cx="169379" cy="20341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-215752" y="1523777"/>
            <a:ext cx="140353" cy="331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307771-AEF2-482D-B9EB-95867EB1A3ED}"/>
              </a:ext>
            </a:extLst>
          </p:cNvPr>
          <p:cNvSpPr txBox="1"/>
          <p:nvPr/>
        </p:nvSpPr>
        <p:spPr>
          <a:xfrm>
            <a:off x="5907255" y="4092352"/>
            <a:ext cx="3129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/>
            <a:r>
              <a:rPr lang="id-ID" altLang="zh-CN" dirty="0" err="1"/>
              <a:t>Some</a:t>
            </a:r>
            <a:r>
              <a:rPr lang="id-ID" altLang="zh-CN" dirty="0"/>
              <a:t> </a:t>
            </a:r>
            <a:r>
              <a:rPr lang="id-ID" altLang="zh-CN" dirty="0" err="1"/>
              <a:t>Special</a:t>
            </a:r>
            <a:r>
              <a:rPr lang="id-ID" altLang="zh-CN" dirty="0"/>
              <a:t> </a:t>
            </a:r>
            <a:r>
              <a:rPr lang="id-ID" altLang="zh-CN" dirty="0" err="1"/>
              <a:t>Matrices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11696" y="3254152"/>
            <a:ext cx="2598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/>
            <a:r>
              <a:rPr lang="id-ID" altLang="zh-CN" dirty="0" err="1"/>
              <a:t>Algebraic</a:t>
            </a:r>
            <a:r>
              <a:rPr lang="id-ID" altLang="zh-CN" dirty="0"/>
              <a:t> </a:t>
            </a:r>
            <a:r>
              <a:rPr lang="id-ID" altLang="zh-CN" dirty="0" err="1"/>
              <a:t>Properties</a:t>
            </a:r>
            <a:r>
              <a:rPr lang="id-ID" altLang="zh-CN" dirty="0"/>
              <a:t> </a:t>
            </a:r>
            <a:r>
              <a:rPr lang="id-ID" altLang="zh-CN" dirty="0" err="1"/>
              <a:t>of</a:t>
            </a:r>
            <a:r>
              <a:rPr lang="id-ID" altLang="zh-CN" dirty="0"/>
              <a:t> Matrix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068612-7CF8-A74D-9C90-989212EDFFF1}"/>
              </a:ext>
            </a:extLst>
          </p:cNvPr>
          <p:cNvSpPr txBox="1"/>
          <p:nvPr/>
        </p:nvSpPr>
        <p:spPr>
          <a:xfrm>
            <a:off x="4004380" y="3681791"/>
            <a:ext cx="46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1C13D8-AB39-5049-B771-425E47D44AFA}"/>
              </a:ext>
            </a:extLst>
          </p:cNvPr>
          <p:cNvSpPr txBox="1"/>
          <p:nvPr/>
        </p:nvSpPr>
        <p:spPr>
          <a:xfrm>
            <a:off x="-843323" y="4221594"/>
            <a:ext cx="46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Inverse Matrix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EF72-B4F6-C741-BCE4-D3FC0D7320E7}"/>
              </a:ext>
            </a:extLst>
          </p:cNvPr>
          <p:cNvSpPr txBox="1"/>
          <p:nvPr/>
        </p:nvSpPr>
        <p:spPr>
          <a:xfrm>
            <a:off x="64493" y="5082888"/>
            <a:ext cx="4678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7F7F7"/>
                </a:highlight>
              </a:rPr>
              <a:t>5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7F7F7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99A78-4611-42C9-E089-5EF11CF79680}"/>
              </a:ext>
            </a:extLst>
          </p:cNvPr>
          <p:cNvSpPr txBox="1"/>
          <p:nvPr/>
        </p:nvSpPr>
        <p:spPr>
          <a:xfrm>
            <a:off x="4156780" y="5193268"/>
            <a:ext cx="46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Determinannt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 Matrix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2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Matrices and Matrix Operations</a:t>
            </a:r>
          </a:p>
        </p:txBody>
      </p:sp>
    </p:spTree>
    <p:extLst>
      <p:ext uri="{BB962C8B-B14F-4D97-AF65-F5344CB8AC3E}">
        <p14:creationId xmlns:p14="http://schemas.microsoft.com/office/powerpoint/2010/main" val="379252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533400"/>
            <a:ext cx="6172200" cy="1143000"/>
          </a:xfrm>
        </p:spPr>
        <p:txBody>
          <a:bodyPr/>
          <a:lstStyle/>
          <a:p>
            <a:r>
              <a:rPr lang="id-ID" dirty="0"/>
              <a:t>Basic Terminologies</a:t>
            </a:r>
            <a:r>
              <a:rPr lang="id-ID" b="1" dirty="0"/>
              <a:t> (1/4)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66800" y="1600200"/>
            <a:ext cx="76200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A </a:t>
            </a:r>
            <a:r>
              <a:rPr lang="en-US" b="1" i="1" dirty="0"/>
              <a:t>matrix </a:t>
            </a:r>
            <a:r>
              <a:rPr lang="en-US" dirty="0"/>
              <a:t>is a rectangular array of numbers. The numbers in the array are called the </a:t>
            </a:r>
            <a:r>
              <a:rPr lang="en-US" b="1" i="1" dirty="0"/>
              <a:t>entries </a:t>
            </a:r>
            <a:r>
              <a:rPr lang="en-US" dirty="0"/>
              <a:t>in the matrix.</a:t>
            </a:r>
            <a:endParaRPr lang="id-ID" dirty="0"/>
          </a:p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r>
              <a:rPr lang="id-ID" b="1" dirty="0"/>
              <a:t>Examples</a:t>
            </a:r>
          </a:p>
          <a:p>
            <a:pPr marL="0" indent="0" algn="just">
              <a:buNone/>
            </a:pPr>
            <a:r>
              <a:rPr lang="en-US" dirty="0"/>
              <a:t>Some examples of matrices are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i="1" dirty="0"/>
              <a:t>size </a:t>
            </a:r>
            <a:r>
              <a:rPr lang="en-US" dirty="0"/>
              <a:t>of a matrix is described in terms of the number of rows (horizontal lines) and columns (vertical lines) it</a:t>
            </a:r>
            <a:r>
              <a:rPr lang="id-ID" dirty="0"/>
              <a:t> </a:t>
            </a:r>
            <a:r>
              <a:rPr lang="en-US" dirty="0"/>
              <a:t>contains. For example, the first matrix in </a:t>
            </a:r>
            <a:r>
              <a:rPr lang="id-ID" dirty="0"/>
              <a:t>above example </a:t>
            </a:r>
            <a:r>
              <a:rPr lang="en-US" dirty="0"/>
              <a:t>has three rows and two columns, so its size is 3 by 2 (written</a:t>
            </a:r>
            <a:r>
              <a:rPr lang="id-ID" dirty="0"/>
              <a:t> 3x2</a:t>
            </a:r>
            <a:r>
              <a:rPr lang="en-US" dirty="0"/>
              <a:t>).</a:t>
            </a:r>
            <a:endParaRPr lang="id-ID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221" y="3783172"/>
            <a:ext cx="4699979" cy="1398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7436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6248400" cy="1143000"/>
          </a:xfrm>
        </p:spPr>
        <p:txBody>
          <a:bodyPr/>
          <a:lstStyle/>
          <a:p>
            <a:r>
              <a:rPr lang="id-ID" dirty="0"/>
              <a:t>Basic Terminologies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696200" cy="482443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In a size description, the first number always denotes the number of rows, and the second denotes the number</a:t>
            </a:r>
            <a:r>
              <a:rPr lang="id-ID" dirty="0"/>
              <a:t> </a:t>
            </a:r>
            <a:r>
              <a:rPr lang="en-US" dirty="0"/>
              <a:t>of columns. The remaining matrices in </a:t>
            </a:r>
            <a:r>
              <a:rPr lang="id-ID" dirty="0"/>
              <a:t>above example</a:t>
            </a:r>
            <a:r>
              <a:rPr lang="en-US" dirty="0"/>
              <a:t> have sizes </a:t>
            </a:r>
            <a:r>
              <a:rPr lang="id-ID" dirty="0"/>
              <a:t>1x4</a:t>
            </a:r>
            <a:r>
              <a:rPr lang="en-US" dirty="0"/>
              <a:t>, </a:t>
            </a:r>
            <a:r>
              <a:rPr lang="id-ID" dirty="0"/>
              <a:t>3x3</a:t>
            </a:r>
            <a:r>
              <a:rPr lang="en-US" dirty="0"/>
              <a:t>, </a:t>
            </a:r>
            <a:r>
              <a:rPr lang="id-ID" dirty="0"/>
              <a:t>2x1</a:t>
            </a:r>
            <a:r>
              <a:rPr lang="en-US" dirty="0"/>
              <a:t>, and </a:t>
            </a:r>
            <a:r>
              <a:rPr lang="id-ID" dirty="0"/>
              <a:t>1x1</a:t>
            </a:r>
            <a:r>
              <a:rPr lang="en-US" dirty="0"/>
              <a:t>, respectively.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A matrix with only one column is called a </a:t>
            </a:r>
            <a:r>
              <a:rPr lang="en-US" b="1" i="1" dirty="0"/>
              <a:t>column</a:t>
            </a:r>
            <a:r>
              <a:rPr lang="id-ID" b="1" i="1" dirty="0"/>
              <a:t> </a:t>
            </a:r>
            <a:r>
              <a:rPr lang="en-US" b="1" i="1" dirty="0"/>
              <a:t>vector </a:t>
            </a:r>
            <a:r>
              <a:rPr lang="en-US" dirty="0"/>
              <a:t>or a </a:t>
            </a:r>
            <a:r>
              <a:rPr lang="en-US" b="1" i="1" dirty="0"/>
              <a:t>column matrix</a:t>
            </a:r>
            <a:r>
              <a:rPr lang="en-US" dirty="0"/>
              <a:t>, and a matrix with only</a:t>
            </a:r>
            <a:r>
              <a:rPr lang="id-ID" dirty="0"/>
              <a:t> </a:t>
            </a:r>
            <a:r>
              <a:rPr lang="en-US" dirty="0"/>
              <a:t>one row is called a </a:t>
            </a:r>
            <a:r>
              <a:rPr lang="en-US" b="1" i="1" dirty="0"/>
              <a:t>row vector </a:t>
            </a:r>
            <a:r>
              <a:rPr lang="en-US" dirty="0"/>
              <a:t>or a </a:t>
            </a:r>
            <a:r>
              <a:rPr lang="en-US" b="1" i="1" dirty="0"/>
              <a:t>row matrix</a:t>
            </a:r>
            <a:r>
              <a:rPr lang="en-US" dirty="0"/>
              <a:t>. In</a:t>
            </a:r>
            <a:r>
              <a:rPr lang="id-ID" dirty="0"/>
              <a:t> previous example</a:t>
            </a:r>
            <a:r>
              <a:rPr lang="en-US" dirty="0"/>
              <a:t>, the </a:t>
            </a:r>
            <a:r>
              <a:rPr lang="id-ID" dirty="0"/>
              <a:t>2x1 </a:t>
            </a:r>
            <a:r>
              <a:rPr lang="en-US" dirty="0"/>
              <a:t>matrix is a column vector, the</a:t>
            </a:r>
            <a:r>
              <a:rPr lang="id-ID" dirty="0"/>
              <a:t> 1x4 </a:t>
            </a:r>
            <a:r>
              <a:rPr lang="en-US" dirty="0"/>
              <a:t>matrix is a row vector, and the </a:t>
            </a:r>
            <a:r>
              <a:rPr lang="id-ID" dirty="0"/>
              <a:t>1x1 </a:t>
            </a:r>
            <a:r>
              <a:rPr lang="en-US" dirty="0"/>
              <a:t>matrix</a:t>
            </a:r>
            <a:r>
              <a:rPr lang="id-ID" dirty="0"/>
              <a:t> </a:t>
            </a:r>
            <a:r>
              <a:rPr lang="en-US" dirty="0"/>
              <a:t>is both a row vector and a column vector.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/>
              <a:t>When discussing matrices, it is common to refer to numerical quantities as </a:t>
            </a:r>
            <a:r>
              <a:rPr lang="en-US" b="1" i="1" dirty="0"/>
              <a:t>scalars</a:t>
            </a:r>
            <a:r>
              <a:rPr lang="en-US" dirty="0"/>
              <a:t>. Unless stated otherwise, </a:t>
            </a:r>
            <a:r>
              <a:rPr lang="en-US" i="1" dirty="0"/>
              <a:t>scalars</a:t>
            </a:r>
            <a:r>
              <a:rPr lang="id-ID" i="1" dirty="0"/>
              <a:t> will be real numbers.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57200"/>
            <a:ext cx="6553200" cy="1143000"/>
          </a:xfrm>
        </p:spPr>
        <p:txBody>
          <a:bodyPr/>
          <a:lstStyle/>
          <a:p>
            <a:r>
              <a:rPr lang="id-ID" dirty="0"/>
              <a:t>Basic Terminologies (3/4)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0"/>
            <a:ext cx="7924800" cy="5029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entry that occurs in row </a:t>
            </a:r>
            <a:r>
              <a:rPr lang="en-US" i="1" dirty="0"/>
              <a:t>i </a:t>
            </a:r>
            <a:r>
              <a:rPr lang="en-US" dirty="0"/>
              <a:t>and column </a:t>
            </a:r>
            <a:r>
              <a:rPr lang="en-US" i="1" dirty="0"/>
              <a:t>j </a:t>
            </a:r>
            <a:r>
              <a:rPr lang="en-US" dirty="0"/>
              <a:t>of a matrix </a:t>
            </a:r>
            <a:r>
              <a:rPr lang="en-US" i="1" dirty="0"/>
              <a:t>A </a:t>
            </a:r>
            <a:r>
              <a:rPr lang="en-US" dirty="0"/>
              <a:t>will be denoted by </a:t>
            </a:r>
            <a:r>
              <a:rPr lang="en-US" i="1" dirty="0" err="1"/>
              <a:t>a</a:t>
            </a:r>
            <a:r>
              <a:rPr lang="en-US" i="1" baseline="-25000" dirty="0" err="1"/>
              <a:t>ij</a:t>
            </a:r>
            <a:r>
              <a:rPr lang="en-US" dirty="0"/>
              <a:t>. Thus a general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matrix as 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When a compact notation is desired, the preceding matrix can be written as</a:t>
            </a:r>
            <a:r>
              <a:rPr lang="id-ID" dirty="0"/>
              <a:t> 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 first notation being used when it is important in the discussion to know the size, and the second being used when</a:t>
            </a:r>
            <a:r>
              <a:rPr lang="id-ID" dirty="0"/>
              <a:t> </a:t>
            </a:r>
            <a:r>
              <a:rPr lang="en-US" dirty="0"/>
              <a:t>the size need not be emphasized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r>
              <a:rPr lang="en-US" dirty="0"/>
              <a:t>Usually, we will match the letter denoting a matrix with the letter denoting its</a:t>
            </a:r>
            <a:r>
              <a:rPr lang="id-ID" dirty="0"/>
              <a:t> entries. </a:t>
            </a:r>
            <a:r>
              <a:rPr lang="en-US" dirty="0"/>
              <a:t>The entry in row </a:t>
            </a:r>
            <a:r>
              <a:rPr lang="en-US" i="1" dirty="0"/>
              <a:t>i </a:t>
            </a:r>
            <a:r>
              <a:rPr lang="en-US" dirty="0"/>
              <a:t>and column </a:t>
            </a:r>
            <a:r>
              <a:rPr lang="en-US" i="1" dirty="0"/>
              <a:t>j </a:t>
            </a:r>
            <a:r>
              <a:rPr lang="en-US" dirty="0"/>
              <a:t>of a matrix </a:t>
            </a:r>
            <a:r>
              <a:rPr lang="en-US" i="1" dirty="0"/>
              <a:t>A </a:t>
            </a:r>
            <a:r>
              <a:rPr lang="en-US" dirty="0"/>
              <a:t>is also commonly denoted by the symbol (</a:t>
            </a:r>
            <a:r>
              <a:rPr lang="en-US" i="1" dirty="0"/>
              <a:t>A</a:t>
            </a:r>
            <a:r>
              <a:rPr lang="en-US" dirty="0"/>
              <a:t>)</a:t>
            </a:r>
            <a:r>
              <a:rPr lang="en-US" i="1" baseline="-25000" dirty="0" err="1"/>
              <a:t>ij</a:t>
            </a:r>
            <a:r>
              <a:rPr lang="id-ID" dirty="0"/>
              <a:t> or a</a:t>
            </a:r>
            <a:r>
              <a:rPr lang="id-ID" baseline="-25000" dirty="0"/>
              <a:t>ij</a:t>
            </a:r>
            <a:r>
              <a:rPr lang="id-ID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339" y="2209800"/>
            <a:ext cx="2473802" cy="106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733800"/>
            <a:ext cx="2253341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69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0272" y="533400"/>
            <a:ext cx="6533728" cy="1143000"/>
          </a:xfrm>
        </p:spPr>
        <p:txBody>
          <a:bodyPr/>
          <a:lstStyle/>
          <a:p>
            <a:r>
              <a:rPr lang="id-ID" dirty="0"/>
              <a:t>Basic Terminologies (4/4)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85921"/>
            <a:ext cx="7696200" cy="4157679"/>
          </a:xfrm>
        </p:spPr>
        <p:txBody>
          <a:bodyPr/>
          <a:lstStyle/>
          <a:p>
            <a:pPr marL="0" indent="0">
              <a:buNone/>
            </a:pPr>
            <a:r>
              <a:rPr lang="id-ID" dirty="0">
                <a:cs typeface="Times New Roman"/>
              </a:rPr>
              <a:t>As an example, in the matrix</a:t>
            </a:r>
          </a:p>
          <a:p>
            <a:pPr marL="0" indent="0">
              <a:buNone/>
            </a:pPr>
            <a:endParaRPr lang="id-ID" dirty="0">
              <a:cs typeface="Times New Roman"/>
            </a:endParaRPr>
          </a:p>
          <a:p>
            <a:pPr marL="0" indent="0">
              <a:buNone/>
            </a:pPr>
            <a:endParaRPr lang="id-ID" dirty="0">
              <a:cs typeface="Times New Roman"/>
            </a:endParaRPr>
          </a:p>
          <a:p>
            <a:pPr marL="0" indent="0">
              <a:buNone/>
            </a:pPr>
            <a:r>
              <a:rPr lang="id-ID" dirty="0">
                <a:cs typeface="Times New Roman"/>
              </a:rPr>
              <a:t>we have (A)</a:t>
            </a:r>
            <a:r>
              <a:rPr lang="id-ID" baseline="-25000" dirty="0">
                <a:cs typeface="Times New Roman"/>
              </a:rPr>
              <a:t>11 </a:t>
            </a:r>
            <a:r>
              <a:rPr lang="id-ID" dirty="0">
                <a:cs typeface="Times New Roman"/>
              </a:rPr>
              <a:t>= 2, (A)</a:t>
            </a:r>
            <a:r>
              <a:rPr lang="id-ID" baseline="-25000" dirty="0">
                <a:cs typeface="Times New Roman"/>
              </a:rPr>
              <a:t>12 </a:t>
            </a:r>
            <a:r>
              <a:rPr lang="id-ID" dirty="0">
                <a:cs typeface="Times New Roman"/>
              </a:rPr>
              <a:t>= -3, (A)</a:t>
            </a:r>
            <a:r>
              <a:rPr lang="id-ID" baseline="-25000" dirty="0">
                <a:cs typeface="Times New Roman"/>
              </a:rPr>
              <a:t>21 </a:t>
            </a:r>
            <a:r>
              <a:rPr lang="id-ID" dirty="0">
                <a:cs typeface="Times New Roman"/>
              </a:rPr>
              <a:t>= 7 and (A)</a:t>
            </a:r>
            <a:r>
              <a:rPr lang="id-ID" baseline="-25000" dirty="0">
                <a:cs typeface="Times New Roman"/>
              </a:rPr>
              <a:t>22 </a:t>
            </a:r>
            <a:r>
              <a:rPr lang="id-ID" dirty="0">
                <a:cs typeface="Times New Roman"/>
              </a:rPr>
              <a:t>= 0.</a:t>
            </a:r>
          </a:p>
          <a:p>
            <a:pPr marL="0" indent="0">
              <a:buNone/>
            </a:pPr>
            <a:endParaRPr lang="id-ID" dirty="0">
              <a:cs typeface="Times New Roman"/>
            </a:endParaRPr>
          </a:p>
          <a:p>
            <a:pPr marL="0" indent="0">
              <a:buNone/>
            </a:pPr>
            <a:r>
              <a:rPr lang="en-US" i="1" dirty="0"/>
              <a:t>A </a:t>
            </a:r>
            <a:r>
              <a:rPr lang="en-US" dirty="0"/>
              <a:t>matrix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n </a:t>
            </a:r>
            <a:r>
              <a:rPr lang="en-US" dirty="0"/>
              <a:t>rows and </a:t>
            </a:r>
            <a:r>
              <a:rPr lang="en-US" i="1" dirty="0"/>
              <a:t>n </a:t>
            </a:r>
            <a:r>
              <a:rPr lang="en-US" dirty="0"/>
              <a:t>columns is called a </a:t>
            </a:r>
            <a:r>
              <a:rPr lang="en-US" b="1" i="1" dirty="0"/>
              <a:t>square matrix of order n</a:t>
            </a:r>
            <a:r>
              <a:rPr lang="en-US" dirty="0"/>
              <a:t>, and the shaded entries</a:t>
            </a:r>
            <a:r>
              <a:rPr lang="id-ID" dirty="0"/>
              <a:t> a</a:t>
            </a:r>
            <a:r>
              <a:rPr lang="id-ID" baseline="-25000" dirty="0"/>
              <a:t>11</a:t>
            </a:r>
            <a:r>
              <a:rPr lang="id-ID" dirty="0"/>
              <a:t>, a</a:t>
            </a:r>
            <a:r>
              <a:rPr lang="id-ID" baseline="-25000" dirty="0"/>
              <a:t>22</a:t>
            </a:r>
            <a:r>
              <a:rPr lang="id-ID" dirty="0"/>
              <a:t>, ..., a</a:t>
            </a:r>
            <a:r>
              <a:rPr lang="id-ID" baseline="-25000" dirty="0"/>
              <a:t>nn</a:t>
            </a:r>
            <a:r>
              <a:rPr lang="id-ID" dirty="0"/>
              <a:t> in the matrix below</a:t>
            </a:r>
            <a:r>
              <a:rPr lang="en-US" dirty="0"/>
              <a:t> are said to be on the </a:t>
            </a:r>
            <a:r>
              <a:rPr lang="en-US" b="1" i="1" dirty="0"/>
              <a:t>main diagonal </a:t>
            </a:r>
            <a:r>
              <a:rPr lang="en-US" dirty="0"/>
              <a:t>of </a:t>
            </a:r>
            <a:r>
              <a:rPr lang="en-US" i="1" dirty="0"/>
              <a:t>A</a:t>
            </a:r>
            <a:r>
              <a:rPr lang="en-US" dirty="0"/>
              <a:t>.</a:t>
            </a:r>
            <a:endParaRPr lang="id-ID" dirty="0"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413" y="2114639"/>
            <a:ext cx="1347787" cy="78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622" y="4648200"/>
            <a:ext cx="3149378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135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0272" y="533400"/>
            <a:ext cx="6533728" cy="1143000"/>
          </a:xfrm>
        </p:spPr>
        <p:txBody>
          <a:bodyPr/>
          <a:lstStyle/>
          <a:p>
            <a:r>
              <a:rPr lang="id-ID" b="1" dirty="0"/>
              <a:t>Equality of Matrices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1"/>
            <a:ext cx="7696200" cy="5029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Two matrices are defined to be </a:t>
            </a:r>
            <a:r>
              <a:rPr lang="en-US" b="1" i="1" dirty="0"/>
              <a:t>equal </a:t>
            </a:r>
            <a:r>
              <a:rPr lang="en-US" dirty="0"/>
              <a:t>if they have the same size and their corresponding entries are equal.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The equality of two matrices</a:t>
            </a:r>
            <a:endParaRPr lang="id-ID" dirty="0"/>
          </a:p>
          <a:p>
            <a:pPr marL="0" indent="0" algn="ctr">
              <a:buNone/>
            </a:pPr>
            <a:r>
              <a:rPr lang="id-ID" dirty="0"/>
              <a:t>A=[a</a:t>
            </a:r>
            <a:r>
              <a:rPr lang="id-ID" baseline="-25000" dirty="0"/>
              <a:t>ij</a:t>
            </a:r>
            <a:r>
              <a:rPr lang="id-ID" dirty="0"/>
              <a:t>] and B=[b</a:t>
            </a:r>
            <a:r>
              <a:rPr lang="id-ID" baseline="-25000" dirty="0"/>
              <a:t>ij</a:t>
            </a:r>
            <a:r>
              <a:rPr lang="id-ID" dirty="0"/>
              <a:t>]</a:t>
            </a:r>
          </a:p>
          <a:p>
            <a:pPr marL="0" indent="0" algn="just">
              <a:buNone/>
            </a:pPr>
            <a:r>
              <a:rPr lang="en-US" dirty="0"/>
              <a:t>of the same size can be expressed by writing</a:t>
            </a:r>
            <a:r>
              <a:rPr lang="id-ID" dirty="0"/>
              <a:t> a</a:t>
            </a:r>
            <a:r>
              <a:rPr lang="id-ID" baseline="-25000" dirty="0"/>
              <a:t>ij</a:t>
            </a:r>
            <a:r>
              <a:rPr lang="id-ID" dirty="0"/>
              <a:t>=b</a:t>
            </a:r>
            <a:r>
              <a:rPr lang="id-ID" baseline="-25000" dirty="0"/>
              <a:t>ij</a:t>
            </a:r>
            <a:r>
              <a:rPr lang="id-ID" dirty="0"/>
              <a:t>, for all values of i and j in those matrices.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Example</a:t>
            </a:r>
          </a:p>
          <a:p>
            <a:pPr marL="0" indent="0" algn="just">
              <a:buNone/>
            </a:pPr>
            <a:r>
              <a:rPr lang="id-ID" dirty="0"/>
              <a:t>Consider the matrices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id-ID" dirty="0"/>
              <a:t>x=5</a:t>
            </a:r>
            <a:r>
              <a:rPr lang="en-US" dirty="0"/>
              <a:t> then </a:t>
            </a:r>
            <a:r>
              <a:rPr lang="id-ID" dirty="0"/>
              <a:t>A=B</a:t>
            </a:r>
            <a:r>
              <a:rPr lang="en-US" dirty="0"/>
              <a:t>, but for all other values of </a:t>
            </a:r>
            <a:r>
              <a:rPr lang="en-US" i="1" dirty="0"/>
              <a:t>x </a:t>
            </a:r>
            <a:r>
              <a:rPr lang="en-US" dirty="0"/>
              <a:t>the matrices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not equal, since not all of</a:t>
            </a:r>
            <a:r>
              <a:rPr lang="id-ID" dirty="0"/>
              <a:t> </a:t>
            </a:r>
            <a:r>
              <a:rPr lang="en-US" dirty="0"/>
              <a:t>their corresponding entries are equal. There is no value of </a:t>
            </a:r>
            <a:r>
              <a:rPr lang="en-US" i="1" dirty="0"/>
              <a:t>x </a:t>
            </a:r>
            <a:r>
              <a:rPr lang="en-US" dirty="0"/>
              <a:t>for which</a:t>
            </a:r>
            <a:r>
              <a:rPr lang="id-ID" dirty="0"/>
              <a:t> A=C</a:t>
            </a:r>
            <a:r>
              <a:rPr lang="en-US" dirty="0"/>
              <a:t> since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C </a:t>
            </a:r>
            <a:r>
              <a:rPr lang="en-US" dirty="0"/>
              <a:t>have</a:t>
            </a:r>
            <a:r>
              <a:rPr lang="id-ID"/>
              <a:t> different </a:t>
            </a:r>
            <a:r>
              <a:rPr lang="id-ID" dirty="0"/>
              <a:t>sizes.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800600"/>
            <a:ext cx="403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81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33400"/>
            <a:ext cx="6172200" cy="1143000"/>
          </a:xfrm>
        </p:spPr>
        <p:txBody>
          <a:bodyPr/>
          <a:lstStyle/>
          <a:p>
            <a:r>
              <a:rPr lang="id-ID" b="1" dirty="0"/>
              <a:t>Matrix Addition and Substraction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8001000" cy="44434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matrices of the same size, then the </a:t>
            </a:r>
            <a:r>
              <a:rPr lang="en-US" b="1" i="1" dirty="0"/>
              <a:t>sum </a:t>
            </a:r>
            <a:r>
              <a:rPr lang="id-ID" b="1" i="1" dirty="0"/>
              <a:t>A+B </a:t>
            </a:r>
            <a:r>
              <a:rPr lang="en-US" dirty="0"/>
              <a:t>is the matrix obtained by adding the entries of </a:t>
            </a:r>
            <a:r>
              <a:rPr lang="en-US" i="1" dirty="0"/>
              <a:t>B</a:t>
            </a:r>
            <a:r>
              <a:rPr lang="id-ID" i="1" dirty="0"/>
              <a:t> </a:t>
            </a:r>
            <a:r>
              <a:rPr lang="en-US" dirty="0"/>
              <a:t>to the corresponding entries of </a:t>
            </a:r>
            <a:r>
              <a:rPr lang="en-US" i="1" dirty="0"/>
              <a:t>A</a:t>
            </a:r>
            <a:r>
              <a:rPr lang="en-US" dirty="0"/>
              <a:t>, and the </a:t>
            </a:r>
            <a:r>
              <a:rPr lang="en-US" b="1" i="1" dirty="0"/>
              <a:t>difference </a:t>
            </a:r>
            <a:r>
              <a:rPr lang="id-ID" b="1" i="1" dirty="0"/>
              <a:t>A-B </a:t>
            </a:r>
            <a:r>
              <a:rPr lang="en-US" dirty="0"/>
              <a:t>is the matrix obtained by subtracting the entries of</a:t>
            </a:r>
            <a:r>
              <a:rPr lang="id-ID" dirty="0"/>
              <a:t> </a:t>
            </a:r>
            <a:r>
              <a:rPr lang="en-US" i="1" dirty="0"/>
              <a:t>B </a:t>
            </a:r>
            <a:r>
              <a:rPr lang="en-US" dirty="0"/>
              <a:t>from the corresponding entries of </a:t>
            </a:r>
            <a:r>
              <a:rPr lang="en-US" i="1" dirty="0"/>
              <a:t>A</a:t>
            </a:r>
            <a:r>
              <a:rPr lang="en-US" dirty="0"/>
              <a:t>. Matrices of different sizes cannot be added or subtracted.</a:t>
            </a:r>
            <a:endParaRPr lang="id-ID" dirty="0"/>
          </a:p>
          <a:p>
            <a:pPr marL="0" indent="0" algn="just">
              <a:buNone/>
            </a:pPr>
            <a:endParaRPr lang="id-ID" dirty="0">
              <a:cs typeface="Times New Roman"/>
            </a:endParaRPr>
          </a:p>
          <a:p>
            <a:pPr marL="0" indent="0" algn="just">
              <a:buNone/>
            </a:pPr>
            <a:r>
              <a:rPr lang="en-US" dirty="0"/>
              <a:t>In matrix notation, if</a:t>
            </a:r>
            <a:r>
              <a:rPr lang="id-ID" dirty="0"/>
              <a:t> A=[a</a:t>
            </a:r>
            <a:r>
              <a:rPr lang="id-ID" baseline="-25000" dirty="0"/>
              <a:t>ij</a:t>
            </a:r>
            <a:r>
              <a:rPr lang="id-ID" dirty="0"/>
              <a:t>]</a:t>
            </a:r>
            <a:r>
              <a:rPr lang="en-US" dirty="0"/>
              <a:t> and </a:t>
            </a:r>
            <a:r>
              <a:rPr lang="id-ID" dirty="0"/>
              <a:t>B=[b</a:t>
            </a:r>
            <a:r>
              <a:rPr lang="id-ID" baseline="-25000" dirty="0"/>
              <a:t>ij</a:t>
            </a:r>
            <a:r>
              <a:rPr lang="id-ID" dirty="0"/>
              <a:t>] </a:t>
            </a:r>
            <a:r>
              <a:rPr lang="en-US" dirty="0"/>
              <a:t>have the same size, then</a:t>
            </a:r>
            <a:endParaRPr lang="id-ID" dirty="0"/>
          </a:p>
          <a:p>
            <a:pPr marL="0" indent="0" algn="ctr">
              <a:buNone/>
            </a:pPr>
            <a:r>
              <a:rPr lang="id-ID" dirty="0">
                <a:cs typeface="Times New Roman"/>
              </a:rPr>
              <a:t>(A+B)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= (A)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+(B)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= a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+b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</a:t>
            </a:r>
          </a:p>
          <a:p>
            <a:pPr marL="0" indent="0" algn="ctr">
              <a:buNone/>
            </a:pPr>
            <a:r>
              <a:rPr lang="id-ID" dirty="0">
                <a:cs typeface="Times New Roman"/>
              </a:rPr>
              <a:t>and</a:t>
            </a:r>
          </a:p>
          <a:p>
            <a:pPr marL="0" indent="0" algn="ctr">
              <a:buNone/>
            </a:pPr>
            <a:r>
              <a:rPr lang="id-ID" dirty="0">
                <a:cs typeface="Times New Roman"/>
              </a:rPr>
              <a:t>(A-B)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= (A)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-(B)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= a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-b</a:t>
            </a:r>
            <a:r>
              <a:rPr lang="id-ID" baseline="-25000" dirty="0">
                <a:cs typeface="Times New Roman"/>
              </a:rPr>
              <a:t>ij</a:t>
            </a:r>
            <a:r>
              <a:rPr lang="id-ID" dirty="0">
                <a:cs typeface="Times New Roman"/>
              </a:rPr>
              <a:t> </a:t>
            </a:r>
          </a:p>
          <a:p>
            <a:pPr marL="0" indent="0" algn="just">
              <a:buNone/>
            </a:pPr>
            <a:endParaRPr lang="en-US" dirty="0"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609600"/>
            <a:ext cx="7067128" cy="1143000"/>
          </a:xfrm>
        </p:spPr>
        <p:txBody>
          <a:bodyPr/>
          <a:lstStyle/>
          <a:p>
            <a:r>
              <a:rPr lang="id-ID" b="1" dirty="0">
                <a:cs typeface="Times New Roman"/>
              </a:rPr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7696200" cy="4514869"/>
          </a:xfrm>
        </p:spPr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7775701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38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609600"/>
            <a:ext cx="7067128" cy="1143000"/>
          </a:xfrm>
        </p:spPr>
        <p:txBody>
          <a:bodyPr/>
          <a:lstStyle/>
          <a:p>
            <a:r>
              <a:rPr lang="id-ID" b="1" dirty="0">
                <a:latin typeface="Arial" pitchFamily="34" charset="0"/>
                <a:cs typeface="Arial" pitchFamily="34" charset="0"/>
              </a:rPr>
              <a:t>Scalar Multiplication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828800"/>
            <a:ext cx="7696200" cy="4229117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any matrix and </a:t>
            </a:r>
            <a:r>
              <a:rPr lang="en-US" i="1" dirty="0"/>
              <a:t>c </a:t>
            </a:r>
            <a:r>
              <a:rPr lang="en-US" dirty="0"/>
              <a:t>is any scalar, then the </a:t>
            </a:r>
            <a:r>
              <a:rPr lang="en-US" b="1" i="1" dirty="0"/>
              <a:t>product </a:t>
            </a:r>
            <a:r>
              <a:rPr lang="en-US" i="1" dirty="0"/>
              <a:t>c</a:t>
            </a:r>
            <a:r>
              <a:rPr lang="id-ID" i="1" dirty="0"/>
              <a:t>.</a:t>
            </a:r>
            <a:r>
              <a:rPr lang="en-US" i="1" dirty="0"/>
              <a:t>A </a:t>
            </a:r>
            <a:r>
              <a:rPr lang="en-US" dirty="0"/>
              <a:t>is the matrix obtained by multiplying each entry of</a:t>
            </a:r>
            <a:r>
              <a:rPr lang="id-ID" dirty="0"/>
              <a:t> </a:t>
            </a:r>
            <a:r>
              <a:rPr lang="en-US" dirty="0"/>
              <a:t>the matrix </a:t>
            </a:r>
            <a:r>
              <a:rPr lang="en-US" i="1" dirty="0"/>
              <a:t>A </a:t>
            </a:r>
            <a:r>
              <a:rPr lang="en-US" dirty="0"/>
              <a:t>by </a:t>
            </a:r>
            <a:r>
              <a:rPr lang="en-US" i="1" dirty="0"/>
              <a:t>c</a:t>
            </a:r>
            <a:r>
              <a:rPr lang="en-US" dirty="0"/>
              <a:t>. The matrix </a:t>
            </a:r>
            <a:r>
              <a:rPr lang="en-US" i="1" dirty="0"/>
              <a:t>c</a:t>
            </a:r>
            <a:r>
              <a:rPr lang="id-ID" i="1" dirty="0"/>
              <a:t>.</a:t>
            </a:r>
            <a:r>
              <a:rPr lang="en-US" i="1" dirty="0"/>
              <a:t>A </a:t>
            </a:r>
            <a:r>
              <a:rPr lang="en-US" dirty="0"/>
              <a:t>is said to be a </a:t>
            </a:r>
            <a:r>
              <a:rPr lang="en-US" b="1" i="1" dirty="0"/>
              <a:t>scalar multiple </a:t>
            </a:r>
            <a:r>
              <a:rPr lang="en-US" dirty="0"/>
              <a:t>of </a:t>
            </a:r>
            <a:r>
              <a:rPr lang="en-US" i="1" dirty="0"/>
              <a:t>A</a:t>
            </a:r>
            <a:r>
              <a:rPr lang="en-US" dirty="0"/>
              <a:t>.</a:t>
            </a:r>
            <a:endParaRPr lang="id-ID" dirty="0"/>
          </a:p>
          <a:p>
            <a:pPr marL="0" indent="0" algn="just">
              <a:buNone/>
            </a:pPr>
            <a:r>
              <a:rPr lang="id-ID" dirty="0">
                <a:latin typeface="Arial" pitchFamily="34" charset="0"/>
                <a:cs typeface="Arial" pitchFamily="34" charset="0"/>
              </a:rPr>
              <a:t>In matrix notation, if A=[a</a:t>
            </a:r>
            <a:r>
              <a:rPr lang="id-ID" baseline="-25000" dirty="0">
                <a:latin typeface="Arial" pitchFamily="34" charset="0"/>
                <a:cs typeface="Arial" pitchFamily="34" charset="0"/>
              </a:rPr>
              <a:t>ij</a:t>
            </a:r>
            <a:r>
              <a:rPr lang="id-ID" dirty="0">
                <a:latin typeface="Arial" pitchFamily="34" charset="0"/>
                <a:cs typeface="Arial" pitchFamily="34" charset="0"/>
              </a:rPr>
              <a:t>], then</a:t>
            </a:r>
          </a:p>
          <a:p>
            <a:pPr marL="0" indent="0" algn="ctr">
              <a:buNone/>
            </a:pPr>
            <a:r>
              <a:rPr lang="id-ID" dirty="0">
                <a:latin typeface="Arial" pitchFamily="34" charset="0"/>
                <a:cs typeface="Arial" pitchFamily="34" charset="0"/>
              </a:rPr>
              <a:t>(c.A)</a:t>
            </a:r>
            <a:r>
              <a:rPr lang="id-ID" baseline="-25000" dirty="0">
                <a:latin typeface="Arial" pitchFamily="34" charset="0"/>
                <a:cs typeface="Arial" pitchFamily="34" charset="0"/>
              </a:rPr>
              <a:t>ij</a:t>
            </a:r>
            <a:r>
              <a:rPr lang="id-ID" dirty="0">
                <a:latin typeface="Arial" pitchFamily="34" charset="0"/>
                <a:cs typeface="Arial" pitchFamily="34" charset="0"/>
              </a:rPr>
              <a:t> = c.(A)</a:t>
            </a:r>
            <a:r>
              <a:rPr lang="id-ID" baseline="-25000" dirty="0">
                <a:latin typeface="Arial" pitchFamily="34" charset="0"/>
                <a:cs typeface="Arial" pitchFamily="34" charset="0"/>
              </a:rPr>
              <a:t>ij</a:t>
            </a:r>
            <a:r>
              <a:rPr lang="id-ID" dirty="0">
                <a:latin typeface="Arial" pitchFamily="34" charset="0"/>
                <a:cs typeface="Arial" pitchFamily="34" charset="0"/>
              </a:rPr>
              <a:t> = c.a</a:t>
            </a:r>
            <a:r>
              <a:rPr lang="id-ID" baseline="-25000" dirty="0">
                <a:latin typeface="Arial" pitchFamily="34" charset="0"/>
                <a:cs typeface="Arial" pitchFamily="34" charset="0"/>
              </a:rPr>
              <a:t>ij</a:t>
            </a:r>
          </a:p>
          <a:p>
            <a:pPr marL="0" indent="0" algn="just">
              <a:buNone/>
            </a:pPr>
            <a:r>
              <a:rPr lang="id-ID" b="1" dirty="0">
                <a:latin typeface="Arial" pitchFamily="34" charset="0"/>
                <a:cs typeface="Arial" pitchFamily="34" charset="0"/>
              </a:rPr>
              <a:t>Example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343400"/>
            <a:ext cx="7010400" cy="226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593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533400"/>
            <a:ext cx="7067128" cy="1143000"/>
          </a:xfrm>
        </p:spPr>
        <p:txBody>
          <a:bodyPr/>
          <a:lstStyle/>
          <a:p>
            <a:r>
              <a:rPr lang="id-ID" b="1" dirty="0">
                <a:latin typeface="Arial" pitchFamily="34" charset="0"/>
                <a:cs typeface="Arial" pitchFamily="34" charset="0"/>
              </a:rPr>
              <a:t>Matrix Multiplication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76400"/>
            <a:ext cx="76200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r</a:t>
            </a:r>
            <a:r>
              <a:rPr lang="id-ID" dirty="0"/>
              <a:t> </a:t>
            </a:r>
            <a:r>
              <a:rPr lang="en-US" dirty="0"/>
              <a:t>an matrix and </a:t>
            </a:r>
            <a:r>
              <a:rPr lang="en-US" i="1" dirty="0"/>
              <a:t>B </a:t>
            </a:r>
            <a:r>
              <a:rPr lang="en-US" dirty="0"/>
              <a:t>is an </a:t>
            </a:r>
            <a:r>
              <a:rPr lang="id-ID" i="1" dirty="0"/>
              <a:t>r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matrix, then the </a:t>
            </a:r>
            <a:r>
              <a:rPr lang="en-US" b="1" i="1" dirty="0"/>
              <a:t>product </a:t>
            </a:r>
            <a:r>
              <a:rPr lang="en-US" i="1" dirty="0"/>
              <a:t>AB </a:t>
            </a:r>
            <a:r>
              <a:rPr lang="en-US" dirty="0"/>
              <a:t>is the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matrix whose entries </a:t>
            </a:r>
            <a:r>
              <a:rPr lang="en-US" dirty="0" err="1"/>
              <a:t>ar</a:t>
            </a:r>
            <a:r>
              <a:rPr lang="id-ID" dirty="0"/>
              <a:t>e </a:t>
            </a:r>
            <a:r>
              <a:rPr lang="en-US" dirty="0"/>
              <a:t>determined as follows: To find the entry in row </a:t>
            </a:r>
            <a:r>
              <a:rPr lang="en-US" i="1" dirty="0"/>
              <a:t>i </a:t>
            </a:r>
            <a:r>
              <a:rPr lang="en-US" dirty="0"/>
              <a:t>and column </a:t>
            </a:r>
            <a:r>
              <a:rPr lang="en-US" i="1" dirty="0"/>
              <a:t>j </a:t>
            </a:r>
            <a:r>
              <a:rPr lang="en-US" dirty="0"/>
              <a:t>of </a:t>
            </a:r>
            <a:r>
              <a:rPr lang="en-US" i="1" dirty="0"/>
              <a:t>AB</a:t>
            </a:r>
            <a:r>
              <a:rPr lang="en-US" dirty="0"/>
              <a:t>, single out row </a:t>
            </a:r>
            <a:r>
              <a:rPr lang="en-US" i="1" dirty="0"/>
              <a:t>i </a:t>
            </a:r>
            <a:r>
              <a:rPr lang="en-US" dirty="0"/>
              <a:t>from the matrix </a:t>
            </a:r>
            <a:r>
              <a:rPr lang="en-US" i="1" dirty="0"/>
              <a:t>A </a:t>
            </a:r>
            <a:r>
              <a:rPr lang="en-US" dirty="0"/>
              <a:t>and</a:t>
            </a:r>
            <a:r>
              <a:rPr lang="id-ID" dirty="0"/>
              <a:t> </a:t>
            </a:r>
            <a:r>
              <a:rPr lang="en-US" dirty="0"/>
              <a:t>column </a:t>
            </a:r>
            <a:r>
              <a:rPr lang="en-US" i="1" dirty="0"/>
              <a:t>j </a:t>
            </a:r>
            <a:r>
              <a:rPr lang="en-US" dirty="0"/>
              <a:t>from the matrix </a:t>
            </a:r>
            <a:r>
              <a:rPr lang="en-US" i="1" dirty="0"/>
              <a:t>B</a:t>
            </a:r>
            <a:r>
              <a:rPr lang="en-US" dirty="0"/>
              <a:t>. Multiply the corresponding entries from the row and column together, and then</a:t>
            </a:r>
            <a:r>
              <a:rPr lang="id-ID" dirty="0"/>
              <a:t> </a:t>
            </a:r>
            <a:r>
              <a:rPr lang="en-US" dirty="0"/>
              <a:t>add up the resulting products.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14800"/>
            <a:ext cx="430730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876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609600"/>
            <a:ext cx="7067128" cy="1143000"/>
          </a:xfrm>
        </p:spPr>
        <p:txBody>
          <a:bodyPr/>
          <a:lstStyle/>
          <a:p>
            <a:r>
              <a:rPr lang="id-ID" b="1" dirty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848600" cy="4514869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853059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64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0102" y="533400"/>
            <a:ext cx="6267698" cy="1143000"/>
          </a:xfrm>
        </p:spPr>
        <p:txBody>
          <a:bodyPr/>
          <a:lstStyle/>
          <a:p>
            <a:r>
              <a:rPr lang="id-ID" sz="2800" b="1" dirty="0"/>
              <a:t>Example (Cont.)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620000" cy="4343400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28800"/>
            <a:ext cx="7613823" cy="416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0848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General Formula of Matrix Multiplication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14483"/>
            <a:ext cx="7696200" cy="48387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dirty="0"/>
              <a:t>I</a:t>
            </a:r>
            <a:r>
              <a:rPr lang="en-US" dirty="0"/>
              <a:t>f </a:t>
            </a:r>
            <a:r>
              <a:rPr lang="id-ID" dirty="0"/>
              <a:t>A=[a</a:t>
            </a:r>
            <a:r>
              <a:rPr lang="id-ID" baseline="-25000" dirty="0"/>
              <a:t>ij</a:t>
            </a:r>
            <a:r>
              <a:rPr lang="id-ID" dirty="0"/>
              <a:t>] </a:t>
            </a:r>
            <a:r>
              <a:rPr lang="en-US" dirty="0"/>
              <a:t>is an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r</a:t>
            </a:r>
            <a:r>
              <a:rPr lang="id-ID" dirty="0"/>
              <a:t> </a:t>
            </a:r>
            <a:r>
              <a:rPr lang="en-US" dirty="0"/>
              <a:t>matrix and </a:t>
            </a:r>
            <a:r>
              <a:rPr lang="id-ID" dirty="0"/>
              <a:t>B=[b</a:t>
            </a:r>
            <a:r>
              <a:rPr lang="id-ID" baseline="-25000" dirty="0"/>
              <a:t>ij</a:t>
            </a:r>
            <a:r>
              <a:rPr lang="id-ID" dirty="0"/>
              <a:t>] </a:t>
            </a:r>
            <a:r>
              <a:rPr lang="en-US" dirty="0"/>
              <a:t>is an </a:t>
            </a:r>
            <a:r>
              <a:rPr lang="id-ID" i="1" dirty="0"/>
              <a:t>r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matrix, then</a:t>
            </a:r>
            <a:r>
              <a:rPr lang="id-ID" dirty="0"/>
              <a:t> 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the entry (AB)ij in row i and column j of AB is given by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Notes : </a:t>
            </a:r>
            <a:r>
              <a:rPr lang="en-US" dirty="0"/>
              <a:t>Suppose that </a:t>
            </a:r>
            <a:r>
              <a:rPr lang="en-US" i="1" dirty="0"/>
              <a:t>A, B</a:t>
            </a:r>
            <a:r>
              <a:rPr lang="en-US" dirty="0"/>
              <a:t>, and </a:t>
            </a:r>
            <a:r>
              <a:rPr lang="en-US" i="1" dirty="0"/>
              <a:t>C </a:t>
            </a:r>
            <a:r>
              <a:rPr lang="en-US" dirty="0"/>
              <a:t>are </a:t>
            </a:r>
            <a:r>
              <a:rPr lang="id-ID" dirty="0"/>
              <a:t>3x4, 4x7 and 7x3 matrices, respectively. </a:t>
            </a:r>
            <a:r>
              <a:rPr lang="en-US" dirty="0"/>
              <a:t>The</a:t>
            </a:r>
            <a:r>
              <a:rPr lang="id-ID" dirty="0"/>
              <a:t>n</a:t>
            </a:r>
            <a:r>
              <a:rPr lang="en-US" dirty="0"/>
              <a:t>, </a:t>
            </a:r>
            <a:r>
              <a:rPr lang="en-US" i="1" dirty="0"/>
              <a:t>AB </a:t>
            </a:r>
            <a:r>
              <a:rPr lang="en-US" dirty="0"/>
              <a:t>is defined and is a </a:t>
            </a:r>
            <a:r>
              <a:rPr lang="id-ID" dirty="0"/>
              <a:t>3x7 </a:t>
            </a:r>
            <a:r>
              <a:rPr lang="en-US" dirty="0"/>
              <a:t>matrix; </a:t>
            </a:r>
            <a:r>
              <a:rPr lang="en-US" i="1" dirty="0"/>
              <a:t>BC </a:t>
            </a:r>
            <a:r>
              <a:rPr lang="en-US" dirty="0"/>
              <a:t>is defined and is a </a:t>
            </a:r>
            <a:r>
              <a:rPr lang="id-ID" dirty="0"/>
              <a:t>4x3 </a:t>
            </a:r>
            <a:r>
              <a:rPr lang="en-US" dirty="0"/>
              <a:t>matrix; and </a:t>
            </a:r>
            <a:r>
              <a:rPr lang="en-US" i="1" dirty="0"/>
              <a:t>CA </a:t>
            </a:r>
            <a:r>
              <a:rPr lang="en-US" dirty="0"/>
              <a:t>is defined</a:t>
            </a:r>
            <a:r>
              <a:rPr lang="id-ID" dirty="0"/>
              <a:t> </a:t>
            </a:r>
            <a:r>
              <a:rPr lang="en-US" dirty="0"/>
              <a:t>and is a </a:t>
            </a:r>
            <a:r>
              <a:rPr lang="id-ID" dirty="0"/>
              <a:t>7x4 </a:t>
            </a:r>
            <a:r>
              <a:rPr lang="en-US" dirty="0"/>
              <a:t>matrix. The products </a:t>
            </a:r>
            <a:r>
              <a:rPr lang="en-US" i="1" dirty="0"/>
              <a:t>AC, CB</a:t>
            </a:r>
            <a:r>
              <a:rPr lang="en-US" dirty="0"/>
              <a:t>, and </a:t>
            </a:r>
            <a:r>
              <a:rPr lang="en-US" i="1" dirty="0"/>
              <a:t>BA </a:t>
            </a:r>
            <a:r>
              <a:rPr lang="en-US" dirty="0"/>
              <a:t>are all undefined.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784" y="2133600"/>
            <a:ext cx="6986016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343400"/>
            <a:ext cx="530270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2438400" y="2971800"/>
            <a:ext cx="274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38400" y="3276600"/>
            <a:ext cx="27553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438400" y="2971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181600" y="2971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865314" y="2057400"/>
            <a:ext cx="3736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858000" y="3733800"/>
            <a:ext cx="3736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858000" y="2057400"/>
            <a:ext cx="7314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239000" y="2057400"/>
            <a:ext cx="7314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460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872" y="457200"/>
            <a:ext cx="6609928" cy="1143000"/>
          </a:xfrm>
        </p:spPr>
        <p:txBody>
          <a:bodyPr/>
          <a:lstStyle/>
          <a:p>
            <a:r>
              <a:rPr lang="id-ID" dirty="0"/>
              <a:t>Matrix Form of a Linear System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467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Matrix multiplication has an important application to systems of linear equations. Consider a system of </a:t>
            </a:r>
            <a:r>
              <a:rPr lang="en-US" i="1" dirty="0"/>
              <a:t>m </a:t>
            </a:r>
            <a:r>
              <a:rPr lang="en-US" dirty="0"/>
              <a:t>linear</a:t>
            </a:r>
            <a:r>
              <a:rPr lang="id-ID" dirty="0"/>
              <a:t> equations in </a:t>
            </a:r>
            <a:r>
              <a:rPr lang="id-ID" i="1" dirty="0"/>
              <a:t>n </a:t>
            </a:r>
            <a:r>
              <a:rPr lang="id-ID" dirty="0"/>
              <a:t>unknowns: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/>
              <a:t>Since two matrices are equal if and only if their corresponding entries are equal, we can replace the </a:t>
            </a:r>
            <a:r>
              <a:rPr lang="en-US" i="1" dirty="0"/>
              <a:t>m </a:t>
            </a:r>
            <a:r>
              <a:rPr lang="en-US" dirty="0"/>
              <a:t>equations in</a:t>
            </a:r>
            <a:r>
              <a:rPr lang="id-ID" dirty="0"/>
              <a:t> </a:t>
            </a:r>
            <a:r>
              <a:rPr lang="en-US" dirty="0"/>
              <a:t>this system by the single matrix equation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908" y="2590800"/>
            <a:ext cx="4771292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923" y="5086350"/>
            <a:ext cx="4844477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1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Matrix Form of a</a:t>
            </a:r>
            <a:br>
              <a:rPr lang="id-ID" dirty="0"/>
            </a:br>
            <a:r>
              <a:rPr lang="id-ID" dirty="0"/>
              <a:t>Linear System (Cont.)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The </a:t>
            </a:r>
            <a:r>
              <a:rPr lang="id-ID" sz="1800" i="1" dirty="0"/>
              <a:t>m</a:t>
            </a:r>
            <a:r>
              <a:rPr lang="id-ID" sz="1800" dirty="0"/>
              <a:t> x 1 </a:t>
            </a:r>
            <a:r>
              <a:rPr lang="en-US" sz="1800" dirty="0"/>
              <a:t>matrix on the left side of this equation can be written as a product to give</a:t>
            </a:r>
            <a:endParaRPr lang="id-ID" sz="1800" dirty="0"/>
          </a:p>
          <a:p>
            <a:pPr marL="0" indent="0" algn="just">
              <a:buNone/>
            </a:pPr>
            <a:endParaRPr lang="id-ID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1800" dirty="0"/>
              <a:t>If we designate these matrices by </a:t>
            </a:r>
            <a:r>
              <a:rPr lang="en-US" sz="1800" i="1" dirty="0"/>
              <a:t>A</a:t>
            </a:r>
            <a:r>
              <a:rPr lang="en-US" sz="1800" dirty="0"/>
              <a:t>, </a:t>
            </a:r>
            <a:r>
              <a:rPr lang="en-US" sz="1800" b="1" dirty="0"/>
              <a:t>x</a:t>
            </a:r>
            <a:r>
              <a:rPr lang="en-US" sz="1800" dirty="0"/>
              <a:t>, and </a:t>
            </a:r>
            <a:r>
              <a:rPr lang="en-US" sz="1800" b="1" dirty="0"/>
              <a:t>b</a:t>
            </a:r>
            <a:r>
              <a:rPr lang="en-US" sz="1800" dirty="0"/>
              <a:t>, respectively, then we can replace the original system of </a:t>
            </a:r>
            <a:r>
              <a:rPr lang="en-US" sz="1800" i="1" dirty="0"/>
              <a:t>m </a:t>
            </a:r>
            <a:r>
              <a:rPr lang="en-US" sz="1800" dirty="0"/>
              <a:t>equations in</a:t>
            </a:r>
            <a:r>
              <a:rPr lang="id-ID" sz="1800" dirty="0"/>
              <a:t> </a:t>
            </a:r>
            <a:r>
              <a:rPr lang="en-US" sz="1800" i="1" dirty="0"/>
              <a:t>n </a:t>
            </a:r>
            <a:r>
              <a:rPr lang="en-US" sz="1800" dirty="0"/>
              <a:t>unknowns has been replaced by the single matrix equation</a:t>
            </a:r>
            <a:endParaRPr lang="id-ID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id-ID" sz="1800" dirty="0">
                <a:latin typeface="Arial" pitchFamily="34" charset="0"/>
                <a:cs typeface="Arial" pitchFamily="34" charset="0"/>
              </a:rPr>
              <a:t>A.</a:t>
            </a:r>
            <a:r>
              <a:rPr lang="id-ID" sz="1800" b="1" dirty="0">
                <a:latin typeface="Arial" pitchFamily="34" charset="0"/>
                <a:cs typeface="Arial" pitchFamily="34" charset="0"/>
              </a:rPr>
              <a:t>x</a:t>
            </a:r>
            <a:r>
              <a:rPr lang="id-ID" sz="1800" dirty="0">
                <a:latin typeface="Arial" pitchFamily="34" charset="0"/>
                <a:cs typeface="Arial" pitchFamily="34" charset="0"/>
              </a:rPr>
              <a:t>=</a:t>
            </a:r>
            <a:r>
              <a:rPr lang="id-ID" sz="1800" b="1" dirty="0">
                <a:latin typeface="Arial" pitchFamily="34" charset="0"/>
                <a:cs typeface="Arial" pitchFamily="34" charset="0"/>
              </a:rPr>
              <a:t>b</a:t>
            </a:r>
          </a:p>
          <a:p>
            <a:pPr marL="0" indent="0" algn="just">
              <a:buNone/>
            </a:pPr>
            <a:r>
              <a:rPr lang="en-US" sz="1800" dirty="0"/>
              <a:t>The matrix </a:t>
            </a:r>
            <a:r>
              <a:rPr lang="en-US" sz="1800" i="1" dirty="0"/>
              <a:t>A </a:t>
            </a:r>
            <a:r>
              <a:rPr lang="en-US" sz="1800" dirty="0"/>
              <a:t>in this equation is called the </a:t>
            </a:r>
            <a:r>
              <a:rPr lang="en-US" sz="1800" b="1" i="1" dirty="0"/>
              <a:t>coefficient matrix </a:t>
            </a:r>
            <a:r>
              <a:rPr lang="en-US" sz="1800" dirty="0"/>
              <a:t>of the system. The </a:t>
            </a:r>
            <a:r>
              <a:rPr lang="en-US" sz="1800" b="1" i="1" dirty="0"/>
              <a:t>augmented matrix </a:t>
            </a:r>
            <a:r>
              <a:rPr lang="en-US" sz="1800" dirty="0"/>
              <a:t>for the system is</a:t>
            </a:r>
            <a:r>
              <a:rPr lang="id-ID" sz="1800" dirty="0"/>
              <a:t> </a:t>
            </a:r>
            <a:r>
              <a:rPr lang="en-US" sz="1800" dirty="0"/>
              <a:t>obtained by adjoining </a:t>
            </a:r>
            <a:r>
              <a:rPr lang="en-US" sz="1800" b="1" dirty="0"/>
              <a:t>b </a:t>
            </a:r>
            <a:r>
              <a:rPr lang="en-US" sz="1800" dirty="0"/>
              <a:t>to </a:t>
            </a:r>
            <a:r>
              <a:rPr lang="en-US" sz="1800" i="1" dirty="0"/>
              <a:t>A </a:t>
            </a:r>
            <a:r>
              <a:rPr lang="en-US" sz="1800" dirty="0"/>
              <a:t>as the last column; thus the augmented matrix is</a:t>
            </a:r>
            <a:endParaRPr lang="id-ID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8" y="1981200"/>
            <a:ext cx="379608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422" y="5334000"/>
            <a:ext cx="3478378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873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Transpose of a Matrix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any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matrix, then the </a:t>
            </a:r>
            <a:r>
              <a:rPr lang="en-US" b="1" i="1" dirty="0"/>
              <a:t>transpose of A</a:t>
            </a:r>
            <a:r>
              <a:rPr lang="en-US" dirty="0"/>
              <a:t>, denoted by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dirty="0"/>
              <a:t>, is defined to be the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m</a:t>
            </a:r>
            <a:r>
              <a:rPr lang="id-ID" dirty="0"/>
              <a:t> </a:t>
            </a:r>
            <a:r>
              <a:rPr lang="en-US" dirty="0"/>
              <a:t>matrix that results</a:t>
            </a:r>
            <a:r>
              <a:rPr lang="id-ID" dirty="0"/>
              <a:t> </a:t>
            </a:r>
            <a:r>
              <a:rPr lang="en-US" dirty="0"/>
              <a:t>by interchanging the rows and columns of </a:t>
            </a:r>
            <a:r>
              <a:rPr lang="en-US" i="1" dirty="0"/>
              <a:t>A</a:t>
            </a:r>
            <a:r>
              <a:rPr lang="en-US" dirty="0"/>
              <a:t>; that is, the first column of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is the first row of </a:t>
            </a:r>
            <a:r>
              <a:rPr lang="en-US" i="1" dirty="0"/>
              <a:t>A</a:t>
            </a:r>
            <a:r>
              <a:rPr lang="en-US" dirty="0"/>
              <a:t>, the second</a:t>
            </a:r>
            <a:r>
              <a:rPr lang="id-ID" dirty="0"/>
              <a:t> </a:t>
            </a:r>
            <a:r>
              <a:rPr lang="en-US" dirty="0"/>
              <a:t>column of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is the second row of </a:t>
            </a:r>
            <a:r>
              <a:rPr lang="en-US" i="1" dirty="0"/>
              <a:t>A</a:t>
            </a:r>
            <a:r>
              <a:rPr lang="en-US" dirty="0"/>
              <a:t>, and so forth.</a:t>
            </a:r>
            <a:endParaRPr lang="id-ID" dirty="0"/>
          </a:p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r>
              <a:rPr lang="id-ID" b="1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The following are some examples of matrices and their transposes.</a:t>
            </a:r>
            <a:endParaRPr lang="id-ID" dirty="0"/>
          </a:p>
          <a:p>
            <a:pPr marL="0" indent="0" algn="just">
              <a:buNone/>
            </a:pPr>
            <a:endParaRPr lang="id-ID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19600"/>
            <a:ext cx="5984461" cy="2128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280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Transpose of a Matrix (Cont.)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Observe that not only are the columns of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the rows of </a:t>
            </a:r>
            <a:r>
              <a:rPr lang="en-US" i="1" dirty="0"/>
              <a:t>A</a:t>
            </a:r>
            <a:r>
              <a:rPr lang="en-US" dirty="0"/>
              <a:t>, but the rows of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are the columns of </a:t>
            </a:r>
            <a:r>
              <a:rPr lang="en-US" i="1" dirty="0"/>
              <a:t>A</a:t>
            </a:r>
            <a:r>
              <a:rPr lang="en-US" dirty="0"/>
              <a:t>. Thus the entry in</a:t>
            </a:r>
            <a:r>
              <a:rPr lang="id-ID" dirty="0"/>
              <a:t> </a:t>
            </a:r>
            <a:r>
              <a:rPr lang="en-US" dirty="0"/>
              <a:t>row </a:t>
            </a:r>
            <a:r>
              <a:rPr lang="en-US" i="1" dirty="0"/>
              <a:t>i </a:t>
            </a:r>
            <a:r>
              <a:rPr lang="en-US" dirty="0"/>
              <a:t>and column </a:t>
            </a:r>
            <a:r>
              <a:rPr lang="en-US" i="1" dirty="0"/>
              <a:t>j </a:t>
            </a:r>
            <a:r>
              <a:rPr lang="en-US" dirty="0"/>
              <a:t>of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is the entry in row </a:t>
            </a:r>
            <a:r>
              <a:rPr lang="en-US" i="1" dirty="0"/>
              <a:t>j </a:t>
            </a:r>
            <a:r>
              <a:rPr lang="en-US" dirty="0"/>
              <a:t>and column </a:t>
            </a:r>
            <a:r>
              <a:rPr lang="en-US" i="1" dirty="0"/>
              <a:t>i </a:t>
            </a:r>
            <a:r>
              <a:rPr lang="en-US" dirty="0"/>
              <a:t>of </a:t>
            </a:r>
            <a:r>
              <a:rPr lang="en-US" i="1" dirty="0"/>
              <a:t>A</a:t>
            </a:r>
            <a:r>
              <a:rPr lang="en-US" dirty="0"/>
              <a:t>; that is,</a:t>
            </a:r>
          </a:p>
          <a:p>
            <a:pPr marL="0" indent="0" algn="ctr">
              <a:buNone/>
            </a:pPr>
            <a:r>
              <a:rPr lang="id-ID" dirty="0"/>
              <a:t>(A</a:t>
            </a:r>
            <a:r>
              <a:rPr lang="id-ID" baseline="30000" dirty="0"/>
              <a:t>T</a:t>
            </a:r>
            <a:r>
              <a:rPr lang="id-ID" dirty="0"/>
              <a:t>)</a:t>
            </a:r>
            <a:r>
              <a:rPr lang="id-ID" baseline="-25000" dirty="0"/>
              <a:t>ij</a:t>
            </a:r>
            <a:r>
              <a:rPr lang="id-ID" dirty="0"/>
              <a:t> = (A)</a:t>
            </a:r>
            <a:r>
              <a:rPr lang="id-ID" baseline="-25000" dirty="0"/>
              <a:t>ji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 the special case where </a:t>
            </a:r>
            <a:r>
              <a:rPr lang="en-US" i="1" dirty="0"/>
              <a:t>A </a:t>
            </a:r>
            <a:r>
              <a:rPr lang="en-US" dirty="0"/>
              <a:t>is a square matrix, the transpose of </a:t>
            </a:r>
            <a:r>
              <a:rPr lang="en-US" i="1" dirty="0"/>
              <a:t>A </a:t>
            </a:r>
            <a:r>
              <a:rPr lang="en-US" dirty="0"/>
              <a:t>can be obtained by interchanging entries that are</a:t>
            </a:r>
            <a:r>
              <a:rPr lang="id-ID" dirty="0"/>
              <a:t> </a:t>
            </a:r>
            <a:r>
              <a:rPr lang="en-US" dirty="0"/>
              <a:t>symmetrically positioned about the main diagonal. </a:t>
            </a:r>
            <a:r>
              <a:rPr lang="id-ID" dirty="0"/>
              <a:t>W</a:t>
            </a:r>
            <a:r>
              <a:rPr lang="en-US" dirty="0"/>
              <a:t>e see that </a:t>
            </a:r>
            <a:r>
              <a:rPr lang="en-US" i="1" dirty="0"/>
              <a:t>A</a:t>
            </a:r>
            <a:r>
              <a:rPr lang="en-US" i="1" baseline="30000" dirty="0"/>
              <a:t>T</a:t>
            </a:r>
            <a:r>
              <a:rPr lang="en-US" i="1" dirty="0"/>
              <a:t> </a:t>
            </a:r>
            <a:r>
              <a:rPr lang="en-US" dirty="0"/>
              <a:t>can also be obtained by “reflecting” </a:t>
            </a:r>
            <a:r>
              <a:rPr lang="en-US" i="1" dirty="0"/>
              <a:t>A </a:t>
            </a:r>
            <a:r>
              <a:rPr lang="en-US" dirty="0"/>
              <a:t>about</a:t>
            </a:r>
            <a:r>
              <a:rPr lang="id-ID" dirty="0"/>
              <a:t> its main diagonal.</a:t>
            </a:r>
            <a:endParaRPr lang="id-ID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657725"/>
            <a:ext cx="6105525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280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Properties of the Transpose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If the sizes of the matrices are such that the stated operations can be performed, then:</a:t>
            </a:r>
            <a:endParaRPr lang="id-ID" dirty="0"/>
          </a:p>
          <a:p>
            <a:pPr marL="457200" indent="-457200" algn="just">
              <a:buAutoNum type="alphaLcParenBoth"/>
            </a:pPr>
            <a:r>
              <a:rPr lang="id-ID" dirty="0"/>
              <a:t>(A</a:t>
            </a:r>
            <a:r>
              <a:rPr lang="id-ID" baseline="30000" dirty="0"/>
              <a:t>T</a:t>
            </a:r>
            <a:r>
              <a:rPr lang="id-ID" dirty="0"/>
              <a:t>)</a:t>
            </a:r>
            <a:r>
              <a:rPr lang="id-ID" baseline="30000" dirty="0"/>
              <a:t>T</a:t>
            </a:r>
            <a:r>
              <a:rPr lang="id-ID" dirty="0"/>
              <a:t> = A</a:t>
            </a:r>
          </a:p>
          <a:p>
            <a:pPr marL="457200" indent="-457200" algn="just">
              <a:buAutoNum type="alphaLcParenBoth"/>
            </a:pPr>
            <a:r>
              <a:rPr lang="id-ID" dirty="0"/>
              <a:t>(A + B)</a:t>
            </a:r>
            <a:r>
              <a:rPr lang="id-ID" baseline="30000" dirty="0"/>
              <a:t>T</a:t>
            </a:r>
            <a:r>
              <a:rPr lang="id-ID" dirty="0"/>
              <a:t> = A</a:t>
            </a:r>
            <a:r>
              <a:rPr lang="id-ID" baseline="30000" dirty="0"/>
              <a:t>T</a:t>
            </a:r>
            <a:r>
              <a:rPr lang="id-ID" dirty="0"/>
              <a:t> + B</a:t>
            </a:r>
            <a:r>
              <a:rPr lang="id-ID" baseline="30000" dirty="0"/>
              <a:t>T</a:t>
            </a:r>
          </a:p>
          <a:p>
            <a:pPr marL="457200" indent="-457200" algn="just">
              <a:buFont typeface="Arial" pitchFamily="34" charset="0"/>
              <a:buAutoNum type="alphaLcParenBoth"/>
            </a:pPr>
            <a:r>
              <a:rPr lang="id-ID" dirty="0"/>
              <a:t>(A - B)</a:t>
            </a:r>
            <a:r>
              <a:rPr lang="id-ID" baseline="30000" dirty="0"/>
              <a:t>T</a:t>
            </a:r>
            <a:r>
              <a:rPr lang="id-ID" dirty="0"/>
              <a:t> = A</a:t>
            </a:r>
            <a:r>
              <a:rPr lang="id-ID" baseline="30000" dirty="0"/>
              <a:t>T</a:t>
            </a:r>
            <a:r>
              <a:rPr lang="id-ID" dirty="0"/>
              <a:t> - B</a:t>
            </a:r>
            <a:r>
              <a:rPr lang="id-ID" baseline="30000" dirty="0"/>
              <a:t>T</a:t>
            </a:r>
          </a:p>
          <a:p>
            <a:pPr marL="457200" indent="-457200" algn="just">
              <a:buAutoNum type="alphaLcParenBoth"/>
            </a:pPr>
            <a:r>
              <a:rPr lang="id-ID" dirty="0"/>
              <a:t>(k.A)</a:t>
            </a:r>
            <a:r>
              <a:rPr lang="id-ID" baseline="30000" dirty="0"/>
              <a:t>T</a:t>
            </a:r>
            <a:r>
              <a:rPr lang="id-ID" dirty="0"/>
              <a:t> = k.A</a:t>
            </a:r>
            <a:r>
              <a:rPr lang="id-ID" baseline="30000" dirty="0"/>
              <a:t>T</a:t>
            </a:r>
          </a:p>
          <a:p>
            <a:pPr marL="457200" indent="-457200" algn="just">
              <a:buAutoNum type="alphaLcParenBoth"/>
            </a:pPr>
            <a:r>
              <a:rPr lang="id-ID" dirty="0"/>
              <a:t>(A.B)T = B</a:t>
            </a:r>
            <a:r>
              <a:rPr lang="id-ID" baseline="30000" dirty="0"/>
              <a:t>T</a:t>
            </a:r>
            <a:r>
              <a:rPr lang="id-ID" dirty="0"/>
              <a:t>.A</a:t>
            </a:r>
            <a:r>
              <a:rPr lang="id-ID" baseline="30000" dirty="0"/>
              <a:t>T</a:t>
            </a:r>
            <a:r>
              <a:rPr lang="id-ID" dirty="0"/>
              <a:t> (</a:t>
            </a:r>
            <a:r>
              <a:rPr lang="en-US" i="1" dirty="0"/>
              <a:t>The transpose of a product of any number of matrices is the product of the transposes in the reverse</a:t>
            </a:r>
            <a:r>
              <a:rPr lang="id-ID" i="1" dirty="0"/>
              <a:t> order)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dirty="0"/>
              <a:t>Trace of a Matrix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a square matrix, then the </a:t>
            </a:r>
            <a:r>
              <a:rPr lang="en-US" b="1" i="1" dirty="0"/>
              <a:t>trace of A</a:t>
            </a:r>
            <a:r>
              <a:rPr lang="en-US" dirty="0"/>
              <a:t>, denoted by </a:t>
            </a:r>
            <a:r>
              <a:rPr lang="en-US" dirty="0" err="1"/>
              <a:t>tr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), is defined to be the sum of the entries on the</a:t>
            </a:r>
            <a:r>
              <a:rPr lang="id-ID" dirty="0"/>
              <a:t> </a:t>
            </a:r>
            <a:r>
              <a:rPr lang="en-US" dirty="0"/>
              <a:t>main diagonal of </a:t>
            </a:r>
            <a:r>
              <a:rPr lang="en-US" i="1" dirty="0"/>
              <a:t>A</a:t>
            </a:r>
            <a:r>
              <a:rPr lang="en-US" dirty="0"/>
              <a:t>. The trace of </a:t>
            </a:r>
            <a:r>
              <a:rPr lang="en-US" i="1" dirty="0"/>
              <a:t>A </a:t>
            </a:r>
            <a:r>
              <a:rPr lang="en-US" dirty="0"/>
              <a:t>is undefined if </a:t>
            </a:r>
            <a:r>
              <a:rPr lang="en-US" i="1" dirty="0"/>
              <a:t>A </a:t>
            </a:r>
            <a:r>
              <a:rPr lang="en-US" dirty="0"/>
              <a:t>is not a square matrix.</a:t>
            </a:r>
            <a:endParaRPr lang="id-ID" dirty="0"/>
          </a:p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r>
              <a:rPr lang="id-ID" b="1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The following are examples of matrices and their traces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26" y="4114800"/>
            <a:ext cx="6641574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280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Algebraic Properties of Matrix</a:t>
            </a:r>
          </a:p>
        </p:txBody>
      </p:sp>
    </p:spTree>
    <p:extLst>
      <p:ext uri="{BB962C8B-B14F-4D97-AF65-F5344CB8AC3E}">
        <p14:creationId xmlns:p14="http://schemas.microsoft.com/office/powerpoint/2010/main" val="2884967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4072" y="457200"/>
            <a:ext cx="6457528" cy="1143000"/>
          </a:xfrm>
        </p:spPr>
        <p:txBody>
          <a:bodyPr/>
          <a:lstStyle/>
          <a:p>
            <a:r>
              <a:rPr lang="id-ID" b="1" dirty="0"/>
              <a:t>Properties of Matrix Arithmetic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77200" cy="4800600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Assuming that the sizes of the matrices are such that the indicated operations can be performed, the</a:t>
            </a:r>
            <a:r>
              <a:rPr lang="id-ID" dirty="0"/>
              <a:t> </a:t>
            </a:r>
            <a:r>
              <a:rPr lang="en-US" dirty="0"/>
              <a:t>following rules of matrix arithmetic are valid</a:t>
            </a:r>
            <a:r>
              <a:rPr lang="id-ID" dirty="0"/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52700"/>
            <a:ext cx="571500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8267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533400"/>
            <a:ext cx="6781800" cy="1143000"/>
          </a:xfrm>
        </p:spPr>
        <p:txBody>
          <a:bodyPr/>
          <a:lstStyle/>
          <a:p>
            <a:r>
              <a:rPr lang="id-ID" b="1" dirty="0"/>
              <a:t>Associativity of Matrix Multiplication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696200" cy="495299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As an illustration of the associative law for matrix multiplication, c</a:t>
            </a:r>
            <a:r>
              <a:rPr lang="id-ID" dirty="0"/>
              <a:t>onsider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Then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Thus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				and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So (AB)C=A(BC), as it is stated in the theorem part (c).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2209800"/>
            <a:ext cx="3543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324225"/>
            <a:ext cx="619125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95825"/>
            <a:ext cx="338137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4800600"/>
            <a:ext cx="328612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222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533400"/>
            <a:ext cx="7067128" cy="1143000"/>
          </a:xfrm>
        </p:spPr>
        <p:txBody>
          <a:bodyPr/>
          <a:lstStyle/>
          <a:p>
            <a:r>
              <a:rPr lang="id-ID" b="1" dirty="0"/>
              <a:t>Matrix Multiplication is not Commutative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66845"/>
            <a:ext cx="8077200" cy="475775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/>
              <a:t>Do not </a:t>
            </a:r>
            <a:r>
              <a:rPr lang="id-ID" sz="1800" dirty="0"/>
              <a:t>think </a:t>
            </a:r>
            <a:r>
              <a:rPr lang="en-US" sz="1800" dirty="0"/>
              <a:t>that </a:t>
            </a:r>
            <a:r>
              <a:rPr lang="en-US" sz="1800" i="1" dirty="0"/>
              <a:t>all </a:t>
            </a:r>
            <a:r>
              <a:rPr lang="en-US" sz="1800" dirty="0"/>
              <a:t>laws of real arithmetic carry over to matrix</a:t>
            </a:r>
            <a:r>
              <a:rPr lang="id-ID" sz="1800" dirty="0"/>
              <a:t> </a:t>
            </a:r>
            <a:r>
              <a:rPr lang="en-US" sz="1800" dirty="0"/>
              <a:t>arithmetic. For example, you know that in real arithmetic it is always true that </a:t>
            </a:r>
            <a:r>
              <a:rPr lang="id-ID" sz="1800" dirty="0"/>
              <a:t>a.b=b.a</a:t>
            </a:r>
            <a:r>
              <a:rPr lang="en-US" sz="1800" dirty="0"/>
              <a:t>, which is called the</a:t>
            </a:r>
            <a:r>
              <a:rPr lang="id-ID" sz="1800" dirty="0"/>
              <a:t> </a:t>
            </a:r>
            <a:r>
              <a:rPr lang="en-US" sz="1800" i="1" dirty="0"/>
              <a:t>commutative law for multiplication</a:t>
            </a:r>
            <a:r>
              <a:rPr lang="en-US" sz="1800" dirty="0"/>
              <a:t>. In matrix arithmetic, however, the equality of </a:t>
            </a:r>
            <a:r>
              <a:rPr lang="en-US" sz="1800" i="1" dirty="0"/>
              <a:t>AB </a:t>
            </a:r>
            <a:r>
              <a:rPr lang="en-US" sz="1800" dirty="0"/>
              <a:t>and </a:t>
            </a:r>
            <a:r>
              <a:rPr lang="en-US" sz="1800" i="1" dirty="0"/>
              <a:t>BA </a:t>
            </a:r>
            <a:r>
              <a:rPr lang="en-US" sz="1800" dirty="0"/>
              <a:t>can fail for</a:t>
            </a:r>
            <a:r>
              <a:rPr lang="id-ID" sz="1800" dirty="0"/>
              <a:t> three possible reasons :</a:t>
            </a:r>
          </a:p>
          <a:p>
            <a:pPr marL="457200" indent="-457200" algn="just">
              <a:buAutoNum type="arabicPeriod"/>
            </a:pPr>
            <a:r>
              <a:rPr lang="en-US" sz="1800" i="1" dirty="0"/>
              <a:t>AB </a:t>
            </a:r>
            <a:r>
              <a:rPr lang="en-US" sz="1800" dirty="0"/>
              <a:t>may be defined and </a:t>
            </a:r>
            <a:r>
              <a:rPr lang="en-US" sz="1800" i="1" dirty="0"/>
              <a:t>BA </a:t>
            </a:r>
            <a:r>
              <a:rPr lang="en-US" sz="1800" dirty="0"/>
              <a:t>may not (for example, if </a:t>
            </a:r>
            <a:r>
              <a:rPr lang="en-US" sz="1800" i="1" dirty="0"/>
              <a:t>A </a:t>
            </a:r>
            <a:r>
              <a:rPr lang="en-US" sz="1800" dirty="0"/>
              <a:t>is </a:t>
            </a:r>
            <a:r>
              <a:rPr lang="id-ID" sz="1800" dirty="0"/>
              <a:t>2x3 </a:t>
            </a:r>
            <a:r>
              <a:rPr lang="en-US" sz="1800" dirty="0"/>
              <a:t>and </a:t>
            </a:r>
            <a:r>
              <a:rPr lang="en-US" sz="1800" i="1" dirty="0"/>
              <a:t>B </a:t>
            </a:r>
            <a:r>
              <a:rPr lang="en-US" sz="1800" dirty="0"/>
              <a:t>is </a:t>
            </a:r>
            <a:r>
              <a:rPr lang="id-ID" sz="1800" dirty="0"/>
              <a:t>3x4</a:t>
            </a:r>
            <a:r>
              <a:rPr lang="en-US" sz="1800" dirty="0"/>
              <a:t>).</a:t>
            </a:r>
            <a:endParaRPr lang="id-ID" sz="1800" dirty="0"/>
          </a:p>
          <a:p>
            <a:pPr marL="457200" indent="-457200" algn="just">
              <a:buAutoNum type="arabicPeriod"/>
            </a:pPr>
            <a:r>
              <a:rPr lang="en-US" sz="1800" i="1" dirty="0"/>
              <a:t>AB </a:t>
            </a:r>
            <a:r>
              <a:rPr lang="en-US" sz="1800" dirty="0"/>
              <a:t>and </a:t>
            </a:r>
            <a:r>
              <a:rPr lang="en-US" sz="1800" i="1" dirty="0"/>
              <a:t>BA </a:t>
            </a:r>
            <a:r>
              <a:rPr lang="en-US" sz="1800" dirty="0"/>
              <a:t>may both be defined, but they may have different sizes (for example, if </a:t>
            </a:r>
            <a:r>
              <a:rPr lang="en-US" sz="1800" i="1" dirty="0"/>
              <a:t>A </a:t>
            </a:r>
            <a:r>
              <a:rPr lang="en-US" sz="1800" dirty="0"/>
              <a:t>is </a:t>
            </a:r>
            <a:r>
              <a:rPr lang="id-ID" sz="1800" dirty="0"/>
              <a:t>2x3 </a:t>
            </a:r>
            <a:r>
              <a:rPr lang="en-US" sz="1800" dirty="0"/>
              <a:t>and </a:t>
            </a:r>
            <a:r>
              <a:rPr lang="en-US" sz="1800" i="1" dirty="0"/>
              <a:t>B </a:t>
            </a:r>
            <a:r>
              <a:rPr lang="en-US" sz="1800" dirty="0"/>
              <a:t>is</a:t>
            </a:r>
            <a:r>
              <a:rPr lang="id-ID" sz="1800" dirty="0"/>
              <a:t> 3x2).</a:t>
            </a:r>
          </a:p>
          <a:p>
            <a:pPr marL="457200" indent="-457200" algn="just">
              <a:buAutoNum type="arabicPeriod"/>
            </a:pPr>
            <a:r>
              <a:rPr lang="en-US" sz="1800" i="1" dirty="0"/>
              <a:t>AB </a:t>
            </a:r>
            <a:r>
              <a:rPr lang="en-US" sz="1800" dirty="0"/>
              <a:t>and </a:t>
            </a:r>
            <a:r>
              <a:rPr lang="en-US" sz="1800" i="1" dirty="0"/>
              <a:t>BA </a:t>
            </a:r>
            <a:r>
              <a:rPr lang="en-US" sz="1800" dirty="0"/>
              <a:t>may both be defined and have the same size, but the two matrices may be different (as</a:t>
            </a:r>
            <a:r>
              <a:rPr lang="id-ID" sz="1800" dirty="0"/>
              <a:t> </a:t>
            </a:r>
            <a:r>
              <a:rPr lang="en-US" sz="1800" dirty="0"/>
              <a:t>illustrated in the next example).</a:t>
            </a:r>
            <a:endParaRPr lang="id-ID" sz="1800" dirty="0"/>
          </a:p>
          <a:p>
            <a:pPr marL="0" indent="0" algn="just">
              <a:buNone/>
            </a:pPr>
            <a:r>
              <a:rPr lang="id-ID" sz="1800" b="1" dirty="0"/>
              <a:t>Example</a:t>
            </a:r>
          </a:p>
          <a:p>
            <a:pPr marL="0" indent="0" algn="just">
              <a:buNone/>
            </a:pPr>
            <a:r>
              <a:rPr lang="id-ID" sz="1800" dirty="0"/>
              <a:t>Consider the matrices </a:t>
            </a:r>
          </a:p>
          <a:p>
            <a:pPr marL="0" indent="0" algn="just">
              <a:buNone/>
            </a:pPr>
            <a:endParaRPr lang="id-ID" sz="1800" dirty="0"/>
          </a:p>
          <a:p>
            <a:pPr marL="0" indent="0" algn="just">
              <a:buNone/>
            </a:pPr>
            <a:r>
              <a:rPr lang="id-ID" sz="1800" dirty="0"/>
              <a:t>Multiplying gives</a:t>
            </a:r>
          </a:p>
          <a:p>
            <a:pPr marL="0" indent="0" algn="just">
              <a:buNone/>
            </a:pPr>
            <a:r>
              <a:rPr lang="id-ID" sz="1800" dirty="0"/>
              <a:t>Thus, AB≠BA.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572000"/>
            <a:ext cx="347472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045" y="5334000"/>
            <a:ext cx="408295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078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272" y="457200"/>
            <a:ext cx="6914728" cy="1143000"/>
          </a:xfrm>
        </p:spPr>
        <p:txBody>
          <a:bodyPr/>
          <a:lstStyle/>
          <a:p>
            <a:r>
              <a:rPr lang="id-ID" b="1" dirty="0"/>
              <a:t>Zero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80772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A matrix whose entries are all zero is called a </a:t>
            </a:r>
            <a:r>
              <a:rPr lang="en-US" b="1" i="1" dirty="0"/>
              <a:t>zero matrix</a:t>
            </a:r>
            <a:r>
              <a:rPr lang="en-US" dirty="0"/>
              <a:t>. Some examples are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We will denote a zero matrix by </a:t>
            </a:r>
            <a:r>
              <a:rPr lang="en-US" i="1" dirty="0"/>
              <a:t>0 </a:t>
            </a:r>
            <a:r>
              <a:rPr lang="en-US" dirty="0"/>
              <a:t>unless it is important to specify its size, in which case we will denote the</a:t>
            </a:r>
            <a:r>
              <a:rPr lang="id-ID" dirty="0"/>
              <a:t>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zero matrix by 0</a:t>
            </a:r>
            <a:r>
              <a:rPr lang="id-ID" baseline="-25000" dirty="0"/>
              <a:t>mxn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It should be evident that if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0 </a:t>
            </a:r>
            <a:r>
              <a:rPr lang="en-US" dirty="0"/>
              <a:t>are matrices with the same size, then</a:t>
            </a:r>
            <a:r>
              <a:rPr lang="id-ID" dirty="0"/>
              <a:t> A+</a:t>
            </a:r>
            <a:r>
              <a:rPr lang="id-ID" i="1" dirty="0"/>
              <a:t>0 </a:t>
            </a:r>
            <a:r>
              <a:rPr lang="id-ID" dirty="0"/>
              <a:t>= </a:t>
            </a:r>
            <a:r>
              <a:rPr lang="id-ID" i="1" dirty="0"/>
              <a:t>0</a:t>
            </a:r>
            <a:r>
              <a:rPr lang="id-ID" dirty="0"/>
              <a:t>+A = A.</a:t>
            </a:r>
          </a:p>
          <a:p>
            <a:pPr marL="0" indent="0" algn="just">
              <a:buNone/>
            </a:pPr>
            <a:r>
              <a:rPr lang="en-US" dirty="0"/>
              <a:t>Thus, </a:t>
            </a:r>
            <a:r>
              <a:rPr lang="en-US" i="1" dirty="0"/>
              <a:t>0 </a:t>
            </a:r>
            <a:r>
              <a:rPr lang="en-US" dirty="0"/>
              <a:t>plays the same role in this matrix equation that the number 0 plays in the numerical equation</a:t>
            </a:r>
            <a:r>
              <a:rPr lang="id-ID" dirty="0"/>
              <a:t> a+0 = 0+a = 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818" y="2628900"/>
            <a:ext cx="4734582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123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533400"/>
            <a:ext cx="6248400" cy="1143000"/>
          </a:xfrm>
        </p:spPr>
        <p:txBody>
          <a:bodyPr/>
          <a:lstStyle/>
          <a:p>
            <a:r>
              <a:rPr lang="id-ID" b="1" dirty="0"/>
              <a:t>Properties of Zero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98637"/>
            <a:ext cx="7696200" cy="4525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If c is a scalar, and if the sizes of the matrices are such that the operations can be </a:t>
            </a:r>
            <a:r>
              <a:rPr lang="id-ID" dirty="0"/>
              <a:t>performed</a:t>
            </a:r>
            <a:r>
              <a:rPr lang="en-US" dirty="0"/>
              <a:t>, then:</a:t>
            </a:r>
          </a:p>
          <a:p>
            <a:pPr marL="457200" indent="-457200" algn="just">
              <a:buAutoNum type="alphaLcParenBoth"/>
            </a:pPr>
            <a:r>
              <a:rPr lang="id-ID" dirty="0"/>
              <a:t>A + </a:t>
            </a:r>
            <a:r>
              <a:rPr lang="id-ID" i="1" dirty="0"/>
              <a:t>0</a:t>
            </a:r>
            <a:r>
              <a:rPr lang="id-ID" dirty="0"/>
              <a:t> = </a:t>
            </a:r>
            <a:r>
              <a:rPr lang="id-ID" i="1" dirty="0"/>
              <a:t>0</a:t>
            </a:r>
            <a:r>
              <a:rPr lang="id-ID" dirty="0"/>
              <a:t> + A = A</a:t>
            </a:r>
          </a:p>
          <a:p>
            <a:pPr marL="457200" indent="-457200" algn="just">
              <a:buAutoNum type="alphaLcParenBoth"/>
            </a:pPr>
            <a:r>
              <a:rPr lang="id-ID" dirty="0"/>
              <a:t>A – </a:t>
            </a:r>
            <a:r>
              <a:rPr lang="id-ID" i="1" dirty="0"/>
              <a:t>0</a:t>
            </a:r>
            <a:r>
              <a:rPr lang="id-ID" dirty="0"/>
              <a:t> = A</a:t>
            </a:r>
          </a:p>
          <a:p>
            <a:pPr marL="457200" indent="-457200" algn="just">
              <a:buAutoNum type="alphaLcParenBoth"/>
            </a:pPr>
            <a:r>
              <a:rPr lang="id-ID" dirty="0"/>
              <a:t>A – A = A + (-A) = </a:t>
            </a:r>
            <a:r>
              <a:rPr lang="id-ID" i="1" dirty="0"/>
              <a:t>0</a:t>
            </a:r>
          </a:p>
          <a:p>
            <a:pPr marL="457200" indent="-457200" algn="just">
              <a:buAutoNum type="alphaLcParenBoth"/>
            </a:pPr>
            <a:r>
              <a:rPr lang="id-ID" dirty="0"/>
              <a:t>0.A = </a:t>
            </a:r>
            <a:r>
              <a:rPr lang="id-ID" i="1" dirty="0"/>
              <a:t>0</a:t>
            </a:r>
          </a:p>
          <a:p>
            <a:pPr marL="457200" indent="-457200" algn="just">
              <a:buAutoNum type="alphaLcParenBoth"/>
            </a:pPr>
            <a:r>
              <a:rPr lang="id-ID" dirty="0"/>
              <a:t>If c.A = </a:t>
            </a:r>
            <a:r>
              <a:rPr lang="id-ID" i="1" dirty="0"/>
              <a:t>0</a:t>
            </a:r>
            <a:r>
              <a:rPr lang="id-ID" dirty="0"/>
              <a:t>, then c=0 or A=</a:t>
            </a:r>
            <a:r>
              <a:rPr lang="id-ID" i="1" dirty="0"/>
              <a:t>0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Notes :</a:t>
            </a:r>
            <a:r>
              <a:rPr lang="id-ID" dirty="0"/>
              <a:t> In real arithmetic, we know that :</a:t>
            </a:r>
          </a:p>
          <a:p>
            <a:pPr algn="just"/>
            <a:r>
              <a:rPr lang="id-ID" dirty="0"/>
              <a:t>If a.b = a.c and a ≠ 0, then b = c. (The cancellation law)</a:t>
            </a:r>
          </a:p>
          <a:p>
            <a:pPr algn="just"/>
            <a:r>
              <a:rPr lang="id-ID" dirty="0"/>
              <a:t>If a.b = 0, then at least one of the factors on he left is 0.</a:t>
            </a:r>
          </a:p>
          <a:p>
            <a:pPr marL="0" indent="0" algn="just">
              <a:buNone/>
            </a:pPr>
            <a:r>
              <a:rPr lang="id-ID" dirty="0"/>
              <a:t>However, those laws are not universally true in matrix arithmetic.</a:t>
            </a:r>
            <a:endParaRPr lang="id-ID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03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533400"/>
            <a:ext cx="7067128" cy="1143000"/>
          </a:xfrm>
        </p:spPr>
        <p:txBody>
          <a:bodyPr/>
          <a:lstStyle/>
          <a:p>
            <a:r>
              <a:rPr lang="id-ID" dirty="0"/>
              <a:t>Other</a:t>
            </a:r>
            <a:r>
              <a:rPr lang="id-ID" b="1" dirty="0"/>
              <a:t> Laws which Doesn’t Hold</a:t>
            </a:r>
            <a:br>
              <a:rPr lang="id-ID" b="1" dirty="0"/>
            </a:br>
            <a:r>
              <a:rPr lang="id-ID" b="1" dirty="0"/>
              <a:t>in 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724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Example 1</a:t>
            </a:r>
          </a:p>
          <a:p>
            <a:pPr marL="0" indent="0" algn="just">
              <a:buNone/>
            </a:pPr>
            <a:r>
              <a:rPr lang="id-ID" dirty="0"/>
              <a:t>Consider the matrices 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We can compute that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Although </a:t>
            </a:r>
            <a:r>
              <a:rPr lang="id-ID" dirty="0"/>
              <a:t>A≠</a:t>
            </a:r>
            <a:r>
              <a:rPr lang="id-ID" i="1" dirty="0"/>
              <a:t>0</a:t>
            </a:r>
            <a:r>
              <a:rPr lang="en-US" dirty="0"/>
              <a:t>, canceling </a:t>
            </a:r>
            <a:r>
              <a:rPr lang="en-US" i="1" dirty="0"/>
              <a:t>A </a:t>
            </a:r>
            <a:r>
              <a:rPr lang="en-US" dirty="0"/>
              <a:t>from both sides of the equation </a:t>
            </a:r>
            <a:r>
              <a:rPr lang="id-ID" dirty="0"/>
              <a:t>AB=AC </a:t>
            </a:r>
            <a:r>
              <a:rPr lang="en-US" dirty="0"/>
              <a:t>would lead to the</a:t>
            </a:r>
            <a:r>
              <a:rPr lang="id-ID" dirty="0"/>
              <a:t> </a:t>
            </a:r>
            <a:r>
              <a:rPr lang="en-US" dirty="0"/>
              <a:t>incorrect conclusion that </a:t>
            </a:r>
            <a:r>
              <a:rPr lang="id-ID" dirty="0"/>
              <a:t>B = C</a:t>
            </a:r>
            <a:r>
              <a:rPr lang="en-US" dirty="0"/>
              <a:t>. Thus, the cancellation law does not hold, in general, for matrix</a:t>
            </a:r>
            <a:r>
              <a:rPr lang="id-ID" dirty="0"/>
              <a:t> multiplication. </a:t>
            </a:r>
          </a:p>
          <a:p>
            <a:pPr marL="0" indent="0" algn="just">
              <a:buNone/>
            </a:pPr>
            <a:r>
              <a:rPr lang="id-ID" b="1" dirty="0"/>
              <a:t>Example 2</a:t>
            </a:r>
          </a:p>
          <a:p>
            <a:pPr marL="0" indent="0" algn="just">
              <a:buNone/>
            </a:pPr>
            <a:r>
              <a:rPr lang="id-ID" dirty="0"/>
              <a:t>Here are two matrices for which A.B = </a:t>
            </a:r>
            <a:r>
              <a:rPr lang="id-ID" i="1" dirty="0"/>
              <a:t>0</a:t>
            </a:r>
            <a:r>
              <a:rPr lang="id-ID" dirty="0"/>
              <a:t>, but A ≠ </a:t>
            </a:r>
            <a:r>
              <a:rPr lang="id-ID" i="1" dirty="0"/>
              <a:t>0</a:t>
            </a:r>
            <a:r>
              <a:rPr lang="id-ID" dirty="0"/>
              <a:t> and B ≠ </a:t>
            </a:r>
            <a:r>
              <a:rPr lang="id-ID" i="1" dirty="0"/>
              <a:t>0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2469023"/>
            <a:ext cx="3676650" cy="731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3" y="3331512"/>
            <a:ext cx="1862137" cy="63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474" y="5638800"/>
            <a:ext cx="2900126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992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533400"/>
            <a:ext cx="7067128" cy="1143000"/>
          </a:xfrm>
        </p:spPr>
        <p:txBody>
          <a:bodyPr/>
          <a:lstStyle/>
          <a:p>
            <a:r>
              <a:rPr lang="id-ID" dirty="0"/>
              <a:t>Identity Matrices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724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A square matrix with 1's on the main diagonal and zeros elsewhere is called an </a:t>
            </a:r>
            <a:r>
              <a:rPr lang="en-US" b="1" i="1" dirty="0"/>
              <a:t>identity matrix</a:t>
            </a:r>
            <a:r>
              <a:rPr lang="en-US" dirty="0"/>
              <a:t>. Some</a:t>
            </a:r>
            <a:r>
              <a:rPr lang="id-ID" dirty="0"/>
              <a:t> examples are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An </a:t>
            </a:r>
            <a:r>
              <a:rPr lang="en-US" b="1" i="1" dirty="0"/>
              <a:t>identity matrix </a:t>
            </a:r>
            <a:r>
              <a:rPr lang="en-US" dirty="0"/>
              <a:t>is denoted by the letter </a:t>
            </a:r>
            <a:r>
              <a:rPr lang="en-US" i="1" dirty="0"/>
              <a:t>I</a:t>
            </a:r>
            <a:r>
              <a:rPr lang="en-US" dirty="0"/>
              <a:t>. If it is important to emphasize the size, we will write </a:t>
            </a:r>
            <a:r>
              <a:rPr lang="en-US" i="1" dirty="0"/>
              <a:t>I</a:t>
            </a:r>
            <a:r>
              <a:rPr lang="en-US" i="1" baseline="-25000" dirty="0"/>
              <a:t>n</a:t>
            </a:r>
            <a:r>
              <a:rPr lang="en-US" i="1" dirty="0"/>
              <a:t> </a:t>
            </a:r>
            <a:r>
              <a:rPr lang="en-US" dirty="0"/>
              <a:t>for the</a:t>
            </a:r>
            <a:r>
              <a:rPr lang="id-ID" dirty="0"/>
              <a:t>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identity matrix.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 identity matrices play the same role in these matrix equations that the number 1 plays in the</a:t>
            </a:r>
            <a:r>
              <a:rPr lang="id-ID" dirty="0"/>
              <a:t> numerical equation : a.1 = 1.a = a, as explained in the next slide.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674" y="2743200"/>
            <a:ext cx="4279526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4359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533400"/>
            <a:ext cx="7067128" cy="1143000"/>
          </a:xfrm>
        </p:spPr>
        <p:txBody>
          <a:bodyPr/>
          <a:lstStyle/>
          <a:p>
            <a:r>
              <a:rPr lang="id-ID" dirty="0"/>
              <a:t>Properties of Identity Matrices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953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 explain the role of identity matrices in matrix arithmetic, let us consider the effect of multiplying a general</a:t>
            </a:r>
            <a:r>
              <a:rPr lang="id-ID" dirty="0"/>
              <a:t> 2x3 </a:t>
            </a:r>
            <a:r>
              <a:rPr lang="en-US" dirty="0"/>
              <a:t>matrix </a:t>
            </a:r>
            <a:r>
              <a:rPr lang="en-US" i="1" dirty="0"/>
              <a:t>A </a:t>
            </a:r>
            <a:r>
              <a:rPr lang="en-US" dirty="0"/>
              <a:t>on each side by an identity matrix. Multiplying on the right by the </a:t>
            </a:r>
            <a:r>
              <a:rPr lang="id-ID" dirty="0"/>
              <a:t>3x3 </a:t>
            </a:r>
            <a:r>
              <a:rPr lang="en-US" dirty="0"/>
              <a:t>identity matrix yields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and multiplying on the left by the </a:t>
            </a:r>
            <a:r>
              <a:rPr lang="id-ID" dirty="0"/>
              <a:t>2x2 </a:t>
            </a:r>
            <a:r>
              <a:rPr lang="en-US" dirty="0"/>
              <a:t>identity matrix yields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 same result holds in general; that is, if </a:t>
            </a:r>
            <a:r>
              <a:rPr lang="en-US" i="1" dirty="0"/>
              <a:t>A </a:t>
            </a:r>
            <a:r>
              <a:rPr lang="en-US" dirty="0"/>
              <a:t>is </a:t>
            </a:r>
            <a:r>
              <a:rPr lang="id-ID" i="1" dirty="0"/>
              <a:t>m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any matrix, then</a:t>
            </a:r>
            <a:r>
              <a:rPr lang="id-ID" dirty="0"/>
              <a:t> : </a:t>
            </a:r>
          </a:p>
          <a:p>
            <a:pPr marL="0" indent="0" algn="ctr">
              <a:buNone/>
            </a:pPr>
            <a:r>
              <a:rPr lang="id-ID" dirty="0"/>
              <a:t>A.</a:t>
            </a:r>
            <a:r>
              <a:rPr lang="id-ID" i="1" dirty="0"/>
              <a:t>I</a:t>
            </a:r>
            <a:r>
              <a:rPr lang="id-ID" i="1" baseline="-25000" dirty="0"/>
              <a:t>n </a:t>
            </a:r>
            <a:r>
              <a:rPr lang="id-ID" dirty="0"/>
              <a:t>= A and </a:t>
            </a:r>
            <a:r>
              <a:rPr lang="id-ID" i="1" dirty="0"/>
              <a:t>I</a:t>
            </a:r>
            <a:r>
              <a:rPr lang="id-ID" i="1" baseline="-25000" dirty="0"/>
              <a:t>m</a:t>
            </a:r>
            <a:r>
              <a:rPr lang="id-ID" dirty="0"/>
              <a:t>.A = 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71800"/>
            <a:ext cx="6011024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107" y="4495800"/>
            <a:ext cx="6113093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537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Some Special Matrices</a:t>
            </a:r>
          </a:p>
        </p:txBody>
      </p:sp>
    </p:spTree>
    <p:extLst>
      <p:ext uri="{BB962C8B-B14F-4D97-AF65-F5344CB8AC3E}">
        <p14:creationId xmlns:p14="http://schemas.microsoft.com/office/powerpoint/2010/main" val="3028691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Diagonal Matrices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81534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A square matrix in which all the entries off the main diagonal are zero is called a </a:t>
            </a:r>
            <a:r>
              <a:rPr lang="en-US" i="1" dirty="0"/>
              <a:t>diagonal matrix</a:t>
            </a:r>
            <a:r>
              <a:rPr lang="en-US" dirty="0"/>
              <a:t>. Here are some examples: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A general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diagonal matrix D can be written as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590800"/>
            <a:ext cx="5105399" cy="1383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014" y="4419600"/>
            <a:ext cx="2257586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940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Properties of Diagonal Matrices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81534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d-ID" dirty="0"/>
              <a:t>I</a:t>
            </a:r>
            <a:r>
              <a:rPr lang="en-US" dirty="0"/>
              <a:t>f </a:t>
            </a:r>
            <a:r>
              <a:rPr lang="en-US" i="1" dirty="0"/>
              <a:t>D </a:t>
            </a:r>
            <a:r>
              <a:rPr lang="en-US" dirty="0"/>
              <a:t>is the diagonal matrix 1 and </a:t>
            </a:r>
            <a:r>
              <a:rPr lang="en-US" i="1" dirty="0"/>
              <a:t>k </a:t>
            </a:r>
            <a:r>
              <a:rPr lang="en-US" dirty="0"/>
              <a:t>is a</a:t>
            </a:r>
            <a:r>
              <a:rPr lang="id-ID" dirty="0"/>
              <a:t> positive integer, then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b="1" dirty="0"/>
              <a:t>Example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If 		          , then			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Note :</a:t>
            </a:r>
            <a:r>
              <a:rPr lang="id-ID" dirty="0"/>
              <a:t> Power of a square matrix A to the n, denoted by A</a:t>
            </a:r>
            <a:r>
              <a:rPr lang="id-ID" baseline="30000" dirty="0"/>
              <a:t>n</a:t>
            </a:r>
            <a:r>
              <a:rPr lang="id-ID" dirty="0"/>
              <a:t>, is defined as : A</a:t>
            </a:r>
            <a:r>
              <a:rPr lang="id-ID" baseline="30000" dirty="0"/>
              <a:t>n</a:t>
            </a:r>
            <a:r>
              <a:rPr lang="id-ID" dirty="0"/>
              <a:t> = A.A.....A [n factors]. We will discuss more about power of matrix in next topic.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8" y="1905000"/>
            <a:ext cx="2500312" cy="175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14800"/>
            <a:ext cx="212338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14800"/>
            <a:ext cx="208232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0699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Properties of Diagonal Matrices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81534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Matrix products that involve diagonal factors are especially easy to compute. For example,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/>
              <a:t>In words, to multiply a matrix A on the left by a diagonal matrix D, one can multiply successive rows of A by the</a:t>
            </a:r>
            <a:r>
              <a:rPr lang="id-ID" dirty="0"/>
              <a:t> </a:t>
            </a:r>
            <a:r>
              <a:rPr lang="en-US" dirty="0"/>
              <a:t>successive diagonal entries of D, and to multiply A on the right by D, one can multiply successive columns of A by the</a:t>
            </a:r>
            <a:r>
              <a:rPr lang="id-ID" dirty="0"/>
              <a:t> successive diagonal entries of 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38375"/>
            <a:ext cx="6448827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179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533400"/>
            <a:ext cx="7067128" cy="1143000"/>
          </a:xfrm>
        </p:spPr>
        <p:txBody>
          <a:bodyPr/>
          <a:lstStyle/>
          <a:p>
            <a:r>
              <a:rPr lang="id-ID" b="1" dirty="0"/>
              <a:t>Triangular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543800" cy="4449763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en-US" dirty="0"/>
              <a:t>A square matrix in which all the entries above the main diagonal are zero is called </a:t>
            </a:r>
            <a:r>
              <a:rPr lang="en-US" b="1" i="1" dirty="0"/>
              <a:t>lower triangular</a:t>
            </a:r>
            <a:r>
              <a:rPr lang="en-US" dirty="0"/>
              <a:t>, and a square matrix in</a:t>
            </a:r>
            <a:r>
              <a:rPr lang="id-ID" dirty="0"/>
              <a:t> </a:t>
            </a:r>
            <a:r>
              <a:rPr lang="en-US" dirty="0"/>
              <a:t>which all the entries below the main diagonal are zero is called </a:t>
            </a:r>
            <a:r>
              <a:rPr lang="en-US" b="1" i="1" dirty="0"/>
              <a:t>upper triangular</a:t>
            </a:r>
            <a:r>
              <a:rPr lang="en-US" dirty="0"/>
              <a:t>. A matrix that is either upper triangular or</a:t>
            </a:r>
            <a:r>
              <a:rPr lang="id-ID" dirty="0"/>
              <a:t> </a:t>
            </a:r>
            <a:r>
              <a:rPr lang="en-US" dirty="0"/>
              <a:t>lower triangular is called </a:t>
            </a:r>
            <a:r>
              <a:rPr lang="en-US" b="1" i="1" dirty="0"/>
              <a:t>triangular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530" y="3733800"/>
            <a:ext cx="5370270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1688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533400"/>
            <a:ext cx="6400800" cy="1143000"/>
          </a:xfrm>
        </p:spPr>
        <p:txBody>
          <a:bodyPr/>
          <a:lstStyle/>
          <a:p>
            <a:r>
              <a:rPr lang="id-ID" b="1" dirty="0"/>
              <a:t>Properties of Triangular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1617"/>
            <a:ext cx="7893485" cy="4729183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457200" indent="-457200" algn="just">
              <a:buAutoNum type="alphaLcParenBoth"/>
            </a:pPr>
            <a:r>
              <a:rPr lang="en-US" dirty="0"/>
              <a:t>The transpose of a lower triangular matrix is upper triangular, and the transpose of an upper triangular matrix is</a:t>
            </a:r>
            <a:r>
              <a:rPr lang="id-ID" dirty="0"/>
              <a:t> lower triangular.</a:t>
            </a:r>
          </a:p>
          <a:p>
            <a:pPr marL="457200" indent="-457200" algn="just">
              <a:buAutoNum type="alphaLcParenBoth"/>
            </a:pPr>
            <a:r>
              <a:rPr lang="en-US" dirty="0"/>
              <a:t>The product of lower triangular matrices is lower triangular, and the product of upper triangular matrices is upper</a:t>
            </a:r>
            <a:r>
              <a:rPr lang="id-ID" dirty="0"/>
              <a:t> triangular.</a:t>
            </a:r>
          </a:p>
          <a:p>
            <a:pPr marL="0" indent="0" algn="just">
              <a:buNone/>
            </a:pPr>
            <a:r>
              <a:rPr lang="id-ID" b="1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Consider the upper triangular matrices</a:t>
            </a:r>
            <a:r>
              <a:rPr lang="id-ID" dirty="0"/>
              <a:t> 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We can compute that both AB and BA are also upper triangular :</a:t>
            </a:r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7" y="4419600"/>
            <a:ext cx="3357563" cy="81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7" y="5857186"/>
            <a:ext cx="3257550" cy="1000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9454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533400"/>
            <a:ext cx="6248400" cy="1143000"/>
          </a:xfrm>
        </p:spPr>
        <p:txBody>
          <a:bodyPr/>
          <a:lstStyle/>
          <a:p>
            <a:r>
              <a:rPr lang="id-ID" b="1" dirty="0"/>
              <a:t>Symmetric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467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Definition</a:t>
            </a:r>
          </a:p>
          <a:p>
            <a:pPr marL="0" indent="0" algn="just">
              <a:buNone/>
            </a:pPr>
            <a:r>
              <a:rPr lang="id-ID" dirty="0"/>
              <a:t>A square matrix A is said to be symmetric if A = A</a:t>
            </a:r>
            <a:r>
              <a:rPr lang="id-ID" baseline="30000" dirty="0"/>
              <a:t>T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It is easy to recognize a symmetric matrix by</a:t>
            </a:r>
            <a:r>
              <a:rPr lang="id-ID" dirty="0"/>
              <a:t> </a:t>
            </a:r>
            <a:r>
              <a:rPr lang="en-US" dirty="0"/>
              <a:t>inspection: The entries on the main diagonal have no</a:t>
            </a:r>
            <a:r>
              <a:rPr lang="id-ID" dirty="0"/>
              <a:t> </a:t>
            </a:r>
            <a:r>
              <a:rPr lang="en-US" dirty="0"/>
              <a:t>restrictions, but mirror images of entries </a:t>
            </a:r>
            <a:r>
              <a:rPr lang="en-US" i="1" dirty="0"/>
              <a:t>across </a:t>
            </a:r>
            <a:r>
              <a:rPr lang="en-US" dirty="0"/>
              <a:t>the</a:t>
            </a:r>
            <a:r>
              <a:rPr lang="id-ID" dirty="0"/>
              <a:t> </a:t>
            </a:r>
            <a:r>
              <a:rPr lang="en-US" dirty="0"/>
              <a:t>main diagonal must be equal</a:t>
            </a:r>
            <a:r>
              <a:rPr lang="id-ID" dirty="0"/>
              <a:t>, as in this illustration :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Example :</a:t>
            </a:r>
          </a:p>
          <a:p>
            <a:pPr marL="0" indent="0" algn="just">
              <a:buNone/>
            </a:pPr>
            <a:r>
              <a:rPr lang="en-US" dirty="0"/>
              <a:t>The following matrices are symmetric, since each is equal to its own transpose</a:t>
            </a:r>
            <a:r>
              <a:rPr lang="id-ID" dirty="0"/>
              <a:t> :</a:t>
            </a:r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810000"/>
            <a:ext cx="13716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489" y="5257800"/>
            <a:ext cx="4255911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141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7768"/>
            <a:ext cx="7067128" cy="1143000"/>
          </a:xfrm>
        </p:spPr>
        <p:txBody>
          <a:bodyPr/>
          <a:lstStyle/>
          <a:p>
            <a:r>
              <a:rPr lang="id-ID" b="1" dirty="0"/>
              <a:t>Properties of Symmetric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/>
          <a:lstStyle/>
          <a:p>
            <a:pPr marL="0" indent="0" algn="just">
              <a:buNone/>
            </a:pPr>
            <a:r>
              <a:rPr lang="id-ID" dirty="0"/>
              <a:t>A square matrix A=[</a:t>
            </a:r>
            <a:r>
              <a:rPr lang="id-ID" i="1" dirty="0"/>
              <a:t>a</a:t>
            </a:r>
            <a:r>
              <a:rPr lang="id-ID" i="1" baseline="-25000" dirty="0"/>
              <a:t>ij</a:t>
            </a:r>
            <a:r>
              <a:rPr lang="id-ID" dirty="0"/>
              <a:t>] is symmetric if and only if (</a:t>
            </a:r>
            <a:r>
              <a:rPr lang="id-ID" i="1" dirty="0"/>
              <a:t>A</a:t>
            </a:r>
            <a:r>
              <a:rPr lang="id-ID" dirty="0"/>
              <a:t>)</a:t>
            </a:r>
            <a:r>
              <a:rPr lang="id-ID" i="1" baseline="-25000" dirty="0"/>
              <a:t>ij</a:t>
            </a:r>
            <a:r>
              <a:rPr lang="id-ID" dirty="0"/>
              <a:t> = (A)</a:t>
            </a:r>
            <a:r>
              <a:rPr lang="id-ID" i="1" baseline="-25000" dirty="0"/>
              <a:t>ji</a:t>
            </a:r>
            <a:r>
              <a:rPr lang="id-ID" dirty="0"/>
              <a:t>, for all values of </a:t>
            </a:r>
            <a:r>
              <a:rPr lang="id-ID" i="1" dirty="0"/>
              <a:t>i</a:t>
            </a:r>
            <a:r>
              <a:rPr lang="id-ID" dirty="0"/>
              <a:t> and </a:t>
            </a:r>
            <a:r>
              <a:rPr lang="id-ID" i="1" dirty="0"/>
              <a:t>j</a:t>
            </a:r>
            <a:r>
              <a:rPr lang="id-ID" dirty="0"/>
              <a:t>.</a:t>
            </a:r>
            <a:r>
              <a:rPr lang="en-US" dirty="0"/>
              <a:t> That is, </a:t>
            </a:r>
            <a:r>
              <a:rPr lang="id-ID" dirty="0"/>
              <a:t>A</a:t>
            </a:r>
            <a:r>
              <a:rPr lang="id-ID" i="1" baseline="30000" dirty="0"/>
              <a:t>T</a:t>
            </a:r>
            <a:r>
              <a:rPr lang="en-US" i="1" dirty="0"/>
              <a:t>= A.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symmetric matrices with the same size, and if </a:t>
            </a:r>
            <a:r>
              <a:rPr lang="en-US" i="1" dirty="0"/>
              <a:t>k </a:t>
            </a:r>
            <a:r>
              <a:rPr lang="en-US" dirty="0"/>
              <a:t>is any scalar, then:</a:t>
            </a:r>
          </a:p>
          <a:p>
            <a:pPr marL="457200" indent="-457200">
              <a:buAutoNum type="alphaLcParenBoth"/>
            </a:pPr>
            <a:r>
              <a:rPr lang="id-ID" dirty="0"/>
              <a:t>A</a:t>
            </a:r>
            <a:r>
              <a:rPr lang="id-ID" i="1" baseline="30000" dirty="0"/>
              <a:t>T</a:t>
            </a:r>
            <a:r>
              <a:rPr lang="id-ID" i="1" dirty="0"/>
              <a:t> </a:t>
            </a:r>
            <a:r>
              <a:rPr lang="id-ID" dirty="0"/>
              <a:t>is symmetric.</a:t>
            </a:r>
          </a:p>
          <a:p>
            <a:pPr marL="457200" indent="-457200">
              <a:buAutoNum type="alphaLcParenBoth"/>
            </a:pPr>
            <a:r>
              <a:rPr lang="id-ID" dirty="0"/>
              <a:t>A + B and A – B are symmetric.</a:t>
            </a:r>
          </a:p>
          <a:p>
            <a:pPr marL="457200" indent="-457200">
              <a:buAutoNum type="alphaLcParenBoth"/>
            </a:pPr>
            <a:r>
              <a:rPr lang="id-ID" dirty="0"/>
              <a:t>k.A</a:t>
            </a:r>
            <a:r>
              <a:rPr lang="id-ID" i="1" dirty="0"/>
              <a:t> </a:t>
            </a:r>
            <a:r>
              <a:rPr lang="id-ID" dirty="0"/>
              <a:t>is symmetric.</a:t>
            </a:r>
          </a:p>
          <a:p>
            <a:pPr marL="457200" indent="-457200">
              <a:buAutoNum type="alphaLcParenBoth"/>
            </a:pPr>
            <a:r>
              <a:rPr lang="id-ID" dirty="0"/>
              <a:t>A.B is symmetric if and only if A.B = B.A.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 (T</a:t>
            </a:r>
            <a:r>
              <a:rPr lang="en-US" dirty="0"/>
              <a:t>he product of two symmetric matrices is symmetric if and only if the matrices commute</a:t>
            </a:r>
            <a:r>
              <a:rPr lang="id-ID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9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0A60-EA2F-6846-A6B6-6687A994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MATRIX AND ITS PROPERTIES</a:t>
            </a:r>
          </a:p>
        </p:txBody>
      </p:sp>
    </p:spTree>
    <p:extLst>
      <p:ext uri="{BB962C8B-B14F-4D97-AF65-F5344CB8AC3E}">
        <p14:creationId xmlns:p14="http://schemas.microsoft.com/office/powerpoint/2010/main" val="2261312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385E-3163-F74F-98C2-23965539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3068960"/>
            <a:ext cx="5638777" cy="1143000"/>
          </a:xfrm>
        </p:spPr>
        <p:txBody>
          <a:bodyPr/>
          <a:lstStyle/>
          <a:p>
            <a:pPr algn="ctr"/>
            <a:r>
              <a:rPr lang="en-US" dirty="0"/>
              <a:t>Inverse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109AAD-6F08-FC48-9797-20E478807994}"/>
              </a:ext>
            </a:extLst>
          </p:cNvPr>
          <p:cNvGrpSpPr>
            <a:grpSpLocks/>
          </p:cNvGrpSpPr>
          <p:nvPr/>
        </p:nvGrpSpPr>
        <p:grpSpPr bwMode="auto">
          <a:xfrm>
            <a:off x="830620" y="1905000"/>
            <a:ext cx="7678062" cy="3828111"/>
            <a:chOff x="2740" y="181"/>
            <a:chExt cx="6695" cy="5875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81AA1A5-4F6D-8A43-A55D-FE2C48F15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181"/>
              <a:ext cx="6695" cy="5875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791BE4-AC14-1245-9DE7-2326830C4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649F9F4-3AE6-734F-84CD-C7FEBFF62D0A}"/>
              </a:ext>
            </a:extLst>
          </p:cNvPr>
          <p:cNvSpPr/>
          <p:nvPr/>
        </p:nvSpPr>
        <p:spPr>
          <a:xfrm>
            <a:off x="1076979" y="2831751"/>
            <a:ext cx="7266881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D" sz="2400" dirty="0"/>
              <a:t>If 𝐴 is a square matrix, and if there exists a matrix 𝐵 of the same size for which 𝐴𝐵 = 𝐵𝐴 = 𝐼, then 𝐴 is said to be 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invertible (or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nonsingular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r>
              <a:rPr lang="en-ID" sz="2400" dirty="0"/>
              <a:t>and 𝐵 is called an inverse of 𝐴. If no such matrix 𝐵 exists, then 𝐴 is said to be singular.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968EC-2F43-C945-BFCA-186938AF84FE}"/>
              </a:ext>
            </a:extLst>
          </p:cNvPr>
          <p:cNvSpPr txBox="1"/>
          <p:nvPr/>
        </p:nvSpPr>
        <p:spPr>
          <a:xfrm>
            <a:off x="1187624" y="201954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4120989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5F96-4ABE-B34A-88BA-1079CBB6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47235-2F65-B74B-9ADD-E99C00A26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Let  matrix A dan B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en-ID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dan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B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en-ID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ID" sz="2400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Consider matrix multiplication AB and BA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AB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identity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sz="2400" dirty="0"/>
              </a:p>
              <a:p>
                <a:pPr marL="0" indent="0">
                  <a:buNone/>
                </a:pPr>
                <a:r>
                  <a:rPr lang="en-US" sz="24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BA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D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D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identity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47235-2F65-B74B-9ADD-E99C00A26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7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70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385E-3163-F74F-98C2-23965539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3068960"/>
            <a:ext cx="5638777" cy="1143000"/>
          </a:xfrm>
        </p:spPr>
        <p:txBody>
          <a:bodyPr/>
          <a:lstStyle/>
          <a:p>
            <a:pPr algn="ctr"/>
            <a:r>
              <a:rPr lang="en-US" dirty="0"/>
              <a:t>Inverse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109AAD-6F08-FC48-9797-20E478807994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66810"/>
            <a:ext cx="7746514" cy="2445150"/>
            <a:chOff x="2740" y="415"/>
            <a:chExt cx="6695" cy="564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81AA1A5-4F6D-8A43-A55D-FE2C48F15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415"/>
              <a:ext cx="6695" cy="5641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791BE4-AC14-1245-9DE7-2326830C4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49F9F4-3AE6-734F-84CD-C7FEBFF62D0A}"/>
                  </a:ext>
                </a:extLst>
              </p:cNvPr>
              <p:cNvSpPr/>
              <p:nvPr/>
            </p:nvSpPr>
            <p:spPr>
              <a:xfrm>
                <a:off x="1172146" y="2167262"/>
                <a:ext cx="7678062" cy="2104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matrix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D" sz="2000" dirty="0"/>
                  <a:t> </a:t>
                </a:r>
              </a:p>
              <a:p>
                <a:r>
                  <a:rPr lang="en-ID" sz="2000" dirty="0"/>
                  <a:t>is invertible if and only if </a:t>
                </a:r>
                <a:r>
                  <a:rPr lang="en-ID" sz="2000" i="1" dirty="0"/>
                  <a:t>ad</a:t>
                </a:r>
                <a:r>
                  <a:rPr lang="en-ID" sz="2000" dirty="0"/>
                  <a:t> - </a:t>
                </a:r>
                <a:r>
                  <a:rPr lang="en-ID" sz="2000" i="1" dirty="0" err="1"/>
                  <a:t>bc</a:t>
                </a:r>
                <a:r>
                  <a:rPr lang="en-ID" sz="2000" dirty="0"/>
                  <a:t> </a:t>
                </a:r>
                <a14:m>
                  <m:oMath xmlns:m="http://schemas.openxmlformats.org/officeDocument/2006/math">
                    <m:r>
                      <a:rPr lang="en-ID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ID" sz="2000" dirty="0"/>
                  <a:t>in which case the inverse is given by the formula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𝑏𝑐</m:t>
                        </m:r>
                      </m:den>
                    </m:f>
                  </m:oMath>
                </a14:m>
                <a:r>
                  <a:rPr lang="en-ID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49F9F4-3AE6-734F-84CD-C7FEBFF62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146" y="2167262"/>
                <a:ext cx="7678062" cy="2104166"/>
              </a:xfrm>
              <a:prstGeom prst="rect">
                <a:avLst/>
              </a:prstGeom>
              <a:blipFill>
                <a:blip r:embed="rId2"/>
                <a:stretch>
                  <a:fillRect l="-794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9C268C72-766E-E549-8EB4-0E9557130279}"/>
              </a:ext>
            </a:extLst>
          </p:cNvPr>
          <p:cNvSpPr txBox="1">
            <a:spLocks/>
          </p:cNvSpPr>
          <p:nvPr/>
        </p:nvSpPr>
        <p:spPr bwMode="auto">
          <a:xfrm>
            <a:off x="3276600" y="1291066"/>
            <a:ext cx="5638777" cy="6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5" rIns="91428" bIns="45715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144"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287"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431"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574"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dirty="0"/>
              <a:t>Inverse of </a:t>
            </a:r>
            <a:r>
              <a:rPr lang="en-ID" dirty="0"/>
              <a:t>2 × 2 Matrix</a:t>
            </a:r>
            <a:br>
              <a:rPr lang="en-ID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4C56CA-465F-A14E-8E8E-0A269FE95F02}"/>
                  </a:ext>
                </a:extLst>
              </p:cNvPr>
              <p:cNvSpPr/>
              <p:nvPr/>
            </p:nvSpPr>
            <p:spPr>
              <a:xfrm>
                <a:off x="1172146" y="4141662"/>
                <a:ext cx="7678062" cy="2211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D" sz="2000" b="1" dirty="0"/>
                  <a:t>Example</a:t>
                </a:r>
                <a:r>
                  <a:rPr lang="en-ID" sz="2000" dirty="0"/>
                  <a:t>: Calculating the inverse of the matrix </a:t>
                </a:r>
                <a:r>
                  <a:rPr lang="en-ID" sz="2000" i="1" dirty="0"/>
                  <a:t>A</a:t>
                </a:r>
                <a:r>
                  <a:rPr lang="en-ID" sz="2000" dirty="0"/>
                  <a:t> =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D" sz="2000" dirty="0"/>
              </a:p>
              <a:p>
                <a:r>
                  <a:rPr lang="en-ID" sz="2000" dirty="0"/>
                  <a:t>Solution : </a:t>
                </a:r>
              </a:p>
              <a:p>
                <a:endParaRPr lang="en-ID" sz="2000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ID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4C56CA-465F-A14E-8E8E-0A269FE95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146" y="4141662"/>
                <a:ext cx="7678062" cy="2211888"/>
              </a:xfrm>
              <a:prstGeom prst="rect">
                <a:avLst/>
              </a:prstGeom>
              <a:blipFill>
                <a:blip r:embed="rId3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E67F288-3DE2-4A45-A80A-7F788BA38CDD}"/>
              </a:ext>
            </a:extLst>
          </p:cNvPr>
          <p:cNvSpPr txBox="1"/>
          <p:nvPr/>
        </p:nvSpPr>
        <p:spPr>
          <a:xfrm>
            <a:off x="1172146" y="18068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Theorem</a:t>
            </a:r>
          </a:p>
        </p:txBody>
      </p:sp>
    </p:spTree>
    <p:extLst>
      <p:ext uri="{BB962C8B-B14F-4D97-AF65-F5344CB8AC3E}">
        <p14:creationId xmlns:p14="http://schemas.microsoft.com/office/powerpoint/2010/main" val="1652331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385E-3163-F74F-98C2-23965539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3068960"/>
            <a:ext cx="5638777" cy="1143000"/>
          </a:xfrm>
        </p:spPr>
        <p:txBody>
          <a:bodyPr/>
          <a:lstStyle/>
          <a:p>
            <a:pPr algn="ctr"/>
            <a:r>
              <a:rPr lang="en-US" dirty="0"/>
              <a:t>Inverse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109AAD-6F08-FC48-9797-20E478807994}"/>
              </a:ext>
            </a:extLst>
          </p:cNvPr>
          <p:cNvGrpSpPr>
            <a:grpSpLocks/>
          </p:cNvGrpSpPr>
          <p:nvPr/>
        </p:nvGrpSpPr>
        <p:grpSpPr bwMode="auto">
          <a:xfrm>
            <a:off x="998394" y="1919480"/>
            <a:ext cx="7678062" cy="3813776"/>
            <a:chOff x="2740" y="203"/>
            <a:chExt cx="6695" cy="585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81AA1A5-4F6D-8A43-A55D-FE2C48F15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03"/>
              <a:ext cx="6695" cy="5853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791BE4-AC14-1245-9DE7-2326830C4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49F9F4-3AE6-734F-84CD-C7FEBFF62D0A}"/>
                  </a:ext>
                </a:extLst>
              </p:cNvPr>
              <p:cNvSpPr/>
              <p:nvPr/>
            </p:nvSpPr>
            <p:spPr>
              <a:xfrm>
                <a:off x="1218246" y="3311176"/>
                <a:ext cx="767806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49F9F4-3AE6-734F-84CD-C7FEBFF62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46" y="3311176"/>
                <a:ext cx="7678062" cy="400110"/>
              </a:xfrm>
              <a:prstGeom prst="rect">
                <a:avLst/>
              </a:prstGeom>
              <a:blipFill>
                <a:blip r:embed="rId2"/>
                <a:stretch>
                  <a:fillRect l="-397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88F8432-1F99-1D41-A67F-AAB39D96EB74}"/>
              </a:ext>
            </a:extLst>
          </p:cNvPr>
          <p:cNvSpPr/>
          <p:nvPr/>
        </p:nvSpPr>
        <p:spPr>
          <a:xfrm>
            <a:off x="1218246" y="2715828"/>
            <a:ext cx="74341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000" dirty="0">
                <a:latin typeface="Helvetica" pitchFamily="2" charset="0"/>
              </a:rPr>
              <a:t>1. If 𝐴 and 𝐵 are invertible matrices with the same size, then 𝐴𝐵 is invertible and</a:t>
            </a:r>
            <a:endParaRPr lang="en-ID" sz="2000" dirty="0">
              <a:effectLst/>
              <a:latin typeface="Helvetica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28D83B-80E7-864E-A2EF-D7A57FFA42B8}"/>
              </a:ext>
            </a:extLst>
          </p:cNvPr>
          <p:cNvSpPr/>
          <p:nvPr/>
        </p:nvSpPr>
        <p:spPr>
          <a:xfrm>
            <a:off x="1246969" y="3711053"/>
            <a:ext cx="7445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000" dirty="0">
                <a:latin typeface="Helvetica" pitchFamily="2" charset="0"/>
              </a:rPr>
              <a:t>2. If 𝐴 is invertible and n is a nonnegative integer, then:</a:t>
            </a:r>
          </a:p>
          <a:p>
            <a:r>
              <a:rPr lang="en-ID" sz="2000" dirty="0">
                <a:latin typeface="Helvetica" pitchFamily="2" charset="0"/>
              </a:rPr>
              <a:t>(a) 𝐴</a:t>
            </a:r>
            <a:r>
              <a:rPr lang="en-ID" sz="2000" baseline="30000" dirty="0">
                <a:latin typeface="Helvetica" pitchFamily="2" charset="0"/>
              </a:rPr>
              <a:t>−1</a:t>
            </a:r>
            <a:r>
              <a:rPr lang="en-ID" sz="2000" dirty="0">
                <a:latin typeface="Helvetica" pitchFamily="2" charset="0"/>
              </a:rPr>
              <a:t> is invertible and (𝐴</a:t>
            </a:r>
            <a:r>
              <a:rPr lang="en-ID" sz="2000" baseline="30000" dirty="0">
                <a:latin typeface="Helvetica" pitchFamily="2" charset="0"/>
              </a:rPr>
              <a:t>−1</a:t>
            </a:r>
            <a:r>
              <a:rPr lang="en-ID" sz="2000" dirty="0">
                <a:latin typeface="Helvetica" pitchFamily="2" charset="0"/>
              </a:rPr>
              <a:t>)</a:t>
            </a:r>
            <a:r>
              <a:rPr lang="en-ID" sz="2000" baseline="30000" dirty="0">
                <a:latin typeface="Helvetica" pitchFamily="2" charset="0"/>
              </a:rPr>
              <a:t>−1 </a:t>
            </a:r>
            <a:r>
              <a:rPr lang="en-ID" sz="2000" dirty="0">
                <a:latin typeface="Helvetica" pitchFamily="2" charset="0"/>
              </a:rPr>
              <a:t>= 𝐴.</a:t>
            </a:r>
          </a:p>
          <a:p>
            <a:r>
              <a:rPr lang="en-ID" sz="2000" dirty="0">
                <a:latin typeface="Helvetica" pitchFamily="2" charset="0"/>
              </a:rPr>
              <a:t>(b) 𝐴n is invertible and (𝐴</a:t>
            </a:r>
            <a:r>
              <a:rPr lang="en-ID" sz="2000" baseline="30000" dirty="0">
                <a:latin typeface="Helvetica" pitchFamily="2" charset="0"/>
              </a:rPr>
              <a:t>n</a:t>
            </a:r>
            <a:r>
              <a:rPr lang="en-ID" sz="2000" dirty="0">
                <a:latin typeface="Helvetica" pitchFamily="2" charset="0"/>
              </a:rPr>
              <a:t>)</a:t>
            </a:r>
            <a:r>
              <a:rPr lang="en-ID" sz="2000" baseline="30000" dirty="0">
                <a:latin typeface="Helvetica" pitchFamily="2" charset="0"/>
              </a:rPr>
              <a:t>−1 </a:t>
            </a:r>
            <a:r>
              <a:rPr lang="en-ID" sz="2000" dirty="0">
                <a:latin typeface="Helvetica" pitchFamily="2" charset="0"/>
              </a:rPr>
              <a:t>= 𝐴</a:t>
            </a:r>
            <a:r>
              <a:rPr lang="en-ID" sz="2000" baseline="30000" dirty="0">
                <a:latin typeface="Helvetica" pitchFamily="2" charset="0"/>
              </a:rPr>
              <a:t>−n </a:t>
            </a:r>
            <a:r>
              <a:rPr lang="en-ID" sz="2000" dirty="0">
                <a:latin typeface="Helvetica" pitchFamily="2" charset="0"/>
              </a:rPr>
              <a:t>= (𝐴</a:t>
            </a:r>
            <a:r>
              <a:rPr lang="en-ID" sz="2000" baseline="30000" dirty="0">
                <a:latin typeface="Helvetica" pitchFamily="2" charset="0"/>
              </a:rPr>
              <a:t>−1</a:t>
            </a:r>
            <a:r>
              <a:rPr lang="en-ID" sz="2000" dirty="0">
                <a:latin typeface="Helvetica" pitchFamily="2" charset="0"/>
              </a:rPr>
              <a:t>)</a:t>
            </a:r>
            <a:r>
              <a:rPr lang="en-ID" sz="2000" baseline="30000" dirty="0">
                <a:latin typeface="Helvetica" pitchFamily="2" charset="0"/>
              </a:rPr>
              <a:t>n</a:t>
            </a:r>
            <a:r>
              <a:rPr lang="en-ID" sz="2000" dirty="0">
                <a:latin typeface="Helvetica" pitchFamily="2" charset="0"/>
              </a:rPr>
              <a:t>.</a:t>
            </a:r>
          </a:p>
          <a:p>
            <a:r>
              <a:rPr lang="en-ID" sz="2000" dirty="0">
                <a:latin typeface="Helvetica" pitchFamily="2" charset="0"/>
              </a:rPr>
              <a:t>(c) k𝐴 is invertible for any nonzero scalar k, and (k𝐴)</a:t>
            </a:r>
            <a:r>
              <a:rPr lang="en-ID" sz="2000" baseline="30000" dirty="0">
                <a:latin typeface="Helvetica" pitchFamily="2" charset="0"/>
              </a:rPr>
              <a:t>−1 </a:t>
            </a:r>
            <a:r>
              <a:rPr lang="en-ID" sz="2000" dirty="0">
                <a:latin typeface="Helvetica" pitchFamily="2" charset="0"/>
              </a:rPr>
              <a:t>= k</a:t>
            </a:r>
            <a:r>
              <a:rPr lang="en-ID" sz="2000" baseline="30000" dirty="0">
                <a:latin typeface="Helvetica" pitchFamily="2" charset="0"/>
              </a:rPr>
              <a:t>−1</a:t>
            </a:r>
            <a:r>
              <a:rPr lang="en-ID" sz="2000" dirty="0">
                <a:latin typeface="Helvetica" pitchFamily="2" charset="0"/>
              </a:rPr>
              <a:t>𝐴</a:t>
            </a:r>
            <a:r>
              <a:rPr lang="en-ID" sz="2000" baseline="30000" dirty="0">
                <a:latin typeface="Helvetica" pitchFamily="2" charset="0"/>
              </a:rPr>
              <a:t>−1</a:t>
            </a:r>
            <a:r>
              <a:rPr lang="en-ID" sz="2000" dirty="0">
                <a:latin typeface="Helvetica" pitchFamily="2" charset="0"/>
              </a:rPr>
              <a:t>.</a:t>
            </a:r>
            <a:endParaRPr lang="en-ID" sz="2000" dirty="0">
              <a:effectLst/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82D7A-EF64-A343-AB34-E3E932D6707C}"/>
              </a:ext>
            </a:extLst>
          </p:cNvPr>
          <p:cNvSpPr txBox="1"/>
          <p:nvPr/>
        </p:nvSpPr>
        <p:spPr>
          <a:xfrm>
            <a:off x="1071484" y="20427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Theorem</a:t>
            </a:r>
          </a:p>
        </p:txBody>
      </p:sp>
    </p:spTree>
    <p:extLst>
      <p:ext uri="{BB962C8B-B14F-4D97-AF65-F5344CB8AC3E}">
        <p14:creationId xmlns:p14="http://schemas.microsoft.com/office/powerpoint/2010/main" val="38652094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85800"/>
            <a:ext cx="6781800" cy="801538"/>
          </a:xfrm>
        </p:spPr>
        <p:txBody>
          <a:bodyPr>
            <a:normAutofit fontScale="90000"/>
          </a:bodyPr>
          <a:lstStyle/>
          <a:p>
            <a:r>
              <a:rPr lang="id-ID" b="1" dirty="0"/>
              <a:t>Inverse Technique : Inversion Algorithm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696200" cy="49529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 find the inverse of an invertible matrix </a:t>
            </a:r>
            <a:r>
              <a:rPr lang="en-US" i="1" dirty="0"/>
              <a:t>A</a:t>
            </a:r>
            <a:r>
              <a:rPr lang="en-US" dirty="0"/>
              <a:t>, find a sequence of elementary row operations that reduces</a:t>
            </a:r>
            <a:r>
              <a:rPr lang="id-ID" dirty="0"/>
              <a:t> </a:t>
            </a:r>
            <a:r>
              <a:rPr lang="en-US" i="1" dirty="0"/>
              <a:t>A </a:t>
            </a:r>
            <a:r>
              <a:rPr lang="en-US" dirty="0"/>
              <a:t>to the identity and then perform that same sequence of operations on </a:t>
            </a:r>
            <a:r>
              <a:rPr lang="id-ID" dirty="0"/>
              <a:t>I</a:t>
            </a:r>
            <a:r>
              <a:rPr lang="id-ID" baseline="-25000" dirty="0"/>
              <a:t>n</a:t>
            </a:r>
            <a:r>
              <a:rPr lang="id-ID" dirty="0"/>
              <a:t> </a:t>
            </a:r>
            <a:r>
              <a:rPr lang="en-US" dirty="0"/>
              <a:t>to obtain </a:t>
            </a:r>
            <a:r>
              <a:rPr lang="id-ID" dirty="0"/>
              <a:t>A</a:t>
            </a:r>
            <a:r>
              <a:rPr lang="id-ID" baseline="30000" dirty="0"/>
              <a:t>-1</a:t>
            </a:r>
            <a:r>
              <a:rPr lang="en-US" dirty="0"/>
              <a:t>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To accomplish this we will adjoin the identity matrix</a:t>
            </a:r>
            <a:r>
              <a:rPr lang="id-ID" dirty="0"/>
              <a:t> </a:t>
            </a:r>
            <a:r>
              <a:rPr lang="en-US" dirty="0"/>
              <a:t>to the right side of </a:t>
            </a:r>
            <a:r>
              <a:rPr lang="en-US" i="1" dirty="0"/>
              <a:t>A</a:t>
            </a:r>
            <a:r>
              <a:rPr lang="en-US" dirty="0"/>
              <a:t>, thereby producing a partitioned matrix of the form</a:t>
            </a:r>
            <a:endParaRPr lang="id-ID" dirty="0"/>
          </a:p>
          <a:p>
            <a:pPr marL="0" indent="0" algn="ctr">
              <a:buNone/>
            </a:pPr>
            <a:r>
              <a:rPr lang="id-ID" dirty="0"/>
              <a:t>[ A | </a:t>
            </a:r>
            <a:r>
              <a:rPr lang="id-ID" i="1" dirty="0"/>
              <a:t>I</a:t>
            </a:r>
            <a:r>
              <a:rPr lang="id-ID" dirty="0"/>
              <a:t> ]</a:t>
            </a:r>
          </a:p>
          <a:p>
            <a:pPr marL="0" indent="0" algn="just">
              <a:buNone/>
            </a:pPr>
            <a:r>
              <a:rPr lang="en-US" dirty="0"/>
              <a:t>Then we will apply row operations to this matrix until the left side is reduced to </a:t>
            </a:r>
            <a:r>
              <a:rPr lang="en-US" i="1" dirty="0"/>
              <a:t>I</a:t>
            </a:r>
            <a:r>
              <a:rPr lang="en-US" dirty="0"/>
              <a:t>; these</a:t>
            </a:r>
            <a:r>
              <a:rPr lang="id-ID" dirty="0"/>
              <a:t> </a:t>
            </a:r>
            <a:r>
              <a:rPr lang="en-US" dirty="0"/>
              <a:t>operations will convert the right side to </a:t>
            </a:r>
            <a:r>
              <a:rPr lang="id-ID" dirty="0"/>
              <a:t>A</a:t>
            </a:r>
            <a:r>
              <a:rPr lang="id-ID" baseline="30000" dirty="0"/>
              <a:t>-1</a:t>
            </a:r>
            <a:r>
              <a:rPr lang="en-US" dirty="0"/>
              <a:t>, so the final matrix will have the form</a:t>
            </a:r>
            <a:endParaRPr lang="id-ID" dirty="0"/>
          </a:p>
          <a:p>
            <a:pPr marL="0" indent="0" algn="ctr">
              <a:buNone/>
            </a:pPr>
            <a:r>
              <a:rPr lang="id-ID" dirty="0"/>
              <a:t>[ </a:t>
            </a:r>
            <a:r>
              <a:rPr lang="id-ID" i="1" dirty="0"/>
              <a:t>I</a:t>
            </a:r>
            <a:r>
              <a:rPr lang="id-ID" dirty="0"/>
              <a:t> | A</a:t>
            </a:r>
            <a:r>
              <a:rPr lang="id-ID" baseline="30000" dirty="0"/>
              <a:t>-1</a:t>
            </a:r>
            <a:r>
              <a:rPr lang="id-ID" dirty="0"/>
              <a:t> 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909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5ABC-BDC9-1B45-9E5F-1F1C79A5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1052736"/>
            <a:ext cx="7772694" cy="1143000"/>
          </a:xfrm>
        </p:spPr>
        <p:txBody>
          <a:bodyPr>
            <a:normAutofit fontScale="90000"/>
          </a:bodyPr>
          <a:lstStyle/>
          <a:p>
            <a:br>
              <a:rPr lang="en-ID" sz="2800" dirty="0">
                <a:latin typeface="Helvetica" pitchFamily="2" charset="0"/>
              </a:rPr>
            </a:br>
            <a:r>
              <a:rPr lang="en-ID" sz="2400" dirty="0">
                <a:latin typeface="Helvetica" pitchFamily="2" charset="0"/>
              </a:rPr>
              <a:t>Example: Using Row Operations to Find A</a:t>
            </a:r>
            <a:r>
              <a:rPr lang="en-ID" sz="2400" baseline="30000" dirty="0">
                <a:latin typeface="Helvetica" pitchFamily="2" charset="0"/>
              </a:rPr>
              <a:t>−1</a:t>
            </a:r>
            <a:r>
              <a:rPr lang="en-ID" sz="2400" dirty="0">
                <a:latin typeface="Helvetica" pitchFamily="2" charset="0"/>
              </a:rPr>
              <a:t>.</a:t>
            </a:r>
            <a:br>
              <a:rPr lang="en-ID" sz="2400" dirty="0">
                <a:latin typeface="Helvetica" pitchFamily="2" charset="0"/>
              </a:rPr>
            </a:b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CD788-D0EA-3C41-8639-87159E67D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7800" y="2636912"/>
                <a:ext cx="7239000" cy="37638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D" sz="2000" dirty="0"/>
                  <a:t>Find the Inverse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D" sz="2000" dirty="0"/>
              </a:p>
              <a:p>
                <a:pPr marL="0" indent="0">
                  <a:buNone/>
                </a:pPr>
                <a:r>
                  <a:rPr lang="en-US" sz="2400" b="1" dirty="0"/>
                  <a:t>Solution : 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- </a:t>
                </a:r>
                <a:r>
                  <a:rPr lang="en-ID" sz="2000" dirty="0"/>
                  <a:t>We want to reduce 𝐴 to the identity matrix by row operations and simultaneously apply these operations to 𝐼 to produce 𝐴</a:t>
                </a:r>
                <a:r>
                  <a:rPr lang="en-ID" sz="2000" baseline="30000" dirty="0"/>
                  <a:t>−1</a:t>
                </a:r>
                <a:r>
                  <a:rPr lang="en-ID" sz="2000" dirty="0"/>
                  <a:t>. </a:t>
                </a:r>
              </a:p>
              <a:p>
                <a:pPr marL="0" indent="0">
                  <a:buNone/>
                </a:pPr>
                <a:r>
                  <a:rPr lang="en-ID" sz="2000" dirty="0"/>
                  <a:t>For this we will adjoin the identity matrix to the right side of 𝐴, thereby producing a partitioned matrix of the form [𝐴 ∣ 𝐼]</a:t>
                </a:r>
              </a:p>
              <a:p>
                <a:pPr marL="0" indent="0">
                  <a:buNone/>
                </a:pPr>
                <a:r>
                  <a:rPr lang="en-ID" sz="2000" dirty="0"/>
                  <a:t>- Then we will apply row operations to this matrix until the left side is reduced to 𝐼; these operations will convert the right side to 𝐴</a:t>
                </a:r>
                <a:r>
                  <a:rPr lang="en-ID" sz="2000" baseline="30000" dirty="0"/>
                  <a:t>−1</a:t>
                </a:r>
                <a:r>
                  <a:rPr lang="en-ID" sz="2000" dirty="0"/>
                  <a:t>, so the final matrix will have the form [𝐼 ∣ 𝐴</a:t>
                </a:r>
                <a:r>
                  <a:rPr lang="en-ID" sz="2000" baseline="30000" dirty="0"/>
                  <a:t>−1</a:t>
                </a:r>
                <a:r>
                  <a:rPr lang="en-ID" sz="2000" dirty="0"/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CD788-D0EA-3C41-8639-87159E67D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7800" y="2636912"/>
                <a:ext cx="7239000" cy="3763888"/>
              </a:xfrm>
              <a:blipFill>
                <a:blip r:embed="rId2"/>
                <a:stretch>
                  <a:fillRect l="-1095" t="-1621" r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915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66B2-9C94-FD4E-8924-3A470EBB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47800"/>
            <a:ext cx="7067128" cy="571500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3F3E-E718-3E4B-8E66-B8B1E683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420586"/>
            <a:ext cx="7067128" cy="3992563"/>
          </a:xfrm>
        </p:spPr>
        <p:txBody>
          <a:bodyPr/>
          <a:lstStyle/>
          <a:p>
            <a:pPr marL="0" indent="0">
              <a:buNone/>
            </a:pPr>
            <a:r>
              <a:rPr lang="en-ID" sz="2000" dirty="0"/>
              <a:t>The computations are as follows:</a:t>
            </a:r>
          </a:p>
          <a:p>
            <a:pPr marL="0" indent="0">
              <a:buNone/>
            </a:pPr>
            <a:endParaRPr lang="en-ID" sz="2000" dirty="0"/>
          </a:p>
          <a:p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0FB64FA-28B5-4F48-87C5-1631E340B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97528"/>
            <a:ext cx="3657600" cy="4631871"/>
          </a:xfrm>
          <a:prstGeom prst="rect">
            <a:avLst/>
          </a:prstGeom>
        </p:spPr>
      </p:pic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27F7D1C0-B067-204E-8919-9E591E3CB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1" y="1752600"/>
            <a:ext cx="427749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02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33400"/>
            <a:ext cx="6172200" cy="1143000"/>
          </a:xfrm>
        </p:spPr>
        <p:txBody>
          <a:bodyPr/>
          <a:lstStyle/>
          <a:p>
            <a:r>
              <a:rPr lang="id-ID" b="1" dirty="0"/>
              <a:t>Inverse of a Product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8001000" cy="44434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id-ID" dirty="0">
                <a:cs typeface="Times New Roman"/>
              </a:rPr>
              <a:t>If </a:t>
            </a:r>
            <a:r>
              <a:rPr lang="id-ID" i="1" dirty="0">
                <a:cs typeface="Times New Roman"/>
              </a:rPr>
              <a:t>A</a:t>
            </a:r>
            <a:r>
              <a:rPr lang="id-ID" dirty="0">
                <a:cs typeface="Times New Roman"/>
              </a:rPr>
              <a:t> and </a:t>
            </a:r>
            <a:r>
              <a:rPr lang="id-ID" i="1" dirty="0">
                <a:cs typeface="Times New Roman"/>
              </a:rPr>
              <a:t>B</a:t>
            </a:r>
            <a:r>
              <a:rPr lang="id-ID" dirty="0">
                <a:cs typeface="Times New Roman"/>
              </a:rPr>
              <a:t> are invertible matrices with the same size, then </a:t>
            </a:r>
            <a:r>
              <a:rPr lang="id-ID" i="1" dirty="0">
                <a:cs typeface="Times New Roman"/>
              </a:rPr>
              <a:t>A.B</a:t>
            </a:r>
            <a:r>
              <a:rPr lang="id-ID" dirty="0">
                <a:cs typeface="Times New Roman"/>
              </a:rPr>
              <a:t> is invertible and</a:t>
            </a:r>
          </a:p>
          <a:p>
            <a:pPr marL="0" indent="0" algn="ctr">
              <a:buNone/>
            </a:pPr>
            <a:r>
              <a:rPr lang="id-ID" dirty="0">
                <a:cs typeface="Times New Roman"/>
              </a:rPr>
              <a:t>(</a:t>
            </a:r>
            <a:r>
              <a:rPr lang="id-ID" i="1" dirty="0">
                <a:cs typeface="Times New Roman"/>
              </a:rPr>
              <a:t>A.B</a:t>
            </a:r>
            <a:r>
              <a:rPr lang="id-ID" dirty="0">
                <a:cs typeface="Times New Roman"/>
              </a:rPr>
              <a:t>)</a:t>
            </a:r>
            <a:r>
              <a:rPr lang="id-ID" baseline="30000" dirty="0">
                <a:cs typeface="Times New Roman"/>
              </a:rPr>
              <a:t>-1</a:t>
            </a:r>
            <a:r>
              <a:rPr lang="id-ID" dirty="0">
                <a:cs typeface="Times New Roman"/>
              </a:rPr>
              <a:t> = </a:t>
            </a:r>
            <a:r>
              <a:rPr lang="id-ID" i="1" dirty="0">
                <a:cs typeface="Times New Roman"/>
              </a:rPr>
              <a:t>B</a:t>
            </a:r>
            <a:r>
              <a:rPr lang="id-ID" baseline="30000" dirty="0">
                <a:cs typeface="Times New Roman"/>
              </a:rPr>
              <a:t>-1</a:t>
            </a:r>
            <a:r>
              <a:rPr lang="id-ID" dirty="0">
                <a:cs typeface="Times New Roman"/>
              </a:rPr>
              <a:t>.</a:t>
            </a:r>
            <a:r>
              <a:rPr lang="id-ID" i="1" dirty="0">
                <a:cs typeface="Times New Roman"/>
              </a:rPr>
              <a:t>A</a:t>
            </a:r>
            <a:r>
              <a:rPr lang="id-ID" baseline="30000" dirty="0">
                <a:cs typeface="Times New Roman"/>
              </a:rPr>
              <a:t>-1</a:t>
            </a:r>
          </a:p>
          <a:p>
            <a:pPr marL="0" indent="0" algn="just">
              <a:buNone/>
            </a:pPr>
            <a:endParaRPr lang="id-ID" dirty="0">
              <a:cs typeface="Times New Roman"/>
            </a:endParaRPr>
          </a:p>
          <a:p>
            <a:pPr marL="0" indent="0" algn="just">
              <a:buNone/>
            </a:pPr>
            <a:r>
              <a:rPr lang="en-US" dirty="0">
                <a:cs typeface="Times New Roman"/>
              </a:rPr>
              <a:t>The </a:t>
            </a:r>
            <a:r>
              <a:rPr lang="id-ID" dirty="0">
                <a:cs typeface="Times New Roman"/>
              </a:rPr>
              <a:t>theorem </a:t>
            </a:r>
            <a:r>
              <a:rPr lang="en-US" dirty="0">
                <a:cs typeface="Times New Roman"/>
              </a:rPr>
              <a:t>above </a:t>
            </a:r>
            <a:r>
              <a:rPr lang="id-ID" dirty="0">
                <a:cs typeface="Times New Roman"/>
              </a:rPr>
              <a:t>can be extended to three or more matrices :</a:t>
            </a:r>
          </a:p>
          <a:p>
            <a:pPr marL="0" indent="0">
              <a:buNone/>
            </a:pPr>
            <a:r>
              <a:rPr lang="en-US" i="1" dirty="0"/>
              <a:t>A product of any number of</a:t>
            </a:r>
            <a:r>
              <a:rPr lang="id-ID" i="1" dirty="0"/>
              <a:t> </a:t>
            </a:r>
            <a:r>
              <a:rPr lang="en-US" i="1" dirty="0"/>
              <a:t>invertible matrices is invertible, and the inverse of the product is the</a:t>
            </a:r>
            <a:r>
              <a:rPr lang="id-ID" i="1" dirty="0"/>
              <a:t> </a:t>
            </a:r>
            <a:r>
              <a:rPr lang="en-US" i="1" dirty="0"/>
              <a:t>product of the inverses in the reverse order.</a:t>
            </a:r>
            <a:endParaRPr lang="id-ID" i="1" dirty="0"/>
          </a:p>
          <a:p>
            <a:pPr marL="0" indent="0">
              <a:buNone/>
            </a:pPr>
            <a:endParaRPr lang="en-US" dirty="0">
              <a:cs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25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/>
          <a:lstStyle/>
          <a:p>
            <a:r>
              <a:rPr lang="id-ID" b="1" dirty="0">
                <a:latin typeface="Arial" pitchFamily="34" charset="0"/>
                <a:cs typeface="Arial" pitchFamily="34" charset="0"/>
              </a:rPr>
              <a:t>More Properties of Inverse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76400"/>
            <a:ext cx="76200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id-ID" dirty="0"/>
              <a:t>Here is some properties of inverse</a:t>
            </a:r>
            <a:r>
              <a:rPr lang="en-US" dirty="0"/>
              <a:t> matrix</a:t>
            </a:r>
            <a:r>
              <a:rPr lang="id-ID" dirty="0"/>
              <a:t> related to exponent and transpose.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invertible and </a:t>
            </a:r>
            <a:r>
              <a:rPr lang="en-US" i="1" dirty="0"/>
              <a:t>n </a:t>
            </a:r>
            <a:r>
              <a:rPr lang="en-US" dirty="0"/>
              <a:t>is a nonnegative</a:t>
            </a:r>
            <a:r>
              <a:rPr lang="id-ID" dirty="0"/>
              <a:t> </a:t>
            </a:r>
            <a:r>
              <a:rPr lang="en-US" dirty="0"/>
              <a:t>integer, then:</a:t>
            </a:r>
            <a:endParaRPr lang="id-ID" dirty="0"/>
          </a:p>
          <a:p>
            <a:pPr marL="457200" indent="-457200" algn="just">
              <a:buAutoNum type="alphaLcParenBoth"/>
            </a:pP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 is invertible and (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)</a:t>
            </a:r>
            <a:r>
              <a:rPr lang="id-ID" baseline="30000" dirty="0"/>
              <a:t>-1</a:t>
            </a:r>
            <a:r>
              <a:rPr lang="id-ID" dirty="0"/>
              <a:t> = </a:t>
            </a:r>
            <a:r>
              <a:rPr lang="id-ID" i="1" dirty="0"/>
              <a:t>A</a:t>
            </a:r>
            <a:r>
              <a:rPr lang="id-ID" dirty="0"/>
              <a:t>.</a:t>
            </a:r>
          </a:p>
          <a:p>
            <a:pPr marL="457200" indent="-457200" algn="just">
              <a:buAutoNum type="alphaLcParenBoth"/>
            </a:pPr>
            <a:r>
              <a:rPr lang="id-ID" i="1" dirty="0"/>
              <a:t>A</a:t>
            </a:r>
            <a:r>
              <a:rPr lang="id-ID" baseline="30000" dirty="0"/>
              <a:t>n</a:t>
            </a:r>
            <a:r>
              <a:rPr lang="id-ID" dirty="0"/>
              <a:t> is invertible and (</a:t>
            </a:r>
            <a:r>
              <a:rPr lang="id-ID" i="1" dirty="0"/>
              <a:t>A</a:t>
            </a:r>
            <a:r>
              <a:rPr lang="id-ID" i="1" baseline="30000" dirty="0"/>
              <a:t>n</a:t>
            </a:r>
            <a:r>
              <a:rPr lang="id-ID" dirty="0"/>
              <a:t>)</a:t>
            </a:r>
            <a:r>
              <a:rPr lang="id-ID" baseline="30000" dirty="0"/>
              <a:t>-1</a:t>
            </a:r>
            <a:r>
              <a:rPr lang="id-ID" dirty="0"/>
              <a:t> = </a:t>
            </a:r>
            <a:r>
              <a:rPr lang="id-ID" i="1" dirty="0"/>
              <a:t>A</a:t>
            </a:r>
            <a:r>
              <a:rPr lang="id-ID" i="1" baseline="30000" dirty="0"/>
              <a:t>-n</a:t>
            </a:r>
            <a:r>
              <a:rPr lang="id-ID" dirty="0"/>
              <a:t> = (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)</a:t>
            </a:r>
            <a:r>
              <a:rPr lang="id-ID" i="1" baseline="30000" dirty="0"/>
              <a:t>n</a:t>
            </a:r>
            <a:r>
              <a:rPr lang="id-ID" dirty="0"/>
              <a:t>.</a:t>
            </a:r>
          </a:p>
          <a:p>
            <a:pPr marL="457200" indent="-457200" algn="just">
              <a:buAutoNum type="alphaLcParenBoth"/>
            </a:pPr>
            <a:r>
              <a:rPr lang="id-ID" dirty="0"/>
              <a:t>k.A is invertible for any nonzero scalar </a:t>
            </a:r>
            <a:r>
              <a:rPr lang="id-ID" i="1" dirty="0"/>
              <a:t>k</a:t>
            </a:r>
            <a:r>
              <a:rPr lang="id-ID" dirty="0"/>
              <a:t>, and </a:t>
            </a:r>
            <a:endParaRPr lang="en-US" dirty="0"/>
          </a:p>
          <a:p>
            <a:pPr marL="0" indent="0" algn="just">
              <a:buNone/>
            </a:pPr>
            <a:r>
              <a:rPr lang="id-ID" dirty="0"/>
              <a:t>(</a:t>
            </a:r>
            <a:r>
              <a:rPr lang="id-ID" i="1" dirty="0"/>
              <a:t>k.A</a:t>
            </a:r>
            <a:r>
              <a:rPr lang="id-ID" dirty="0"/>
              <a:t>)</a:t>
            </a:r>
            <a:r>
              <a:rPr lang="id-ID" baseline="30000" dirty="0"/>
              <a:t>-1</a:t>
            </a:r>
            <a:r>
              <a:rPr lang="id-ID" dirty="0"/>
              <a:t> = </a:t>
            </a:r>
            <a:r>
              <a:rPr lang="id-ID" i="1" dirty="0"/>
              <a:t>k</a:t>
            </a:r>
            <a:r>
              <a:rPr lang="id-ID" baseline="30000" dirty="0"/>
              <a:t>-1</a:t>
            </a:r>
            <a:r>
              <a:rPr lang="id-ID" dirty="0"/>
              <a:t>.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.</a:t>
            </a:r>
          </a:p>
          <a:p>
            <a:pPr marL="457200" indent="-457200" algn="just">
              <a:buAutoNum type="alphaLcParenBoth"/>
            </a:pPr>
            <a:r>
              <a:rPr lang="id-ID" i="1" dirty="0"/>
              <a:t>A</a:t>
            </a:r>
            <a:r>
              <a:rPr lang="id-ID" i="1" baseline="30000" dirty="0"/>
              <a:t>T</a:t>
            </a:r>
            <a:r>
              <a:rPr lang="id-ID" dirty="0"/>
              <a:t> is invertible and (</a:t>
            </a:r>
            <a:r>
              <a:rPr lang="id-ID" i="1" dirty="0"/>
              <a:t>A</a:t>
            </a:r>
            <a:r>
              <a:rPr lang="id-ID" baseline="30000" dirty="0"/>
              <a:t>T</a:t>
            </a:r>
            <a:r>
              <a:rPr lang="id-ID" dirty="0"/>
              <a:t>)</a:t>
            </a:r>
            <a:r>
              <a:rPr lang="id-ID" baseline="30000" dirty="0"/>
              <a:t>-1</a:t>
            </a:r>
            <a:r>
              <a:rPr lang="id-ID" dirty="0"/>
              <a:t> = (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)</a:t>
            </a:r>
            <a:r>
              <a:rPr lang="id-ID" i="1" baseline="30000" dirty="0"/>
              <a:t>T</a:t>
            </a:r>
            <a:r>
              <a:rPr lang="id-ID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59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533400"/>
            <a:ext cx="6248400" cy="1143000"/>
          </a:xfrm>
        </p:spPr>
        <p:txBody>
          <a:bodyPr/>
          <a:lstStyle/>
          <a:p>
            <a:r>
              <a:rPr lang="id-ID" b="1" dirty="0"/>
              <a:t>Solving Linear Systems by Matrix Inversion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98637"/>
            <a:ext cx="7696200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d-ID" dirty="0"/>
              <a:t>So</a:t>
            </a:r>
            <a:r>
              <a:rPr lang="en-US" dirty="0"/>
              <a:t> far we have studied two </a:t>
            </a:r>
            <a:r>
              <a:rPr lang="en-US" i="1" dirty="0"/>
              <a:t>procedures </a:t>
            </a:r>
            <a:r>
              <a:rPr lang="en-US" dirty="0"/>
              <a:t>for solving linear system</a:t>
            </a:r>
            <a:r>
              <a:rPr lang="id-ID" dirty="0"/>
              <a:t>: </a:t>
            </a:r>
            <a:r>
              <a:rPr lang="en-US" dirty="0"/>
              <a:t>Gauss–Jordan elimination and Gaussian elimination. The following theorem</a:t>
            </a:r>
            <a:r>
              <a:rPr lang="id-ID" dirty="0"/>
              <a:t> </a:t>
            </a:r>
            <a:r>
              <a:rPr lang="en-US" dirty="0"/>
              <a:t>provides an actual </a:t>
            </a:r>
            <a:r>
              <a:rPr lang="en-US" i="1" dirty="0"/>
              <a:t>formula </a:t>
            </a:r>
            <a:r>
              <a:rPr lang="en-US" dirty="0"/>
              <a:t>for the solution of a linear system of </a:t>
            </a:r>
            <a:r>
              <a:rPr lang="en-US" i="1" dirty="0"/>
              <a:t>n </a:t>
            </a:r>
            <a:r>
              <a:rPr lang="en-US" dirty="0"/>
              <a:t>equations in </a:t>
            </a:r>
            <a:r>
              <a:rPr lang="en-US" i="1" dirty="0"/>
              <a:t>n </a:t>
            </a:r>
            <a:r>
              <a:rPr lang="en-US" dirty="0"/>
              <a:t>unknowns in the case where the coefficient matrix is invertible.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id-ID" dirty="0"/>
              <a:t>If A is an invertible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matrix, then for each </a:t>
            </a:r>
            <a:r>
              <a:rPr lang="id-ID" i="1" dirty="0"/>
              <a:t>n</a:t>
            </a:r>
            <a:r>
              <a:rPr lang="id-ID" dirty="0"/>
              <a:t> x 1 matrix </a:t>
            </a:r>
            <a:r>
              <a:rPr lang="id-ID" b="1" dirty="0"/>
              <a:t>b</a:t>
            </a:r>
            <a:r>
              <a:rPr lang="id-ID" dirty="0"/>
              <a:t>, the system of equations </a:t>
            </a:r>
            <a:r>
              <a:rPr lang="id-ID" i="1" dirty="0"/>
              <a:t>A.</a:t>
            </a:r>
            <a:r>
              <a:rPr lang="id-ID" b="1" i="1" dirty="0"/>
              <a:t>x</a:t>
            </a:r>
            <a:r>
              <a:rPr lang="id-ID" b="1" dirty="0"/>
              <a:t> </a:t>
            </a:r>
            <a:r>
              <a:rPr lang="id-ID" dirty="0"/>
              <a:t>= </a:t>
            </a:r>
            <a:r>
              <a:rPr lang="id-ID" b="1" i="1" dirty="0"/>
              <a:t>b</a:t>
            </a:r>
            <a:r>
              <a:rPr lang="id-ID" dirty="0"/>
              <a:t> has exactly one solution, namely</a:t>
            </a:r>
          </a:p>
          <a:p>
            <a:pPr marL="0" indent="0" algn="ctr">
              <a:buNone/>
            </a:pPr>
            <a:r>
              <a:rPr lang="id-ID" b="1" i="1" dirty="0"/>
              <a:t>x</a:t>
            </a:r>
            <a:r>
              <a:rPr lang="id-ID" dirty="0"/>
              <a:t> = 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.</a:t>
            </a:r>
            <a:r>
              <a:rPr lang="id-ID" b="1" i="1" dirty="0"/>
              <a:t>b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r>
              <a:rPr lang="en-US" dirty="0"/>
              <a:t>The t</a:t>
            </a:r>
            <a:r>
              <a:rPr lang="id-ID" dirty="0"/>
              <a:t>heorem </a:t>
            </a:r>
            <a:r>
              <a:rPr lang="en-US" dirty="0"/>
              <a:t>above </a:t>
            </a:r>
            <a:r>
              <a:rPr lang="id-ID" dirty="0"/>
              <a:t>can be proved easily by multiplying each both sides by </a:t>
            </a:r>
            <a:r>
              <a:rPr lang="id-ID" i="1" dirty="0"/>
              <a:t>A</a:t>
            </a:r>
            <a:r>
              <a:rPr lang="id-ID" baseline="30000" dirty="0"/>
              <a:t>-1</a:t>
            </a:r>
            <a:r>
              <a:rPr lang="id-ID" dirty="0"/>
              <a:t> from the left.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149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533400"/>
            <a:ext cx="7067128" cy="1143000"/>
          </a:xfrm>
        </p:spPr>
        <p:txBody>
          <a:bodyPr/>
          <a:lstStyle/>
          <a:p>
            <a:r>
              <a:rPr lang="id-ID" dirty="0"/>
              <a:t>Example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724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dirty="0"/>
              <a:t>Consider the system of linear equations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In matrix form this system can be written as A.</a:t>
            </a:r>
            <a:r>
              <a:rPr lang="id-ID" b="1" dirty="0"/>
              <a:t>x</a:t>
            </a:r>
            <a:r>
              <a:rPr lang="id-ID" dirty="0"/>
              <a:t> = </a:t>
            </a:r>
            <a:r>
              <a:rPr lang="id-ID" b="1" dirty="0"/>
              <a:t>b</a:t>
            </a:r>
            <a:r>
              <a:rPr lang="id-ID" dirty="0"/>
              <a:t>, where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133600"/>
            <a:ext cx="276013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853" y="3962400"/>
            <a:ext cx="4820547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51388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533400"/>
            <a:ext cx="7067128" cy="1143000"/>
          </a:xfrm>
        </p:spPr>
        <p:txBody>
          <a:bodyPr/>
          <a:lstStyle/>
          <a:p>
            <a:r>
              <a:rPr lang="id-ID" dirty="0"/>
              <a:t>Example (Cont.)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724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dirty="0"/>
              <a:t>In previous example we showed that A is invertible and 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The solution of the system is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dirty="0"/>
              <a:t>or x</a:t>
            </a:r>
            <a:r>
              <a:rPr lang="id-ID" baseline="-25000" dirty="0"/>
              <a:t>1</a:t>
            </a:r>
            <a:r>
              <a:rPr lang="id-ID" dirty="0"/>
              <a:t> = 1, x</a:t>
            </a:r>
            <a:r>
              <a:rPr lang="id-ID" baseline="-25000" dirty="0"/>
              <a:t>2</a:t>
            </a:r>
            <a:r>
              <a:rPr lang="id-ID" dirty="0"/>
              <a:t> = -1, x</a:t>
            </a:r>
            <a:r>
              <a:rPr lang="id-ID" baseline="-25000" dirty="0"/>
              <a:t>3</a:t>
            </a:r>
            <a:r>
              <a:rPr lang="id-ID" dirty="0"/>
              <a:t> =2.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012949"/>
            <a:ext cx="5029200" cy="1244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605" y="2133600"/>
            <a:ext cx="312219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33773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2924944"/>
            <a:ext cx="3816424" cy="1362075"/>
          </a:xfrm>
        </p:spPr>
        <p:txBody>
          <a:bodyPr/>
          <a:lstStyle/>
          <a:p>
            <a:r>
              <a:rPr lang="en-US" sz="4400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Determinant</a:t>
            </a:r>
            <a:endParaRPr lang="en-US" cap="none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7132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28793" y="1518352"/>
            <a:ext cx="8028384" cy="3891848"/>
            <a:chOff x="2747" y="-418"/>
            <a:chExt cx="6695" cy="6474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-418"/>
              <a:ext cx="6695" cy="647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960311" y="2451649"/>
                <a:ext cx="3272755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Let  </a:t>
                </a:r>
                <a:r>
                  <a:rPr lang="en-US" sz="2400" i="1" dirty="0"/>
                  <a:t>A</a:t>
                </a:r>
                <a:r>
                  <a:rPr lang="en-US" sz="2400" dirty="0"/>
                  <a:t> be a 2 </a:t>
                </a:r>
                <a14:m>
                  <m:oMath xmlns:m="http://schemas.openxmlformats.org/officeDocument/2006/math">
                    <m:r>
                      <a:rPr lang="en-US" sz="2400" i="1" dirty="0" err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𝑚𝑎𝑡𝑟𝑖𝑥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311" y="2451649"/>
                <a:ext cx="3272755" cy="738664"/>
              </a:xfrm>
              <a:prstGeom prst="rect">
                <a:avLst/>
              </a:prstGeom>
              <a:blipFill>
                <a:blip r:embed="rId2"/>
                <a:stretch>
                  <a:fillRect l="-2985" t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2995" y="2864230"/>
                <a:ext cx="1371081" cy="51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mr-I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995" y="2864230"/>
                <a:ext cx="1371081" cy="519501"/>
              </a:xfrm>
              <a:prstGeom prst="rect">
                <a:avLst/>
              </a:prstGeom>
              <a:blipFill>
                <a:blip r:embed="rId3"/>
                <a:stretch>
                  <a:fillRect l="-3704" t="-238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84213" y="3393056"/>
                <a:ext cx="785498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matrix </a:t>
                </a:r>
                <a:r>
                  <a:rPr lang="en-US" sz="2000" i="1" dirty="0"/>
                  <a:t>A</a:t>
                </a:r>
                <a:r>
                  <a:rPr lang="en-US" sz="2000" dirty="0"/>
                  <a:t> is invertible if and only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𝑎𝑑</m:t>
                    </m:r>
                    <m:r>
                      <a:rPr lang="en-US" sz="2000" b="0" i="1" smtClean="0">
                        <a:latin typeface="Cambria Math" charset="0"/>
                      </a:rPr>
                      <m:t>−</m:t>
                    </m:r>
                    <m:r>
                      <a:rPr lang="en-US" sz="2000" b="0" i="1" smtClean="0">
                        <a:latin typeface="Cambria Math" charset="0"/>
                      </a:rPr>
                      <m:t>𝑏𝑐</m:t>
                    </m:r>
                    <m:r>
                      <a:rPr lang="en-US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≠0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/>
                      <m:t>and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that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the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expression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𝑎𝑑</m:t>
                    </m:r>
                    <m:r>
                      <a:rPr lang="en-US" sz="2000" i="1">
                        <a:latin typeface="Cambria Math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</a:rPr>
                      <m:t>𝑏𝑐</m:t>
                    </m:r>
                  </m:oMath>
                </a14:m>
                <a:r>
                  <a:rPr lang="en-US" sz="2000" dirty="0"/>
                  <a:t> is called </a:t>
                </a:r>
                <a:r>
                  <a:rPr lang="en-US" sz="2000" b="1" dirty="0"/>
                  <a:t>determinant</a:t>
                </a:r>
                <a:r>
                  <a:rPr lang="en-US" sz="2000" dirty="0"/>
                  <a:t> of the matrix A. Recall also that this determinant is denoted by writing</a:t>
                </a:r>
              </a:p>
              <a:p>
                <a:endParaRPr lang="en-US" sz="20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13" y="3393056"/>
                <a:ext cx="7854988" cy="1815882"/>
              </a:xfrm>
              <a:prstGeom prst="rect">
                <a:avLst/>
              </a:prstGeom>
              <a:blipFill>
                <a:blip r:embed="rId4"/>
                <a:stretch>
                  <a:fillRect l="-776" t="-2020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46585" y="4439395"/>
                <a:ext cx="3943900" cy="559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charset="0"/>
                      </a:rPr>
                      <m:t>det</m:t>
                    </m:r>
                    <m:r>
                      <a:rPr lang="en-US" i="1" dirty="0" smtClean="0">
                        <a:latin typeface="Cambria Math" charset="0"/>
                      </a:rPr>
                      <m:t>⁡(</m:t>
                    </m:r>
                    <m:r>
                      <a:rPr lang="en-US" i="1" dirty="0" smtClean="0">
                        <a:latin typeface="Cambria Math" charset="0"/>
                      </a:rPr>
                      <m:t>𝐴</m:t>
                    </m:r>
                    <m:r>
                      <a:rPr lang="en-US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𝑎𝑑</m:t>
                    </m:r>
                    <m:r>
                      <a:rPr lang="en-US" i="1">
                        <a:latin typeface="Cambria Math" charset="0"/>
                      </a:rPr>
                      <m:t>−</m:t>
                    </m:r>
                    <m:r>
                      <a:rPr lang="en-US" i="1">
                        <a:latin typeface="Cambria Math" charset="0"/>
                      </a:rPr>
                      <m:t>𝑏𝑐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mr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dirty="0" smtClean="0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𝑎𝑑</m:t>
                    </m:r>
                    <m:r>
                      <a:rPr lang="en-US" i="1">
                        <a:latin typeface="Cambria Math" charset="0"/>
                      </a:rPr>
                      <m:t>−</m:t>
                    </m:r>
                    <m:r>
                      <a:rPr lang="en-US" i="1">
                        <a:latin typeface="Cambria Math" charset="0"/>
                      </a:rPr>
                      <m:t>𝑏𝑐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585" y="4439395"/>
                <a:ext cx="3943900" cy="559833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88538" y="5561646"/>
                <a:ext cx="5001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charset="0"/>
                      </a:rPr>
                      <m:t>𝑁𝑜𝑡𝑒</m:t>
                    </m:r>
                    <m:r>
                      <a:rPr lang="en-US" b="0" i="1" dirty="0" smtClean="0">
                        <a:latin typeface="Cambria Math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charset="0"/>
                      </a:rPr>
                      <m:t>det</m:t>
                    </m:r>
                    <m:r>
                      <a:rPr lang="en-US" i="1" dirty="0" smtClean="0">
                        <a:latin typeface="Cambria Math" charset="0"/>
                      </a:rPr>
                      <m:t>⁡(</m:t>
                    </m:r>
                    <m:r>
                      <a:rPr lang="en-US" i="1" dirty="0" smtClean="0">
                        <a:latin typeface="Cambria Math" charset="0"/>
                      </a:rPr>
                      <m:t>𝐴</m:t>
                    </m:r>
                    <m:r>
                      <a:rPr lang="en-US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a number, whereas A is a matrix.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538" y="5561646"/>
                <a:ext cx="5001947" cy="369332"/>
              </a:xfrm>
              <a:prstGeom prst="rect">
                <a:avLst/>
              </a:prstGeom>
              <a:blipFill>
                <a:blip r:embed="rId6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7AFDE6-C881-4E4E-95F6-A99727379EB7}"/>
                  </a:ext>
                </a:extLst>
              </p:cNvPr>
              <p:cNvSpPr txBox="1"/>
              <p:nvPr/>
            </p:nvSpPr>
            <p:spPr>
              <a:xfrm>
                <a:off x="962370" y="1628487"/>
                <a:ext cx="34978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Determinant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>
                        <a:solidFill>
                          <a:schemeClr val="bg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atrix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2</a:t>
                </a:r>
                <a14:m>
                  <m:oMath xmlns:m="http://schemas.openxmlformats.org/officeDocument/2006/math">
                    <m:r>
                      <a:rPr lang="en-US" sz="2400" i="0" dirty="0" err="1">
                        <a:solidFill>
                          <a:schemeClr val="bg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i="0" dirty="0">
                        <a:solidFill>
                          <a:schemeClr val="bg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2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7AFDE6-C881-4E4E-95F6-A99727379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70" y="1628487"/>
                <a:ext cx="3497881" cy="461665"/>
              </a:xfrm>
              <a:prstGeom prst="rect">
                <a:avLst/>
              </a:prstGeom>
              <a:blipFill>
                <a:blip r:embed="rId7"/>
                <a:stretch>
                  <a:fillRect l="-252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1905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28793" y="1518352"/>
            <a:ext cx="8028384" cy="3891848"/>
            <a:chOff x="2747" y="-418"/>
            <a:chExt cx="6695" cy="6474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-418"/>
              <a:ext cx="6695" cy="647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960311" y="2451649"/>
                <a:ext cx="3422925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Let  A be an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matrix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 .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311" y="2451649"/>
                <a:ext cx="3422925" cy="738664"/>
              </a:xfrm>
              <a:prstGeom prst="rect">
                <a:avLst/>
              </a:prstGeom>
              <a:blipFill>
                <a:blip r:embed="rId2"/>
                <a:stretch>
                  <a:fillRect l="-2852" t="-6612" b="-1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84213" y="3393056"/>
                <a:ext cx="785498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matrix A is invertible if and only 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e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)≠0.</m:t>
                    </m:r>
                  </m:oMath>
                </a14:m>
                <a:endParaRPr lang="en-US" sz="28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13" y="3393056"/>
                <a:ext cx="7854988" cy="1015663"/>
              </a:xfrm>
              <a:prstGeom prst="rect">
                <a:avLst/>
              </a:prstGeom>
              <a:blipFill>
                <a:blip r:embed="rId3"/>
                <a:stretch>
                  <a:fillRect l="-1552" t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47AFDE6-C881-4E4E-95F6-A99727379EB7}"/>
              </a:ext>
            </a:extLst>
          </p:cNvPr>
          <p:cNvSpPr txBox="1"/>
          <p:nvPr/>
        </p:nvSpPr>
        <p:spPr>
          <a:xfrm>
            <a:off x="962370" y="1628487"/>
            <a:ext cx="3255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Inverse and determinant</a:t>
            </a:r>
          </a:p>
        </p:txBody>
      </p:sp>
    </p:spTree>
    <p:extLst>
      <p:ext uri="{BB962C8B-B14F-4D97-AF65-F5344CB8AC3E}">
        <p14:creationId xmlns:p14="http://schemas.microsoft.com/office/powerpoint/2010/main" val="662241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68960"/>
            <a:ext cx="7772400" cy="1362075"/>
          </a:xfrm>
        </p:spPr>
        <p:txBody>
          <a:bodyPr>
            <a:normAutofit fontScale="90000"/>
          </a:bodyPr>
          <a:lstStyle/>
          <a:p>
            <a:pPr algn="ctr"/>
            <a:r>
              <a:rPr lang="en-US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Calculating Determinants and Inverse by Cofactor </a:t>
            </a:r>
            <a:r>
              <a:rPr lang="en-US" cap="none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Ekxpansion</a:t>
            </a:r>
            <a:endParaRPr lang="en-US" cap="none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67410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115616" y="1359893"/>
            <a:ext cx="7848872" cy="2470703"/>
            <a:chOff x="2747" y="-1038"/>
            <a:chExt cx="6695" cy="818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-1038"/>
              <a:ext cx="6695" cy="709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775" y="1175"/>
              <a:ext cx="6639" cy="597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sz="2000" dirty="0"/>
                <a:t>Definition </a:t>
              </a:r>
            </a:p>
            <a:p>
              <a:pPr algn="just"/>
              <a:r>
                <a:rPr lang="en-US" sz="2000" dirty="0"/>
                <a:t>If </a:t>
              </a:r>
              <a:r>
                <a:rPr lang="en-US" sz="2000" i="1" dirty="0"/>
                <a:t>A</a:t>
              </a:r>
              <a:r>
                <a:rPr lang="en-US" sz="2000" dirty="0"/>
                <a:t> is a square matrix, then the </a:t>
              </a:r>
              <a:r>
                <a:rPr lang="en-US" sz="2000" b="1" dirty="0"/>
                <a:t>minor</a:t>
              </a:r>
              <a:r>
                <a:rPr lang="en-US" sz="2000" dirty="0"/>
                <a:t> of entry </a:t>
              </a:r>
              <a:r>
                <a:rPr lang="en-US" sz="2000" i="1" dirty="0" err="1"/>
                <a:t>a</a:t>
              </a:r>
              <a:r>
                <a:rPr lang="en-US" sz="2000" i="1" baseline="-25000" dirty="0" err="1"/>
                <a:t>ij</a:t>
              </a:r>
              <a:r>
                <a:rPr lang="en-US" sz="2000" dirty="0"/>
                <a:t> is denoted by </a:t>
              </a:r>
              <a:r>
                <a:rPr lang="en-US" sz="2000" i="1" dirty="0" err="1"/>
                <a:t>M</a:t>
              </a:r>
              <a:r>
                <a:rPr lang="en-US" sz="2000" i="1" baseline="-25000" dirty="0" err="1"/>
                <a:t>ij</a:t>
              </a:r>
              <a:r>
                <a:rPr lang="en-US" sz="2000" dirty="0"/>
                <a:t>  and is defined to be the determinant of the submatrix that remains after </a:t>
              </a:r>
            </a:p>
            <a:p>
              <a:pPr algn="just"/>
              <a:r>
                <a:rPr lang="en-US" sz="2000" dirty="0"/>
                <a:t>the </a:t>
              </a:r>
              <a:r>
                <a:rPr lang="en-US" sz="2000" i="1" dirty="0" err="1"/>
                <a:t>i-</a:t>
              </a:r>
              <a:r>
                <a:rPr lang="en-US" sz="2000" dirty="0" err="1"/>
                <a:t>th</a:t>
              </a:r>
              <a:r>
                <a:rPr lang="en-US" sz="2000" dirty="0"/>
                <a:t> row and </a:t>
              </a:r>
              <a:r>
                <a:rPr lang="en-US" sz="2000" i="1" dirty="0"/>
                <a:t>j</a:t>
              </a:r>
              <a:r>
                <a:rPr lang="en-US" sz="2000" dirty="0"/>
                <a:t>-</a:t>
              </a:r>
              <a:r>
                <a:rPr lang="en-US" sz="2000" dirty="0" err="1"/>
                <a:t>th</a:t>
              </a:r>
              <a:r>
                <a:rPr lang="en-US" sz="2000" dirty="0"/>
                <a:t> column are deleted from A. </a:t>
              </a:r>
            </a:p>
            <a:p>
              <a:pPr algn="just"/>
              <a:r>
                <a:rPr lang="en-US" sz="2000" dirty="0"/>
                <a:t>The number (-1)</a:t>
              </a:r>
              <a:r>
                <a:rPr lang="en-US" sz="2000" i="1" baseline="30000" dirty="0" err="1"/>
                <a:t>i+j</a:t>
              </a:r>
              <a:r>
                <a:rPr lang="en-US" sz="2000" i="1" dirty="0"/>
                <a:t> </a:t>
              </a:r>
              <a:r>
                <a:rPr lang="en-US" sz="2000" i="1" dirty="0" err="1"/>
                <a:t>M</a:t>
              </a:r>
              <a:r>
                <a:rPr lang="en-US" sz="2000" i="1" baseline="-25000" dirty="0" err="1"/>
                <a:t>ij</a:t>
              </a:r>
              <a:r>
                <a:rPr lang="en-US" sz="2000" baseline="-25000" dirty="0"/>
                <a:t> </a:t>
              </a:r>
              <a:r>
                <a:rPr lang="en-US" sz="2000" dirty="0"/>
                <a:t>is denoted by </a:t>
              </a:r>
              <a:r>
                <a:rPr lang="en-US" sz="2000" i="1" dirty="0" err="1"/>
                <a:t>C</a:t>
              </a:r>
              <a:r>
                <a:rPr lang="en-US" sz="2000" i="1" baseline="-25000" dirty="0" err="1"/>
                <a:t>ij</a:t>
              </a:r>
              <a:r>
                <a:rPr lang="en-US" sz="2000" baseline="-25000" dirty="0"/>
                <a:t> </a:t>
              </a:r>
              <a:r>
                <a:rPr lang="en-US" sz="2000" dirty="0"/>
                <a:t> and is called the </a:t>
              </a:r>
              <a:r>
                <a:rPr lang="en-US" sz="2000" b="1" dirty="0"/>
                <a:t>cofactor</a:t>
              </a:r>
              <a:r>
                <a:rPr lang="en-US" sz="2000" dirty="0"/>
                <a:t> of the entry </a:t>
              </a:r>
              <a:r>
                <a:rPr lang="en-US" sz="2000" i="1" dirty="0" err="1"/>
                <a:t>a</a:t>
              </a:r>
              <a:r>
                <a:rPr lang="en-US" sz="2000" i="1" baseline="-25000" dirty="0" err="1"/>
                <a:t>ij</a:t>
              </a:r>
              <a:r>
                <a:rPr lang="en-US" sz="2000" i="1" baseline="-25000" dirty="0"/>
                <a:t>.</a:t>
              </a:r>
              <a:endParaRPr lang="en-US" sz="2000" i="1" dirty="0"/>
            </a:p>
          </p:txBody>
        </p:sp>
      </p:grpSp>
      <p:sp>
        <p:nvSpPr>
          <p:cNvPr id="16" name="Title 1"/>
          <p:cNvSpPr txBox="1">
            <a:spLocks/>
          </p:cNvSpPr>
          <p:nvPr/>
        </p:nvSpPr>
        <p:spPr>
          <a:xfrm>
            <a:off x="5940152" y="1359765"/>
            <a:ext cx="30243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bg1"/>
                </a:solidFill>
              </a:rPr>
              <a:t>Minor and Cofactor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5939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115616" y="1359893"/>
            <a:ext cx="7848872" cy="2470703"/>
            <a:chOff x="2747" y="-1038"/>
            <a:chExt cx="6695" cy="818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-1038"/>
              <a:ext cx="6695" cy="709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775" y="1175"/>
              <a:ext cx="6639" cy="597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dirty="0"/>
                <a:t>Definition </a:t>
              </a:r>
            </a:p>
            <a:p>
              <a:pPr algn="just"/>
              <a:r>
                <a:rPr lang="en-US" dirty="0"/>
                <a:t>If A is a square matrix, then the minor of entry </a:t>
              </a:r>
              <a:r>
                <a:rPr lang="en-US" i="1" dirty="0" err="1"/>
                <a:t>a</a:t>
              </a:r>
              <a:r>
                <a:rPr lang="en-US" i="1" baseline="-25000" dirty="0" err="1"/>
                <a:t>ij</a:t>
              </a:r>
              <a:r>
                <a:rPr lang="en-US" dirty="0"/>
                <a:t> is denoted by </a:t>
              </a:r>
              <a:r>
                <a:rPr lang="en-US" i="1" dirty="0" err="1"/>
                <a:t>M</a:t>
              </a:r>
              <a:r>
                <a:rPr lang="en-US" i="1" baseline="-25000" dirty="0" err="1"/>
                <a:t>ij</a:t>
              </a:r>
              <a:r>
                <a:rPr lang="en-US" dirty="0"/>
                <a:t>  and is defined to be the determinant of the submatrix that remains after the </a:t>
              </a:r>
              <a:r>
                <a:rPr lang="en-US" i="1" dirty="0" err="1"/>
                <a:t>i-</a:t>
              </a:r>
              <a:r>
                <a:rPr lang="en-US" dirty="0" err="1"/>
                <a:t>th</a:t>
              </a:r>
              <a:r>
                <a:rPr lang="en-US" dirty="0"/>
                <a:t> row and </a:t>
              </a:r>
              <a:r>
                <a:rPr lang="en-US" i="1" dirty="0"/>
                <a:t>j</a:t>
              </a:r>
              <a:r>
                <a:rPr lang="en-US" dirty="0"/>
                <a:t>-</a:t>
              </a:r>
              <a:r>
                <a:rPr lang="en-US" dirty="0" err="1"/>
                <a:t>th</a:t>
              </a:r>
              <a:r>
                <a:rPr lang="en-US" dirty="0"/>
                <a:t> column are deleted from A. The number (-1)</a:t>
              </a:r>
              <a:r>
                <a:rPr lang="en-US" i="1" baseline="30000" dirty="0" err="1"/>
                <a:t>i+j</a:t>
              </a:r>
              <a:r>
                <a:rPr lang="en-US" i="1" dirty="0"/>
                <a:t> </a:t>
              </a:r>
              <a:r>
                <a:rPr lang="en-US" i="1" dirty="0" err="1"/>
                <a:t>M</a:t>
              </a:r>
              <a:r>
                <a:rPr lang="en-US" i="1" baseline="-25000" dirty="0" err="1"/>
                <a:t>ij</a:t>
              </a:r>
              <a:r>
                <a:rPr lang="en-US" baseline="-25000" dirty="0"/>
                <a:t> </a:t>
              </a:r>
              <a:r>
                <a:rPr lang="en-US" dirty="0"/>
                <a:t>is denoted by </a:t>
              </a:r>
              <a:r>
                <a:rPr lang="en-US" i="1" dirty="0" err="1"/>
                <a:t>C</a:t>
              </a:r>
              <a:r>
                <a:rPr lang="en-US" i="1" baseline="-25000" dirty="0" err="1"/>
                <a:t>ij</a:t>
              </a:r>
              <a:r>
                <a:rPr lang="en-US" baseline="-25000" dirty="0"/>
                <a:t> </a:t>
              </a:r>
              <a:r>
                <a:rPr lang="en-US" dirty="0"/>
                <a:t> and is called the cofactor of entry </a:t>
              </a:r>
              <a:r>
                <a:rPr lang="en-US" i="1" dirty="0" err="1"/>
                <a:t>a</a:t>
              </a:r>
              <a:r>
                <a:rPr lang="en-US" i="1" baseline="-25000" dirty="0" err="1"/>
                <a:t>ij</a:t>
              </a:r>
              <a:endParaRPr lang="en-US" i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91680" y="3717032"/>
            <a:ext cx="388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: Finding Minors and Cofactors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444948" y="4797152"/>
                <a:ext cx="4351188" cy="3324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Solution</a:t>
                </a:r>
              </a:p>
              <a:p>
                <a:r>
                  <a:rPr lang="en-US" dirty="0"/>
                  <a:t>The minor and cofactor of entry </a:t>
                </a:r>
                <a:r>
                  <a:rPr lang="en-US" i="1" dirty="0" err="1"/>
                  <a:t>a</a:t>
                </a:r>
                <a:r>
                  <a:rPr lang="en-US" i="1" baseline="-25000" dirty="0" err="1"/>
                  <a:t>ij</a:t>
                </a:r>
                <a:r>
                  <a:rPr lang="en-US" dirty="0"/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𝟏𝟏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r>
                        <a:rPr lang="en-US" b="1" i="1">
                          <a:latin typeface="Cambria Math" charset="0"/>
                        </a:rPr>
                        <m:t>𝟏𝟔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𝟏𝟏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−1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1+1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𝟏𝟏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𝟏𝟏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=</m:t>
                      </m:r>
                      <m:r>
                        <a:rPr lang="en-US" b="1" i="1">
                          <a:latin typeface="Cambria Math" charset="0"/>
                        </a:rPr>
                        <m:t>𝟏𝟔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 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948" y="4797152"/>
                <a:ext cx="4351188" cy="3324180"/>
              </a:xfrm>
              <a:prstGeom prst="rect">
                <a:avLst/>
              </a:prstGeom>
              <a:blipFill>
                <a:blip r:embed="rId2"/>
                <a:stretch>
                  <a:fillRect l="-1120"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259632" y="4046676"/>
                <a:ext cx="2177400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charset="0"/>
                        </a:rPr>
                        <m:t>𝑨</m:t>
                      </m:r>
                      <m:r>
                        <a:rPr lang="en-US" sz="1600" b="0" i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046676"/>
                <a:ext cx="2177400" cy="7435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2771800" y="5445224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771800" y="551723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 txBox="1">
            <a:spLocks/>
          </p:cNvSpPr>
          <p:nvPr/>
        </p:nvSpPr>
        <p:spPr>
          <a:xfrm>
            <a:off x="5940152" y="1359765"/>
            <a:ext cx="30243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bg1"/>
                </a:solidFill>
              </a:rPr>
              <a:t>Minor and Cofactor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5737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6696" y="1841170"/>
            <a:ext cx="8028384" cy="2704947"/>
            <a:chOff x="2747" y="455"/>
            <a:chExt cx="6695" cy="5601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455"/>
              <a:ext cx="6695" cy="5601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>
                  <a:spLocks noChangeArrowheads="1"/>
                </p:cNvSpPr>
                <p:nvPr/>
              </p:nvSpPr>
              <p:spPr bwMode="auto">
                <a:xfrm>
                  <a:off x="2775" y="1175"/>
                  <a:ext cx="6639" cy="4853"/>
                </a:xfrm>
                <a:prstGeom prst="rect">
                  <a:avLst/>
                </a:prstGeom>
                <a:solidFill>
                  <a:srgbClr val="F2F2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r>
                    <a:rPr lang="en-US" dirty="0"/>
                    <a:t>If A is an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  <m:r>
                        <a:rPr lang="en-US" b="0" i="1" dirty="0" err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</m:oMath>
                  </a14:m>
                  <a:r>
                    <a:rPr lang="en-US" dirty="0"/>
                    <a:t> matrix, then the number obtained by multiplying the entries in any row or column of A by the corresponding cofactors and adding the resulting products is called the determinant of A, and the sums themselves are called cofactor expansions of A.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charset="0"/>
                              </a:rPr>
                              <m:t>det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charset="0"/>
                              </a:rPr>
                              <m:t>A</m:t>
                            </m:r>
                            <m:r>
                              <a:rPr lang="en-US">
                                <a:latin typeface="Cambria Math" charset="0"/>
                              </a:rPr>
                              <m:t>=</m:t>
                            </m:r>
                          </m:e>
                        </m:func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b="1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b="1" i="1">
                            <a:latin typeface="Cambria Math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𝒏𝒋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>
                                <a:latin typeface="Cambria Math" charset="0"/>
                              </a:rPr>
                              <m:t>𝒏𝒋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r>
                    <a:rPr lang="en-US" b="1" dirty="0"/>
                    <a:t>(</a:t>
                  </a:r>
                  <a:r>
                    <a:rPr lang="en-US" dirty="0"/>
                    <a:t>Cofactor Expansion along the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charset="0"/>
                        </a:rPr>
                        <m:t>𝑗𝑡h</m:t>
                      </m:r>
                    </m:oMath>
                  </a14:m>
                  <a:r>
                    <a:rPr lang="en-US" dirty="0"/>
                    <a:t> column</a:t>
                  </a:r>
                  <a:r>
                    <a:rPr lang="en-US" b="1" dirty="0"/>
                    <a:t>)</a:t>
                  </a:r>
                  <a:endParaRPr lang="en-US" dirty="0"/>
                </a:p>
                <a:p>
                  <a:r>
                    <a:rPr lang="en-US" b="1" dirty="0"/>
                    <a:t> </a:t>
                  </a:r>
                  <a:r>
                    <a:rPr lang="en-US" dirty="0"/>
                    <a:t>		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  <m:r>
                            <a:rPr lang="en-US">
                              <a:latin typeface="Cambria Math" charset="0"/>
                            </a:rPr>
                            <m:t>=</m:t>
                          </m:r>
                        </m:e>
                      </m:func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+…+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𝒊𝒏</m:t>
                          </m:r>
                        </m:sub>
                      </m:sSub>
                    </m:oMath>
                  </a14:m>
                  <a:endParaRPr lang="en-US" dirty="0"/>
                </a:p>
                <a:p>
                  <a:r>
                    <a:rPr lang="en-US" b="1" dirty="0"/>
                    <a:t>(</a:t>
                  </a:r>
                  <a:r>
                    <a:rPr lang="en-US" dirty="0"/>
                    <a:t>Cofactor Expansion along the i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charset="0"/>
                        </a:rPr>
                        <m:t>𝑡h</m:t>
                      </m:r>
                    </m:oMath>
                  </a14:m>
                  <a:r>
                    <a:rPr lang="en-US" dirty="0"/>
                    <a:t> row</a:t>
                  </a:r>
                  <a:r>
                    <a:rPr lang="en-US" b="1" dirty="0"/>
                    <a:t>)</a:t>
                  </a:r>
                  <a:endParaRPr lang="en-US" dirty="0"/>
                </a:p>
                <a:p>
                  <a:endParaRPr lang="en-US" sz="16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5" y="1175"/>
                  <a:ext cx="6639" cy="4853"/>
                </a:xfrm>
                <a:prstGeom prst="rect">
                  <a:avLst/>
                </a:prstGeom>
                <a:blipFill>
                  <a:blip r:embed="rId2"/>
                  <a:stretch>
                    <a:fillRect l="-637" t="-1075" b="-2688"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/>
          <p:cNvSpPr txBox="1"/>
          <p:nvPr/>
        </p:nvSpPr>
        <p:spPr>
          <a:xfrm>
            <a:off x="1089053" y="4711035"/>
            <a:ext cx="7405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Example : Find the determinant of the matrix by cofactor expansion along the first row.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671965" y="5184592"/>
                <a:ext cx="2177400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charset="0"/>
                        </a:rPr>
                        <m:t>𝑨</m:t>
                      </m:r>
                      <m:r>
                        <a:rPr lang="en-US" sz="1600" b="0" i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965" y="5184592"/>
                <a:ext cx="2177400" cy="743537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>
            <a:spLocks/>
          </p:cNvSpPr>
          <p:nvPr/>
        </p:nvSpPr>
        <p:spPr>
          <a:xfrm>
            <a:off x="4716016" y="1301639"/>
            <a:ext cx="4395242" cy="399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sz="2400" b="0" dirty="0">
                <a:latin typeface="+mj-lt"/>
              </a:rPr>
              <a:t>Determinants by Cofactor Expansion</a:t>
            </a:r>
            <a:endParaRPr lang="en-US" sz="2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E5633-0286-4F4D-AEA7-A370DBA1F17A}"/>
              </a:ext>
            </a:extLst>
          </p:cNvPr>
          <p:cNvSpPr txBox="1"/>
          <p:nvPr/>
        </p:nvSpPr>
        <p:spPr>
          <a:xfrm>
            <a:off x="1116727" y="1876067"/>
            <a:ext cx="4701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Definition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2273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14400" y="1841171"/>
            <a:ext cx="8190680" cy="743537"/>
            <a:chOff x="2747" y="455"/>
            <a:chExt cx="6695" cy="5601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747" y="455"/>
              <a:ext cx="6695" cy="5601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600" dirty="0"/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4716016" y="1301639"/>
            <a:ext cx="4395242" cy="399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sz="2400" b="0" dirty="0">
                <a:latin typeface="+mj-lt"/>
              </a:rPr>
              <a:t>Determinants by Cofactor Expansion</a:t>
            </a:r>
            <a:endParaRPr lang="en-US" sz="2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E5633-0286-4F4D-AEA7-A370DBA1F17A}"/>
              </a:ext>
            </a:extLst>
          </p:cNvPr>
          <p:cNvSpPr txBox="1"/>
          <p:nvPr/>
        </p:nvSpPr>
        <p:spPr>
          <a:xfrm>
            <a:off x="880824" y="1876067"/>
            <a:ext cx="819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Example : Find the determinant of the matrix by cofactor expansion along the first row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27AE2B-CC77-6B4A-A26C-3AA75DEFF8C6}"/>
                  </a:ext>
                </a:extLst>
              </p:cNvPr>
              <p:cNvSpPr/>
              <p:nvPr/>
            </p:nvSpPr>
            <p:spPr>
              <a:xfrm>
                <a:off x="2538616" y="2580991"/>
                <a:ext cx="2177400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charset="0"/>
                        </a:rPr>
                        <m:t>𝑨</m:t>
                      </m:r>
                      <m:r>
                        <a:rPr lang="en-US" sz="1600" b="0" i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0" i="0">
                                    <a:latin typeface="Cambria Math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27AE2B-CC77-6B4A-A26C-3AA75DEFF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616" y="2580991"/>
                <a:ext cx="2177400" cy="743537"/>
              </a:xfrm>
              <a:prstGeom prst="rect">
                <a:avLst/>
              </a:prstGeom>
              <a:blipFill>
                <a:blip r:embed="rId2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63B4A8-1D75-C14F-AB2F-13AA3D1E48C5}"/>
                  </a:ext>
                </a:extLst>
              </p:cNvPr>
              <p:cNvSpPr txBox="1"/>
              <p:nvPr/>
            </p:nvSpPr>
            <p:spPr>
              <a:xfrm>
                <a:off x="948654" y="3425192"/>
                <a:ext cx="7985745" cy="2959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Solution</a:t>
                </a:r>
              </a:p>
              <a:p>
                <a:r>
                  <a:rPr lang="en-US" dirty="0"/>
                  <a:t>The minor and cofactor  of entry </a:t>
                </a:r>
                <a:r>
                  <a:rPr lang="en-US" i="1" dirty="0" err="1"/>
                  <a:t>a</a:t>
                </a:r>
                <a:r>
                  <a:rPr lang="en-US" i="1" baseline="-25000" dirty="0" err="1"/>
                  <a:t>ij</a:t>
                </a:r>
                <a:r>
                  <a:rPr lang="en-US" dirty="0"/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charset="0"/>
                        </a:rPr>
                        <m:t>𝒅𝒆𝒕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 charset="0"/>
                            </a:rPr>
                            <m:t>𝑨</m:t>
                          </m:r>
                        </m:e>
                      </m:d>
                      <m:r>
                        <a:rPr lang="en-US" sz="1600" b="1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1" i="1">
                          <a:latin typeface="Cambria Math" charset="0"/>
                        </a:rPr>
                        <m:t>=</m:t>
                      </m:r>
                      <m:r>
                        <a:rPr lang="en-US" sz="1600" b="1" i="1" smtClean="0">
                          <a:latin typeface="Cambria Math" charset="0"/>
                        </a:rPr>
                        <m:t>𝟑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1" i="1" smtClean="0">
                          <a:latin typeface="Cambria Math" charset="0"/>
                        </a:rPr>
                        <m:t>−</m:t>
                      </m:r>
                      <m:r>
                        <a:rPr lang="en-US" sz="1600" b="1" i="1" smtClean="0">
                          <a:latin typeface="Cambria Math" charset="0"/>
                        </a:rPr>
                        <m:t>𝟏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 i="1" smtClean="0">
                                    <a:latin typeface="Cambria Math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 i="1">
                                    <a:latin typeface="Cambria Math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600" b="1" i="1" smtClean="0">
                                    <a:latin typeface="Cambria Math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sz="1600" b="1" dirty="0"/>
                  <a:t>                   =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charset="0"/>
                      </a:rPr>
                      <m:t>𝟑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e>
                    </m:d>
                    <m:r>
                      <a:rPr lang="en-US" sz="1600" b="1" i="1" smtClean="0">
                        <a:latin typeface="Cambria Math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1" dirty="0"/>
                  <a:t> = -1 </a:t>
                </a:r>
                <a:endParaRPr lang="en-US" sz="16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63B4A8-1D75-C14F-AB2F-13AA3D1E4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54" y="3425192"/>
                <a:ext cx="7985745" cy="2959593"/>
              </a:xfrm>
              <a:prstGeom prst="rect">
                <a:avLst/>
              </a:prstGeom>
              <a:blipFill>
                <a:blip r:embed="rId3"/>
                <a:stretch>
                  <a:fillRect l="-687" t="-1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3141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9F6F-0447-CC46-A3E2-C158EC06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789632"/>
          </a:xfrm>
        </p:spPr>
        <p:txBody>
          <a:bodyPr>
            <a:normAutofit fontScale="90000"/>
          </a:bodyPr>
          <a:lstStyle/>
          <a:p>
            <a:r>
              <a:rPr lang="en-ID" sz="3200" dirty="0"/>
              <a:t>2. Inverse of a Matrix Using Its Adjoint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picture containing table&#10;&#10;Description automatically generated">
            <a:extLst>
              <a:ext uri="{FF2B5EF4-FFF2-40B4-BE49-F238E27FC236}">
                <a16:creationId xmlns:a16="http://schemas.microsoft.com/office/drawing/2014/main" id="{45633885-2CD4-B64E-AB83-CFCBC95D9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8"/>
          <a:stretch/>
        </p:blipFill>
        <p:spPr>
          <a:xfrm>
            <a:off x="1371600" y="2571736"/>
            <a:ext cx="7537343" cy="254551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BE6BD-4F9A-2A4A-9C97-E985878244A8}"/>
              </a:ext>
            </a:extLst>
          </p:cNvPr>
          <p:cNvSpPr txBox="1"/>
          <p:nvPr/>
        </p:nvSpPr>
        <p:spPr>
          <a:xfrm>
            <a:off x="1528383" y="2202404"/>
            <a:ext cx="7315200" cy="369332"/>
          </a:xfrm>
          <a:prstGeom prst="rect">
            <a:avLst/>
          </a:prstGeom>
          <a:solidFill>
            <a:schemeClr val="accent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 : Adjoint </a:t>
            </a:r>
          </a:p>
        </p:txBody>
      </p:sp>
    </p:spTree>
    <p:extLst>
      <p:ext uri="{BB962C8B-B14F-4D97-AF65-F5344CB8AC3E}">
        <p14:creationId xmlns:p14="http://schemas.microsoft.com/office/powerpoint/2010/main" val="14015907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FB1C-68DD-AB4B-91E9-ADC1037F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944" y="1295400"/>
            <a:ext cx="7067128" cy="496416"/>
          </a:xfrm>
        </p:spPr>
        <p:txBody>
          <a:bodyPr>
            <a:noAutofit/>
          </a:bodyPr>
          <a:lstStyle/>
          <a:p>
            <a:br>
              <a:rPr lang="en-ID" sz="2400" dirty="0"/>
            </a:br>
            <a:r>
              <a:rPr lang="en-ID" sz="2400" dirty="0"/>
              <a:t>Inverse of a Matrix Using Its Adjoint</a:t>
            </a:r>
            <a:br>
              <a:rPr lang="en-ID" sz="2400" dirty="0"/>
            </a:b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D1A65-1FE9-E04D-95BA-1C296AF25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1791816"/>
                <a:ext cx="8096672" cy="4334347"/>
              </a:xfr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ID" dirty="0"/>
                  <a:t>If 𝐴 is an invertible matrix,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𝐝𝐞𝐭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𝐚𝐝𝐣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dirty="0"/>
              </a:p>
              <a:p>
                <a:pPr marL="0" indent="0">
                  <a:buNone/>
                </a:pPr>
                <a:endParaRPr lang="en-ID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D1A65-1FE9-E04D-95BA-1C296AF25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791816"/>
                <a:ext cx="8096672" cy="4334347"/>
              </a:xfrm>
              <a:blipFill>
                <a:blip r:embed="rId2"/>
                <a:stretch>
                  <a:fillRect l="-784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ECF234-1617-C04B-A9A6-C23BBFB264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9960" y="2819400"/>
                <a:ext cx="8061112" cy="25447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dirty="0"/>
                  <a:t>Example  : Calculating the Inverse of matrix 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D" dirty="0"/>
                  <a:t>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ECF234-1617-C04B-A9A6-C23BBFB26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60" y="2819400"/>
                <a:ext cx="8061112" cy="2544763"/>
              </a:xfrm>
              <a:prstGeom prst="rect">
                <a:avLst/>
              </a:prstGeom>
              <a:blipFill>
                <a:blip r:embed="rId3"/>
                <a:stretch>
                  <a:fillRect l="-786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4862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FB1C-68DD-AB4B-91E9-ADC1037F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944" y="1295400"/>
            <a:ext cx="7067128" cy="496416"/>
          </a:xfrm>
        </p:spPr>
        <p:txBody>
          <a:bodyPr>
            <a:noAutofit/>
          </a:bodyPr>
          <a:lstStyle/>
          <a:p>
            <a:br>
              <a:rPr lang="en-ID" sz="2400" dirty="0"/>
            </a:br>
            <a:r>
              <a:rPr lang="en-ID" sz="2400" dirty="0"/>
              <a:t>Inverse of a Matrix Using Its Adjoint</a:t>
            </a:r>
            <a:br>
              <a:rPr lang="en-ID" sz="2400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1A65-1FE9-E04D-95BA-1C296AF2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91816"/>
            <a:ext cx="8229600" cy="5066184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ID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ECF234-1617-C04B-A9A6-C23BBFB264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400" y="1791816"/>
                <a:ext cx="8061112" cy="25447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Open Sans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ID" sz="1800" dirty="0"/>
                  <a:t>Solution :</a:t>
                </a:r>
              </a:p>
              <a:p>
                <a:pPr marL="457200" indent="-457200">
                  <a:buFont typeface="Arial" pitchFamily="34" charset="0"/>
                  <a:buAutoNum type="alphaLcPeriod"/>
                </a:pPr>
                <a:r>
                  <a:rPr lang="en-US" sz="1800" dirty="0"/>
                  <a:t>Find the Determinant of 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= 64 </a:t>
                </a:r>
              </a:p>
              <a:p>
                <a:pPr marL="0" indent="0">
                  <a:buNone/>
                </a:pPr>
                <a:r>
                  <a:rPr lang="en-US" sz="1800" dirty="0"/>
                  <a:t>b. Find the adjoin of matrix 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𝐀𝐝𝐣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D" sz="1800" dirty="0"/>
                  <a:t>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𝐝𝐞𝐭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𝐚𝐝𝐣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D" sz="1800" dirty="0"/>
              </a:p>
              <a:p>
                <a:pPr marL="0" indent="0">
                  <a:buNone/>
                </a:pPr>
                <a:r>
                  <a:rPr lang="en-US" sz="1800" dirty="0"/>
                  <a:t> 	</a:t>
                </a:r>
                <a:r>
                  <a:rPr lang="en-ID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𝟔𝟒</m:t>
                        </m:r>
                      </m:den>
                    </m:f>
                    <m:d>
                      <m:d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D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𝟔𝟒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ECF234-1617-C04B-A9A6-C23BBFB26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791816"/>
                <a:ext cx="8061112" cy="2544763"/>
              </a:xfrm>
              <a:prstGeom prst="rect">
                <a:avLst/>
              </a:prstGeom>
              <a:blipFill>
                <a:blip r:embed="rId2"/>
                <a:stretch>
                  <a:fillRect l="-945" t="-1493" b="-90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3942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id-ID" dirty="0"/>
            </a:br>
            <a:r>
              <a:rPr lang="en-US" dirty="0"/>
              <a:t>Properties of determinant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923311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Properties of Determinants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28800"/>
            <a:ext cx="7543800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id-ID" dirty="0"/>
              <a:t>Let </a:t>
            </a:r>
            <a:r>
              <a:rPr lang="id-ID" i="1" dirty="0"/>
              <a:t>A</a:t>
            </a:r>
            <a:r>
              <a:rPr lang="id-ID" dirty="0"/>
              <a:t> be a square matrix.</a:t>
            </a:r>
          </a:p>
          <a:p>
            <a:pPr marL="457200" indent="-457200" algn="just">
              <a:buAutoNum type="alphaLcParenBoth"/>
            </a:pPr>
            <a:r>
              <a:rPr lang="id-ID" dirty="0"/>
              <a:t>If </a:t>
            </a:r>
            <a:r>
              <a:rPr lang="id-ID" i="1" dirty="0"/>
              <a:t>A</a:t>
            </a:r>
            <a:r>
              <a:rPr lang="id-ID" dirty="0"/>
              <a:t> has a row of zeros or a column of zeros, then det(</a:t>
            </a:r>
            <a:r>
              <a:rPr lang="id-ID" i="1" dirty="0"/>
              <a:t>A</a:t>
            </a:r>
            <a:r>
              <a:rPr lang="id-ID" dirty="0"/>
              <a:t>)=0.</a:t>
            </a:r>
          </a:p>
          <a:p>
            <a:pPr marL="457200" indent="-457200" algn="just">
              <a:buAutoNum type="alphaLcParenBoth"/>
            </a:pPr>
            <a:r>
              <a:rPr lang="id-ID" dirty="0"/>
              <a:t>det(</a:t>
            </a:r>
            <a:r>
              <a:rPr lang="id-ID" i="1" dirty="0"/>
              <a:t>A</a:t>
            </a:r>
            <a:r>
              <a:rPr lang="id-ID" dirty="0"/>
              <a:t>) = det(</a:t>
            </a:r>
            <a:r>
              <a:rPr lang="id-ID" i="1" dirty="0"/>
              <a:t>A</a:t>
            </a:r>
            <a:r>
              <a:rPr lang="id-ID" i="1" baseline="30000" dirty="0"/>
              <a:t>T</a:t>
            </a:r>
            <a:r>
              <a:rPr lang="id-ID" dirty="0"/>
              <a:t>).</a:t>
            </a:r>
          </a:p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678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Properties of Determinants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28800"/>
            <a:ext cx="7543800" cy="4267200"/>
          </a:xfrm>
        </p:spPr>
        <p:txBody>
          <a:bodyPr/>
          <a:lstStyle/>
          <a:p>
            <a:pPr marL="0" indent="0" algn="just">
              <a:buNone/>
            </a:pPr>
            <a:endParaRPr lang="id-ID" b="1" dirty="0"/>
          </a:p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Suppose that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matrices and </a:t>
            </a:r>
            <a:r>
              <a:rPr lang="en-US" i="1" dirty="0"/>
              <a:t>k </a:t>
            </a:r>
            <a:r>
              <a:rPr lang="en-US" dirty="0"/>
              <a:t>is any scalar.</a:t>
            </a:r>
            <a:r>
              <a:rPr lang="id-ID" dirty="0"/>
              <a:t> We have the following properties :</a:t>
            </a:r>
          </a:p>
          <a:p>
            <a:pPr marL="457200" indent="-457200" algn="just">
              <a:buAutoNum type="alphaLcParenBoth"/>
            </a:pPr>
            <a:r>
              <a:rPr lang="id-ID" dirty="0"/>
              <a:t>det(</a:t>
            </a:r>
            <a:r>
              <a:rPr lang="id-ID" i="1" dirty="0"/>
              <a:t>A.B</a:t>
            </a:r>
            <a:r>
              <a:rPr lang="id-ID" dirty="0"/>
              <a:t>) = det(</a:t>
            </a:r>
            <a:r>
              <a:rPr lang="id-ID" i="1" dirty="0"/>
              <a:t>A</a:t>
            </a:r>
            <a:r>
              <a:rPr lang="id-ID" dirty="0"/>
              <a:t>).det(</a:t>
            </a:r>
            <a:r>
              <a:rPr lang="id-ID" i="1" dirty="0"/>
              <a:t>B</a:t>
            </a:r>
            <a:r>
              <a:rPr lang="id-ID" dirty="0"/>
              <a:t>)</a:t>
            </a:r>
          </a:p>
          <a:p>
            <a:pPr marL="457200" indent="-457200" algn="just">
              <a:buAutoNum type="alphaLcParenBoth"/>
            </a:pPr>
            <a:r>
              <a:rPr lang="id-ID" dirty="0"/>
              <a:t>det(</a:t>
            </a:r>
            <a:r>
              <a:rPr lang="id-ID" i="1" dirty="0"/>
              <a:t>k.A</a:t>
            </a:r>
            <a:r>
              <a:rPr lang="id-ID" dirty="0"/>
              <a:t>) = </a:t>
            </a:r>
            <a:r>
              <a:rPr lang="id-ID" i="1" dirty="0"/>
              <a:t>k</a:t>
            </a:r>
            <a:r>
              <a:rPr lang="id-ID" i="1" baseline="30000" dirty="0"/>
              <a:t>n</a:t>
            </a:r>
            <a:r>
              <a:rPr lang="id-ID" dirty="0"/>
              <a:t>.det(</a:t>
            </a:r>
            <a:r>
              <a:rPr lang="id-ID" i="1" dirty="0"/>
              <a:t>A</a:t>
            </a:r>
            <a:r>
              <a:rPr lang="id-ID" dirty="0"/>
              <a:t>)</a:t>
            </a:r>
          </a:p>
          <a:p>
            <a:pPr marL="457200" indent="-457200" algn="just">
              <a:buAutoNum type="alphaLcParenBoth"/>
            </a:pPr>
            <a:r>
              <a:rPr lang="id-ID" dirty="0"/>
              <a:t>In general, det(</a:t>
            </a:r>
            <a:r>
              <a:rPr lang="id-ID" i="1" dirty="0"/>
              <a:t>A</a:t>
            </a:r>
            <a:r>
              <a:rPr lang="id-ID" dirty="0"/>
              <a:t>+</a:t>
            </a:r>
            <a:r>
              <a:rPr lang="id-ID" i="1" dirty="0"/>
              <a:t>B</a:t>
            </a:r>
            <a:r>
              <a:rPr lang="id-ID" dirty="0"/>
              <a:t>) ≠ det(</a:t>
            </a:r>
            <a:r>
              <a:rPr lang="id-ID" i="1" dirty="0"/>
              <a:t>A</a:t>
            </a:r>
            <a:r>
              <a:rPr lang="id-ID" dirty="0"/>
              <a:t>)+det(</a:t>
            </a:r>
            <a:r>
              <a:rPr lang="id-ID" i="1" dirty="0"/>
              <a:t>B</a:t>
            </a:r>
            <a:r>
              <a:rPr lang="id-ID" dirty="0"/>
              <a:t>)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72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Determinants of</a:t>
            </a:r>
            <a:br>
              <a:rPr lang="id-ID" b="1" dirty="0"/>
            </a:br>
            <a:r>
              <a:rPr lang="id-ID" b="1" dirty="0"/>
              <a:t>Triangular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Theorem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is an </a:t>
            </a:r>
            <a:r>
              <a:rPr lang="id-ID" i="1" dirty="0"/>
              <a:t>n</a:t>
            </a:r>
            <a:r>
              <a:rPr lang="id-ID" dirty="0"/>
              <a:t> x </a:t>
            </a:r>
            <a:r>
              <a:rPr lang="id-ID" i="1" dirty="0"/>
              <a:t>n</a:t>
            </a:r>
            <a:r>
              <a:rPr lang="id-ID" dirty="0"/>
              <a:t> </a:t>
            </a:r>
            <a:r>
              <a:rPr lang="en-US" dirty="0"/>
              <a:t>triangular matrix (upper triangular, lower triangular, or diagonal), </a:t>
            </a:r>
          </a:p>
          <a:p>
            <a:pPr marL="0" indent="0" algn="just">
              <a:buNone/>
            </a:pPr>
            <a:r>
              <a:rPr lang="en-US" dirty="0"/>
              <a:t>then </a:t>
            </a:r>
            <a:r>
              <a:rPr lang="id-ID" dirty="0"/>
              <a:t>det(A) </a:t>
            </a:r>
            <a:r>
              <a:rPr lang="en-US" dirty="0"/>
              <a:t>is the product of the</a:t>
            </a:r>
            <a:r>
              <a:rPr lang="id-ID" dirty="0"/>
              <a:t> </a:t>
            </a:r>
            <a:r>
              <a:rPr lang="en-US" dirty="0"/>
              <a:t>entries on the main diagonal of the matrix; that is, </a:t>
            </a:r>
            <a:r>
              <a:rPr lang="id-ID" dirty="0"/>
              <a:t>det(A) = a</a:t>
            </a:r>
            <a:r>
              <a:rPr lang="id-ID" baseline="-25000" dirty="0"/>
              <a:t>11</a:t>
            </a:r>
            <a:r>
              <a:rPr lang="id-ID" dirty="0"/>
              <a:t>.a</a:t>
            </a:r>
            <a:r>
              <a:rPr lang="id-ID" baseline="-25000" dirty="0"/>
              <a:t>22</a:t>
            </a:r>
            <a:r>
              <a:rPr lang="id-ID" dirty="0"/>
              <a:t>.....a</a:t>
            </a:r>
            <a:r>
              <a:rPr lang="id-ID" baseline="-25000" dirty="0"/>
              <a:t>nn</a:t>
            </a:r>
            <a:r>
              <a:rPr lang="en-US" dirty="0"/>
              <a:t>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210" y="3429000"/>
            <a:ext cx="620599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4707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68960"/>
            <a:ext cx="7772400" cy="1362075"/>
          </a:xfrm>
        </p:spPr>
        <p:txBody>
          <a:bodyPr/>
          <a:lstStyle/>
          <a:p>
            <a:pPr algn="ctr"/>
            <a:r>
              <a:rPr lang="en-US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Calculating Determinants by Row Reduction</a:t>
            </a:r>
          </a:p>
        </p:txBody>
      </p:sp>
    </p:spTree>
    <p:extLst>
      <p:ext uri="{BB962C8B-B14F-4D97-AF65-F5344CB8AC3E}">
        <p14:creationId xmlns:p14="http://schemas.microsoft.com/office/powerpoint/2010/main" val="36825036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945110" y="1536281"/>
            <a:ext cx="7994807" cy="5312121"/>
            <a:chOff x="2757" y="1108"/>
            <a:chExt cx="6695" cy="5425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2757" y="1108"/>
              <a:ext cx="6695" cy="519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sz="2000" b="1" dirty="0">
                  <a:highlight>
                    <a:srgbClr val="F7F7F7"/>
                  </a:highlight>
                </a:rPr>
                <a:t>Theorem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/>
                <p:cNvSpPr>
                  <a:spLocks noChangeArrowheads="1"/>
                </p:cNvSpPr>
                <p:nvPr/>
              </p:nvSpPr>
              <p:spPr bwMode="auto">
                <a:xfrm>
                  <a:off x="2757" y="1680"/>
                  <a:ext cx="6639" cy="4853"/>
                </a:xfrm>
                <a:prstGeom prst="rect">
                  <a:avLst/>
                </a:prstGeom>
                <a:solidFill>
                  <a:srgbClr val="F2F2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r>
                    <a:rPr lang="en-US" sz="2000" dirty="0"/>
                    <a:t>Let A be an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sz="2000" i="1" dirty="0" err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  <m:r>
                        <a:rPr lang="en-US" sz="2000" i="1" dirty="0" err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</m:oMath>
                  </a14:m>
                  <a:r>
                    <a:rPr lang="en-US" sz="2000" dirty="0"/>
                    <a:t>  matrix.</a:t>
                  </a:r>
                </a:p>
                <a:p>
                  <a:r>
                    <a:rPr lang="en-US" sz="2000" dirty="0"/>
                    <a:t>(a) If B is the matrix that results when a single row or single column of A is multiplied by a scalar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charset="0"/>
                        </a:rPr>
                        <m:t>𝑘</m:t>
                      </m:r>
                    </m:oMath>
                  </a14:m>
                  <a:r>
                    <a:rPr lang="en-US" sz="2000" dirty="0"/>
                    <a:t>, then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sz="2000" dirty="0"/>
                    <a:t> =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charset="0"/>
                        </a:rPr>
                        <m:t>𝑘</m:t>
                      </m:r>
                      <m:r>
                        <a:rPr lang="en-US" sz="2000" i="1" dirty="0">
                          <a:latin typeface="Cambria Math" charset="0"/>
                        </a:rPr>
                        <m:t> </m:t>
                      </m:r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a14:m>
                  <a:endParaRPr lang="en-US" sz="2000" dirty="0"/>
                </a:p>
                <a:p>
                  <a:r>
                    <a:rPr lang="en-US" sz="2000" dirty="0"/>
                    <a:t>(b) If B is the matrix that results when two rows or two columns of A are interchanged, </a:t>
                  </a:r>
                </a:p>
                <a:p>
                  <a:r>
                    <a:rPr lang="en-US" sz="2000" dirty="0"/>
                    <a:t>then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sz="2000" dirty="0"/>
                    <a:t> = -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charset="0"/>
                        </a:rPr>
                        <m:t> </m:t>
                      </m:r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sz="2000" dirty="0"/>
                    <a:t>.</a:t>
                  </a:r>
                </a:p>
                <a:p>
                  <a:r>
                    <a:rPr lang="en-US" sz="2000" dirty="0"/>
                    <a:t>(c) If B is the matrix that results when a multiple of one row of A is added to another row or when a multiple of one column is added to another column, then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sz="2000" dirty="0"/>
                    <a:t>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dirty="0" err="1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sz="2000" dirty="0"/>
                    <a:t>.</a:t>
                  </a:r>
                </a:p>
                <a:p>
                  <a:endParaRPr lang="en-US" sz="1600" dirty="0"/>
                </a:p>
                <a:p>
                  <a:endParaRPr lang="en-US" sz="1600" dirty="0"/>
                </a:p>
              </p:txBody>
            </p:sp>
          </mc:Choice>
          <mc:Fallback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57" y="1680"/>
                  <a:ext cx="6639" cy="4853"/>
                </a:xfrm>
                <a:prstGeom prst="rect">
                  <a:avLst/>
                </a:prstGeom>
                <a:blipFill>
                  <a:blip r:embed="rId2"/>
                  <a:stretch>
                    <a:fillRect l="-769" t="-770"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0552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80246"/>
            <a:ext cx="7452320" cy="49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302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42021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323" y="2743200"/>
            <a:ext cx="5457825" cy="360045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F4E1CB-1DDD-FB49-8BC7-6B2697C92B4E}"/>
                  </a:ext>
                </a:extLst>
              </p:cNvPr>
              <p:cNvSpPr txBox="1"/>
              <p:nvPr/>
            </p:nvSpPr>
            <p:spPr>
              <a:xfrm>
                <a:off x="1295400" y="1843956"/>
                <a:ext cx="3778407" cy="830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Find the determinant of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F4E1CB-1DDD-FB49-8BC7-6B2697C92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843956"/>
                <a:ext cx="3778407" cy="830484"/>
              </a:xfrm>
              <a:prstGeom prst="rect">
                <a:avLst/>
              </a:prstGeom>
              <a:blipFill>
                <a:blip r:embed="rId3"/>
                <a:stretch>
                  <a:fillRect l="-1678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60CD3CA-9F5B-9D45-A4DD-76DB8D3F0043}"/>
              </a:ext>
            </a:extLst>
          </p:cNvPr>
          <p:cNvSpPr txBox="1"/>
          <p:nvPr/>
        </p:nvSpPr>
        <p:spPr>
          <a:xfrm>
            <a:off x="990600" y="2733040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2839065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id-ID" dirty="0"/>
            </a:br>
            <a:r>
              <a:rPr lang="id-ID" dirty="0"/>
              <a:t>The Cramer’s Rule</a:t>
            </a:r>
          </a:p>
        </p:txBody>
      </p:sp>
    </p:spTree>
    <p:extLst>
      <p:ext uri="{BB962C8B-B14F-4D97-AF65-F5344CB8AC3E}">
        <p14:creationId xmlns:p14="http://schemas.microsoft.com/office/powerpoint/2010/main" val="2887852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Cramer’s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Our next theorem uses the formula for the inverse of an invertible matrix to produce a formula, called </a:t>
            </a:r>
            <a:r>
              <a:rPr lang="en-US" b="1" i="1" dirty="0"/>
              <a:t>Cramer's</a:t>
            </a:r>
            <a:r>
              <a:rPr lang="id-ID" b="1" i="1" dirty="0"/>
              <a:t> </a:t>
            </a:r>
            <a:r>
              <a:rPr lang="en-US" b="1" i="1" dirty="0"/>
              <a:t>rule</a:t>
            </a:r>
            <a:r>
              <a:rPr lang="en-US" dirty="0"/>
              <a:t>, for the solution of a linear system </a:t>
            </a:r>
            <a:r>
              <a:rPr lang="id-ID" i="1" dirty="0"/>
              <a:t>A</a:t>
            </a:r>
            <a:r>
              <a:rPr lang="id-ID" dirty="0"/>
              <a:t>.</a:t>
            </a:r>
            <a:r>
              <a:rPr lang="id-ID" b="1" dirty="0"/>
              <a:t>x</a:t>
            </a:r>
            <a:r>
              <a:rPr lang="id-ID" dirty="0"/>
              <a:t> = </a:t>
            </a:r>
            <a:r>
              <a:rPr lang="id-ID" b="1" dirty="0"/>
              <a:t>b</a:t>
            </a:r>
            <a:r>
              <a:rPr lang="id-ID" dirty="0"/>
              <a:t> </a:t>
            </a:r>
            <a:r>
              <a:rPr lang="en-US" dirty="0"/>
              <a:t>of </a:t>
            </a:r>
            <a:r>
              <a:rPr lang="en-US" i="1" dirty="0"/>
              <a:t>n </a:t>
            </a:r>
            <a:r>
              <a:rPr lang="en-US" dirty="0"/>
              <a:t>equations in </a:t>
            </a:r>
            <a:r>
              <a:rPr lang="en-US" i="1" dirty="0"/>
              <a:t>n </a:t>
            </a:r>
            <a:r>
              <a:rPr lang="en-US" dirty="0"/>
              <a:t>unknowns in the case where the coefficient</a:t>
            </a:r>
            <a:r>
              <a:rPr lang="id-ID" dirty="0"/>
              <a:t> </a:t>
            </a:r>
            <a:r>
              <a:rPr lang="en-US" dirty="0"/>
              <a:t>matrix </a:t>
            </a:r>
            <a:r>
              <a:rPr lang="en-US" i="1" dirty="0"/>
              <a:t>A </a:t>
            </a:r>
            <a:r>
              <a:rPr lang="en-US" dirty="0"/>
              <a:t>is invertible (or, equivalently, when </a:t>
            </a:r>
            <a:r>
              <a:rPr lang="id-ID" dirty="0"/>
              <a:t>det(A) ≠ 0</a:t>
            </a:r>
            <a:r>
              <a:rPr lang="en-US" dirty="0"/>
              <a:t>).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017" y="3352800"/>
            <a:ext cx="2609983" cy="335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54930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Cramer’s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/>
          <a:lstStyle/>
          <a:p>
            <a:pPr marL="0" indent="0" algn="just">
              <a:buNone/>
            </a:pPr>
            <a:r>
              <a:rPr lang="id-ID" b="1" dirty="0"/>
              <a:t>Theorem (Cramer’s Rule)</a:t>
            </a:r>
          </a:p>
          <a:p>
            <a:pPr marL="0" indent="0" algn="just">
              <a:buNone/>
            </a:pPr>
            <a:r>
              <a:rPr lang="en-US" dirty="0"/>
              <a:t>If </a:t>
            </a:r>
            <a:r>
              <a:rPr lang="id-ID" i="1" dirty="0"/>
              <a:t>A</a:t>
            </a:r>
            <a:r>
              <a:rPr lang="id-ID" dirty="0"/>
              <a:t>.</a:t>
            </a:r>
            <a:r>
              <a:rPr lang="id-ID" b="1" dirty="0"/>
              <a:t>x</a:t>
            </a:r>
            <a:r>
              <a:rPr lang="id-ID" dirty="0"/>
              <a:t>=</a:t>
            </a:r>
            <a:r>
              <a:rPr lang="id-ID" b="1" dirty="0"/>
              <a:t>b</a:t>
            </a:r>
            <a:r>
              <a:rPr lang="id-ID" dirty="0"/>
              <a:t> </a:t>
            </a:r>
            <a:r>
              <a:rPr lang="en-US" dirty="0"/>
              <a:t>is a system of </a:t>
            </a:r>
            <a:r>
              <a:rPr lang="en-US" i="1" dirty="0"/>
              <a:t>n </a:t>
            </a:r>
            <a:r>
              <a:rPr lang="en-US" dirty="0"/>
              <a:t>linear equations in </a:t>
            </a:r>
            <a:r>
              <a:rPr lang="en-US" i="1" dirty="0"/>
              <a:t>n </a:t>
            </a:r>
            <a:r>
              <a:rPr lang="en-US" dirty="0"/>
              <a:t>unknowns such that </a:t>
            </a:r>
            <a:r>
              <a:rPr lang="id-ID" dirty="0"/>
              <a:t>det(</a:t>
            </a:r>
            <a:r>
              <a:rPr lang="id-ID" i="1" dirty="0"/>
              <a:t>A</a:t>
            </a:r>
            <a:r>
              <a:rPr lang="id-ID" dirty="0"/>
              <a:t>) ≠ 0</a:t>
            </a:r>
            <a:r>
              <a:rPr lang="en-US" dirty="0"/>
              <a:t>, then the system has a</a:t>
            </a:r>
            <a:r>
              <a:rPr lang="id-ID" dirty="0"/>
              <a:t> unique solution. This solution is</a:t>
            </a:r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where </a:t>
            </a:r>
            <a:r>
              <a:rPr lang="id-ID" i="1" dirty="0"/>
              <a:t>A</a:t>
            </a:r>
            <a:r>
              <a:rPr lang="id-ID" i="1" baseline="-25000" dirty="0"/>
              <a:t>j</a:t>
            </a:r>
            <a:r>
              <a:rPr lang="id-ID" dirty="0"/>
              <a:t> </a:t>
            </a:r>
            <a:r>
              <a:rPr lang="en-US" dirty="0"/>
              <a:t>is the matrix obtained by replacing the entries in the </a:t>
            </a:r>
            <a:r>
              <a:rPr lang="en-US" i="1" dirty="0"/>
              <a:t>j</a:t>
            </a:r>
            <a:r>
              <a:rPr lang="id-ID" i="1" dirty="0"/>
              <a:t>-</a:t>
            </a:r>
            <a:r>
              <a:rPr lang="en-US" dirty="0" err="1"/>
              <a:t>th</a:t>
            </a:r>
            <a:r>
              <a:rPr lang="en-US" dirty="0"/>
              <a:t> column of </a:t>
            </a:r>
            <a:r>
              <a:rPr lang="en-US" i="1" dirty="0"/>
              <a:t>A </a:t>
            </a:r>
            <a:r>
              <a:rPr lang="en-US" dirty="0"/>
              <a:t>by the entries in the matrix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75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124200"/>
            <a:ext cx="630620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13" y="4562475"/>
            <a:ext cx="1309687" cy="181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48592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/>
          <a:lstStyle/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7543799" cy="1941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657600"/>
            <a:ext cx="5273154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4634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457200"/>
            <a:ext cx="7067128" cy="1143000"/>
          </a:xfrm>
        </p:spPr>
        <p:txBody>
          <a:bodyPr/>
          <a:lstStyle/>
          <a:p>
            <a:r>
              <a:rPr lang="id-ID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id-ID" b="1" dirty="0"/>
              <a:t>Note :</a:t>
            </a:r>
            <a:r>
              <a:rPr lang="id-ID" dirty="0"/>
              <a:t> </a:t>
            </a:r>
            <a:r>
              <a:rPr lang="en-US" dirty="0"/>
              <a:t>For </a:t>
            </a:r>
            <a:r>
              <a:rPr lang="en-US" i="1" dirty="0"/>
              <a:t>n </a:t>
            </a:r>
            <a:r>
              <a:rPr lang="en-US" dirty="0"/>
              <a:t>&gt; 3, it is usually more efficient to</a:t>
            </a:r>
            <a:r>
              <a:rPr lang="id-ID" dirty="0"/>
              <a:t> </a:t>
            </a:r>
            <a:r>
              <a:rPr lang="en-US" dirty="0"/>
              <a:t>solve a linear system with </a:t>
            </a:r>
            <a:r>
              <a:rPr lang="en-US" i="1" dirty="0"/>
              <a:t>n </a:t>
            </a:r>
            <a:r>
              <a:rPr lang="en-US" dirty="0"/>
              <a:t>equations in </a:t>
            </a:r>
            <a:r>
              <a:rPr lang="en-US" i="1" dirty="0"/>
              <a:t>n</a:t>
            </a:r>
            <a:r>
              <a:rPr lang="id-ID" i="1" dirty="0"/>
              <a:t> </a:t>
            </a:r>
            <a:r>
              <a:rPr lang="id-ID" dirty="0"/>
              <a:t>unknowns by Gauss–Jordan elimination </a:t>
            </a:r>
            <a:r>
              <a:rPr lang="en-US" dirty="0"/>
              <a:t>than by Cramer's rule. Its main use is for</a:t>
            </a:r>
            <a:r>
              <a:rPr lang="id-ID" dirty="0"/>
              <a:t> </a:t>
            </a:r>
            <a:r>
              <a:rPr lang="en-US" dirty="0"/>
              <a:t>obtaining properties of solutions of a</a:t>
            </a:r>
            <a:r>
              <a:rPr lang="id-ID" dirty="0"/>
              <a:t> </a:t>
            </a:r>
            <a:r>
              <a:rPr lang="en-US" dirty="0"/>
              <a:t>linear system without actually solving the</a:t>
            </a:r>
            <a:r>
              <a:rPr lang="id-ID" dirty="0"/>
              <a:t> system.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1752600"/>
            <a:ext cx="7467601" cy="184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19821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0"/>
            <a:ext cx="6837114" cy="792088"/>
          </a:xfrm>
        </p:spPr>
        <p:txBody>
          <a:bodyPr/>
          <a:lstStyle/>
          <a:p>
            <a:pPr algn="ctr"/>
            <a:r>
              <a:rPr lang="en-US" sz="3422" b="1" dirty="0"/>
              <a:t>References</a:t>
            </a:r>
            <a:endParaRPr lang="id-ID" sz="3422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5B8F3-0178-4342-BB4F-B8F94C3CE2DD}"/>
              </a:ext>
            </a:extLst>
          </p:cNvPr>
          <p:cNvSpPr txBox="1"/>
          <p:nvPr/>
        </p:nvSpPr>
        <p:spPr>
          <a:xfrm>
            <a:off x="1350518" y="2476735"/>
            <a:ext cx="7026755" cy="9996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02" marR="411235" lvl="2" indent="0" algn="ctr">
              <a:spcBef>
                <a:spcPts val="342"/>
              </a:spcBef>
              <a:spcAft>
                <a:spcPts val="0"/>
              </a:spcAft>
              <a:buSzPts val="1000"/>
              <a:tabLst>
                <a:tab pos="142602" algn="l"/>
              </a:tabLst>
            </a:pP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Howard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Anton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882" spc="-26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Anton Kaul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(2019).</a:t>
            </a:r>
            <a:r>
              <a:rPr lang="en-US" sz="1882" spc="-1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Elementary Linear Algebra.</a:t>
            </a:r>
            <a:r>
              <a:rPr lang="en-US" sz="1882" spc="-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12.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Wiley.</a:t>
            </a:r>
            <a:r>
              <a:rPr lang="en-US" sz="1882" spc="1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</a:t>
            </a:r>
            <a:r>
              <a:rPr lang="en-US" sz="1882" spc="-222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Jersey.</a:t>
            </a:r>
            <a:r>
              <a:rPr lang="en-US" sz="1882" spc="-4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ISBN:</a:t>
            </a:r>
            <a:r>
              <a:rPr lang="en-US" sz="1882" spc="4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978-1-119-40677-8</a:t>
            </a:r>
          </a:p>
          <a:p>
            <a:pPr marL="142602" marR="411235" lvl="2" indent="0" algn="ctr">
              <a:spcBef>
                <a:spcPts val="342"/>
              </a:spcBef>
              <a:spcAft>
                <a:spcPts val="0"/>
              </a:spcAft>
              <a:buSzPts val="1000"/>
              <a:tabLst>
                <a:tab pos="142602" algn="l"/>
              </a:tabLst>
            </a:pPr>
            <a:endParaRPr lang="en-US" sz="1882" spc="-26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F4E5-6303-4D40-9AF8-A1272740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4" descr="A bird holding a book&#10;&#10;Description automatically generated with low confidence">
            <a:extLst>
              <a:ext uri="{FF2B5EF4-FFF2-40B4-BE49-F238E27FC236}">
                <a16:creationId xmlns:a16="http://schemas.microsoft.com/office/drawing/2014/main" id="{D7D732F0-DC38-6B4B-9265-3AF1FC344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78" y="2636912"/>
            <a:ext cx="3987715" cy="34892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735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860</TotalTime>
  <Words>4980</Words>
  <Application>Microsoft Office PowerPoint</Application>
  <PresentationFormat>On-screen Show (4:3)</PresentationFormat>
  <Paragraphs>587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Arial</vt:lpstr>
      <vt:lpstr>Calibri</vt:lpstr>
      <vt:lpstr>Cambria Math</vt:lpstr>
      <vt:lpstr>Helvetica</vt:lpstr>
      <vt:lpstr>Open Sans</vt:lpstr>
      <vt:lpstr>Times New Roman</vt:lpstr>
      <vt:lpstr>Template PPT 2015</vt:lpstr>
      <vt:lpstr>Matrix  Session  03-06</vt:lpstr>
      <vt:lpstr>PowerPoint Presentation</vt:lpstr>
      <vt:lpstr>LO 2: Evaluate determinant and inverse of matrix and their applications.</vt:lpstr>
      <vt:lpstr>PowerPoint Presentation</vt:lpstr>
      <vt:lpstr>Matrices and Matrix Operations</vt:lpstr>
      <vt:lpstr>Basic Terminologies (1/4)</vt:lpstr>
      <vt:lpstr>Basic Terminologies (2/4)</vt:lpstr>
      <vt:lpstr>Basic Terminologies (3/4)</vt:lpstr>
      <vt:lpstr>Basic Terminologies (4/4)</vt:lpstr>
      <vt:lpstr>Equality of Matrices</vt:lpstr>
      <vt:lpstr>Matrix Addition and Substraction</vt:lpstr>
      <vt:lpstr>Example</vt:lpstr>
      <vt:lpstr>Scalar Multiplication</vt:lpstr>
      <vt:lpstr>Matrix Multiplication</vt:lpstr>
      <vt:lpstr>Example</vt:lpstr>
      <vt:lpstr>Example (Cont.)</vt:lpstr>
      <vt:lpstr>General Formula of Matrix Multiplication</vt:lpstr>
      <vt:lpstr>Matrix Form of a Linear System</vt:lpstr>
      <vt:lpstr>Matrix Form of a Linear System (Cont.)</vt:lpstr>
      <vt:lpstr>Transpose of a Matrix</vt:lpstr>
      <vt:lpstr>Transpose of a Matrix (Cont.)</vt:lpstr>
      <vt:lpstr>Properties of the Transpose</vt:lpstr>
      <vt:lpstr>Trace of a Matrix</vt:lpstr>
      <vt:lpstr>Algebraic Properties of Matrix</vt:lpstr>
      <vt:lpstr>Properties of Matrix Arithmetic</vt:lpstr>
      <vt:lpstr>Associativity of Matrix Multiplication</vt:lpstr>
      <vt:lpstr>Matrix Multiplication is not Commutative</vt:lpstr>
      <vt:lpstr>Zero Matrices</vt:lpstr>
      <vt:lpstr>Properties of Zero Matrices</vt:lpstr>
      <vt:lpstr>Other Laws which Doesn’t Hold in Matrix Multiplication</vt:lpstr>
      <vt:lpstr>Identity Matrices</vt:lpstr>
      <vt:lpstr>Properties of Identity Matrices</vt:lpstr>
      <vt:lpstr>Some Special Matrices</vt:lpstr>
      <vt:lpstr>Diagonal Matrices</vt:lpstr>
      <vt:lpstr>Properties of Diagonal Matrices</vt:lpstr>
      <vt:lpstr>Properties of Diagonal Matrices</vt:lpstr>
      <vt:lpstr>Triangular Matrices</vt:lpstr>
      <vt:lpstr>Properties of Triangular Matrices</vt:lpstr>
      <vt:lpstr>Symmetric Matrices</vt:lpstr>
      <vt:lpstr>Properties of Symmetric Matrices</vt:lpstr>
      <vt:lpstr>Inverse MATRIX AND ITS PROPERTIES</vt:lpstr>
      <vt:lpstr>Inverse </vt:lpstr>
      <vt:lpstr>Example</vt:lpstr>
      <vt:lpstr>Inverse </vt:lpstr>
      <vt:lpstr>Inverse </vt:lpstr>
      <vt:lpstr>Inverse Technique : Inversion Algorithm</vt:lpstr>
      <vt:lpstr> Example: Using Row Operations to Find A−1. </vt:lpstr>
      <vt:lpstr>Example</vt:lpstr>
      <vt:lpstr>Inverse of a Product</vt:lpstr>
      <vt:lpstr>More Properties of Inverse Matrix</vt:lpstr>
      <vt:lpstr>Solving Linear Systems by Matrix Inversion</vt:lpstr>
      <vt:lpstr>Example</vt:lpstr>
      <vt:lpstr>Example (Cont.)</vt:lpstr>
      <vt:lpstr>Determinant</vt:lpstr>
      <vt:lpstr>PowerPoint Presentation</vt:lpstr>
      <vt:lpstr>PowerPoint Presentation</vt:lpstr>
      <vt:lpstr>Calculating Determinants and Inverse by Cofactor Ekxpansion</vt:lpstr>
      <vt:lpstr>PowerPoint Presentation</vt:lpstr>
      <vt:lpstr>PowerPoint Presentation</vt:lpstr>
      <vt:lpstr>PowerPoint Presentation</vt:lpstr>
      <vt:lpstr>PowerPoint Presentation</vt:lpstr>
      <vt:lpstr>2. Inverse of a Matrix Using Its Adjoint </vt:lpstr>
      <vt:lpstr> Inverse of a Matrix Using Its Adjoint </vt:lpstr>
      <vt:lpstr> Inverse of a Matrix Using Its Adjoint </vt:lpstr>
      <vt:lpstr> Properties of determinant</vt:lpstr>
      <vt:lpstr>Properties of Determinants</vt:lpstr>
      <vt:lpstr>Properties of Determinants</vt:lpstr>
      <vt:lpstr>Determinants of Triangular Matrices</vt:lpstr>
      <vt:lpstr>Calculating Determinants by Row Reduction</vt:lpstr>
      <vt:lpstr>PowerPoint Presentation</vt:lpstr>
      <vt:lpstr>PowerPoint Presentation</vt:lpstr>
      <vt:lpstr>Example</vt:lpstr>
      <vt:lpstr> The Cramer’s Rule</vt:lpstr>
      <vt:lpstr>Cramer’s Rule</vt:lpstr>
      <vt:lpstr>Cramer’s Rule</vt:lpstr>
      <vt:lpstr>Example</vt:lpstr>
      <vt:lpstr>Example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Herolistra Baskoroputro, S.Si., M.Si., Ph.D.</cp:lastModifiedBy>
  <cp:revision>97</cp:revision>
  <dcterms:created xsi:type="dcterms:W3CDTF">2015-05-04T03:33:03Z</dcterms:created>
  <dcterms:modified xsi:type="dcterms:W3CDTF">2024-01-10T07:18:32Z</dcterms:modified>
</cp:coreProperties>
</file>