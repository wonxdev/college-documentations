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70" r:id="rId3"/>
    <p:sldId id="257" r:id="rId4"/>
    <p:sldId id="330" r:id="rId5"/>
    <p:sldId id="381" r:id="rId6"/>
    <p:sldId id="382" r:id="rId7"/>
    <p:sldId id="380" r:id="rId8"/>
    <p:sldId id="356" r:id="rId9"/>
    <p:sldId id="358" r:id="rId10"/>
    <p:sldId id="359" r:id="rId11"/>
    <p:sldId id="287" r:id="rId12"/>
    <p:sldId id="289" r:id="rId13"/>
    <p:sldId id="290" r:id="rId14"/>
    <p:sldId id="291" r:id="rId15"/>
    <p:sldId id="292" r:id="rId16"/>
    <p:sldId id="293" r:id="rId17"/>
    <p:sldId id="308" r:id="rId18"/>
    <p:sldId id="357" r:id="rId19"/>
    <p:sldId id="360" r:id="rId20"/>
    <p:sldId id="361" r:id="rId21"/>
    <p:sldId id="384" r:id="rId22"/>
    <p:sldId id="297" r:id="rId23"/>
    <p:sldId id="298" r:id="rId24"/>
    <p:sldId id="299" r:id="rId25"/>
    <p:sldId id="385" r:id="rId26"/>
    <p:sldId id="386" r:id="rId27"/>
    <p:sldId id="323" r:id="rId28"/>
    <p:sldId id="324" r:id="rId29"/>
    <p:sldId id="325" r:id="rId30"/>
    <p:sldId id="326" r:id="rId31"/>
    <p:sldId id="327" r:id="rId32"/>
    <p:sldId id="270" r:id="rId33"/>
    <p:sldId id="383" r:id="rId34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6"/>
          </p14:sldIdLst>
        </p14:section>
        <p14:section name="COURSE CONTENT" id="{F4927CBE-FA17-46D1-BAAE-887D0AF2CCBF}">
          <p14:sldIdLst>
            <p14:sldId id="370"/>
            <p14:sldId id="257"/>
            <p14:sldId id="330"/>
            <p14:sldId id="381"/>
            <p14:sldId id="382"/>
            <p14:sldId id="380"/>
            <p14:sldId id="356"/>
            <p14:sldId id="358"/>
            <p14:sldId id="359"/>
            <p14:sldId id="287"/>
            <p14:sldId id="289"/>
            <p14:sldId id="290"/>
            <p14:sldId id="291"/>
            <p14:sldId id="292"/>
            <p14:sldId id="293"/>
            <p14:sldId id="308"/>
            <p14:sldId id="357"/>
            <p14:sldId id="360"/>
            <p14:sldId id="361"/>
            <p14:sldId id="384"/>
            <p14:sldId id="297"/>
            <p14:sldId id="298"/>
            <p14:sldId id="299"/>
            <p14:sldId id="385"/>
            <p14:sldId id="386"/>
            <p14:sldId id="323"/>
            <p14:sldId id="324"/>
            <p14:sldId id="325"/>
            <p14:sldId id="326"/>
            <p14:sldId id="327"/>
            <p14:sldId id="270"/>
            <p14:sldId id="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008FD5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286DA-954D-4390-85E6-5A434C6B4D62}" type="datetimeFigureOut">
              <a:rPr lang="id-ID" smtClean="0"/>
              <a:t>10/01/2024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EAA61-87FC-45D8-A0E3-CA718706A90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640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82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90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5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8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44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08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86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BB48-6322-4CAD-8A1D-32BB1CD3726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4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Mika Seppälä: Taylor Series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4BAA7-5AB0-4D48-892D-3003E09BDA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3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67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505223" y="914113"/>
            <a:ext cx="5638777" cy="1143000"/>
          </a:xfrm>
          <a:prstGeom prst="rect">
            <a:avLst/>
          </a:prstGeom>
        </p:spPr>
        <p:txBody>
          <a:bodyPr lIns="91428" tIns="45715" rIns="91428" bIns="45715" anchor="ctr"/>
          <a:lstStyle>
            <a:lvl1pPr>
              <a:defRPr/>
            </a:lvl1pPr>
          </a:lstStyle>
          <a:p>
            <a:pPr algn="r" defTabSz="456498" fontAlgn="auto">
              <a:spcAft>
                <a:spcPts val="0"/>
              </a:spcAft>
              <a:defRPr/>
            </a:pPr>
            <a:r>
              <a:rPr lang="en-US" sz="4000" b="1" dirty="0">
                <a:solidFill>
                  <a:prstClr val="black"/>
                </a:solidFill>
                <a:latin typeface="Calibri"/>
                <a:ea typeface="+mj-ea"/>
                <a:cs typeface="+mj-cs"/>
              </a:rPr>
              <a:t>&lt;&lt;Title&gt;&gt;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1" y="2133600"/>
            <a:ext cx="35052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2133600"/>
            <a:ext cx="35052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F6D0D-EC0B-46B6-A9A4-1CE636FCC622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4A5406-9B84-48B0-9B72-A130A0DDF0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20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10/01/2024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766887" y="1676400"/>
            <a:ext cx="73771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Course		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	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: </a:t>
            </a:r>
            <a:r>
              <a:rPr lang="en-ID" sz="2400" dirty="0">
                <a:solidFill>
                  <a:schemeClr val="bg1"/>
                </a:solidFill>
                <a:latin typeface="Open Sans"/>
              </a:rPr>
              <a:t>MATH6030001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 - 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Linear Algebra</a:t>
            </a:r>
            <a:endParaRPr lang="en-US" sz="2400" dirty="0">
              <a:solidFill>
                <a:schemeClr val="bg1"/>
              </a:solidFill>
              <a:latin typeface="Open Sans"/>
            </a:endParaRPr>
          </a:p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Effective Period	: 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February</a:t>
            </a:r>
            <a:r>
              <a:rPr lang="en-US" sz="2400">
                <a:solidFill>
                  <a:schemeClr val="bg1"/>
                </a:solidFill>
                <a:latin typeface="Open Sans"/>
              </a:rPr>
              <a:t> 2024</a:t>
            </a: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76400" y="3352800"/>
            <a:ext cx="7467600" cy="23844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id-ID" sz="3600" dirty="0">
                <a:solidFill>
                  <a:schemeClr val="bg1"/>
                </a:solidFill>
              </a:rPr>
              <a:t>Systems of Linear Equations</a:t>
            </a:r>
            <a:br>
              <a:rPr lang="en-AU" dirty="0">
                <a:solidFill>
                  <a:schemeClr val="bg1"/>
                </a:solidFill>
              </a:rPr>
            </a:br>
            <a:br>
              <a:rPr lang="en-AU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Session  </a:t>
            </a:r>
            <a:r>
              <a:rPr lang="id-ID" sz="2800" dirty="0">
                <a:solidFill>
                  <a:schemeClr val="bg1"/>
                </a:solidFill>
              </a:rPr>
              <a:t>01-02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907704" y="1628800"/>
            <a:ext cx="6768752" cy="802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000" b="1" i="0" u="none" strike="noStrike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Acknowledgement</a:t>
            </a:r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75684CD7-0044-BF4E-AC43-DA5CC2D455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9"/>
          <a:stretch/>
        </p:blipFill>
        <p:spPr>
          <a:xfrm>
            <a:off x="1997116" y="2564904"/>
            <a:ext cx="2989529" cy="3672408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E22705F-47F2-445C-9B47-9C31073AC10B}"/>
              </a:ext>
            </a:extLst>
          </p:cNvPr>
          <p:cNvSpPr txBox="1">
            <a:spLocks/>
          </p:cNvSpPr>
          <p:nvPr/>
        </p:nvSpPr>
        <p:spPr>
          <a:xfrm>
            <a:off x="5220072" y="2564904"/>
            <a:ext cx="3430017" cy="3672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These slides have been adapted from: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Howard Anton and Anton Kaul. </a:t>
            </a:r>
            <a:r>
              <a:rPr lang="en-US" sz="2000" i="1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Elementary linear algebra: Applications version (12</a:t>
            </a:r>
            <a:r>
              <a:rPr lang="en-US" sz="2000" i="1" kern="1200" baseline="300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th</a:t>
            </a:r>
            <a:r>
              <a:rPr lang="en-US" sz="2000" i="1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 Edition)</a:t>
            </a:r>
            <a:r>
              <a:rPr lang="en-US" sz="2000" kern="1200" dirty="0">
                <a:solidFill>
                  <a:schemeClr val="tx1"/>
                </a:solidFill>
                <a:latin typeface="Open Sans"/>
                <a:ea typeface="+mn-ea"/>
                <a:cs typeface="+mn-cs"/>
              </a:rPr>
              <a:t>. John Wiley &amp; Sons, 2019.</a:t>
            </a:r>
          </a:p>
          <a:p>
            <a:pPr>
              <a:spcBef>
                <a:spcPct val="20000"/>
              </a:spcBef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Section 1.1-1.2 </a:t>
            </a:r>
            <a:endParaRPr lang="en-US" sz="2000" kern="1200" dirty="0">
              <a:solidFill>
                <a:schemeClr val="tx1"/>
              </a:solidFill>
              <a:latin typeface="Open Sans"/>
              <a:ea typeface="+mn-ea"/>
              <a:cs typeface="+mn-cs"/>
            </a:endParaRPr>
          </a:p>
          <a:p>
            <a:pPr marR="0" fontAlgn="auto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05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E9CE98AA-8C07-3B4E-A6C6-FC779301E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24453"/>
            <a:ext cx="8153400" cy="45659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464" y="2051273"/>
            <a:ext cx="6004136" cy="792088"/>
          </a:xfrm>
        </p:spPr>
        <p:txBody>
          <a:bodyPr>
            <a:normAutofit/>
          </a:bodyPr>
          <a:lstStyle/>
          <a:p>
            <a:r>
              <a:rPr lang="id-ID" sz="1800" dirty="0">
                <a:solidFill>
                  <a:schemeClr val="bg1"/>
                </a:solidFill>
              </a:rPr>
              <a:t>LO 1 : Solve </a:t>
            </a:r>
            <a:r>
              <a:rPr lang="en-US" sz="1800" dirty="0">
                <a:solidFill>
                  <a:schemeClr val="bg1"/>
                </a:solidFill>
              </a:rPr>
              <a:t>systems of linear equations using various methods.</a:t>
            </a:r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4285667"/>
            <a:ext cx="3429000" cy="1297209"/>
          </a:xfrm>
        </p:spPr>
        <p:txBody>
          <a:bodyPr>
            <a:noAutofit/>
          </a:bodyPr>
          <a:lstStyle/>
          <a:p>
            <a:r>
              <a:rPr lang="id-ID" sz="1600" dirty="0">
                <a:solidFill>
                  <a:schemeClr val="bg1"/>
                </a:solidFill>
              </a:rPr>
              <a:t>Students will be able </a:t>
            </a:r>
            <a:r>
              <a:rPr lang="en-US" sz="1600" dirty="0">
                <a:solidFill>
                  <a:schemeClr val="bg1"/>
                </a:solidFill>
              </a:rPr>
              <a:t>to represent real problems in systems of linear equations</a:t>
            </a:r>
            <a:r>
              <a:rPr lang="id-ID" sz="1600" dirty="0">
                <a:solidFill>
                  <a:schemeClr val="bg1"/>
                </a:solidFill>
              </a:rPr>
              <a:t>.</a:t>
            </a:r>
          </a:p>
          <a:p>
            <a:r>
              <a:rPr lang="id-ID" sz="1600" dirty="0">
                <a:solidFill>
                  <a:schemeClr val="bg1"/>
                </a:solidFill>
              </a:rPr>
              <a:t>Students will be able to </a:t>
            </a:r>
            <a:r>
              <a:rPr lang="en-US" sz="1600" dirty="0">
                <a:solidFill>
                  <a:schemeClr val="bg1"/>
                </a:solidFill>
              </a:rPr>
              <a:t>use appropriate methods to solve a system of linear equations</a:t>
            </a:r>
            <a:r>
              <a:rPr lang="id-ID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1275124"/>
            <a:ext cx="4363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3"/>
          <p:cNvSpPr txBox="1">
            <a:spLocks/>
          </p:cNvSpPr>
          <p:nvPr/>
        </p:nvSpPr>
        <p:spPr>
          <a:xfrm>
            <a:off x="1111696" y="1196752"/>
            <a:ext cx="7128792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Contents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C305F1E-7AFA-4EDC-A6B2-51907645B5C3}"/>
              </a:ext>
            </a:extLst>
          </p:cNvPr>
          <p:cNvGrpSpPr/>
          <p:nvPr/>
        </p:nvGrpSpPr>
        <p:grpSpPr>
          <a:xfrm>
            <a:off x="3355424" y="5235849"/>
            <a:ext cx="2551831" cy="761503"/>
            <a:chOff x="2833739" y="5301208"/>
            <a:chExt cx="3357511" cy="841262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77FA1AC-A7A7-4C79-AFDC-9B5FB93826C4}"/>
                </a:ext>
              </a:extLst>
            </p:cNvPr>
            <p:cNvSpPr/>
            <p:nvPr/>
          </p:nvSpPr>
          <p:spPr>
            <a:xfrm>
              <a:off x="2833739" y="5301208"/>
              <a:ext cx="3357511" cy="841262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9A1B682-D52C-4266-9871-3480D10B6929}"/>
                </a:ext>
              </a:extLst>
            </p:cNvPr>
            <p:cNvSpPr/>
            <p:nvPr/>
          </p:nvSpPr>
          <p:spPr>
            <a:xfrm>
              <a:off x="3481626" y="5487505"/>
              <a:ext cx="1728921" cy="433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51B4D25A-AD17-48D1-8559-FA0A740B3488}"/>
              </a:ext>
            </a:extLst>
          </p:cNvPr>
          <p:cNvSpPr/>
          <p:nvPr/>
        </p:nvSpPr>
        <p:spPr>
          <a:xfrm>
            <a:off x="5576883" y="2368553"/>
            <a:ext cx="328372" cy="39108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5B8A45-0FD3-45EA-BE10-9A0B4BF492D1}"/>
              </a:ext>
            </a:extLst>
          </p:cNvPr>
          <p:cNvSpPr txBox="1"/>
          <p:nvPr/>
        </p:nvSpPr>
        <p:spPr>
          <a:xfrm>
            <a:off x="5975316" y="2572831"/>
            <a:ext cx="306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System of linear equations</a:t>
            </a:r>
            <a:endParaRPr lang="en-US" dirty="0"/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6662A2-111D-49C4-8CF7-8279FD58856F}"/>
              </a:ext>
            </a:extLst>
          </p:cNvPr>
          <p:cNvSpPr txBox="1"/>
          <p:nvPr/>
        </p:nvSpPr>
        <p:spPr>
          <a:xfrm>
            <a:off x="5902151" y="2231558"/>
            <a:ext cx="2571964" cy="35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2C743B-64C3-4307-A82D-8CF6338213CF}"/>
              </a:ext>
            </a:extLst>
          </p:cNvPr>
          <p:cNvCxnSpPr/>
          <p:nvPr/>
        </p:nvCxnSpPr>
        <p:spPr>
          <a:xfrm>
            <a:off x="5877140" y="2564096"/>
            <a:ext cx="2736132" cy="4259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0EEBC0E1-53D5-43F0-A9E5-91653A22F287}"/>
              </a:ext>
            </a:extLst>
          </p:cNvPr>
          <p:cNvSpPr/>
          <p:nvPr/>
        </p:nvSpPr>
        <p:spPr>
          <a:xfrm>
            <a:off x="3754037" y="3079889"/>
            <a:ext cx="328372" cy="39108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1397BD-5E54-4B20-AFFA-4323166BE2CF}"/>
              </a:ext>
            </a:extLst>
          </p:cNvPr>
          <p:cNvSpPr txBox="1"/>
          <p:nvPr/>
        </p:nvSpPr>
        <p:spPr>
          <a:xfrm>
            <a:off x="1137966" y="2950389"/>
            <a:ext cx="2571964" cy="35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CD18C1B-0E93-42F5-83F0-31D920639E39}"/>
              </a:ext>
            </a:extLst>
          </p:cNvPr>
          <p:cNvCxnSpPr>
            <a:cxnSpLocks/>
          </p:cNvCxnSpPr>
          <p:nvPr/>
        </p:nvCxnSpPr>
        <p:spPr>
          <a:xfrm>
            <a:off x="1029177" y="3277351"/>
            <a:ext cx="2736132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97121D1-D62E-4760-905B-A2D483E89C44}"/>
              </a:ext>
            </a:extLst>
          </p:cNvPr>
          <p:cNvSpPr/>
          <p:nvPr/>
        </p:nvSpPr>
        <p:spPr>
          <a:xfrm>
            <a:off x="5576883" y="3786095"/>
            <a:ext cx="328372" cy="3910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FCB3513-79A2-4263-8DC2-2704E57B632E}"/>
              </a:ext>
            </a:extLst>
          </p:cNvPr>
          <p:cNvCxnSpPr>
            <a:stCxn id="78" idx="6"/>
          </p:cNvCxnSpPr>
          <p:nvPr/>
        </p:nvCxnSpPr>
        <p:spPr>
          <a:xfrm>
            <a:off x="5905255" y="3981638"/>
            <a:ext cx="2736132" cy="4259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8B04BC26-C5E4-4FE9-B082-854809CF3045}"/>
              </a:ext>
            </a:extLst>
          </p:cNvPr>
          <p:cNvSpPr/>
          <p:nvPr/>
        </p:nvSpPr>
        <p:spPr>
          <a:xfrm>
            <a:off x="3754037" y="4400123"/>
            <a:ext cx="328372" cy="391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3120022-CFCE-4F4F-953A-00E8DF7355E3}"/>
              </a:ext>
            </a:extLst>
          </p:cNvPr>
          <p:cNvCxnSpPr>
            <a:cxnSpLocks/>
          </p:cNvCxnSpPr>
          <p:nvPr/>
        </p:nvCxnSpPr>
        <p:spPr>
          <a:xfrm>
            <a:off x="1029177" y="4597584"/>
            <a:ext cx="2736132" cy="0"/>
          </a:xfrm>
          <a:prstGeom prst="line">
            <a:avLst/>
          </a:prstGeom>
          <a:ln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367A53C-4EB3-421D-A516-555B9B527322}"/>
              </a:ext>
            </a:extLst>
          </p:cNvPr>
          <p:cNvGrpSpPr/>
          <p:nvPr/>
        </p:nvGrpSpPr>
        <p:grpSpPr>
          <a:xfrm>
            <a:off x="4257023" y="2196862"/>
            <a:ext cx="1066136" cy="3401830"/>
            <a:chOff x="2411760" y="1109886"/>
            <a:chExt cx="1752575" cy="469537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8CCE011-731C-4503-933C-80BF63669E85}"/>
                </a:ext>
              </a:extLst>
            </p:cNvPr>
            <p:cNvSpPr/>
            <p:nvPr/>
          </p:nvSpPr>
          <p:spPr>
            <a:xfrm>
              <a:off x="2411760" y="1109886"/>
              <a:ext cx="936104" cy="9361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527050" prstMaterial="matte">
              <a:extrusionClr>
                <a:schemeClr val="accent5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1</a:t>
              </a:r>
              <a:endParaRPr lang="ko-KR" altLang="en-US" sz="27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8CC91C6-39DE-4E7D-9C13-0CCE01AF1508}"/>
                </a:ext>
              </a:extLst>
            </p:cNvPr>
            <p:cNvSpPr/>
            <p:nvPr/>
          </p:nvSpPr>
          <p:spPr>
            <a:xfrm>
              <a:off x="3228231" y="2036465"/>
              <a:ext cx="936104" cy="9361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457200" prstMaterial="matte">
              <a:extrusionClr>
                <a:schemeClr val="accent4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2</a:t>
              </a:r>
              <a:endParaRPr lang="ko-KR" altLang="en-US" sz="27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724D92-1DCB-44AC-A372-1A7087DA6198}"/>
                </a:ext>
              </a:extLst>
            </p:cNvPr>
            <p:cNvSpPr/>
            <p:nvPr/>
          </p:nvSpPr>
          <p:spPr>
            <a:xfrm>
              <a:off x="2411760" y="2977902"/>
              <a:ext cx="936104" cy="9361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scene3d>
              <a:camera prst="obliqueBottomRight"/>
              <a:lightRig rig="balanced" dir="t"/>
            </a:scene3d>
            <a:sp3d extrusionH="508000" prstMaterial="matte">
              <a:extrusionClr>
                <a:schemeClr val="accent3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altLang="ko-KR" sz="2700" dirty="0"/>
                <a:t>3</a:t>
              </a:r>
              <a:endParaRPr lang="ko-KR" altLang="en-US" sz="27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F338425-1F4A-4149-964B-5A3D503317E9}"/>
                </a:ext>
              </a:extLst>
            </p:cNvPr>
            <p:cNvSpPr/>
            <p:nvPr/>
          </p:nvSpPr>
          <p:spPr>
            <a:xfrm>
              <a:off x="2411760" y="4869160"/>
              <a:ext cx="936104" cy="936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E1C5FD7-C7FB-4EDD-A540-FA133BC36DDA}"/>
                </a:ext>
              </a:extLst>
            </p:cNvPr>
            <p:cNvSpPr/>
            <p:nvPr/>
          </p:nvSpPr>
          <p:spPr>
            <a:xfrm>
              <a:off x="3228231" y="3933056"/>
              <a:ext cx="936104" cy="9361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Left"/>
              <a:lightRig rig="balanced" dir="t"/>
            </a:scene3d>
            <a:sp3d extrusionH="508000" prstMaterial="matte">
              <a:extrusionClr>
                <a:schemeClr val="accent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4</a:t>
              </a:r>
              <a:endParaRPr lang="ko-KR" altLang="en-US" sz="2700" dirty="0"/>
            </a:p>
          </p:txBody>
        </p:sp>
      </p:grpSp>
      <p:sp>
        <p:nvSpPr>
          <p:cNvPr id="86" name="Round Same Side Corner Rectangle 36">
            <a:extLst>
              <a:ext uri="{FF2B5EF4-FFF2-40B4-BE49-F238E27FC236}">
                <a16:creationId xmlns:a16="http://schemas.microsoft.com/office/drawing/2014/main" id="{A4C253AB-738A-4EA6-89A0-705E369667B5}"/>
              </a:ext>
            </a:extLst>
          </p:cNvPr>
          <p:cNvSpPr>
            <a:spLocks noChangeAspect="1"/>
          </p:cNvSpPr>
          <p:nvPr/>
        </p:nvSpPr>
        <p:spPr>
          <a:xfrm>
            <a:off x="4405265" y="5112621"/>
            <a:ext cx="300974" cy="283401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7" name="Rectangle 16">
            <a:extLst>
              <a:ext uri="{FF2B5EF4-FFF2-40B4-BE49-F238E27FC236}">
                <a16:creationId xmlns:a16="http://schemas.microsoft.com/office/drawing/2014/main" id="{33E4BB26-8865-4A4E-857F-CD62D223B26C}"/>
              </a:ext>
            </a:extLst>
          </p:cNvPr>
          <p:cNvSpPr/>
          <p:nvPr/>
        </p:nvSpPr>
        <p:spPr>
          <a:xfrm rot="2700000">
            <a:off x="3845547" y="3162989"/>
            <a:ext cx="151246" cy="22767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7C7E4364-9EF1-47A4-B8B8-38D72002D13E}"/>
              </a:ext>
            </a:extLst>
          </p:cNvPr>
          <p:cNvSpPr/>
          <p:nvPr/>
        </p:nvSpPr>
        <p:spPr>
          <a:xfrm>
            <a:off x="5666082" y="2464116"/>
            <a:ext cx="157338" cy="17541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9" name="Rectangle 36">
            <a:extLst>
              <a:ext uri="{FF2B5EF4-FFF2-40B4-BE49-F238E27FC236}">
                <a16:creationId xmlns:a16="http://schemas.microsoft.com/office/drawing/2014/main" id="{2A6E0E88-FE1B-4C14-8300-2467F34DF79B}"/>
              </a:ext>
            </a:extLst>
          </p:cNvPr>
          <p:cNvSpPr/>
          <p:nvPr/>
        </p:nvSpPr>
        <p:spPr>
          <a:xfrm>
            <a:off x="5642850" y="3886649"/>
            <a:ext cx="185948" cy="18512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0" name="Round Same Side Corner Rectangle 36">
            <a:extLst>
              <a:ext uri="{FF2B5EF4-FFF2-40B4-BE49-F238E27FC236}">
                <a16:creationId xmlns:a16="http://schemas.microsoft.com/office/drawing/2014/main" id="{56179B03-730D-44E7-8D38-1BDB17A6241F}"/>
              </a:ext>
            </a:extLst>
          </p:cNvPr>
          <p:cNvSpPr>
            <a:spLocks noChangeAspect="1"/>
          </p:cNvSpPr>
          <p:nvPr/>
        </p:nvSpPr>
        <p:spPr>
          <a:xfrm>
            <a:off x="5648080" y="5153390"/>
            <a:ext cx="189114" cy="178072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1" name="Oval 21">
            <a:extLst>
              <a:ext uri="{FF2B5EF4-FFF2-40B4-BE49-F238E27FC236}">
                <a16:creationId xmlns:a16="http://schemas.microsoft.com/office/drawing/2014/main" id="{C7CC1680-52FE-4162-A842-989A29468654}"/>
              </a:ext>
            </a:extLst>
          </p:cNvPr>
          <p:cNvSpPr>
            <a:spLocks noChangeAspect="1"/>
          </p:cNvSpPr>
          <p:nvPr/>
        </p:nvSpPr>
        <p:spPr>
          <a:xfrm>
            <a:off x="3835001" y="4501595"/>
            <a:ext cx="169379" cy="20341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-215752" y="1523777"/>
            <a:ext cx="140353" cy="331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307771-AEF2-482D-B9EB-95867EB1A3ED}"/>
              </a:ext>
            </a:extLst>
          </p:cNvPr>
          <p:cNvSpPr txBox="1"/>
          <p:nvPr/>
        </p:nvSpPr>
        <p:spPr>
          <a:xfrm>
            <a:off x="5907255" y="4092352"/>
            <a:ext cx="3129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err="1"/>
              <a:t>Gaussian</a:t>
            </a:r>
            <a:r>
              <a:rPr lang="id-ID" dirty="0"/>
              <a:t> </a:t>
            </a:r>
            <a:r>
              <a:rPr lang="id-ID" dirty="0" err="1"/>
              <a:t>and</a:t>
            </a:r>
            <a:r>
              <a:rPr lang="id-ID" dirty="0"/>
              <a:t> </a:t>
            </a:r>
            <a:r>
              <a:rPr lang="id-ID" dirty="0" err="1"/>
              <a:t>Gauss</a:t>
            </a:r>
            <a:r>
              <a:rPr lang="id-ID" dirty="0"/>
              <a:t>-Jordan </a:t>
            </a:r>
            <a:r>
              <a:rPr lang="id-ID" dirty="0" err="1"/>
              <a:t>Elimination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11696" y="3254152"/>
            <a:ext cx="259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91409A-5BCB-B94F-A2B4-6D2FE3EF4381}"/>
              </a:ext>
            </a:extLst>
          </p:cNvPr>
          <p:cNvSpPr txBox="1"/>
          <p:nvPr/>
        </p:nvSpPr>
        <p:spPr>
          <a:xfrm>
            <a:off x="1057500" y="4646387"/>
            <a:ext cx="4678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 err="1"/>
              <a:t>Homogeneous</a:t>
            </a:r>
            <a:r>
              <a:rPr lang="id-ID" dirty="0"/>
              <a:t> System</a:t>
            </a:r>
            <a:br>
              <a:rPr lang="id-ID" dirty="0"/>
            </a:br>
            <a:r>
              <a:rPr lang="id-ID" dirty="0" err="1"/>
              <a:t>of</a:t>
            </a:r>
            <a:r>
              <a:rPr lang="id-ID" dirty="0"/>
              <a:t> Linear </a:t>
            </a:r>
            <a:r>
              <a:rPr lang="id-ID" dirty="0" err="1"/>
              <a:t>Equations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068612-7CF8-A74D-9C90-989212EDFFF1}"/>
              </a:ext>
            </a:extLst>
          </p:cNvPr>
          <p:cNvSpPr txBox="1"/>
          <p:nvPr/>
        </p:nvSpPr>
        <p:spPr>
          <a:xfrm>
            <a:off x="4004380" y="3681791"/>
            <a:ext cx="46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1C13D8-AB39-5049-B771-425E47D44AFA}"/>
              </a:ext>
            </a:extLst>
          </p:cNvPr>
          <p:cNvSpPr txBox="1"/>
          <p:nvPr/>
        </p:nvSpPr>
        <p:spPr>
          <a:xfrm>
            <a:off x="-843323" y="4221594"/>
            <a:ext cx="46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2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897752" y="1676400"/>
            <a:ext cx="8263564" cy="4582148"/>
            <a:chOff x="2761" y="399"/>
            <a:chExt cx="6667" cy="5629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61" y="399"/>
              <a:ext cx="6667" cy="5369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</a:rPr>
                <a:t>Definition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28486" y="2305417"/>
                <a:ext cx="8280880" cy="3942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`^ﬂ'E7˛" charset="0"/>
                  </a:rPr>
                  <a:t>Linear Equations in several variables are equations in the form of polynomials which have degrees one or zero and there is no multiplication between variables. </a:t>
                </a:r>
              </a:p>
              <a:p>
                <a:endParaRPr lang="en-US" sz="2000" dirty="0">
                  <a:latin typeface="`^ﬂ'E7˛" charset="0"/>
                </a:endParaRPr>
              </a:p>
              <a:p>
                <a:r>
                  <a:rPr lang="en-US" sz="2000" dirty="0">
                    <a:latin typeface="`^ﬂ'E7˛" charset="0"/>
                  </a:rPr>
                  <a:t>A </a:t>
                </a:r>
                <a:r>
                  <a:rPr lang="en-US" sz="2000" b="1" dirty="0">
                    <a:latin typeface="`^ﬂ'E7˛" charset="0"/>
                  </a:rPr>
                  <a:t>linear equation </a:t>
                </a:r>
                <a:r>
                  <a:rPr lang="en-US" sz="2000" dirty="0">
                    <a:latin typeface="`^ﬂ'E7˛" charset="0"/>
                  </a:rPr>
                  <a:t>in the variables </a:t>
                </a:r>
                <a14:m>
                  <m:oMath xmlns:m="http://schemas.openxmlformats.org/officeDocument/2006/math">
                    <m:r>
                      <a:rPr lang="mr-IN" sz="2000" i="1" dirty="0">
                        <a:latin typeface="Cambria Math" charset="0"/>
                      </a:rPr>
                      <m:t>𝑥</m:t>
                    </m:r>
                    <m:r>
                      <a:rPr lang="mr-IN" sz="2000" i="1" baseline="-25000" dirty="0">
                        <a:latin typeface="Cambria Math" charset="0"/>
                      </a:rPr>
                      <m:t>1</m:t>
                    </m:r>
                    <m:r>
                      <a:rPr lang="mr-IN" sz="2000" i="1" dirty="0" smtClean="0">
                        <a:latin typeface="Cambria Math" charset="0"/>
                      </a:rPr>
                      <m:t>…</m:t>
                    </m:r>
                    <m:r>
                      <a:rPr lang="mr-IN" sz="2000" i="1" dirty="0">
                        <a:latin typeface="Cambria Math" charset="0"/>
                      </a:rPr>
                      <m:t>𝑥</m:t>
                    </m:r>
                    <m:r>
                      <a:rPr lang="mr-IN" sz="2000" i="1" baseline="-25000" dirty="0" err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sz="2000" dirty="0">
                    <a:latin typeface="`^ﬂ'E7˛" charset="0"/>
                  </a:rPr>
                  <a:t> is an equation that can be written in the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r-IN" sz="2000" i="1" dirty="0" smtClean="0">
                          <a:latin typeface="Cambria Math" charset="0"/>
                        </a:rPr>
                        <m:t>𝑎</m:t>
                      </m:r>
                      <m:r>
                        <a:rPr lang="mr-IN" sz="2000" i="1" baseline="-25000" dirty="0">
                          <a:latin typeface="Cambria Math" charset="0"/>
                        </a:rPr>
                        <m:t>1</m:t>
                      </m:r>
                      <m:r>
                        <a:rPr lang="mr-IN" sz="2000" i="1" dirty="0">
                          <a:latin typeface="Cambria Math" charset="0"/>
                        </a:rPr>
                        <m:t>𝑥</m:t>
                      </m:r>
                      <m:r>
                        <a:rPr lang="mr-IN" sz="2000" i="1" baseline="-25000" dirty="0">
                          <a:latin typeface="Cambria Math" charset="0"/>
                        </a:rPr>
                        <m:t>1</m:t>
                      </m:r>
                      <m:r>
                        <a:rPr lang="mr-IN" sz="2000" i="1" dirty="0">
                          <a:latin typeface="Cambria Math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charset="0"/>
                        </a:rPr>
                        <m:t>+</m:t>
                      </m:r>
                      <m:r>
                        <a:rPr lang="mr-IN" sz="2000" i="1" dirty="0" smtClean="0">
                          <a:latin typeface="Cambria Math" charset="0"/>
                        </a:rPr>
                        <m:t> </m:t>
                      </m:r>
                      <m:r>
                        <a:rPr lang="mr-IN" sz="2000" i="1" dirty="0" smtClean="0">
                          <a:latin typeface="Cambria Math" charset="0"/>
                        </a:rPr>
                        <m:t>𝑎</m:t>
                      </m:r>
                      <m:r>
                        <a:rPr lang="mr-IN" sz="2000" i="1" baseline="-25000" dirty="0" smtClean="0">
                          <a:latin typeface="Cambria Math" charset="0"/>
                        </a:rPr>
                        <m:t>2</m:t>
                      </m:r>
                      <m:r>
                        <a:rPr lang="mr-IN" sz="2000" i="1" dirty="0" smtClean="0">
                          <a:latin typeface="Cambria Math" charset="0"/>
                        </a:rPr>
                        <m:t>𝑥</m:t>
                      </m:r>
                      <m:r>
                        <a:rPr lang="mr-IN" sz="2000" i="1" baseline="-25000" dirty="0" smtClean="0">
                          <a:latin typeface="Cambria Math" charset="0"/>
                        </a:rPr>
                        <m:t>2</m:t>
                      </m:r>
                      <m:r>
                        <a:rPr lang="en-US" sz="2000" i="1" dirty="0" smtClean="0">
                          <a:latin typeface="Cambria Math" charset="0"/>
                        </a:rPr>
                        <m:t>+</m:t>
                      </m:r>
                      <m:r>
                        <a:rPr lang="mr-IN" sz="2000" i="1" dirty="0" smtClean="0">
                          <a:latin typeface="Cambria Math" charset="0"/>
                        </a:rPr>
                        <m:t>… </m:t>
                      </m:r>
                      <m:r>
                        <a:rPr lang="en-US" sz="2000" i="1" dirty="0" smtClean="0">
                          <a:latin typeface="Cambria Math" charset="0"/>
                        </a:rPr>
                        <m:t>+</m:t>
                      </m:r>
                      <m:r>
                        <a:rPr lang="mr-IN" sz="2000" i="1" dirty="0" err="1" smtClean="0">
                          <a:latin typeface="Cambria Math" charset="0"/>
                        </a:rPr>
                        <m:t>𝑎</m:t>
                      </m:r>
                      <m:r>
                        <a:rPr lang="mr-IN" sz="2000" i="1" baseline="-25000" dirty="0" err="1" smtClean="0">
                          <a:latin typeface="Cambria Math" charset="0"/>
                        </a:rPr>
                        <m:t>𝑛</m:t>
                      </m:r>
                      <m:r>
                        <a:rPr lang="mr-IN" sz="2000" i="1" dirty="0" err="1" smtClean="0">
                          <a:latin typeface="Cambria Math" charset="0"/>
                        </a:rPr>
                        <m:t>𝑥</m:t>
                      </m:r>
                      <m:r>
                        <a:rPr lang="mr-IN" sz="2000" i="1" baseline="-25000" dirty="0" err="1" smtClean="0">
                          <a:latin typeface="Cambria Math" charset="0"/>
                        </a:rPr>
                        <m:t>𝑛</m:t>
                      </m:r>
                      <m:r>
                        <a:rPr lang="en-US" sz="2000" i="1" baseline="-25000" dirty="0" smtClean="0">
                          <a:latin typeface="Cambria Math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charset="0"/>
                        </a:rPr>
                        <m:t> </m:t>
                      </m:r>
                      <m:r>
                        <a:rPr lang="en-US" sz="2000" i="1" dirty="0">
                          <a:latin typeface="Cambria Math" charset="0"/>
                        </a:rPr>
                        <m:t>=</m:t>
                      </m:r>
                      <m:r>
                        <a:rPr lang="mr-IN" sz="2000" i="1" dirty="0" err="1" smtClean="0">
                          <a:latin typeface="Cambria Math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Where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charset="0"/>
                      </a:rPr>
                      <m:t> </m:t>
                    </m:r>
                    <m:r>
                      <a:rPr lang="mr-IN" sz="2000" i="1" dirty="0">
                        <a:latin typeface="Cambria Math" charset="0"/>
                      </a:rPr>
                      <m:t>𝑎</m:t>
                    </m:r>
                    <m:r>
                      <a:rPr lang="mr-IN" sz="2000" i="1" baseline="-25000" dirty="0">
                        <a:latin typeface="Cambria Math" charset="0"/>
                      </a:rPr>
                      <m:t>1</m:t>
                    </m:r>
                    <m:r>
                      <a:rPr lang="en-US" sz="2000" b="0" i="0" dirty="0" smtClean="0">
                        <a:latin typeface="Cambria Math" charset="0"/>
                      </a:rPr>
                      <m:t>,</m:t>
                    </m:r>
                    <m:r>
                      <a:rPr lang="mr-IN" sz="2000" i="1" dirty="0" smtClean="0">
                        <a:latin typeface="Cambria Math" charset="0"/>
                      </a:rPr>
                      <m:t> </m:t>
                    </m:r>
                    <m:r>
                      <a:rPr lang="mr-IN" sz="2000" i="1" dirty="0">
                        <a:latin typeface="Cambria Math" charset="0"/>
                      </a:rPr>
                      <m:t>…</m:t>
                    </m:r>
                    <m:r>
                      <a:rPr lang="en-US" sz="2000" b="0" i="1" dirty="0" smtClean="0">
                        <a:latin typeface="Cambria Math" charset="0"/>
                      </a:rPr>
                      <m:t>,</m:t>
                    </m:r>
                    <m:r>
                      <a:rPr lang="mr-IN" sz="2000" i="1" dirty="0">
                        <a:latin typeface="Cambria Math" charset="0"/>
                      </a:rPr>
                      <m:t>𝑎</m:t>
                    </m:r>
                    <m:r>
                      <a:rPr lang="mr-IN" sz="2000" i="1" baseline="-25000" dirty="0" err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sz="2000" dirty="0"/>
                  <a:t>, and b are constant. </a:t>
                </a:r>
              </a:p>
              <a:p>
                <a:endParaRPr lang="en-US" dirty="0"/>
              </a:p>
              <a:p>
                <a:r>
                  <a:rPr lang="en-US" dirty="0"/>
                  <a:t>Example :</a:t>
                </a:r>
              </a:p>
              <a:p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mr-IN" i="1" dirty="0">
                        <a:latin typeface="Cambria Math" charset="0"/>
                      </a:rPr>
                      <m:t> </m:t>
                    </m:r>
                    <m:r>
                      <a:rPr lang="en-US" i="1" dirty="0">
                        <a:latin typeface="Cambria Math" charset="0"/>
                      </a:rPr>
                      <m:t>−</m:t>
                    </m:r>
                    <m:r>
                      <a:rPr lang="mr-IN" i="1" dirty="0">
                        <a:latin typeface="Cambria Math" charset="0"/>
                      </a:rPr>
                      <m:t> 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+1.5</m:t>
                    </m:r>
                    <m:r>
                      <a:rPr lang="mr-IN" i="1" dirty="0" err="1">
                        <a:latin typeface="Cambria Math" charset="0"/>
                      </a:rPr>
                      <m:t>𝑥</m:t>
                    </m:r>
                    <m:r>
                      <a:rPr lang="en-US" i="1" baseline="-25000" dirty="0">
                        <a:latin typeface="Cambria Math" charset="0"/>
                      </a:rPr>
                      <m:t>3 </m:t>
                    </m:r>
                    <m:r>
                      <a:rPr lang="en-US" i="1" dirty="0">
                        <a:latin typeface="Cambria Math" charset="0"/>
                      </a:rPr>
                      <m:t> =8</m:t>
                    </m:r>
                  </m:oMath>
                </a14:m>
                <a:r>
                  <a:rPr lang="en-US" i="1" dirty="0">
                    <a:latin typeface="Cambria Math" charset="0"/>
                  </a:rPr>
                  <a:t> … </a:t>
                </a:r>
                <a:r>
                  <a:rPr lang="en-US" dirty="0">
                    <a:latin typeface="Cambria Math" charset="0"/>
                  </a:rPr>
                  <a:t>(1)</a:t>
                </a:r>
                <a:endParaRPr lang="en-US" dirty="0"/>
              </a:p>
              <a:p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mr-IN" i="1" dirty="0">
                        <a:latin typeface="Cambria Math" charset="0"/>
                      </a:rPr>
                      <m:t> 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+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=2</m:t>
                    </m:r>
                  </m:oMath>
                </a14:m>
                <a:r>
                  <a:rPr lang="en-US" i="1" dirty="0">
                    <a:latin typeface="Cambria Math" charset="0"/>
                  </a:rPr>
                  <a:t>   …             </a:t>
                </a:r>
                <a:r>
                  <a:rPr lang="en-US" dirty="0">
                    <a:latin typeface="Cambria Math" charset="0"/>
                  </a:rPr>
                  <a:t>(2)</a:t>
                </a:r>
                <a:endParaRPr lang="en-US" i="1" dirty="0">
                  <a:latin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2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en-US" i="1" dirty="0">
                        <a:latin typeface="Cambria Math" charset="0"/>
                      </a:rPr>
                      <m:t>−</m:t>
                    </m:r>
                    <m:r>
                      <a:rPr lang="mr-IN" i="1" dirty="0">
                        <a:latin typeface="Cambria Math" charset="0"/>
                      </a:rPr>
                      <m:t> 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mr-IN" i="1" dirty="0">
                            <a:latin typeface="Cambria Math" charset="0"/>
                          </a:rPr>
                          <m:t>𝑥</m:t>
                        </m:r>
                        <m:r>
                          <a:rPr lang="en-US" i="1" baseline="-25000" dirty="0">
                            <a:latin typeface="Cambria Math" charset="0"/>
                          </a:rPr>
                          <m:t>3</m:t>
                        </m:r>
                      </m:e>
                    </m:rad>
                    <m:r>
                      <a:rPr lang="en-US" i="1" dirty="0">
                        <a:latin typeface="Cambria Math" charset="0"/>
                      </a:rPr>
                      <m:t>=8</m:t>
                    </m:r>
                  </m:oMath>
                </a14:m>
                <a:r>
                  <a:rPr lang="en-US" i="1" dirty="0">
                    <a:latin typeface="Cambria Math" charset="0"/>
                  </a:rPr>
                  <a:t>  </a:t>
                </a:r>
                <a:r>
                  <a:rPr lang="mr-IN" i="1" dirty="0">
                    <a:latin typeface="Cambria Math" charset="0"/>
                  </a:rPr>
                  <a:t>…</a:t>
                </a:r>
                <a:r>
                  <a:rPr lang="en-US" i="1" dirty="0">
                    <a:latin typeface="Cambria Math" charset="0"/>
                  </a:rPr>
                  <a:t>     </a:t>
                </a:r>
                <a:r>
                  <a:rPr lang="en-US" dirty="0">
                    <a:latin typeface="Cambria Math" charset="0"/>
                  </a:rPr>
                  <a:t>(3)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86" y="2305417"/>
                <a:ext cx="8280880" cy="3942618"/>
              </a:xfrm>
              <a:prstGeom prst="rect">
                <a:avLst/>
              </a:prstGeom>
              <a:blipFill>
                <a:blip r:embed="rId3"/>
                <a:stretch>
                  <a:fillRect l="-766" t="-641" r="-613" b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91BD97-7E0D-F448-89B3-C59549B75EAE}"/>
                  </a:ext>
                </a:extLst>
              </p:cNvPr>
              <p:cNvSpPr txBox="1"/>
              <p:nvPr/>
            </p:nvSpPr>
            <p:spPr>
              <a:xfrm>
                <a:off x="4038600" y="5181600"/>
                <a:ext cx="4582632" cy="1203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  <a:p>
                <a:r>
                  <a:rPr lang="en-US" dirty="0"/>
                  <a:t>The equation (2) and (3) are not linear because of the presence of </a:t>
                </a:r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mr-IN" i="1" dirty="0">
                        <a:latin typeface="Cambria Math" charset="0"/>
                      </a:rPr>
                      <m:t> 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2 </m:t>
                    </m:r>
                  </m:oMath>
                </a14:m>
                <a:r>
                  <a:rPr lang="en-US" dirty="0"/>
                  <a:t> in the first equation and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mr-IN" i="1" dirty="0">
                            <a:latin typeface="Cambria Math" charset="0"/>
                          </a:rPr>
                          <m:t>𝑥</m:t>
                        </m:r>
                        <m:r>
                          <a:rPr lang="en-US" i="1" baseline="-25000" dirty="0">
                            <a:latin typeface="Cambria Math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/>
                  <a:t> in the second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91BD97-7E0D-F448-89B3-C59549B75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181600"/>
                <a:ext cx="4582632" cy="1203406"/>
              </a:xfrm>
              <a:prstGeom prst="rect">
                <a:avLst/>
              </a:prstGeom>
              <a:blipFill>
                <a:blip r:embed="rId4"/>
                <a:stretch>
                  <a:fillRect l="-1385" r="-1662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21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863120" y="1676824"/>
            <a:ext cx="8246247" cy="5064544"/>
            <a:chOff x="2747" y="521"/>
            <a:chExt cx="6667" cy="5535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7" y="521"/>
              <a:ext cx="6667" cy="5535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</a:rPr>
                <a:t>Definition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63120" y="2188862"/>
                <a:ext cx="828088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  <a:p>
                <a:r>
                  <a:rPr lang="en-US" sz="2400" dirty="0"/>
                  <a:t>A </a:t>
                </a:r>
                <a:r>
                  <a:rPr lang="en-US" sz="2400" b="1" dirty="0"/>
                  <a:t>system of linear equations </a:t>
                </a:r>
                <a:r>
                  <a:rPr lang="en-US" sz="2400" dirty="0"/>
                  <a:t>(or a linear system) is a collection of one or more linear equations involving the same variables</a:t>
                </a:r>
              </a:p>
              <a:p>
                <a:r>
                  <a:rPr lang="en-US" sz="2400" dirty="0"/>
                  <a:t>—say, </a:t>
                </a:r>
                <a14:m>
                  <m:oMath xmlns:m="http://schemas.openxmlformats.org/officeDocument/2006/math">
                    <m:r>
                      <a:rPr lang="mr-IN" sz="2400" i="1" dirty="0">
                        <a:latin typeface="Cambria Math" charset="0"/>
                      </a:rPr>
                      <m:t>𝑥</m:t>
                    </m:r>
                    <m:r>
                      <a:rPr lang="mr-IN" sz="2400" i="1" baseline="-25000" dirty="0">
                        <a:latin typeface="Cambria Math" charset="0"/>
                      </a:rPr>
                      <m:t>1</m:t>
                    </m:r>
                    <m:r>
                      <a:rPr lang="mr-IN" sz="2400" i="1" dirty="0">
                        <a:latin typeface="Cambria Math" charset="0"/>
                      </a:rPr>
                      <m:t>…</m:t>
                    </m:r>
                    <m:r>
                      <a:rPr lang="mr-IN" sz="2400" i="1" dirty="0">
                        <a:latin typeface="Cambria Math" charset="0"/>
                      </a:rPr>
                      <m:t>𝑥𝑛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u="sng" dirty="0"/>
                  <a:t>Example:</a:t>
                </a:r>
              </a:p>
              <a:p>
                <a:r>
                  <a:rPr lang="en-US" sz="2400" dirty="0"/>
                  <a:t>2</a:t>
                </a:r>
                <a14:m>
                  <m:oMath xmlns:m="http://schemas.openxmlformats.org/officeDocument/2006/math">
                    <m:r>
                      <a:rPr lang="mr-IN" sz="2400" i="1" dirty="0">
                        <a:latin typeface="Cambria Math" charset="0"/>
                      </a:rPr>
                      <m:t>𝑥</m:t>
                    </m:r>
                    <m:r>
                      <a:rPr lang="mr-IN" sz="2400" i="1" baseline="-25000" dirty="0">
                        <a:latin typeface="Cambria Math" charset="0"/>
                      </a:rPr>
                      <m:t>1</m:t>
                    </m:r>
                    <m:r>
                      <a:rPr lang="mr-IN" sz="2400" i="1" dirty="0" smtClean="0">
                        <a:latin typeface="Cambria Math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charset="0"/>
                      </a:rPr>
                      <m:t>−</m:t>
                    </m:r>
                    <m:r>
                      <a:rPr lang="mr-IN" sz="2400" i="1" dirty="0" smtClean="0">
                        <a:latin typeface="Cambria Math" charset="0"/>
                      </a:rPr>
                      <m:t> </m:t>
                    </m:r>
                    <m:r>
                      <a:rPr lang="mr-IN" sz="2400" i="1" dirty="0">
                        <a:latin typeface="Cambria Math" charset="0"/>
                      </a:rPr>
                      <m:t>𝑥</m:t>
                    </m:r>
                    <m:r>
                      <a:rPr lang="mr-IN" sz="2400" i="1" baseline="-25000" dirty="0">
                        <a:latin typeface="Cambria Math" charset="0"/>
                      </a:rPr>
                      <m:t>2</m:t>
                    </m:r>
                    <m:r>
                      <a:rPr lang="en-US" sz="2400" i="1" dirty="0">
                        <a:latin typeface="Cambria Math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charset="0"/>
                      </a:rPr>
                      <m:t>1.5</m:t>
                    </m:r>
                    <m:r>
                      <a:rPr lang="mr-IN" sz="2400" i="1" dirty="0" err="1">
                        <a:latin typeface="Cambria Math" charset="0"/>
                      </a:rPr>
                      <m:t>𝑥</m:t>
                    </m:r>
                    <m:r>
                      <a:rPr lang="en-US" sz="2400" b="0" i="1" baseline="-25000" dirty="0" smtClean="0">
                        <a:latin typeface="Cambria Math" charset="0"/>
                      </a:rPr>
                      <m:t>3</m:t>
                    </m:r>
                    <m:r>
                      <a:rPr lang="en-US" sz="2400" i="1" baseline="-25000" dirty="0">
                        <a:latin typeface="Cambria Math" charset="0"/>
                      </a:rPr>
                      <m:t> </m:t>
                    </m:r>
                    <m:r>
                      <a:rPr lang="en-US" sz="2400" i="1" dirty="0">
                        <a:latin typeface="Cambria Math" charset="0"/>
                      </a:rPr>
                      <m:t> =</m:t>
                    </m:r>
                    <m:r>
                      <a:rPr lang="en-US" sz="2400" b="0" i="1" dirty="0" smtClean="0">
                        <a:latin typeface="Cambria Math" charset="0"/>
                      </a:rPr>
                      <m:t>8</m:t>
                    </m:r>
                  </m:oMath>
                </a14:m>
                <a:endParaRPr lang="en-US" sz="2400" b="0" i="1" dirty="0"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r-IN" sz="2400" i="1" dirty="0">
                          <a:latin typeface="Cambria Math" charset="0"/>
                        </a:rPr>
                        <m:t>𝑥</m:t>
                      </m:r>
                      <m:r>
                        <a:rPr lang="mr-IN" sz="2400" i="1" baseline="-25000" dirty="0">
                          <a:latin typeface="Cambria Math" charset="0"/>
                        </a:rPr>
                        <m:t>1</m:t>
                      </m:r>
                      <m:r>
                        <a:rPr lang="mr-IN" sz="2400" i="1" dirty="0">
                          <a:latin typeface="Cambria Math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charset="0"/>
                        </a:rPr>
                        <m:t>             </m:t>
                      </m:r>
                      <m:r>
                        <a:rPr lang="en-US" sz="2400" i="1" dirty="0">
                          <a:latin typeface="Cambria Math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charset="0"/>
                        </a:rPr>
                        <m:t>4</m:t>
                      </m:r>
                      <m:r>
                        <a:rPr lang="mr-IN" sz="2400" i="1" dirty="0" err="1">
                          <a:latin typeface="Cambria Math" charset="0"/>
                        </a:rPr>
                        <m:t>𝑥</m:t>
                      </m:r>
                      <m:r>
                        <a:rPr lang="en-US" sz="2400" i="1" baseline="-25000" dirty="0">
                          <a:latin typeface="Cambria Math" charset="0"/>
                        </a:rPr>
                        <m:t>3 </m:t>
                      </m:r>
                      <m:r>
                        <a:rPr lang="en-US" sz="2400" i="1" dirty="0">
                          <a:latin typeface="Cambria Math" charset="0"/>
                        </a:rPr>
                        <m:t> =</m:t>
                      </m:r>
                      <m:r>
                        <a:rPr lang="en-US" sz="2400" b="0" i="1" dirty="0" smtClean="0">
                          <a:latin typeface="Cambria Math" charset="0"/>
                        </a:rPr>
                        <m:t>−7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20" y="2188862"/>
                <a:ext cx="8280880" cy="4154984"/>
              </a:xfrm>
              <a:prstGeom prst="rect">
                <a:avLst/>
              </a:prstGeom>
              <a:blipFill>
                <a:blip r:embed="rId3"/>
                <a:stretch>
                  <a:fillRect l="-1178" r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4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396B-F776-2F4E-B5F7-72A0F178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7962"/>
            <a:ext cx="7772400" cy="1362075"/>
          </a:xfrm>
        </p:spPr>
        <p:txBody>
          <a:bodyPr anchor="t">
            <a:normAutofit/>
          </a:bodyPr>
          <a:lstStyle/>
          <a:p>
            <a:r>
              <a:rPr lang="en-US" dirty="0"/>
              <a:t>Solution of linear system</a:t>
            </a:r>
          </a:p>
        </p:txBody>
      </p:sp>
    </p:spTree>
    <p:extLst>
      <p:ext uri="{BB962C8B-B14F-4D97-AF65-F5344CB8AC3E}">
        <p14:creationId xmlns:p14="http://schemas.microsoft.com/office/powerpoint/2010/main" val="296959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71600" y="1916832"/>
            <a:ext cx="8071941" cy="4869160"/>
            <a:chOff x="2747" y="862"/>
            <a:chExt cx="6695" cy="5194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7" y="862"/>
              <a:ext cx="6695" cy="5194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71600" y="2169574"/>
                <a:ext cx="8038183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A solution </a:t>
                </a:r>
                <a:r>
                  <a:rPr lang="en-US" dirty="0"/>
                  <a:t>of a linear system in n unknowns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charset="0"/>
                      </a:rPr>
                      <m:t> 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mr-IN" i="1" dirty="0">
                        <a:latin typeface="Cambria Math" charset="0"/>
                      </a:rPr>
                      <m:t>…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 err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dirty="0"/>
                  <a:t> is is a sequence of n numbers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𝑠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en-US" i="1" dirty="0">
                        <a:latin typeface="Cambria Math" charset="0"/>
                      </a:rPr>
                      <m:t>𝑠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mr-IN" i="1" dirty="0">
                        <a:latin typeface="Cambria Math" charset="0"/>
                      </a:rPr>
                      <m:t>…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en-US" i="1" dirty="0">
                        <a:latin typeface="Cambria Math" charset="0"/>
                      </a:rPr>
                      <m:t>𝑠𝑛</m:t>
                    </m:r>
                  </m:oMath>
                </a14:m>
                <a:r>
                  <a:rPr lang="en-US" dirty="0"/>
                  <a:t> for which the substitution </a:t>
                </a:r>
              </a:p>
              <a:p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𝑠</m:t>
                    </m:r>
                    <m:r>
                      <a:rPr lang="mr-IN" i="1" baseline="-25000" dirty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𝑠</m:t>
                    </m:r>
                    <m:r>
                      <a:rPr lang="mr-IN" i="1" baseline="-25000" dirty="0">
                        <a:latin typeface="Cambria Math" charset="0"/>
                      </a:rPr>
                      <m:t>2</m:t>
                    </m:r>
                  </m:oMath>
                </a14:m>
                <a:r>
                  <a:rPr lang="en-US" dirty="0"/>
                  <a:t>,</a:t>
                </a:r>
                <a:r>
                  <a:rPr lang="mr-IN" dirty="0"/>
                  <a:t>… </a:t>
                </a:r>
                <a14:m>
                  <m:oMath xmlns:m="http://schemas.openxmlformats.org/officeDocument/2006/math">
                    <m:r>
                      <a:rPr lang="mr-IN" i="1" dirty="0">
                        <a:latin typeface="Cambria Math" charset="0"/>
                      </a:rPr>
                      <m:t>𝑥</m:t>
                    </m:r>
                    <m:r>
                      <a:rPr lang="mr-IN" i="1" baseline="-25000" dirty="0" err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𝑠</m:t>
                    </m:r>
                    <m:r>
                      <a:rPr lang="mr-IN" i="1" baseline="-25000" dirty="0" err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/>
                  <a:t>Example </a:t>
                </a:r>
                <a:r>
                  <a:rPr lang="en-US" dirty="0"/>
                  <a:t>: Determine solution for system of linear equations as follows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charset="0"/>
                        </a:rPr>
                        <m:t>5</m:t>
                      </m:r>
                      <m:r>
                        <a:rPr lang="en-US" i="1" dirty="0" smtClean="0">
                          <a:latin typeface="Cambria Math" charset="0"/>
                        </a:rPr>
                        <m:t>𝑥</m:t>
                      </m:r>
                      <m:r>
                        <a:rPr lang="en-US" i="1" dirty="0" smtClean="0">
                          <a:latin typeface="Cambria Math" charset="0"/>
                        </a:rPr>
                        <m:t>+</m:t>
                      </m:r>
                      <m:r>
                        <a:rPr lang="en-US" i="1" dirty="0" smtClean="0">
                          <a:latin typeface="Cambria Math" charset="0"/>
                        </a:rPr>
                        <m:t>𝑦</m:t>
                      </m:r>
                      <m:r>
                        <a:rPr lang="en-US" i="1" dirty="0" smtClean="0">
                          <a:latin typeface="Cambria Math" charset="0"/>
                        </a:rPr>
                        <m:t> = 3 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charset="0"/>
                        </a:rPr>
                        <m:t>2</m:t>
                      </m:r>
                      <m:r>
                        <a:rPr lang="en-US" i="1" dirty="0" smtClean="0">
                          <a:latin typeface="Cambria Math" charset="0"/>
                        </a:rPr>
                        <m:t>𝑥</m:t>
                      </m:r>
                      <m:r>
                        <a:rPr lang="en-US" i="1" dirty="0" smtClean="0">
                          <a:latin typeface="Cambria Math" charset="0"/>
                        </a:rPr>
                        <m:t>−</m:t>
                      </m:r>
                      <m:r>
                        <a:rPr lang="en-US" i="1" dirty="0" smtClean="0">
                          <a:latin typeface="Cambria Math" charset="0"/>
                        </a:rPr>
                        <m:t>𝑦</m:t>
                      </m:r>
                      <m:r>
                        <a:rPr lang="en-US" i="1" dirty="0" smtClean="0">
                          <a:latin typeface="Cambria Math" charset="0"/>
                        </a:rPr>
                        <m:t> = 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Solution  </a:t>
                </a:r>
                <a:r>
                  <a:rPr lang="en-US" dirty="0"/>
                  <a:t>   : the system has the solution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  <m:r>
                      <a:rPr lang="en-US" i="1" dirty="0" smtClean="0">
                        <a:latin typeface="Cambria Math" charset="0"/>
                      </a:rPr>
                      <m:t> =1 , </m:t>
                    </m:r>
                    <m:r>
                      <a:rPr lang="en-US" i="1" dirty="0" smtClean="0">
                        <a:latin typeface="Cambria Math" charset="0"/>
                      </a:rPr>
                      <m:t>𝑦</m:t>
                    </m:r>
                    <m:r>
                      <a:rPr lang="en-US" i="1" dirty="0" smtClean="0">
                        <a:latin typeface="Cambria Math" charset="0"/>
                      </a:rPr>
                      <m:t> = −2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system of linear equations has</a:t>
                </a:r>
              </a:p>
              <a:p>
                <a:pPr lvl="1"/>
                <a:r>
                  <a:rPr lang="en-US" dirty="0"/>
                  <a:t>1. no solution, or</a:t>
                </a:r>
              </a:p>
              <a:p>
                <a:pPr lvl="1"/>
                <a:r>
                  <a:rPr lang="en-US" dirty="0"/>
                  <a:t>2. exactly one solution, or</a:t>
                </a:r>
              </a:p>
              <a:p>
                <a:pPr lvl="1"/>
                <a:r>
                  <a:rPr lang="en-US" dirty="0"/>
                  <a:t>3. infinitely many solutions.</a:t>
                </a:r>
              </a:p>
              <a:p>
                <a:endParaRPr lang="en-US" dirty="0"/>
              </a:p>
              <a:p>
                <a:r>
                  <a:rPr lang="en-US" dirty="0"/>
                  <a:t>A system of linear equations is said to be </a:t>
                </a:r>
                <a:r>
                  <a:rPr lang="en-US" dirty="0">
                    <a:solidFill>
                      <a:srgbClr val="C00000"/>
                    </a:solidFill>
                  </a:rPr>
                  <a:t>consistent</a:t>
                </a:r>
                <a:r>
                  <a:rPr lang="en-US" dirty="0"/>
                  <a:t> if it has either </a:t>
                </a:r>
                <a:r>
                  <a:rPr lang="en-US" dirty="0">
                    <a:solidFill>
                      <a:srgbClr val="C00000"/>
                    </a:solidFill>
                  </a:rPr>
                  <a:t>one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solution</a:t>
                </a:r>
                <a:r>
                  <a:rPr lang="en-US" dirty="0"/>
                  <a:t> or</a:t>
                </a:r>
              </a:p>
              <a:p>
                <a:r>
                  <a:rPr lang="en-US" dirty="0"/>
                  <a:t>infinitely many solutions; a system is </a:t>
                </a:r>
                <a:r>
                  <a:rPr lang="en-US" dirty="0">
                    <a:solidFill>
                      <a:srgbClr val="7030A0"/>
                    </a:solidFill>
                  </a:rPr>
                  <a:t>inconsistent</a:t>
                </a:r>
                <a:r>
                  <a:rPr lang="en-US" dirty="0"/>
                  <a:t> if it has </a:t>
                </a:r>
                <a:r>
                  <a:rPr lang="en-US" dirty="0">
                    <a:solidFill>
                      <a:srgbClr val="7030A0"/>
                    </a:solidFill>
                  </a:rPr>
                  <a:t>no solution.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169574"/>
                <a:ext cx="8038183" cy="5632311"/>
              </a:xfrm>
              <a:prstGeom prst="rect">
                <a:avLst/>
              </a:prstGeom>
              <a:blipFill>
                <a:blip r:embed="rId3"/>
                <a:stretch>
                  <a:fillRect l="-607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6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031630" y="1752526"/>
            <a:ext cx="7912964" cy="5105474"/>
            <a:chOff x="2747" y="163"/>
            <a:chExt cx="6695" cy="5893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7" y="163"/>
              <a:ext cx="6695" cy="5893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80886" y="1888110"/>
            <a:ext cx="5242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Linear Systems with Two Unknown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191869" y="3177024"/>
                <a:ext cx="156818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r-IN" sz="1600" i="1" dirty="0" smtClean="0">
                          <a:latin typeface="Cambria Math" charset="0"/>
                        </a:rPr>
                        <m:t>𝑎</m:t>
                      </m:r>
                      <m:r>
                        <a:rPr lang="mr-IN" sz="1600" i="1" baseline="-25000" dirty="0">
                          <a:latin typeface="Cambria Math" charset="0"/>
                        </a:rPr>
                        <m:t>1</m:t>
                      </m:r>
                      <m:r>
                        <a:rPr lang="mr-IN" sz="1600" i="1" dirty="0">
                          <a:latin typeface="Cambria Math" charset="0"/>
                        </a:rPr>
                        <m:t>𝑥</m:t>
                      </m:r>
                      <m:r>
                        <a:rPr lang="mr-IN" sz="1600" i="1" dirty="0">
                          <a:latin typeface="Cambria Math" charset="0"/>
                        </a:rPr>
                        <m:t> +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𝑏</m:t>
                      </m:r>
                      <m:r>
                        <a:rPr lang="en-US" sz="1600" b="0" i="1" baseline="-25000" dirty="0" smtClean="0">
                          <a:latin typeface="Cambria Math" charset="0"/>
                        </a:rPr>
                        <m:t>1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=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𝑐</m:t>
                      </m:r>
                      <m:r>
                        <a:rPr lang="mr-IN" sz="1600" i="1" baseline="-25000" dirty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r-IN" sz="1600" i="1" dirty="0">
                          <a:latin typeface="Cambria Math" charset="0"/>
                        </a:rPr>
                        <m:t>𝑎</m:t>
                      </m:r>
                      <m:r>
                        <a:rPr lang="en-US" sz="1600" b="0" i="1" baseline="-25000" dirty="0" smtClean="0">
                          <a:latin typeface="Cambria Math" charset="0"/>
                        </a:rPr>
                        <m:t>2</m:t>
                      </m:r>
                      <m:r>
                        <a:rPr lang="mr-IN" sz="1600" i="1" dirty="0">
                          <a:latin typeface="Cambria Math" charset="0"/>
                        </a:rPr>
                        <m:t>𝑥</m:t>
                      </m:r>
                      <m:r>
                        <a:rPr lang="mr-IN" sz="1600" i="1" dirty="0">
                          <a:latin typeface="Cambria Math" charset="0"/>
                        </a:rPr>
                        <m:t> +</m:t>
                      </m:r>
                      <m:r>
                        <a:rPr lang="en-US" sz="1600" i="1" dirty="0">
                          <a:latin typeface="Cambria Math" charset="0"/>
                        </a:rPr>
                        <m:t>𝑏</m:t>
                      </m:r>
                      <m:r>
                        <a:rPr lang="en-US" sz="1600" b="0" i="1" baseline="-25000" dirty="0" smtClean="0">
                          <a:latin typeface="Cambria Math" charset="0"/>
                        </a:rPr>
                        <m:t>2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=</m:t>
                      </m:r>
                      <m:r>
                        <a:rPr lang="en-US" sz="1600" i="1" dirty="0">
                          <a:latin typeface="Cambria Math" charset="0"/>
                        </a:rPr>
                        <m:t>𝑐</m:t>
                      </m:r>
                      <m:r>
                        <a:rPr lang="en-US" sz="1600" b="0" i="1" baseline="-25000" dirty="0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869" y="3177024"/>
                <a:ext cx="1568185" cy="5847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210215" y="2592249"/>
            <a:ext cx="7912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"/>
              </a:rPr>
              <a:t>Linear systems in two unknowns arise in connection with intersections of lines. For </a:t>
            </a:r>
            <a:r>
              <a:rPr lang="en-US" sz="1600" b="1" dirty="0">
                <a:latin typeface=""/>
              </a:rPr>
              <a:t>example</a:t>
            </a:r>
            <a:r>
              <a:rPr lang="en-US" sz="1600" dirty="0">
                <a:latin typeface=""/>
              </a:rPr>
              <a:t>, consider the linear system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1231036" y="3841862"/>
            <a:ext cx="77211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"/>
              </a:rPr>
              <a:t>Each solution (</a:t>
            </a:r>
            <a:r>
              <a:rPr lang="en-US" i="1" dirty="0" err="1">
                <a:latin typeface=""/>
              </a:rPr>
              <a:t>x</a:t>
            </a:r>
            <a:r>
              <a:rPr lang="en-US" dirty="0" err="1">
                <a:latin typeface=""/>
              </a:rPr>
              <a:t>,</a:t>
            </a:r>
            <a:r>
              <a:rPr lang="en-US" i="1" dirty="0" err="1">
                <a:latin typeface=""/>
              </a:rPr>
              <a:t>y</a:t>
            </a:r>
            <a:r>
              <a:rPr lang="en-US" dirty="0">
                <a:latin typeface=""/>
              </a:rPr>
              <a:t>) of this system corresponds to a point of intersection of the lines, so there are three possibilities :</a:t>
            </a:r>
          </a:p>
          <a:p>
            <a:pPr lvl="1"/>
            <a:r>
              <a:rPr lang="en-US" dirty="0"/>
              <a:t>1. </a:t>
            </a:r>
            <a:r>
              <a:rPr lang="en-US" dirty="0">
                <a:solidFill>
                  <a:srgbClr val="FF0000"/>
                </a:solidFill>
              </a:rPr>
              <a:t>no solution</a:t>
            </a:r>
            <a:r>
              <a:rPr lang="en-US" dirty="0"/>
              <a:t>, if the lines may be parallel and distinct,</a:t>
            </a:r>
          </a:p>
          <a:p>
            <a:pPr lvl="1"/>
            <a:r>
              <a:rPr lang="en-US" dirty="0"/>
              <a:t>2. </a:t>
            </a:r>
            <a:r>
              <a:rPr lang="en-US" dirty="0">
                <a:solidFill>
                  <a:srgbClr val="7030A0"/>
                </a:solidFill>
              </a:rPr>
              <a:t>exactly one solution</a:t>
            </a:r>
            <a:r>
              <a:rPr lang="en-US" dirty="0"/>
              <a:t>, if the lines may intersect at only one point. </a:t>
            </a:r>
          </a:p>
          <a:p>
            <a:pPr lvl="1"/>
            <a:r>
              <a:rPr lang="en-US" dirty="0"/>
              <a:t>3.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infinitely many solutions</a:t>
            </a:r>
            <a:r>
              <a:rPr lang="en-US" dirty="0"/>
              <a:t>, if the lines may coincide, in which case there are infinitely many points of intersection. </a:t>
            </a:r>
          </a:p>
        </p:txBody>
      </p:sp>
    </p:spTree>
    <p:extLst>
      <p:ext uri="{BB962C8B-B14F-4D97-AF65-F5344CB8AC3E}">
        <p14:creationId xmlns:p14="http://schemas.microsoft.com/office/powerpoint/2010/main" val="95933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014" y="2023522"/>
            <a:ext cx="3439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Systems with Two Unknown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0" r="5236"/>
          <a:stretch/>
        </p:blipFill>
        <p:spPr>
          <a:xfrm>
            <a:off x="1331640" y="2348880"/>
            <a:ext cx="6598346" cy="1930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25045" y="4491148"/>
                <a:ext cx="2610851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Examples : </a:t>
                </a:r>
              </a:p>
              <a:p>
                <a:r>
                  <a:rPr lang="en-US" sz="1600" dirty="0"/>
                  <a:t>A linear system with no solution</a:t>
                </a:r>
                <a:endParaRPr lang="en-US" sz="1600" i="1" dirty="0"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charset="0"/>
                        </a:rPr>
                        <m:t>𝑥</m:t>
                      </m:r>
                      <m:r>
                        <a:rPr lang="en-US" sz="1600" i="1" dirty="0">
                          <a:latin typeface="Cambria Math" charset="0"/>
                        </a:rPr>
                        <m:t>+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=4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charset="0"/>
                        </a:rPr>
                        <m:t>3</m:t>
                      </m:r>
                      <m:r>
                        <a:rPr lang="en-US" sz="1600" i="1" dirty="0">
                          <a:latin typeface="Cambria Math" charset="0"/>
                        </a:rPr>
                        <m:t>𝑥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+3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=6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45" y="4491148"/>
                <a:ext cx="2610851" cy="1600438"/>
              </a:xfrm>
              <a:prstGeom prst="rect">
                <a:avLst/>
              </a:prstGeom>
              <a:blipFill>
                <a:blip r:embed="rId4"/>
                <a:stretch>
                  <a:fillRect l="-1168" t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56758" y="4453918"/>
                <a:ext cx="2610851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 </a:t>
                </a:r>
              </a:p>
              <a:p>
                <a:r>
                  <a:rPr lang="en-US" sz="1600" dirty="0"/>
                  <a:t>A linear System with infinitely many solutions</a:t>
                </a:r>
                <a:endParaRPr lang="en-US" sz="1600" i="1" dirty="0"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charset="0"/>
                        </a:rPr>
                        <m:t>4</m:t>
                      </m:r>
                      <m:r>
                        <a:rPr lang="en-US" sz="1600" i="1" dirty="0" smtClean="0">
                          <a:latin typeface="Cambria Math" charset="0"/>
                        </a:rPr>
                        <m:t>𝑥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−2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=1 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charset="0"/>
                        </a:rPr>
                        <m:t>1</m:t>
                      </m:r>
                      <m:r>
                        <a:rPr lang="en-US" sz="1600" b="0" i="1" dirty="0" smtClean="0">
                          <a:latin typeface="Cambria Math" charset="0"/>
                        </a:rPr>
                        <m:t>6</m:t>
                      </m:r>
                      <m:r>
                        <a:rPr lang="en-US" sz="1600" i="1" dirty="0">
                          <a:latin typeface="Cambria Math" charset="0"/>
                        </a:rPr>
                        <m:t>𝑥</m:t>
                      </m:r>
                      <m:r>
                        <a:rPr lang="en-US" sz="1600" i="1" dirty="0">
                          <a:latin typeface="Cambria Math" charset="0"/>
                        </a:rPr>
                        <m:t>−8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 4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758" y="4453918"/>
                <a:ext cx="2610851" cy="1600438"/>
              </a:xfrm>
              <a:prstGeom prst="rect">
                <a:avLst/>
              </a:prstGeom>
              <a:blipFill>
                <a:blip r:embed="rId5"/>
                <a:stretch>
                  <a:fillRect l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7230" y="4453918"/>
                <a:ext cx="2610851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600" dirty="0"/>
              </a:p>
              <a:p>
                <a:r>
                  <a:rPr lang="en-US" sz="1600" dirty="0"/>
                  <a:t>A linear system with one solution</a:t>
                </a:r>
                <a:endParaRPr lang="en-US" sz="1600" i="1" dirty="0"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charset="0"/>
                        </a:rPr>
                        <m:t>5</m:t>
                      </m:r>
                      <m:r>
                        <a:rPr lang="en-US" sz="1600" i="1" dirty="0">
                          <a:latin typeface="Cambria Math" charset="0"/>
                        </a:rPr>
                        <m:t>𝑥</m:t>
                      </m:r>
                      <m:r>
                        <a:rPr lang="en-US" sz="1600" i="1" dirty="0">
                          <a:latin typeface="Cambria Math" charset="0"/>
                        </a:rPr>
                        <m:t>+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 3 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charset="0"/>
                        </a:rPr>
                        <m:t>2</m:t>
                      </m:r>
                      <m:r>
                        <a:rPr lang="en-US" sz="1600" i="1" dirty="0">
                          <a:latin typeface="Cambria Math" charset="0"/>
                        </a:rPr>
                        <m:t>𝑥</m:t>
                      </m:r>
                      <m:r>
                        <a:rPr lang="en-US" sz="1600" i="1" dirty="0">
                          <a:latin typeface="Cambria Math" charset="0"/>
                        </a:rPr>
                        <m:t>−</m:t>
                      </m:r>
                      <m:r>
                        <a:rPr lang="en-US" sz="1600" i="1" dirty="0">
                          <a:latin typeface="Cambria Math" charset="0"/>
                        </a:rPr>
                        <m:t>𝑦</m:t>
                      </m:r>
                      <m:r>
                        <a:rPr lang="en-US" sz="1600" i="1" dirty="0">
                          <a:latin typeface="Cambria Math" charset="0"/>
                        </a:rPr>
                        <m:t> = 4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230" y="4453918"/>
                <a:ext cx="2610851" cy="1600438"/>
              </a:xfrm>
              <a:prstGeom prst="rect">
                <a:avLst/>
              </a:prstGeom>
              <a:blipFill>
                <a:blip r:embed="rId6"/>
                <a:stretch>
                  <a:fillRect l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79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725819"/>
            <a:ext cx="7067128" cy="1143000"/>
          </a:xfrm>
        </p:spPr>
        <p:txBody>
          <a:bodyPr/>
          <a:lstStyle/>
          <a:p>
            <a:r>
              <a:rPr lang="id-ID" b="1" dirty="0">
                <a:latin typeface="Arial" pitchFamily="34" charset="0"/>
                <a:cs typeface="Arial" pitchFamily="34" charset="0"/>
              </a:rPr>
              <a:t>Linear Systems with</a:t>
            </a:r>
            <a:br>
              <a:rPr lang="id-ID" b="1" dirty="0">
                <a:latin typeface="Arial" pitchFamily="34" charset="0"/>
                <a:cs typeface="Arial" pitchFamily="34" charset="0"/>
              </a:rPr>
            </a:br>
            <a:r>
              <a:rPr lang="id-ID" dirty="0">
                <a:latin typeface="Arial" pitchFamily="34" charset="0"/>
                <a:cs typeface="Arial" pitchFamily="34" charset="0"/>
              </a:rPr>
              <a:t>Three Unknowns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555" y="1981200"/>
            <a:ext cx="2708645" cy="447213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id-ID" dirty="0" err="1">
                <a:latin typeface="Arial" pitchFamily="34" charset="0"/>
                <a:cs typeface="Arial" pitchFamily="34" charset="0"/>
              </a:rPr>
              <a:t>Similarly</a:t>
            </a:r>
            <a:r>
              <a:rPr lang="id-ID" dirty="0">
                <a:latin typeface="Arial" pitchFamily="34" charset="0"/>
                <a:cs typeface="Arial" pitchFamily="34" charset="0"/>
              </a:rPr>
              <a:t>, f</a:t>
            </a:r>
            <a:r>
              <a:rPr lang="en-US" dirty="0"/>
              <a:t>or a linear</a:t>
            </a:r>
            <a:r>
              <a:rPr lang="id-ID" dirty="0"/>
              <a:t> </a:t>
            </a:r>
            <a:r>
              <a:rPr lang="en-US" dirty="0"/>
              <a:t>system of three equations in three</a:t>
            </a:r>
            <a:r>
              <a:rPr lang="id-ID" dirty="0"/>
              <a:t> unknowns:</a:t>
            </a: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dirty="0"/>
              <a:t>in which the graphs of the equations are planes</a:t>
            </a:r>
            <a:r>
              <a:rPr lang="id-ID" dirty="0"/>
              <a:t>, </a:t>
            </a:r>
            <a:endParaRPr lang="en-US" dirty="0"/>
          </a:p>
          <a:p>
            <a:pPr marL="0" indent="0" algn="just">
              <a:buNone/>
            </a:pPr>
            <a:r>
              <a:rPr lang="id-ID" dirty="0"/>
              <a:t>t</a:t>
            </a:r>
            <a:r>
              <a:rPr lang="en-US" dirty="0"/>
              <a:t>he solutions of the system, if any, correspond to points where</a:t>
            </a:r>
            <a:r>
              <a:rPr lang="id-ID" dirty="0"/>
              <a:t> </a:t>
            </a:r>
            <a:r>
              <a:rPr lang="en-US" dirty="0"/>
              <a:t>all three planes intersect</a:t>
            </a:r>
            <a:r>
              <a:rPr lang="id-ID" dirty="0"/>
              <a:t>.</a:t>
            </a:r>
            <a:endParaRPr lang="en-US" dirty="0"/>
          </a:p>
          <a:p>
            <a:pPr marL="0" indent="0" algn="just">
              <a:buNone/>
            </a:pPr>
            <a:r>
              <a:rPr lang="id-ID" dirty="0"/>
              <a:t>S</a:t>
            </a:r>
            <a:r>
              <a:rPr lang="en-US" dirty="0"/>
              <a:t>o again we see that there are only three possibilities</a:t>
            </a:r>
            <a:r>
              <a:rPr lang="id-ID" dirty="0"/>
              <a:t>: </a:t>
            </a:r>
            <a:r>
              <a:rPr lang="en-US" dirty="0"/>
              <a:t>no solutions, one solution, or</a:t>
            </a:r>
            <a:r>
              <a:rPr lang="id-ID" dirty="0"/>
              <a:t> infinitely many solutions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397" y="2971800"/>
            <a:ext cx="1943100" cy="103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87">
            <a:extLst>
              <a:ext uri="{FF2B5EF4-FFF2-40B4-BE49-F238E27FC236}">
                <a16:creationId xmlns:a16="http://schemas.microsoft.com/office/drawing/2014/main" id="{17F6F4CD-01B4-9949-B09F-1B4E84950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577" y="2007780"/>
            <a:ext cx="4994902" cy="385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E7B6D7-BD9D-024E-B80B-9365094AA999}"/>
              </a:ext>
            </a:extLst>
          </p:cNvPr>
          <p:cNvSpPr txBox="1"/>
          <p:nvPr/>
        </p:nvSpPr>
        <p:spPr>
          <a:xfrm>
            <a:off x="4617441" y="58673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1" dirty="0" err="1">
                <a:latin typeface="Arial" pitchFamily="34" charset="0"/>
                <a:cs typeface="Arial" pitchFamily="34" charset="0"/>
              </a:rPr>
              <a:t>Ilustration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6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66731"/>
            <a:ext cx="7067128" cy="1143000"/>
          </a:xfrm>
        </p:spPr>
        <p:txBody>
          <a:bodyPr/>
          <a:lstStyle/>
          <a:p>
            <a:r>
              <a:rPr lang="en-US" b="1" dirty="0"/>
              <a:t>Example: </a:t>
            </a:r>
            <a:r>
              <a:rPr lang="id-ID" b="1" dirty="0"/>
              <a:t>A Linear System</a:t>
            </a:r>
            <a:br>
              <a:rPr lang="id-ID" b="1" dirty="0"/>
            </a:br>
            <a:r>
              <a:rPr lang="id-ID" b="1" dirty="0"/>
              <a:t>with One 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848600" cy="4514869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5515" name="Picture 1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399"/>
            <a:ext cx="7848600" cy="3544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517" name="Picture 1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977799"/>
            <a:ext cx="7848600" cy="1346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67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5870" y="1295400"/>
            <a:ext cx="6267698" cy="1143000"/>
          </a:xfrm>
        </p:spPr>
        <p:txBody>
          <a:bodyPr/>
          <a:lstStyle/>
          <a:p>
            <a:r>
              <a:rPr lang="en-US" sz="2800" b="1" dirty="0"/>
              <a:t>Example: </a:t>
            </a:r>
            <a:r>
              <a:rPr lang="id-ID" sz="2800" b="1" dirty="0"/>
              <a:t>A Linear System with No Solution</a:t>
            </a:r>
            <a:endParaRPr lang="en-US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16415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8400"/>
            <a:ext cx="7624368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48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533400"/>
            <a:ext cx="60960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1: </a:t>
            </a:r>
            <a:r>
              <a:rPr lang="id-ID" b="1" dirty="0"/>
              <a:t>A Linear System with</a:t>
            </a:r>
            <a:br>
              <a:rPr lang="id-ID" b="1" dirty="0"/>
            </a:br>
            <a:r>
              <a:rPr lang="id-ID" dirty="0"/>
              <a:t>Infinitely Many Solutions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14483"/>
            <a:ext cx="7696200" cy="4838717"/>
          </a:xfrm>
        </p:spPr>
        <p:txBody>
          <a:bodyPr/>
          <a:lstStyle/>
          <a:p>
            <a:pPr marL="457200" indent="-457200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17525" name="Picture 1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1724025"/>
            <a:ext cx="768032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526" name="Picture 1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7746492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671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457200"/>
            <a:ext cx="6609928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Example 1:</a:t>
            </a:r>
            <a:br>
              <a:rPr lang="en-US" dirty="0"/>
            </a:br>
            <a:r>
              <a:rPr lang="id-ID" dirty="0"/>
              <a:t>A Linear System with</a:t>
            </a:r>
            <a:br>
              <a:rPr lang="id-ID" dirty="0"/>
            </a:br>
            <a:r>
              <a:rPr lang="id-ID" dirty="0"/>
              <a:t>Infinitely Many Solutions (</a:t>
            </a:r>
            <a:r>
              <a:rPr lang="en-US" dirty="0"/>
              <a:t>cont.</a:t>
            </a:r>
            <a:r>
              <a:rPr lang="id-ID" dirty="0"/>
              <a:t>)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4" name="Picture 11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15" y="1828800"/>
            <a:ext cx="763858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31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304800"/>
            <a:ext cx="60960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</a:t>
            </a:r>
            <a:br>
              <a:rPr lang="en-US" dirty="0"/>
            </a:br>
            <a:r>
              <a:rPr lang="id-ID" dirty="0"/>
              <a:t>A Linear System with</a:t>
            </a:r>
            <a:br>
              <a:rPr lang="id-ID" dirty="0"/>
            </a:br>
            <a:r>
              <a:rPr lang="id-ID" dirty="0"/>
              <a:t>Infinitely Many Solutions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33521"/>
            <a:ext cx="8077200" cy="4691079"/>
          </a:xfrm>
        </p:spPr>
        <p:txBody>
          <a:bodyPr/>
          <a:lstStyle/>
          <a:p>
            <a:pPr>
              <a:buNone/>
            </a:pPr>
            <a:endParaRPr lang="id-ID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9559" name="Picture 1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8077200" cy="4836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05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33600" y="3886200"/>
            <a:ext cx="7067128" cy="1143000"/>
          </a:xfrm>
        </p:spPr>
        <p:txBody>
          <a:bodyPr/>
          <a:lstStyle/>
          <a:p>
            <a:r>
              <a:rPr lang="id-ID" dirty="0"/>
              <a:t>Gaussian and Gauss-Jordan Elimination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6CCBA-FD58-6748-AB41-5D1E5F4CEE24}"/>
              </a:ext>
            </a:extLst>
          </p:cNvPr>
          <p:cNvSpPr txBox="1"/>
          <p:nvPr/>
        </p:nvSpPr>
        <p:spPr>
          <a:xfrm>
            <a:off x="381000" y="762000"/>
            <a:ext cx="48484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Methods of solving systems of linear equations</a:t>
            </a:r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19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1176" y="2043861"/>
            <a:ext cx="5742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system of linear equation can be represented as a matrix. </a:t>
            </a:r>
          </a:p>
          <a:p>
            <a:r>
              <a:rPr lang="en-US" dirty="0"/>
              <a:t>This is called the augmented matrix for the system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15616" y="2718213"/>
                <a:ext cx="331236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dirty="0">
                    <a:latin typeface="Times New Roman" charset="0"/>
                    <a:ea typeface="Calibri" charset="0"/>
                  </a:rPr>
                  <a:t>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11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 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12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 +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charset="0"/>
                        <a:ea typeface="Calibri" charset="0"/>
                      </a:rPr>
                      <m:t>⋯</m:t>
                    </m:r>
                  </m:oMath>
                </a14:m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1n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n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 = b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</a:t>
                </a:r>
                <a:endParaRPr lang="en-US" dirty="0">
                  <a:latin typeface="Times New Roman" charset="0"/>
                  <a:ea typeface="Calibri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21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 + 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22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 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charset="0"/>
                        <a:ea typeface="Calibri" charset="0"/>
                      </a:rPr>
                      <m:t>⋯</m:t>
                    </m:r>
                  </m:oMath>
                </a14:m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2n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n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  = b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</a:t>
                </a:r>
                <a:endParaRPr lang="en-US" dirty="0">
                  <a:latin typeface="Times New Roman" charset="0"/>
                  <a:ea typeface="Calibri" charset="0"/>
                </a:endParaRPr>
              </a:p>
              <a:p>
                <a:r>
                  <a:rPr lang="en-US" dirty="0">
                    <a:latin typeface="Times New Roman" charset="0"/>
                    <a:ea typeface="Calibri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libri" charset="0"/>
                      </a:rPr>
                      <m:t>⋮</m:t>
                    </m:r>
                  </m:oMath>
                </a14:m>
                <a:r>
                  <a:rPr lang="en-US" dirty="0">
                    <a:latin typeface="Times New Roman" charset="0"/>
                    <a:ea typeface="Calibri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  <a:ea typeface="Calibri" charset="0"/>
                      </a:rPr>
                      <m:t> </m:t>
                    </m:r>
                    <m:r>
                      <a:rPr lang="en-US" b="0" i="1" dirty="0" smtClean="0">
                        <a:latin typeface="Cambria Math" charset="0"/>
                        <a:ea typeface="Calibri" charset="0"/>
                      </a:rPr>
                      <m:t>        </m:t>
                    </m:r>
                    <m:r>
                      <a:rPr lang="en-US" b="0" i="0" smtClean="0">
                        <a:latin typeface="Cambria Math" charset="0"/>
                        <a:ea typeface="Calibri" charset="0"/>
                      </a:rPr>
                      <m:t>   </m:t>
                    </m:r>
                    <m:r>
                      <a:rPr lang="en-US" i="1" dirty="0" smtClean="0">
                        <a:latin typeface="Cambria Math" charset="0"/>
                        <a:ea typeface="Calibri" charset="0"/>
                      </a:rPr>
                      <m:t>⋮</m:t>
                    </m:r>
                  </m:oMath>
                </a14:m>
                <a:r>
                  <a:rPr lang="en-US" dirty="0">
                    <a:latin typeface="Times New Roman" charset="0"/>
                    <a:ea typeface="Calibri" charset="0"/>
                  </a:rPr>
                  <a:t>  </a:t>
                </a:r>
              </a:p>
              <a:p>
                <a:pPr>
                  <a:spcAft>
                    <a:spcPts val="0"/>
                  </a:spcAft>
                </a:pP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m1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1 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a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m2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>
                    <a:effectLst/>
                    <a:latin typeface="Times New Roman" charset="0"/>
                    <a:ea typeface="Calibri" charset="0"/>
                  </a:rPr>
                  <a:t>2 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charset="0"/>
                        <a:ea typeface="Calibri" charset="0"/>
                      </a:rPr>
                      <m:t>⋯</m:t>
                    </m:r>
                  </m:oMath>
                </a14:m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+ </a:t>
                </a:r>
                <a:r>
                  <a:rPr lang="en-US" dirty="0" err="1">
                    <a:effectLst/>
                    <a:latin typeface="Times New Roman" charset="0"/>
                    <a:ea typeface="Calibri" charset="0"/>
                  </a:rPr>
                  <a:t>a</a:t>
                </a:r>
                <a:r>
                  <a:rPr lang="en-US" baseline="-25000" dirty="0" err="1">
                    <a:effectLst/>
                    <a:latin typeface="Times New Roman" charset="0"/>
                    <a:ea typeface="Calibri" charset="0"/>
                  </a:rPr>
                  <a:t>mn</a:t>
                </a:r>
                <a:r>
                  <a:rPr lang="en-US" dirty="0" err="1">
                    <a:effectLst/>
                    <a:latin typeface="Times New Roman" charset="0"/>
                    <a:ea typeface="Calibri" charset="0"/>
                  </a:rPr>
                  <a:t>x</a:t>
                </a:r>
                <a:r>
                  <a:rPr lang="en-US" baseline="-25000" dirty="0" err="1">
                    <a:effectLst/>
                    <a:latin typeface="Times New Roman" charset="0"/>
                    <a:ea typeface="Calibri" charset="0"/>
                  </a:rPr>
                  <a:t>n</a:t>
                </a:r>
                <a:r>
                  <a:rPr lang="en-US" dirty="0">
                    <a:effectLst/>
                    <a:latin typeface="Times New Roman" charset="0"/>
                    <a:ea typeface="Calibri" charset="0"/>
                  </a:rPr>
                  <a:t> = </a:t>
                </a:r>
                <a:r>
                  <a:rPr lang="en-US" dirty="0" err="1">
                    <a:effectLst/>
                    <a:latin typeface="Times New Roman" charset="0"/>
                    <a:ea typeface="Calibri" charset="0"/>
                  </a:rPr>
                  <a:t>b</a:t>
                </a:r>
                <a:r>
                  <a:rPr lang="en-US" baseline="-25000" dirty="0" err="1">
                    <a:effectLst/>
                    <a:latin typeface="Times New Roman" charset="0"/>
                    <a:ea typeface="Calibri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rgbClr val="808080"/>
                        </a:solidFill>
                        <a:effectLst/>
                        <a:latin typeface="Cambria Math" charset="0"/>
                        <a:ea typeface="Calibri" charset="0"/>
                      </a:rPr>
                      <m:t>.</m:t>
                    </m:r>
                  </m:oMath>
                </a14:m>
                <a:endParaRPr lang="en-US" dirty="0">
                  <a:effectLst/>
                  <a:latin typeface="Times New Roman" charset="0"/>
                  <a:ea typeface="Calibri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718213"/>
                <a:ext cx="3312368" cy="1200329"/>
              </a:xfrm>
              <a:prstGeom prst="rect">
                <a:avLst/>
              </a:prstGeom>
              <a:blipFill>
                <a:blip r:embed="rId2"/>
                <a:stretch>
                  <a:fillRect l="-1473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4283968" y="2996952"/>
            <a:ext cx="936104" cy="43204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111176" y="4167809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 : Find the augmented matrix of system  of linear equation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616" y="5301208"/>
            <a:ext cx="18229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 </a:t>
            </a:r>
            <a:r>
              <a:rPr lang="en-US" dirty="0"/>
              <a:t>+ 2x</a:t>
            </a:r>
            <a:r>
              <a:rPr lang="en-US" baseline="-25000" dirty="0"/>
              <a:t>3 </a:t>
            </a:r>
            <a:r>
              <a:rPr lang="en-US" dirty="0"/>
              <a:t>= 9</a:t>
            </a:r>
          </a:p>
          <a:p>
            <a:r>
              <a:rPr lang="en-US" dirty="0"/>
              <a:t>2x</a:t>
            </a:r>
            <a:r>
              <a:rPr lang="en-US" baseline="-25000" dirty="0"/>
              <a:t>1</a:t>
            </a:r>
            <a:r>
              <a:rPr lang="en-US" dirty="0"/>
              <a:t> - 3x</a:t>
            </a:r>
            <a:r>
              <a:rPr lang="en-US" baseline="-25000" dirty="0"/>
              <a:t>3 </a:t>
            </a:r>
            <a:r>
              <a:rPr lang="en-US" dirty="0"/>
              <a:t>= 1 </a:t>
            </a:r>
          </a:p>
          <a:p>
            <a:r>
              <a:rPr lang="en-US" dirty="0"/>
              <a:t>3x</a:t>
            </a:r>
            <a:r>
              <a:rPr lang="en-US" baseline="-25000" dirty="0"/>
              <a:t>1 </a:t>
            </a:r>
            <a:r>
              <a:rPr lang="en-US" dirty="0"/>
              <a:t>+ 6x</a:t>
            </a:r>
            <a:r>
              <a:rPr lang="en-US" baseline="-25000" dirty="0"/>
              <a:t>2 </a:t>
            </a:r>
            <a:r>
              <a:rPr lang="en-US" dirty="0"/>
              <a:t>- 5x</a:t>
            </a:r>
            <a:r>
              <a:rPr lang="en-US" baseline="-25000" dirty="0"/>
              <a:t>3</a:t>
            </a:r>
            <a:r>
              <a:rPr lang="en-US" dirty="0"/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20072" y="2696488"/>
                <a:ext cx="2951962" cy="1032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>
                                    <a:latin typeface="Times New Roman" charset="0"/>
                                    <a:ea typeface="Calibri" charset="0"/>
                                  </a:rPr>
                                  <m:t>11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12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n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>
                                    <a:latin typeface="Times New Roman" charset="0"/>
                                    <a:ea typeface="Calibri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21</m:t>
                                      </m:r>
                                    </m:e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uk-UA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22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n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b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>
                                    <a:latin typeface="Times New Roman" charset="0"/>
                                    <a:ea typeface="Calibri" charset="0"/>
                                  </a:rPr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>
                                    <a:latin typeface="Times New Roman" charset="0"/>
                                    <a:ea typeface="Calibri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Calibri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>
                                          <a:latin typeface="Times New Roman" charset="0"/>
                                          <a:ea typeface="Calibri" charset="0"/>
                                        </a:rPr>
                                        <m:t>mn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>
                                    <a:latin typeface="Times New Roman" charset="0"/>
                                    <a:ea typeface="Calibri" charset="0"/>
                                  </a:rPr>
                                  <m:t>m</m:t>
                                </m:r>
                                <m:r>
                                  <a:rPr lang="en-US">
                                    <a:solidFill>
                                      <a:srgbClr val="808080"/>
                                    </a:solidFill>
                                    <a:latin typeface="Cambria Math" charset="0"/>
                                    <a:ea typeface="Calibri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Calibri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696488"/>
                <a:ext cx="2951962" cy="1032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/>
          <p:cNvSpPr/>
          <p:nvPr/>
        </p:nvSpPr>
        <p:spPr>
          <a:xfrm>
            <a:off x="4088204" y="5458395"/>
            <a:ext cx="936104" cy="43204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57504" y="5301208"/>
                <a:ext cx="1712840" cy="746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uk-U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6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504" y="5301208"/>
                <a:ext cx="1712840" cy="746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01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001470" y="1906095"/>
            <a:ext cx="7912964" cy="3971177"/>
            <a:chOff x="2740" y="90"/>
            <a:chExt cx="6695" cy="5966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0" y="90"/>
              <a:ext cx="6695" cy="5966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93443" y="1906156"/>
            <a:ext cx="5960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Elementary row operations on a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09392" y="2708920"/>
                <a:ext cx="791296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Three operations correspond to the following operations on the rows of the augmented matrix: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1. Multiply a row through by a nonzero constant. (</a:t>
                </a:r>
                <a:r>
                  <a:rPr lang="en-US" sz="2400" i="1" dirty="0" err="1"/>
                  <a:t>cR</a:t>
                </a:r>
                <a:r>
                  <a:rPr lang="en-US" sz="2400" i="1" baseline="-25000" dirty="0" err="1"/>
                  <a:t>i</a:t>
                </a:r>
                <a:r>
                  <a:rPr lang="en-US" sz="2400" dirty="0"/>
                  <a:t>) </a:t>
                </a:r>
              </a:p>
              <a:p>
                <a:r>
                  <a:rPr lang="en-US" sz="2400" dirty="0"/>
                  <a:t>2. Interchange two rows.                                            (</a:t>
                </a:r>
                <a:r>
                  <a:rPr lang="en-US" sz="2400" i="1" dirty="0" err="1"/>
                  <a:t>R</a:t>
                </a:r>
                <a:r>
                  <a:rPr lang="en-US" sz="2400" i="1" baseline="-25000" dirty="0" err="1"/>
                  <a:t>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i="1" dirty="0" err="1"/>
                  <a:t>R</a:t>
                </a:r>
                <a:r>
                  <a:rPr lang="en-US" sz="2400" i="1" baseline="-25000" dirty="0" err="1"/>
                  <a:t>j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3. Add a constant times one row to another.          (</a:t>
                </a:r>
                <a:r>
                  <a:rPr lang="en-US" sz="2400" i="1" dirty="0" err="1"/>
                  <a:t>R</a:t>
                </a:r>
                <a:r>
                  <a:rPr lang="en-US" sz="2400" i="1" baseline="-25000" dirty="0" err="1"/>
                  <a:t>i</a:t>
                </a:r>
                <a:r>
                  <a:rPr lang="en-US" sz="2400" dirty="0"/>
                  <a:t> + </a:t>
                </a:r>
                <a:r>
                  <a:rPr lang="en-US" sz="2400" i="1" dirty="0" err="1"/>
                  <a:t>cR</a:t>
                </a:r>
                <a:r>
                  <a:rPr lang="en-US" sz="2400" i="1" baseline="-25000" dirty="0" err="1"/>
                  <a:t>j</a:t>
                </a:r>
                <a:r>
                  <a:rPr lang="en-US" sz="2400" dirty="0"/>
                  <a:t>).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392" y="2708920"/>
                <a:ext cx="7912964" cy="2677656"/>
              </a:xfrm>
              <a:prstGeom prst="rect">
                <a:avLst/>
              </a:prstGeom>
              <a:blipFill>
                <a:blip r:embed="rId3"/>
                <a:stretch>
                  <a:fillRect l="-115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687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13351" y="1524000"/>
            <a:ext cx="8195043" cy="5227381"/>
            <a:chOff x="2740" y="10"/>
            <a:chExt cx="6695" cy="6046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0" y="10"/>
              <a:ext cx="6695" cy="6046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95400" y="1653259"/>
            <a:ext cx="3927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Row echelon 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2784" y="2489005"/>
            <a:ext cx="81264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 </a:t>
            </a:r>
            <a:r>
              <a:rPr lang="en-US" sz="2000" dirty="0"/>
              <a:t>A matrix that has the following properties is said to be in </a:t>
            </a:r>
            <a:r>
              <a:rPr lang="en-US" sz="2000" b="1" dirty="0">
                <a:solidFill>
                  <a:srgbClr val="C00000"/>
                </a:solidFill>
              </a:rPr>
              <a:t>reduced row echelon form: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1. If a row does not consist entirely of zeros, then the first nonzero number in the row is a 1.   </a:t>
            </a:r>
          </a:p>
          <a:p>
            <a:r>
              <a:rPr lang="en-US" sz="2000" dirty="0"/>
              <a:t>     We call this </a:t>
            </a:r>
            <a:r>
              <a:rPr lang="en-US" sz="2000" b="1" dirty="0"/>
              <a:t>a leading 1</a:t>
            </a:r>
            <a:r>
              <a:rPr lang="en-US" sz="2000" dirty="0"/>
              <a:t>.</a:t>
            </a:r>
          </a:p>
          <a:p>
            <a:r>
              <a:rPr lang="en-US" sz="2000" dirty="0"/>
              <a:t>2. If there are any rows that consist entirely of zeros, then they are grouped together at the bottom of the matrix.</a:t>
            </a:r>
          </a:p>
          <a:p>
            <a:r>
              <a:rPr lang="en-US" sz="2000" dirty="0"/>
              <a:t>3. In any two successive rows that do not consist entirely of zeros, the leading 1 in the lower row occurs farther to the</a:t>
            </a:r>
          </a:p>
          <a:p>
            <a:r>
              <a:rPr lang="en-US" sz="2000" dirty="0"/>
              <a:t>right than the leading 1 in the higher row.</a:t>
            </a:r>
          </a:p>
          <a:p>
            <a:r>
              <a:rPr lang="en-US" sz="2000" dirty="0"/>
              <a:t>4. Each column that contains a leading 1 has zeros everywhere else in that column.</a:t>
            </a:r>
          </a:p>
          <a:p>
            <a:endParaRPr lang="en-US" sz="2000" dirty="0"/>
          </a:p>
          <a:p>
            <a:r>
              <a:rPr lang="en-US" sz="2000" dirty="0"/>
              <a:t>A matrix that has </a:t>
            </a:r>
            <a:r>
              <a:rPr lang="en-US" sz="2000" b="1" dirty="0">
                <a:solidFill>
                  <a:srgbClr val="7030A0"/>
                </a:solidFill>
              </a:rPr>
              <a:t>the first three properties is said to be in row echelon form</a:t>
            </a:r>
          </a:p>
        </p:txBody>
      </p:sp>
    </p:spTree>
    <p:extLst>
      <p:ext uri="{BB962C8B-B14F-4D97-AF65-F5344CB8AC3E}">
        <p14:creationId xmlns:p14="http://schemas.microsoft.com/office/powerpoint/2010/main" val="41695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24237" y="1630619"/>
            <a:ext cx="8195043" cy="3657335"/>
            <a:chOff x="2740" y="10"/>
            <a:chExt cx="6695" cy="6046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740" y="10"/>
              <a:ext cx="6695" cy="6046"/>
            </a:xfrm>
            <a:custGeom>
              <a:avLst/>
              <a:gdLst>
                <a:gd name="T0" fmla="+- 0 9414 2747"/>
                <a:gd name="T1" fmla="*/ T0 w 6695"/>
                <a:gd name="T2" fmla="+- 0 863 863"/>
                <a:gd name="T3" fmla="*/ 863 h 5194"/>
                <a:gd name="T4" fmla="+- 0 2775 2747"/>
                <a:gd name="T5" fmla="*/ T4 w 6695"/>
                <a:gd name="T6" fmla="+- 0 863 863"/>
                <a:gd name="T7" fmla="*/ 863 h 5194"/>
                <a:gd name="T8" fmla="+- 0 2764 2747"/>
                <a:gd name="T9" fmla="*/ T8 w 6695"/>
                <a:gd name="T10" fmla="+- 0 865 863"/>
                <a:gd name="T11" fmla="*/ 865 h 5194"/>
                <a:gd name="T12" fmla="+- 0 2755 2747"/>
                <a:gd name="T13" fmla="*/ T12 w 6695"/>
                <a:gd name="T14" fmla="+- 0 871 863"/>
                <a:gd name="T15" fmla="*/ 871 h 5194"/>
                <a:gd name="T16" fmla="+- 0 2749 2747"/>
                <a:gd name="T17" fmla="*/ T16 w 6695"/>
                <a:gd name="T18" fmla="+- 0 880 863"/>
                <a:gd name="T19" fmla="*/ 880 h 5194"/>
                <a:gd name="T20" fmla="+- 0 2747 2747"/>
                <a:gd name="T21" fmla="*/ T20 w 6695"/>
                <a:gd name="T22" fmla="+- 0 891 863"/>
                <a:gd name="T23" fmla="*/ 891 h 5194"/>
                <a:gd name="T24" fmla="+- 0 2747 2747"/>
                <a:gd name="T25" fmla="*/ T24 w 6695"/>
                <a:gd name="T26" fmla="+- 0 6028 863"/>
                <a:gd name="T27" fmla="*/ 6028 h 5194"/>
                <a:gd name="T28" fmla="+- 0 2749 2747"/>
                <a:gd name="T29" fmla="*/ T28 w 6695"/>
                <a:gd name="T30" fmla="+- 0 6039 863"/>
                <a:gd name="T31" fmla="*/ 6039 h 5194"/>
                <a:gd name="T32" fmla="+- 0 2755 2747"/>
                <a:gd name="T33" fmla="*/ T32 w 6695"/>
                <a:gd name="T34" fmla="+- 0 6049 863"/>
                <a:gd name="T35" fmla="*/ 6049 h 5194"/>
                <a:gd name="T36" fmla="+- 0 2764 2747"/>
                <a:gd name="T37" fmla="*/ T36 w 6695"/>
                <a:gd name="T38" fmla="+- 0 6055 863"/>
                <a:gd name="T39" fmla="*/ 6055 h 5194"/>
                <a:gd name="T40" fmla="+- 0 2775 2747"/>
                <a:gd name="T41" fmla="*/ T40 w 6695"/>
                <a:gd name="T42" fmla="+- 0 6057 863"/>
                <a:gd name="T43" fmla="*/ 6057 h 5194"/>
                <a:gd name="T44" fmla="+- 0 9414 2747"/>
                <a:gd name="T45" fmla="*/ T44 w 6695"/>
                <a:gd name="T46" fmla="+- 0 6057 863"/>
                <a:gd name="T47" fmla="*/ 6057 h 5194"/>
                <a:gd name="T48" fmla="+- 0 9425 2747"/>
                <a:gd name="T49" fmla="*/ T48 w 6695"/>
                <a:gd name="T50" fmla="+- 0 6055 863"/>
                <a:gd name="T51" fmla="*/ 6055 h 5194"/>
                <a:gd name="T52" fmla="+- 0 9434 2747"/>
                <a:gd name="T53" fmla="*/ T52 w 6695"/>
                <a:gd name="T54" fmla="+- 0 6049 863"/>
                <a:gd name="T55" fmla="*/ 6049 h 5194"/>
                <a:gd name="T56" fmla="+- 0 9440 2747"/>
                <a:gd name="T57" fmla="*/ T56 w 6695"/>
                <a:gd name="T58" fmla="+- 0 6039 863"/>
                <a:gd name="T59" fmla="*/ 6039 h 5194"/>
                <a:gd name="T60" fmla="+- 0 9442 2747"/>
                <a:gd name="T61" fmla="*/ T60 w 6695"/>
                <a:gd name="T62" fmla="+- 0 6028 863"/>
                <a:gd name="T63" fmla="*/ 6028 h 5194"/>
                <a:gd name="T64" fmla="+- 0 9442 2747"/>
                <a:gd name="T65" fmla="*/ T64 w 6695"/>
                <a:gd name="T66" fmla="+- 0 891 863"/>
                <a:gd name="T67" fmla="*/ 891 h 5194"/>
                <a:gd name="T68" fmla="+- 0 9440 2747"/>
                <a:gd name="T69" fmla="*/ T68 w 6695"/>
                <a:gd name="T70" fmla="+- 0 880 863"/>
                <a:gd name="T71" fmla="*/ 880 h 5194"/>
                <a:gd name="T72" fmla="+- 0 9434 2747"/>
                <a:gd name="T73" fmla="*/ T72 w 6695"/>
                <a:gd name="T74" fmla="+- 0 871 863"/>
                <a:gd name="T75" fmla="*/ 871 h 5194"/>
                <a:gd name="T76" fmla="+- 0 9425 2747"/>
                <a:gd name="T77" fmla="*/ T76 w 6695"/>
                <a:gd name="T78" fmla="+- 0 865 863"/>
                <a:gd name="T79" fmla="*/ 865 h 5194"/>
                <a:gd name="T80" fmla="+- 0 9414 2747"/>
                <a:gd name="T81" fmla="*/ T80 w 6695"/>
                <a:gd name="T82" fmla="+- 0 863 863"/>
                <a:gd name="T83" fmla="*/ 863 h 519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</a:cxnLst>
              <a:rect l="0" t="0" r="r" b="b"/>
              <a:pathLst>
                <a:path w="6695" h="5194">
                  <a:moveTo>
                    <a:pt x="6667" y="0"/>
                  </a:moveTo>
                  <a:lnTo>
                    <a:pt x="28" y="0"/>
                  </a:lnTo>
                  <a:lnTo>
                    <a:pt x="17" y="2"/>
                  </a:lnTo>
                  <a:lnTo>
                    <a:pt x="8" y="8"/>
                  </a:lnTo>
                  <a:lnTo>
                    <a:pt x="2" y="17"/>
                  </a:lnTo>
                  <a:lnTo>
                    <a:pt x="0" y="28"/>
                  </a:lnTo>
                  <a:lnTo>
                    <a:pt x="0" y="5165"/>
                  </a:lnTo>
                  <a:lnTo>
                    <a:pt x="2" y="5176"/>
                  </a:lnTo>
                  <a:lnTo>
                    <a:pt x="8" y="5186"/>
                  </a:lnTo>
                  <a:lnTo>
                    <a:pt x="17" y="5192"/>
                  </a:lnTo>
                  <a:lnTo>
                    <a:pt x="28" y="5194"/>
                  </a:lnTo>
                  <a:lnTo>
                    <a:pt x="6667" y="5194"/>
                  </a:lnTo>
                  <a:lnTo>
                    <a:pt x="6678" y="5192"/>
                  </a:lnTo>
                  <a:lnTo>
                    <a:pt x="6687" y="5186"/>
                  </a:lnTo>
                  <a:lnTo>
                    <a:pt x="6693" y="5176"/>
                  </a:lnTo>
                  <a:lnTo>
                    <a:pt x="6695" y="5165"/>
                  </a:lnTo>
                  <a:lnTo>
                    <a:pt x="6695" y="28"/>
                  </a:lnTo>
                  <a:lnTo>
                    <a:pt x="6693" y="17"/>
                  </a:lnTo>
                  <a:lnTo>
                    <a:pt x="6687" y="8"/>
                  </a:lnTo>
                  <a:lnTo>
                    <a:pt x="6678" y="2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75" y="1175"/>
              <a:ext cx="6639" cy="4853"/>
            </a:xfrm>
            <a:prstGeom prst="rect">
              <a:avLst/>
            </a:prstGeom>
            <a:solidFill>
              <a:srgbClr val="F2F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71033" y="1798202"/>
            <a:ext cx="3927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Gauss-Jordan elimination.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6316" y="2565827"/>
            <a:ext cx="791296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 A matrix that has the following properties is said to be in </a:t>
            </a:r>
            <a:r>
              <a:rPr lang="en-US" sz="1600" b="1" dirty="0">
                <a:solidFill>
                  <a:srgbClr val="C00000"/>
                </a:solidFill>
              </a:rPr>
              <a:t>reduced row echelon form</a:t>
            </a:r>
            <a:r>
              <a:rPr lang="en-US" sz="1600" dirty="0">
                <a:solidFill>
                  <a:srgbClr val="C00000"/>
                </a:solidFill>
              </a:rPr>
              <a:t>.</a:t>
            </a:r>
          </a:p>
          <a:p>
            <a:r>
              <a:rPr lang="en-US" sz="1600" dirty="0"/>
              <a:t>1. If a row does not consist entirely of zeros, then the first nonzero number in the row is a 1.   </a:t>
            </a:r>
          </a:p>
          <a:p>
            <a:r>
              <a:rPr lang="en-US" sz="1600" dirty="0"/>
              <a:t>     We call this a leading 1.</a:t>
            </a:r>
          </a:p>
          <a:p>
            <a:r>
              <a:rPr lang="en-US" sz="1600" dirty="0"/>
              <a:t>2. If there are any rows that consist entirely of zeros, then they are grouped together at the bottom of the matrix.</a:t>
            </a:r>
          </a:p>
          <a:p>
            <a:r>
              <a:rPr lang="en-US" sz="1600" dirty="0"/>
              <a:t>3. In any two successive rows that do not consist entirely of zeros, the leading 1 in the lower row occurs farther to the</a:t>
            </a:r>
          </a:p>
          <a:p>
            <a:r>
              <a:rPr lang="en-US" sz="1600" dirty="0"/>
              <a:t>right than the leading 1 in the higher row.</a:t>
            </a:r>
          </a:p>
          <a:p>
            <a:r>
              <a:rPr lang="en-US" sz="1600" dirty="0"/>
              <a:t>4. Each column that contains a leading 1 has zeros everywhere else in that column.</a:t>
            </a:r>
          </a:p>
          <a:p>
            <a:endParaRPr lang="en-US" sz="1600" dirty="0"/>
          </a:p>
          <a:p>
            <a:r>
              <a:rPr lang="en-US" sz="1600" dirty="0"/>
              <a:t>A matrix that has </a:t>
            </a:r>
            <a:r>
              <a:rPr lang="en-US" sz="1600" b="1" dirty="0">
                <a:solidFill>
                  <a:srgbClr val="7030A0"/>
                </a:solidFill>
              </a:rPr>
              <a:t>the first three properties is said to be in row echelon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0442" y="5455537"/>
            <a:ext cx="811869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"/>
              </a:rPr>
              <a:t>The procedure (or algorithm) </a:t>
            </a:r>
            <a:r>
              <a:rPr lang="en-US" dirty="0"/>
              <a:t>to reduce a matrix into </a:t>
            </a:r>
            <a:r>
              <a:rPr lang="en-US" dirty="0">
                <a:solidFill>
                  <a:srgbClr val="C00000"/>
                </a:solidFill>
              </a:rPr>
              <a:t>reduced row echelon form </a:t>
            </a:r>
          </a:p>
          <a:p>
            <a:r>
              <a:rPr lang="en-US" dirty="0"/>
              <a:t>is called </a:t>
            </a:r>
            <a:r>
              <a:rPr lang="en-US" dirty="0">
                <a:solidFill>
                  <a:srgbClr val="C00000"/>
                </a:solidFill>
              </a:rPr>
              <a:t>Gauss-Jordan elimination. </a:t>
            </a:r>
          </a:p>
          <a:p>
            <a:r>
              <a:rPr lang="en-US" dirty="0">
                <a:latin typeface=""/>
              </a:rPr>
              <a:t>The procedure (or algorithm) </a:t>
            </a:r>
            <a:r>
              <a:rPr lang="en-US" dirty="0"/>
              <a:t>to reduce a matrix into </a:t>
            </a:r>
            <a:r>
              <a:rPr lang="en-US" dirty="0">
                <a:solidFill>
                  <a:srgbClr val="C00000"/>
                </a:solidFill>
              </a:rPr>
              <a:t>row echelon form</a:t>
            </a:r>
            <a:endParaRPr lang="en-US" dirty="0"/>
          </a:p>
          <a:p>
            <a:r>
              <a:rPr lang="en-US" dirty="0"/>
              <a:t>followed by back substitutions is called </a:t>
            </a:r>
            <a:r>
              <a:rPr lang="en-US" dirty="0">
                <a:solidFill>
                  <a:srgbClr val="7030A0"/>
                </a:solidFill>
              </a:rPr>
              <a:t>Gaussian elimination</a:t>
            </a:r>
            <a:r>
              <a:rPr lang="en-US" dirty="0"/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10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042354"/>
            <a:ext cx="8077200" cy="40774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In the left column we solve a system of linear equations by operating on the equations in the</a:t>
            </a:r>
            <a:r>
              <a:rPr lang="id-ID" sz="1800" dirty="0"/>
              <a:t> </a:t>
            </a:r>
            <a:r>
              <a:rPr lang="en-US" sz="1800" dirty="0"/>
              <a:t>system, and in the right column we solve the same system by operating on the rows of the</a:t>
            </a:r>
            <a:r>
              <a:rPr lang="id-ID" sz="1800" dirty="0"/>
              <a:t> augmented matrix.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23735" name="Picture 1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2971800"/>
            <a:ext cx="7960242" cy="3622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43AD75-4193-154D-A4FC-69BA9A280204}"/>
              </a:ext>
            </a:extLst>
          </p:cNvPr>
          <p:cNvSpPr txBox="1"/>
          <p:nvPr/>
        </p:nvSpPr>
        <p:spPr>
          <a:xfrm>
            <a:off x="990600" y="1524183"/>
            <a:ext cx="6498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Example  1 : Solve by Gauss elimination.</a:t>
            </a:r>
          </a:p>
        </p:txBody>
      </p:sp>
    </p:spTree>
    <p:extLst>
      <p:ext uri="{BB962C8B-B14F-4D97-AF65-F5344CB8AC3E}">
        <p14:creationId xmlns:p14="http://schemas.microsoft.com/office/powerpoint/2010/main" val="1151896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24672" name="Picture 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0"/>
            <a:ext cx="6477000" cy="4884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31A29D-4E9F-6F41-A866-87A1CD9F3758}"/>
              </a:ext>
            </a:extLst>
          </p:cNvPr>
          <p:cNvSpPr txBox="1"/>
          <p:nvPr/>
        </p:nvSpPr>
        <p:spPr>
          <a:xfrm>
            <a:off x="3200400" y="9144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Example  1 : Solve by Gauss elimination. (cont.)</a:t>
            </a:r>
          </a:p>
        </p:txBody>
      </p:sp>
    </p:spTree>
    <p:extLst>
      <p:ext uri="{BB962C8B-B14F-4D97-AF65-F5344CB8AC3E}">
        <p14:creationId xmlns:p14="http://schemas.microsoft.com/office/powerpoint/2010/main" val="3146438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F06B3B-84FA-D1D4-6EC6-7778D6059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3114" y="2578022"/>
            <a:ext cx="7219964" cy="12319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5721" name="Picture 1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7543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CFB771-54A3-484A-922D-5E9994744F51}"/>
              </a:ext>
            </a:extLst>
          </p:cNvPr>
          <p:cNvSpPr txBox="1"/>
          <p:nvPr/>
        </p:nvSpPr>
        <p:spPr>
          <a:xfrm>
            <a:off x="3810000" y="11021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Example  1 : Solve by Gauss elimination (cont.)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9F6B1-D086-B5AC-ED92-9F6A6A2E6A43}"/>
              </a:ext>
            </a:extLst>
          </p:cNvPr>
          <p:cNvSpPr txBox="1"/>
          <p:nvPr/>
        </p:nvSpPr>
        <p:spPr>
          <a:xfrm>
            <a:off x="1284514" y="4022725"/>
            <a:ext cx="701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proceed with back substitutions.</a:t>
            </a:r>
          </a:p>
          <a:p>
            <a:endParaRPr lang="en-US" dirty="0"/>
          </a:p>
          <a:p>
            <a:r>
              <a:rPr lang="en-US" dirty="0"/>
              <a:t>From the equations </a:t>
            </a:r>
            <a:r>
              <a:rPr lang="en-US" i="1" dirty="0"/>
              <a:t>z</a:t>
            </a:r>
            <a:r>
              <a:rPr lang="en-US" dirty="0"/>
              <a:t> = 3 and </a:t>
            </a:r>
            <a:r>
              <a:rPr lang="en-US" i="1" dirty="0"/>
              <a:t>y</a:t>
            </a:r>
            <a:r>
              <a:rPr lang="en-US" dirty="0"/>
              <a:t> – 7</a:t>
            </a:r>
            <a:r>
              <a:rPr lang="en-US" i="1" dirty="0"/>
              <a:t>z</a:t>
            </a:r>
            <a:r>
              <a:rPr lang="en-US" dirty="0"/>
              <a:t>/2 = -17/2, we have </a:t>
            </a:r>
            <a:r>
              <a:rPr lang="en-US" i="1" dirty="0"/>
              <a:t>y</a:t>
            </a:r>
            <a:r>
              <a:rPr lang="en-US" dirty="0"/>
              <a:t> = 2.</a:t>
            </a:r>
          </a:p>
          <a:p>
            <a:endParaRPr lang="en-US" dirty="0"/>
          </a:p>
          <a:p>
            <a:r>
              <a:rPr lang="en-US" dirty="0"/>
              <a:t>From the equations </a:t>
            </a:r>
            <a:r>
              <a:rPr lang="en-US" i="1" dirty="0"/>
              <a:t>z</a:t>
            </a:r>
            <a:r>
              <a:rPr lang="en-US" dirty="0"/>
              <a:t> = 3 and x + 11</a:t>
            </a:r>
            <a:r>
              <a:rPr lang="en-US" i="1" dirty="0"/>
              <a:t>z</a:t>
            </a:r>
            <a:r>
              <a:rPr lang="en-US" dirty="0"/>
              <a:t>/2 = 35/2, we have </a:t>
            </a:r>
            <a:r>
              <a:rPr lang="en-US" i="1" dirty="0"/>
              <a:t>x</a:t>
            </a:r>
            <a:r>
              <a:rPr lang="en-US" dirty="0"/>
              <a:t> = 1.</a:t>
            </a:r>
          </a:p>
          <a:p>
            <a:endParaRPr lang="en-US" dirty="0"/>
          </a:p>
          <a:p>
            <a:r>
              <a:rPr lang="en-US" dirty="0"/>
              <a:t>Hence, the solution is </a:t>
            </a:r>
            <a:r>
              <a:rPr lang="en-US" b="1" i="1" dirty="0"/>
              <a:t>x</a:t>
            </a:r>
            <a:r>
              <a:rPr lang="en-US" b="1" dirty="0"/>
              <a:t> = 1 , </a:t>
            </a:r>
            <a:r>
              <a:rPr lang="en-US" b="1" i="1" dirty="0"/>
              <a:t>y</a:t>
            </a:r>
            <a:r>
              <a:rPr lang="en-US" b="1" dirty="0"/>
              <a:t> = 2, </a:t>
            </a:r>
            <a:r>
              <a:rPr lang="en-US" b="1" i="1" dirty="0"/>
              <a:t>z</a:t>
            </a:r>
            <a:r>
              <a:rPr lang="en-US" b="1" dirty="0"/>
              <a:t> = 3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736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449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Solve the system of linear equation in the previous example by Gauss-Jordan elimination!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FB771-54A3-484A-922D-5E9994744F51}"/>
              </a:ext>
            </a:extLst>
          </p:cNvPr>
          <p:cNvSpPr txBox="1"/>
          <p:nvPr/>
        </p:nvSpPr>
        <p:spPr>
          <a:xfrm>
            <a:off x="3809999" y="1102132"/>
            <a:ext cx="5051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Example  2 : Solve by Gauss-Jordan elimination.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BA50D-3DEB-D672-05E5-DE01AF840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70354"/>
            <a:ext cx="4267199" cy="20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6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696200" cy="44497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Solution:</a:t>
            </a:r>
            <a:r>
              <a:rPr lang="en-US" dirty="0"/>
              <a:t> Similar as in the previous example, we proceed until we have the augmented matrix in row echelon form.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5722" name="Picture 1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358" y="2403550"/>
            <a:ext cx="7642071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CFB771-54A3-484A-922D-5E9994744F51}"/>
              </a:ext>
            </a:extLst>
          </p:cNvPr>
          <p:cNvSpPr txBox="1"/>
          <p:nvPr/>
        </p:nvSpPr>
        <p:spPr>
          <a:xfrm>
            <a:off x="3276601" y="1102132"/>
            <a:ext cx="5584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Example  2 : Solve by Gauss-Jordan elimination (cont.)</a:t>
            </a:r>
          </a:p>
        </p:txBody>
      </p:sp>
    </p:spTree>
    <p:extLst>
      <p:ext uri="{BB962C8B-B14F-4D97-AF65-F5344CB8AC3E}">
        <p14:creationId xmlns:p14="http://schemas.microsoft.com/office/powerpoint/2010/main" val="1938851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Homogeneous System</a:t>
            </a:r>
            <a:br>
              <a:rPr lang="id-ID" dirty="0"/>
            </a:br>
            <a:r>
              <a:rPr lang="id-ID" dirty="0"/>
              <a:t>of Linear Equations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7007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A system of linear equations is said to be </a:t>
            </a:r>
            <a:r>
              <a:rPr lang="en-US" b="1" i="1" dirty="0"/>
              <a:t>homogeneous </a:t>
            </a:r>
            <a:r>
              <a:rPr lang="en-US" dirty="0"/>
              <a:t>if the constant terms are all zero; that is, the system has the form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Every homogeneous system of linear equations is always consistent because all such systems at least have</a:t>
            </a:r>
          </a:p>
          <a:p>
            <a:pPr marL="0" indent="0" algn="just">
              <a:buNone/>
            </a:pPr>
            <a:r>
              <a:rPr lang="id-ID" i="1" dirty="0"/>
              <a:t>x</a:t>
            </a:r>
            <a:r>
              <a:rPr lang="id-ID" baseline="-25000" dirty="0"/>
              <a:t>1</a:t>
            </a:r>
            <a:r>
              <a:rPr lang="id-ID" dirty="0"/>
              <a:t>=0</a:t>
            </a:r>
            <a:r>
              <a:rPr lang="en-US" dirty="0"/>
              <a:t>, </a:t>
            </a:r>
            <a:r>
              <a:rPr lang="id-ID" i="1" dirty="0"/>
              <a:t>x</a:t>
            </a:r>
            <a:r>
              <a:rPr lang="id-ID" baseline="-25000" dirty="0"/>
              <a:t>2</a:t>
            </a:r>
            <a:r>
              <a:rPr lang="id-ID" dirty="0"/>
              <a:t>=0</a:t>
            </a:r>
            <a:r>
              <a:rPr lang="en-US" dirty="0"/>
              <a:t>,</a:t>
            </a:r>
            <a:r>
              <a:rPr lang="id-ID" dirty="0"/>
              <a:t> </a:t>
            </a:r>
            <a:r>
              <a:rPr lang="en-US" dirty="0"/>
              <a:t>…, </a:t>
            </a:r>
            <a:r>
              <a:rPr lang="id-ID" i="1" dirty="0"/>
              <a:t>x</a:t>
            </a:r>
            <a:r>
              <a:rPr lang="id-ID" i="1" baseline="-25000" dirty="0"/>
              <a:t>n</a:t>
            </a:r>
            <a:r>
              <a:rPr lang="id-ID" dirty="0"/>
              <a:t>=0 </a:t>
            </a:r>
            <a:r>
              <a:rPr lang="en-US" dirty="0"/>
              <a:t>as</a:t>
            </a:r>
            <a:r>
              <a:rPr lang="id-ID" dirty="0"/>
              <a:t> </a:t>
            </a:r>
            <a:r>
              <a:rPr lang="en-US" dirty="0"/>
              <a:t>a solution. This solution is called the </a:t>
            </a:r>
            <a:r>
              <a:rPr lang="en-US" b="1" i="1" dirty="0"/>
              <a:t>trivial solution.</a:t>
            </a:r>
          </a:p>
          <a:p>
            <a:pPr marL="0" indent="0" algn="just">
              <a:buNone/>
            </a:pPr>
            <a:r>
              <a:rPr lang="en-US" dirty="0"/>
              <a:t>If there are other solutions, they are called </a:t>
            </a:r>
            <a:r>
              <a:rPr lang="en-US" b="1" i="1" dirty="0"/>
              <a:t>nontrivial solutions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405" y="2438400"/>
            <a:ext cx="374539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81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Homogeneous System</a:t>
            </a:r>
            <a:br>
              <a:rPr lang="id-ID" dirty="0"/>
            </a:br>
            <a:r>
              <a:rPr lang="id-ID" dirty="0"/>
              <a:t>of Linear Equations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Because a homogeneous linear system always has the trivial solution, there are only two possibilities for its solutions:</a:t>
            </a:r>
          </a:p>
          <a:p>
            <a:pPr algn="just"/>
            <a:r>
              <a:rPr lang="en-US" dirty="0"/>
              <a:t>The system has only the trivial solution.</a:t>
            </a:r>
            <a:endParaRPr lang="id-ID" dirty="0"/>
          </a:p>
          <a:p>
            <a:pPr algn="just"/>
            <a:r>
              <a:rPr lang="en-US" dirty="0"/>
              <a:t>The system has infinitely many solutions in addition to the trivial solution.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In the special case of a homogeneous linear system of two equations in two unknowns, say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 graphs of the equations are lines through the origin, and the trivial solution corresponds to the point of intersection at</a:t>
            </a:r>
            <a:r>
              <a:rPr lang="id-ID" dirty="0"/>
              <a:t> the origin.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945" y="4572000"/>
            <a:ext cx="478345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81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Illustration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marL="0" indent="0" algn="just">
              <a:buNone/>
            </a:pPr>
            <a:r>
              <a:rPr lang="en-US" dirty="0"/>
              <a:t>There is one case in which a homogeneous system is assured of having nontrivial solutions</a:t>
            </a:r>
            <a:r>
              <a:rPr lang="id-ID" dirty="0"/>
              <a:t> : </a:t>
            </a:r>
            <a:r>
              <a:rPr lang="en-US" dirty="0"/>
              <a:t>whenever the</a:t>
            </a:r>
            <a:r>
              <a:rPr lang="id-ID" dirty="0"/>
              <a:t> </a:t>
            </a:r>
            <a:r>
              <a:rPr lang="en-US" dirty="0"/>
              <a:t>system involves more unknowns than equations.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1752600"/>
            <a:ext cx="5142523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81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914400"/>
            <a:ext cx="6705600" cy="609600"/>
          </a:xfrm>
        </p:spPr>
        <p:txBody>
          <a:bodyPr>
            <a:normAutofit fontScale="90000"/>
          </a:bodyPr>
          <a:lstStyle/>
          <a:p>
            <a:r>
              <a:rPr lang="id-ID" sz="2400" dirty="0" err="1"/>
              <a:t>Example</a:t>
            </a:r>
            <a:r>
              <a:rPr lang="id-ID" sz="2400" dirty="0"/>
              <a:t> : </a:t>
            </a:r>
            <a:r>
              <a:rPr lang="id-ID" sz="2400" dirty="0" err="1"/>
              <a:t>Solving</a:t>
            </a:r>
            <a:r>
              <a:rPr lang="id-ID" sz="2400" dirty="0"/>
              <a:t> </a:t>
            </a:r>
            <a:r>
              <a:rPr lang="id-ID" sz="2400" dirty="0" err="1"/>
              <a:t>the</a:t>
            </a:r>
            <a:r>
              <a:rPr lang="id-ID" sz="2400" dirty="0"/>
              <a:t> </a:t>
            </a:r>
            <a:r>
              <a:rPr lang="id-ID" sz="2400" dirty="0" err="1"/>
              <a:t>homogeneous</a:t>
            </a:r>
            <a:r>
              <a:rPr lang="id-ID" sz="2400" dirty="0"/>
              <a:t> linear </a:t>
            </a:r>
            <a:r>
              <a:rPr lang="id-ID" sz="2400" dirty="0" err="1"/>
              <a:t>system</a:t>
            </a:r>
            <a:r>
              <a:rPr lang="id-ID" sz="2400" dirty="0"/>
              <a:t> </a:t>
            </a:r>
            <a:endParaRPr lang="id-ID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6934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81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57200"/>
            <a:ext cx="6705600" cy="1143000"/>
          </a:xfrm>
        </p:spPr>
        <p:txBody>
          <a:bodyPr/>
          <a:lstStyle/>
          <a:p>
            <a:r>
              <a:rPr lang="id-ID" dirty="0"/>
              <a:t>Example (Cont.)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7543800" cy="4343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EC120-D62E-4553-A2C2-392BBA95A2B5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044" y="1752600"/>
            <a:ext cx="7522956" cy="264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086" y="4548336"/>
            <a:ext cx="7010400" cy="139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81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0"/>
            <a:ext cx="6837114" cy="792088"/>
          </a:xfrm>
        </p:spPr>
        <p:txBody>
          <a:bodyPr/>
          <a:lstStyle/>
          <a:p>
            <a:pPr algn="ctr"/>
            <a:r>
              <a:rPr lang="en-US" sz="3422" b="1" dirty="0"/>
              <a:t>References</a:t>
            </a:r>
            <a:endParaRPr lang="id-ID" sz="3422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5B8F3-0178-4342-BB4F-B8F94C3CE2DD}"/>
              </a:ext>
            </a:extLst>
          </p:cNvPr>
          <p:cNvSpPr txBox="1"/>
          <p:nvPr/>
        </p:nvSpPr>
        <p:spPr>
          <a:xfrm>
            <a:off x="1350518" y="2476735"/>
            <a:ext cx="7026755" cy="9996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02" marR="411235" lvl="2" indent="0" algn="ctr">
              <a:spcBef>
                <a:spcPts val="342"/>
              </a:spcBef>
              <a:spcAft>
                <a:spcPts val="0"/>
              </a:spcAft>
              <a:buSzPts val="1000"/>
              <a:tabLst>
                <a:tab pos="142602" algn="l"/>
              </a:tabLst>
            </a:pP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Howard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Anton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882" spc="-26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Anton Kaul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(2019).</a:t>
            </a:r>
            <a:r>
              <a:rPr lang="en-US" sz="1882" spc="-1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Elementary Linear Algebra.</a:t>
            </a:r>
            <a:r>
              <a:rPr lang="en-US" sz="1882" spc="-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12.</a:t>
            </a:r>
            <a:r>
              <a:rPr lang="en-US" sz="1882" spc="-2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Wiley.</a:t>
            </a:r>
            <a:r>
              <a:rPr lang="en-US" sz="1882" spc="1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</a:t>
            </a:r>
            <a:r>
              <a:rPr lang="en-US" sz="1882" spc="-222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Jersey.</a:t>
            </a:r>
            <a:r>
              <a:rPr lang="en-US" sz="1882" spc="-4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ISBN:</a:t>
            </a:r>
            <a:r>
              <a:rPr lang="en-US" sz="1882" spc="4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82" spc="-2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978-1-119-40677-8</a:t>
            </a:r>
          </a:p>
          <a:p>
            <a:pPr marL="142602" marR="411235" lvl="2" indent="0" algn="ctr">
              <a:spcBef>
                <a:spcPts val="342"/>
              </a:spcBef>
              <a:spcAft>
                <a:spcPts val="0"/>
              </a:spcAft>
              <a:buSzPts val="1000"/>
              <a:tabLst>
                <a:tab pos="142602" algn="l"/>
              </a:tabLst>
            </a:pPr>
            <a:endParaRPr lang="en-US" sz="1882" spc="-26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F4E5-6303-4D40-9AF8-A1272740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/>
              <a:t>Thank You</a:t>
            </a:r>
          </a:p>
        </p:txBody>
      </p:sp>
      <p:pic>
        <p:nvPicPr>
          <p:cNvPr id="5" name="Picture 4" descr="A bird holding a book&#10;&#10;Description automatically generated with low confidence">
            <a:extLst>
              <a:ext uri="{FF2B5EF4-FFF2-40B4-BE49-F238E27FC236}">
                <a16:creationId xmlns:a16="http://schemas.microsoft.com/office/drawing/2014/main" id="{D7D732F0-DC38-6B4B-9265-3AF1FC344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78" y="2636912"/>
            <a:ext cx="3987715" cy="34892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7297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1460</TotalTime>
  <Words>1785</Words>
  <Application>Microsoft Office PowerPoint</Application>
  <PresentationFormat>On-screen Show (4:3)</PresentationFormat>
  <Paragraphs>233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`^ﬂ'E7˛</vt:lpstr>
      <vt:lpstr>Arial</vt:lpstr>
      <vt:lpstr>Calibri</vt:lpstr>
      <vt:lpstr>Cambria Math</vt:lpstr>
      <vt:lpstr>Open Sans</vt:lpstr>
      <vt:lpstr>Times New Roman</vt:lpstr>
      <vt:lpstr>Template PPT 2015</vt:lpstr>
      <vt:lpstr>Systems of Linear Equations  Session  01-02</vt:lpstr>
      <vt:lpstr>PowerPoint Presentation</vt:lpstr>
      <vt:lpstr>LO 1 : Solve systems of linear equations using various methods.</vt:lpstr>
      <vt:lpstr>PowerPoint Presentation</vt:lpstr>
      <vt:lpstr>PowerPoint Presentation</vt:lpstr>
      <vt:lpstr>PowerPoint Presentation</vt:lpstr>
      <vt:lpstr>Solution of linear system</vt:lpstr>
      <vt:lpstr>PowerPoint Presentation</vt:lpstr>
      <vt:lpstr>PowerPoint Presentation</vt:lpstr>
      <vt:lpstr>PowerPoint Presentation</vt:lpstr>
      <vt:lpstr>Linear Systems with Three Unknowns</vt:lpstr>
      <vt:lpstr>Example: A Linear System with One Solution</vt:lpstr>
      <vt:lpstr>Example: A Linear System with No Solution</vt:lpstr>
      <vt:lpstr>Example 1: A Linear System with Infinitely Many Solutions </vt:lpstr>
      <vt:lpstr>Example 1: A Linear System with Infinitely Many Solutions (cont.)</vt:lpstr>
      <vt:lpstr>Example 2: A Linear System with Infinitely Many Solutions</vt:lpstr>
      <vt:lpstr>Gaussian and Gauss-Jordan Elimination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Homogeneous System of Linear Equations</vt:lpstr>
      <vt:lpstr>Homogeneous System of Linear Equations</vt:lpstr>
      <vt:lpstr>Illustration</vt:lpstr>
      <vt:lpstr>Example : Solving the homogeneous linear system </vt:lpstr>
      <vt:lpstr>Example (Cont.)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Herolistra Baskoroputro, S.Si., M.Si., Ph.D.</cp:lastModifiedBy>
  <cp:revision>73</cp:revision>
  <dcterms:created xsi:type="dcterms:W3CDTF">2015-05-04T03:33:03Z</dcterms:created>
  <dcterms:modified xsi:type="dcterms:W3CDTF">2024-01-10T06:37:15Z</dcterms:modified>
</cp:coreProperties>
</file>